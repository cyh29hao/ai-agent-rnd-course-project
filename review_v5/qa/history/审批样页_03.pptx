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c242a51ddb46b1" /><Relationship Type="http://schemas.openxmlformats.org/officeDocument/2006/relationships/extended-properties" Target="/docProps/app.xml" Id="Rcce0c8a760ef456c" /><Relationship Type="http://schemas.openxmlformats.org/officeDocument/2006/relationships/officeDocument" Target="/ppt/presentation.xml" Id="R7129442bd42146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7045fb5f6b4b4b"/>
  </p:sldMasterIdLst>
  <p:notesMasterIdLst>
    <p:notesMasterId xmlns:r="http://schemas.openxmlformats.org/officeDocument/2006/relationships" r:id="R79777c2aec80456e"/>
  </p:notesMasterIdLst>
  <p:sldIdLst>
    <p:sldId xmlns:r="http://schemas.openxmlformats.org/officeDocument/2006/relationships" id="256" r:id="R5c6ca89f388145d7"/>
    <p:sldId xmlns:r="http://schemas.openxmlformats.org/officeDocument/2006/relationships" id="257" r:id="R85a61a65bc6f41de"/>
    <p:sldId xmlns:r="http://schemas.openxmlformats.org/officeDocument/2006/relationships" id="258" r:id="Rf67eb5bcef634adb"/>
    <p:sldId xmlns:r="http://schemas.openxmlformats.org/officeDocument/2006/relationships" id="259" r:id="Rd0227a431f4b4309"/>
    <p:sldId xmlns:r="http://schemas.openxmlformats.org/officeDocument/2006/relationships" id="260" r:id="R643f86d477414234"/>
    <p:sldId xmlns:r="http://schemas.openxmlformats.org/officeDocument/2006/relationships" id="261" r:id="R48e8f24a749c4208"/>
    <p:sldId xmlns:r="http://schemas.openxmlformats.org/officeDocument/2006/relationships" id="262" r:id="R731800df7dcf4e0c"/>
    <p:sldId xmlns:r="http://schemas.openxmlformats.org/officeDocument/2006/relationships" id="263" r:id="Rba97bb22070240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397f27b92f4f6a" /><Relationship Type="http://schemas.openxmlformats.org/officeDocument/2006/relationships/slideMaster" Target="/ppt/slideMasters/slideMaster1.xml" Id="R5b7045fb5f6b4b4b" /><Relationship Type="http://schemas.openxmlformats.org/officeDocument/2006/relationships/notesMaster" Target="/ppt/notesMasters/notesMaster1.xml" Id="R79777c2aec80456e" /><Relationship Type="http://schemas.openxmlformats.org/officeDocument/2006/relationships/presProps" Target="/ppt/presProps.xml" Id="Rabb3187ab13942e3" /><Relationship Type="http://schemas.openxmlformats.org/officeDocument/2006/relationships/tableStyles" Target="/ppt/tableStyles.xml" Id="Rcc1d87829be9416a" /><Relationship Type="http://schemas.openxmlformats.org/officeDocument/2006/relationships/slide" Target="/ppt/slides/slide1.xml" Id="R5c6ca89f388145d7" /><Relationship Type="http://schemas.openxmlformats.org/officeDocument/2006/relationships/slide" Target="/ppt/slides/slide2.xml" Id="R85a61a65bc6f41de" /><Relationship Type="http://schemas.openxmlformats.org/officeDocument/2006/relationships/slide" Target="/ppt/slides/slide3.xml" Id="Rf67eb5bcef634adb" /><Relationship Type="http://schemas.openxmlformats.org/officeDocument/2006/relationships/slide" Target="/ppt/slides/slide4.xml" Id="Rd0227a431f4b4309" /><Relationship Type="http://schemas.openxmlformats.org/officeDocument/2006/relationships/slide" Target="/ppt/slides/slide5.xml" Id="R643f86d477414234" /><Relationship Type="http://schemas.openxmlformats.org/officeDocument/2006/relationships/slide" Target="/ppt/slides/slide6.xml" Id="R48e8f24a749c4208" /><Relationship Type="http://schemas.openxmlformats.org/officeDocument/2006/relationships/slide" Target="/ppt/slides/slide7.xml" Id="R731800df7dcf4e0c" /><Relationship Type="http://schemas.openxmlformats.org/officeDocument/2006/relationships/slide" Target="/ppt/slides/slide8.xml" Id="Rba97bb22070240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f77ec42b6646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491c2c802c4e08" /><Relationship Type="http://schemas.openxmlformats.org/officeDocument/2006/relationships/notesMaster" Target="/ppt/notesMasters/notesMaster1.xml" Id="R6abb31af39dd41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5e125938fa49c6" /><Relationship Type="http://schemas.openxmlformats.org/officeDocument/2006/relationships/notesMaster" Target="/ppt/notesMasters/notesMaster1.xml" Id="R3cde269514e945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04cdc2fc684d3f" /><Relationship Type="http://schemas.openxmlformats.org/officeDocument/2006/relationships/notesMaster" Target="/ppt/notesMasters/notesMaster1.xml" Id="R8744109006634c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e80354653d47e0" /><Relationship Type="http://schemas.openxmlformats.org/officeDocument/2006/relationships/notesMaster" Target="/ppt/notesMasters/notesMaster1.xml" Id="Rdc5d4f4faa6847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e6afe7df0449f7" /><Relationship Type="http://schemas.openxmlformats.org/officeDocument/2006/relationships/notesMaster" Target="/ppt/notesMasters/notesMaster1.xml" Id="R2237e35b6bf345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55ba2516b14c6e" /><Relationship Type="http://schemas.openxmlformats.org/officeDocument/2006/relationships/notesMaster" Target="/ppt/notesMasters/notesMaster1.xml" Id="Re875d319a39644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ba12e446154b78" /><Relationship Type="http://schemas.openxmlformats.org/officeDocument/2006/relationships/notesMaster" Target="/ppt/notesMasters/notesMaster1.xml" Id="R86eb03e1cfa947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b90cded6d0476f" /><Relationship Type="http://schemas.openxmlformats.org/officeDocument/2006/relationships/notesMaster" Target="/ppt/notesMasters/notesMaster1.xml" Id="Rbcd4b45ad5e444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审批样页，拟用于主讲第9页。</a:t>
            </a:r>
          </a:p>
          <a:p xmlns:a="http://schemas.openxmlformats.org/drawingml/2006/main">
            <a:r>
              <a:t>研究Agent提出的一条路线，是先让教师更少迎合。图中改变的是模型推理时的内部表示。这会影响教师给出的回答分布。学生还没有接受训练，所以这一步本身还没有把新行为写进学生权重。下一页再看它怎样保留下来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审批样页，拟用于主讲第10页。</a:t>
            </a:r>
          </a:p>
          <a:p xmlns:a="http://schemas.openxmlformats.org/drawingml/2006/main">
            <a:r>
              <a:t>第二步才发生训练。引导后的教师给出输出概率分布，学生也给出自己的分布。KL散度用来衡量两者的差异，训练据此调整学生参数。这样，学生在正常推理时也能保留部分行为变化，随后交给外部评测。教师来自目标模型的引导版本，不需要假设更强的外部教师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审批样页，拟用于主讲第11页。</a:t>
            </a:r>
          </a:p>
          <a:p xmlns:a="http://schemas.openxmlformats.org/drawingml/2006/main">
            <a:r>
              <a:t>先用一个数值例子理解论文的指标。原来50分，训练后70分，满分100分。实际增加了20分，而原来距离满分还有50分，因此关闭了40%的改善空间。这样，下面的论文百分数才有明确的分母。多基准汇总还有几何均值，详细式子留在备份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审批样页，拟用于主讲第12页。</a:t>
            </a:r>
          </a:p>
          <a:p xmlns:a="http://schemas.openxmlformats.org/drawingml/2006/main">
            <a:r>
              <a:t>现在看论文的真实比较。横轴是前一页解释的改善空间比例。这里比较允许不同训练办法的搜索条件，方法数量都截到150个，并非刚才一个蒸馏配方的单独效果。不受限方法在这一运行中得到更大的改善。不过，每个条件只有一次运行；这些数字属于谄媚任务的爬坡评测，不代表所有任务，也不等于各条件的全部时间和成本相同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审批样页，拟用于主讲第14页。</a:t>
            </a:r>
          </a:p>
          <a:p xmlns:a="http://schemas.openxmlformats.org/drawingml/2006/main">
            <a:r>
              <a:t>OpenAI工程师Jeremy Lewi公开了他运行发布前评测的流程。研究员把目标写进Runme，Codex参考旧记录拟定计划。作者写了一句很关键的要求：先等他审阅批准，再开始执行。后面再看执行过程怎样留下命令和结果，让下一次任务可以复用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审批样页，拟用于主讲第21页。</a:t>
            </a:r>
          </a:p>
          <a:p xmlns:a="http://schemas.openxmlformats.org/drawingml/2006/main">
            <a:r>
              <a:t>准备报告时，我们要知道一个结论来自谁，能够推广到哪里。于是Codex核对了刚才那条人审要求，打开公开文章并保存证据卡。左边是原文短句，右边是实际保存的中文改写。它还保留了一项限定：这是这位作者介绍的流程。这样我们能回到具体句子检查，哪些结论可以采用，哪些仍需要人工核实。一张卡也不能证明整份报告已经核查完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  <a:p xmlns:a="http://schemas.openxmlformats.org/drawingml/2006/main">
            <a:r>
              <a:t>真实输出：materials/practice/runs/smoke/output.json</a:t>
            </a:r>
          </a:p>
          <a:p xmlns:a="http://schemas.openxmlformats.org/drawingml/2006/main">
            <a:r>
              <a:t>原始限定：这是一位 OpenAI 作者对其 Runme 工作流程的自述，不能据此推断所有 Codex 评测都如此或证明评测效果。</a:t>
            </a:r>
          </a:p>
          <a:p xmlns:a="http://schemas.openxmlformats.org/drawingml/2006/main">
            <a:r>
              <a:t>动作记录：materials/practice/runs/smoke/actions.jsonl；部分早期动作事后补记，不能当精确耗时。</a:t>
            </a:r>
          </a:p>
          <a:p xmlns:a="http://schemas.openxmlformats.org/drawingml/2006/main">
            <a:r>
              <a:t>不是本组复现公司训练，也不是四人逐一执行。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审批样页，拟用于主讲第19页。</a:t>
            </a:r>
          </a:p>
          <a:p xmlns:a="http://schemas.openxmlformats.org/drawingml/2006/main">
            <a:r>
              <a:t>刚才的研究系统已经会把评测结果和记录带回下一次尝试，这是一种真实的反馈循环。还要问另一件事：研发产物的改进，是否提高了系统继续研究的能力，并能持续产生更强的后继系统？局部代码或策略改进可以存在，但完整后继研发仍需要更充分的证据。人工审批属于治理安排，不能单凭它是否存在来判定技术能力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审批样页，拟用于主讲第引用页页。</a:t>
            </a:r>
          </a:p>
          <a:p xmlns:a="http://schemas.openxmlformats.org/drawingml/2006/main">
            <a:r>
              <a:t>课堂中第一次介绍来源时说作者与研究对象，页脚给短引用与节图，完整链接放备注与文献页。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422e0470ca43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9643d893a42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72d934fc8249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81e15cd334b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862d5b46343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3eb2b21074a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8E258C-B423-4898-A834-36B0BF344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9FC3A8-894A-4669-84F7-8A6DF1112E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C4925C4-EB86-445C-B0E0-BB18E98D93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2ADBBF-2255-45E7-B030-FFADC7A5C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A8D3F0-E381-41DF-8F12-172089BD18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5F062F-BDDF-427A-94B2-CAD4803821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3393EA-C162-4920-B840-B25DBE7581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AD688E-89FF-4D02-B861-D8459D626F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617684-8ECC-486C-8987-2F8F8D57BB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EF9671-493F-4738-85E5-D9E8DE83A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a69f2c49874aef" /><Relationship Type="http://schemas.openxmlformats.org/officeDocument/2006/relationships/slideLayout" Target="/ppt/slideLayouts/slideLayout1.xml" Id="Rf9e71887cf8447d2" /><Relationship Type="http://schemas.openxmlformats.org/officeDocument/2006/relationships/slideLayout" Target="/ppt/slideLayouts/slideLayout2.xml" Id="R73e43c4255784a4b" /><Relationship Type="http://schemas.openxmlformats.org/officeDocument/2006/relationships/slideLayout" Target="/ppt/slideLayouts/slideLayout3.xml" Id="Rac8463b2a66f4c73" /><Relationship Type="http://schemas.openxmlformats.org/officeDocument/2006/relationships/slideLayout" Target="/ppt/slideLayouts/slideLayout4.xml" Id="R0dcd36a4d6df4c51" /><Relationship Type="http://schemas.openxmlformats.org/officeDocument/2006/relationships/slideLayout" Target="/ppt/slideLayouts/slideLayout5.xml" Id="Rbeef2b740d79416b" /><Relationship Type="http://schemas.openxmlformats.org/officeDocument/2006/relationships/slideLayout" Target="/ppt/slideLayouts/slideLayout6.xml" Id="R6218b5e0b83b44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e71887cf8447d2"/>
    <p:sldLayoutId xmlns:r="http://schemas.openxmlformats.org/officeDocument/2006/relationships" id="2147483650" r:id="R73e43c4255784a4b"/>
    <p:sldLayoutId xmlns:r="http://schemas.openxmlformats.org/officeDocument/2006/relationships" id="2147483651" r:id="Rac8463b2a66f4c73"/>
    <p:sldLayoutId xmlns:r="http://schemas.openxmlformats.org/officeDocument/2006/relationships" id="2147483652" r:id="R0dcd36a4d6df4c51"/>
    <p:sldLayoutId xmlns:r="http://schemas.openxmlformats.org/officeDocument/2006/relationships" id="2147483653" r:id="Rbeef2b740d79416b"/>
    <p:sldLayoutId xmlns:r="http://schemas.openxmlformats.org/officeDocument/2006/relationships" id="2147483654" r:id="R6218b5e0b83b44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61315e683f4c45" /><Relationship Type="http://schemas.openxmlformats.org/officeDocument/2006/relationships/notesSlide" Target="/ppt/notesSlides/notesSlide1.xml" Id="Rf6a60596e6b94d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8f1a535f8483d" /><Relationship Type="http://schemas.openxmlformats.org/officeDocument/2006/relationships/notesSlide" Target="/ppt/notesSlides/notesSlide2.xml" Id="R5e36033b9a1b48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aa442e5c444c30" /><Relationship Type="http://schemas.openxmlformats.org/officeDocument/2006/relationships/notesSlide" Target="/ppt/notesSlides/notesSlide3.xml" Id="R9b8dcba698af4f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1cf8d92b04ddb" /><Relationship Type="http://schemas.openxmlformats.org/officeDocument/2006/relationships/chart" Target="/ppt/slides/charts/chart1.xml" Id="Rff16d9cd2a9845c1" /><Relationship Type="http://schemas.openxmlformats.org/officeDocument/2006/relationships/notesSlide" Target="/ppt/notesSlides/notesSlide4.xml" Id="R26c60f75e5554a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f30293eed4e0b" /><Relationship Type="http://schemas.openxmlformats.org/officeDocument/2006/relationships/notesSlide" Target="/ppt/notesSlides/notesSlide5.xml" Id="Rbf93df8f49c94e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9974255ea4f0c" /><Relationship Type="http://schemas.openxmlformats.org/officeDocument/2006/relationships/notesSlide" Target="/ppt/notesSlides/notesSlide6.xml" Id="Rf057168d2c0549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269acda1a2416a" /><Relationship Type="http://schemas.openxmlformats.org/officeDocument/2006/relationships/notesSlide" Target="/ppt/notesSlides/notesSlide7.xml" Id="R2e1f5cbb70cd4c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4b7d4f779498c" /><Relationship Type="http://schemas.openxmlformats.org/officeDocument/2006/relationships/notesSlide" Target="/ppt/notesSlides/notesSlide8.xml" Id="Ree02a9199de44b3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 xmlns:a="http://schemas.openxmlformats.org/drawingml/2006/main">
              <a:srgbClr val="167F78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公开数据 SFT</c:v>
                </c:pt>
                <c:pt idx="1">
                  <c:v>自由数据 SFT</c:v>
                </c:pt>
                <c:pt idx="2">
                  <c:v>不受限研究方法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0.06</c:v>
                </c:pt>
                <c:pt idx="1">
                  <c:v>0.029</c:v>
                </c:pt>
                <c:pt idx="2">
                  <c:v>0.233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E3544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9D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AF8F3"/>
        </a:solidFill>
      </c:spPr>
    </c:plotArea>
    <c:plotVisOnly val="1"/>
  </c:chart>
  <c:spPr>
    <a:solidFill xmlns:a="http://schemas.openxmlformats.org/drawingml/2006/main">
      <a:srgbClr val="FAF8F3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6DDED-A97E-4C29-973F-9BBA2551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模型改进   Anthropic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95D99-CBC0-46AB-857D-0D90330A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激活引导改变教师的回答倾向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6883A-E735-488B-A5B8-C39DB10A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F1E22-F7D9-4CA7-ACDB-6E4B9E00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2026, App. D.4；此图为机制示意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567B4-B78E-4443-A759-8F43C2E7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8CA6B-B2C5-40AA-8DEC-EC96D4C0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目标：更少迎合用户的错误观点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B6127-B4AC-45CE-9BB3-A728B14A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1432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同一模型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原来的内部表示 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E8AF4-A76E-4E00-B690-67210C10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8617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E697C-2ABD-4AE5-A4A0-AFB37CFA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33725"/>
            <a:ext cx="28575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0">
            <a:solidFill>
              <a:srgbClr val="EFE5DA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加入方向性干预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96C92-E356-465C-896B-17EB2A38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8617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2C7AC-C824-4DD7-BA72-7DC1ECE7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33725"/>
            <a:ext cx="26193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输出倾向改变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5B3EC-158C-497C-8A52-0AE48CDE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激活引导改变教师的输出分布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0C3F5-A00B-42C7-A1F8-1D205FFE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学生权重尚未在这一步更新</a:t>
            </a:r>
          </a:p>
        </p:txBody>
      </p:sp>
    </p:spTree>
    <p:extLst>
      <p:ext uri="{BB962C8B-B14F-4D97-AF65-F5344CB8AC3E}">
        <p14:creationId xmlns:p14="http://schemas.microsoft.com/office/powerpoint/2010/main" val="760872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A081E-DADE-45D8-9E94-597EDE80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模型改进   Anthropic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E37C1-4643-4209-99EB-0E92D496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蒸馏训练更新学生模型的权重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1468B-4531-4466-97DA-1AEFA02A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FF972-97B0-4A8D-A4FA-5CB91E4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同上, App. D.4；KL方向与配方系数未由此图指定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262CA-A6A1-4511-B45A-8EE67A8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9E982-205B-479E-A616-87D7FA04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667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教师分布 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07507-31EF-428C-A0B4-03795A40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667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学生分布 pθ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C288D-D19C-4B62-96BE-4830F533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5272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A052B-66B1-497E-9F97-87081E32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4817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E0340-DCDC-4796-99CD-7783183C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26955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0">
            <a:solidFill>
              <a:srgbClr val="EFE5DA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比较输出分布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KL训练目标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D8EF7-CB5C-49F0-812A-0B6DA991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9975"/>
            <a:ext cx="6000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0E68D-6470-45B4-AB4E-A66188A4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52750"/>
            <a:ext cx="21240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更新权重 θ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正常推理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C4433-B21F-4B67-8612-8615D00E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推理时的临时干预，通过训练形成可保留的行为变化</a:t>
            </a:r>
          </a:p>
        </p:txBody>
      </p:sp>
    </p:spTree>
    <p:extLst>
      <p:ext uri="{BB962C8B-B14F-4D97-AF65-F5344CB8AC3E}">
        <p14:creationId xmlns:p14="http://schemas.microsoft.com/office/powerpoint/2010/main" val="1350772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E60AD-6022-4F0A-9E51-9ADA09BC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结果解释   一个教学例子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2888E-6802-452D-9AE3-4B563302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改善了多少，要看原来还有多少空间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5CC38-24E6-423B-86BC-23B4930A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91E4C-2525-417F-AE27-1A609659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指标定义见 §2.2；50、70、100仅为教学数值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C099B-383A-42B7-9706-01455803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304CA-0EDB-4320-8EBF-7A329D72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FC677-3EFE-4687-AD61-2B2DE1B0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745CB-E8BA-488E-8DFF-B2655205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训练后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DA2CA-05D2-4364-B40C-8F8B5235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33675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C4642-7F83-46A0-8EDA-BB489FAF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该指标最优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A1B02-0B81-4BE6-9633-E2114500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3367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26E55-80ED-48CC-8158-3828DEFF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9F554-30F1-49D2-AEE8-30DC7E92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关闭的改善空间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D439E-F00E-43FD-9CF9-EEEC4BD7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38650"/>
            <a:ext cx="6524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(70 − 50) / (100 − 50) = 40%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E70E7-35C4-45DC-A1E1-BD812742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接下来才看真实实验。这个40%不是论文结果</a:t>
            </a:r>
          </a:p>
        </p:txBody>
      </p:sp>
    </p:spTree>
    <p:extLst>
      <p:ext uri="{BB962C8B-B14F-4D97-AF65-F5344CB8AC3E}">
        <p14:creationId xmlns:p14="http://schemas.microsoft.com/office/powerpoint/2010/main" val="843643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F79C2-6178-4F19-871B-F63C6E49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结果解释   相同方法数量下的比较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6C5D2-3977-4853-A76C-C270F883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方法空间不同，探索到的结果也不同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A75D6-A8F6-4F37-A012-3CBC1A9A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66262-B4C5-41B8-967B-040766C5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App. D.4, Fig.20；Qwen3.5-2B／谄媚／前150个已评分方法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6E61B-577B-4448-AB2D-83709FC0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94D3B-D281-40E0-93D5-837C7E88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谄媚任务的改善空间关闭比例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4E602D9-BEBA-4BCA-916C-DE6B6644389C}"/>
              </a:ext>
            </a:extLst>
          </p:cNvPr>
          <p:cNvGraphicFramePr/>
          <p:nvPr/>
        </p:nvGraphicFramePr>
        <p:xfrm>
          <a:off xmlns:a="http://schemas.openxmlformats.org/drawingml/2006/main" x="685800" y="2686050"/>
          <a:ext xmlns:a="http://schemas.openxmlformats.org/drawingml/2006/main" cx="695325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16d9cd2a9845c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8A9C2-F364-47D1-9130-AB172EC2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3409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比较的是</a:t>
            </a:r>
          </a:p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可探索的训练办法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139E5-B373-4A31-B670-44D28B7B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3381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每条件一次</a:t>
            </a:r>
          </a:p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爬坡评测套件</a:t>
            </a:r>
          </a:p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任务与模型有限定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3E437-44F7-413E-A6CF-F0258D8F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SFT指监督微调。各条件允许的训练办法不同</a:t>
            </a:r>
          </a:p>
        </p:txBody>
      </p:sp>
    </p:spTree>
    <p:extLst>
      <p:ext uri="{BB962C8B-B14F-4D97-AF65-F5344CB8AC3E}">
        <p14:creationId xmlns:p14="http://schemas.microsoft.com/office/powerpoint/2010/main" val="1014835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68C7B-03D5-4142-A1E6-BABB83C3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研发现场   OpenAI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F2C4E-2DE4-4DF7-9EE9-D9BF4D6B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执行之前，先让人看见计划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AE5D8-515A-4A3C-9C4A-731221A6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E0F1C-42F9-4A27-8C82-3F8CC9AC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Automating repetitive work at OpenAI with Codex, 2026, Running evaluations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D9BF9-4D2B-43C5-A697-7A342796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61EFE-05A4-4E95-A230-EE3A2A79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原文的任务要求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86A7F-06BB-4FF8-AF44-DB6429E4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0820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 and approve</a:t>
            </a:r>
          </a:p>
          <a:p xmlns:a="http://schemas.openxmlformats.org/drawingml/2006/main"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the plan before beginning.”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F21FD-3D83-4647-87C2-4650CCDC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3627A-05FD-4333-B38D-AD4E5020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21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目标与旧记录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301FE-7F68-4D34-9231-D060C3F4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18160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AE83C-0665-42F1-A2D5-C84E972A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0292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Codex拟计划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D1B6D-4D3B-4102-9C5B-7E24A02B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8160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D86E1-1275-4143-95FF-9D21DB25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292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人审阅后执行</a:t>
            </a:r>
          </a:p>
        </p:txBody>
      </p:sp>
    </p:spTree>
    <p:extLst>
      <p:ext uri="{BB962C8B-B14F-4D97-AF65-F5344CB8AC3E}">
        <p14:creationId xmlns:p14="http://schemas.microsoft.com/office/powerpoint/2010/main" val="693700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92528-500F-46D9-BF52-6100216F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本组实践   一条真实核查任务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202A8-3F36-46ED-AED5-E687FDDA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一条来源主张怎样变成证据卡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4DF9B-5432-4595-9086-2FB59DB5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74E86-38D7-41ED-ADB3-E89DFB37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原文依据[5]；中文摘自本项目smoke-01原始产物，工具执行由Codex完成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F4F3B-3E34-4E26-9785-D1EC2822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AAEB3-E981-48D8-829F-BD86721E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原文的关键要求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CF167-0D55-41D5-8A7D-C03494A6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61962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</a:t>
            </a:r>
          </a:p>
          <a:p xmlns:a="http://schemas.openxmlformats.org/drawingml/2006/main"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and approve the plan</a:t>
            </a:r>
          </a:p>
          <a:p xmlns:a="http://schemas.openxmlformats.org/drawingml/2006/main"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before beginning.”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5130C-2954-418D-B7C0-0DF1BF3C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95525"/>
            <a:ext cx="531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证据卡中的对应改写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6BA65-2469-4F3F-8F0A-2DC16E53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53149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先在笔记本写计划，</a:t>
            </a:r>
          </a:p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待作者审阅批准后，</a:t>
            </a:r>
          </a:p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再开始执行。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95485-6856-4C77-ACAC-08CC0650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0D6F3-1803-4E8F-BBB1-1CD347BC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适用范围：这位作者的工作流，不能外推到全部发布评测</a:t>
            </a:r>
          </a:p>
        </p:txBody>
      </p:sp>
    </p:spTree>
    <p:extLst>
      <p:ext uri="{BB962C8B-B14F-4D97-AF65-F5344CB8AC3E}">
        <p14:creationId xmlns:p14="http://schemas.microsoft.com/office/powerpoint/2010/main" val="10948456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D86A2-9D82-41C1-B3C3-0BBF52FB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回到题目   两种回流各需要什么证据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2FDFB-E7CC-4DF6-B793-1F8B77E5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结果反馈，还要走到研发能力的持续改进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A74DA-9DB0-4340-A932-9EE1F91B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A2E16-5348-4E33-B51B-5D7CD3AA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本报告分析；所选案例依据见[4][5]及完整方案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A104D-C449-43A5-BBB3-CDF976EE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E9B2C-20FA-4347-B48C-8D866D9B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276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研究系统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提出与执行方法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C864C-7910-47C2-A2FA-F9DA2525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8132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512DB-2E4A-46D3-820F-15FCD035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86025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研发产物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权重、算法或流程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10C9B-B555-4DC5-A8C8-93C43088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8132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50463-2DA2-4F89-82F1-6B1B4221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86025"/>
            <a:ext cx="2809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评测与保留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检验局部收益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DE615-E6B7-4BB1-8BE3-CE4CD8E2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已有：评测结果与记录，反馈给下一次尝试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48375-3A87-4A66-8919-BB7CE1BB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14850"/>
            <a:ext cx="9144000" cy="2381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F7B43-50C0-48FD-BFE8-8275B0A7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62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待验证：改进是否持续提高下一轮研发能力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83046-A1AC-4FCD-A492-66C80D58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76850"/>
            <a:ext cx="9144000" cy="2381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CEC6C-D179-417D-AB57-9FA174B5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并持续产生更强的后继系统</a:t>
            </a:r>
          </a:p>
        </p:txBody>
      </p:sp>
    </p:spTree>
    <p:extLst>
      <p:ext uri="{BB962C8B-B14F-4D97-AF65-F5344CB8AC3E}">
        <p14:creationId xmlns:p14="http://schemas.microsoft.com/office/powerpoint/2010/main" val="20389217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6ED16-5224-42CB-A597-49546170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来源   编号在PPT、稿件与报告中保持一致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55465-9ED7-4828-9E0D-644F9772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样页引用的原始资料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CBE03-DA01-485A-8E96-CCBCB3F3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80D92-48BD-4DA0-9359-B3EEEFE8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本页只列审批样页使用的来源；整套文献在批准后统一编号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43E95-4524-4B3E-9037-4710262B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DE1D1-0CC3-432D-8D91-A8BC71EE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[4] Chen Y.-H., Wen J., Kirchner J. 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C6BD5-B350-4C3A-9F5B-85948184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Automated Researchers Can Mitigate Well-Characterized</a:t>
            </a:r>
          </a:p>
          <a:p xmlns:a="http://schemas.openxmlformats.org/drawingml/2006/main"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Alignment Failures [EB/OL]. Alignment Science Blog, 2026.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93BE3-FA19-471B-9D36-E0D289B5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https://alignment.anthropic.com/2026/automated-alignment-researchers/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4274D-960C-4DB0-A4F0-F6C6A30D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[5] Lewi J. Automating repetitive work at OpenAI with Codex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0E161-D378-4507-A0BE-E4FFBB8A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[EB/OL]. OpenAI Developers, 2026. 引用节：Running evaluations with Codex.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D972A-3992-4E9F-803C-CADF5EFE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完整URL见备注。核查日期：2026-10-14</a:t>
            </a:r>
          </a:p>
        </p:txBody>
      </p:sp>
    </p:spTree>
    <p:extLst>
      <p:ext uri="{BB962C8B-B14F-4D97-AF65-F5344CB8AC3E}">
        <p14:creationId xmlns:p14="http://schemas.microsoft.com/office/powerpoint/2010/main" val="1346240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2026-10-14T02:23:00.8700000Z</dcterms:created>
  <dcterms:modified xsi:type="dcterms:W3CDTF">2026-10-14T02:23:00.8700000Z</dcterms:modified>
</coreProperties>
</file>