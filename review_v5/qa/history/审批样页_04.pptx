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4bfc96ab1541ac" /><Relationship Type="http://schemas.openxmlformats.org/officeDocument/2006/relationships/extended-properties" Target="/docProps/app.xml" Id="Refdb68f7e14a4063" /><Relationship Type="http://schemas.openxmlformats.org/officeDocument/2006/relationships/officeDocument" Target="/ppt/presentation.xml" Id="R22c7cdf0317e44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751f424484468c"/>
  </p:sldMasterIdLst>
  <p:notesMasterIdLst>
    <p:notesMasterId xmlns:r="http://schemas.openxmlformats.org/officeDocument/2006/relationships" r:id="R0a9cc5ea703d483c"/>
  </p:notesMasterIdLst>
  <p:sldIdLst>
    <p:sldId xmlns:r="http://schemas.openxmlformats.org/officeDocument/2006/relationships" id="256" r:id="Rfb4d0827796448f1"/>
    <p:sldId xmlns:r="http://schemas.openxmlformats.org/officeDocument/2006/relationships" id="257" r:id="Rbc32c4924cb84541"/>
    <p:sldId xmlns:r="http://schemas.openxmlformats.org/officeDocument/2006/relationships" id="258" r:id="R6dec3fde28cf427f"/>
    <p:sldId xmlns:r="http://schemas.openxmlformats.org/officeDocument/2006/relationships" id="259" r:id="R4c9bb3acb0da4bc9"/>
    <p:sldId xmlns:r="http://schemas.openxmlformats.org/officeDocument/2006/relationships" id="260" r:id="Rb4b1fd3f6ca14438"/>
    <p:sldId xmlns:r="http://schemas.openxmlformats.org/officeDocument/2006/relationships" id="261" r:id="R61f9d547d163469b"/>
    <p:sldId xmlns:r="http://schemas.openxmlformats.org/officeDocument/2006/relationships" id="262" r:id="R1c0c4bc156584215"/>
    <p:sldId xmlns:r="http://schemas.openxmlformats.org/officeDocument/2006/relationships" id="263" r:id="Rd54b0cfc505048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932d08f805476a" /><Relationship Type="http://schemas.openxmlformats.org/officeDocument/2006/relationships/slideMaster" Target="/ppt/slideMasters/slideMaster1.xml" Id="Rdf751f424484468c" /><Relationship Type="http://schemas.openxmlformats.org/officeDocument/2006/relationships/notesMaster" Target="/ppt/notesMasters/notesMaster1.xml" Id="R0a9cc5ea703d483c" /><Relationship Type="http://schemas.openxmlformats.org/officeDocument/2006/relationships/presProps" Target="/ppt/presProps.xml" Id="Rab87821af8d14c0a" /><Relationship Type="http://schemas.openxmlformats.org/officeDocument/2006/relationships/tableStyles" Target="/ppt/tableStyles.xml" Id="R293967c586584a70" /><Relationship Type="http://schemas.openxmlformats.org/officeDocument/2006/relationships/slide" Target="/ppt/slides/slide1.xml" Id="Rfb4d0827796448f1" /><Relationship Type="http://schemas.openxmlformats.org/officeDocument/2006/relationships/slide" Target="/ppt/slides/slide2.xml" Id="Rbc32c4924cb84541" /><Relationship Type="http://schemas.openxmlformats.org/officeDocument/2006/relationships/slide" Target="/ppt/slides/slide3.xml" Id="R6dec3fde28cf427f" /><Relationship Type="http://schemas.openxmlformats.org/officeDocument/2006/relationships/slide" Target="/ppt/slides/slide4.xml" Id="R4c9bb3acb0da4bc9" /><Relationship Type="http://schemas.openxmlformats.org/officeDocument/2006/relationships/slide" Target="/ppt/slides/slide5.xml" Id="Rb4b1fd3f6ca14438" /><Relationship Type="http://schemas.openxmlformats.org/officeDocument/2006/relationships/slide" Target="/ppt/slides/slide6.xml" Id="R61f9d547d163469b" /><Relationship Type="http://schemas.openxmlformats.org/officeDocument/2006/relationships/slide" Target="/ppt/slides/slide7.xml" Id="R1c0c4bc156584215" /><Relationship Type="http://schemas.openxmlformats.org/officeDocument/2006/relationships/slide" Target="/ppt/slides/slide8.xml" Id="Rd54b0cfc505048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903a10045d41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55388ff8aa48c7" /><Relationship Type="http://schemas.openxmlformats.org/officeDocument/2006/relationships/notesMaster" Target="/ppt/notesMasters/notesMaster1.xml" Id="R8eb0529090b046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2c1cefeef34aa2" /><Relationship Type="http://schemas.openxmlformats.org/officeDocument/2006/relationships/notesMaster" Target="/ppt/notesMasters/notesMaster1.xml" Id="Rc3f850b8370c42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0f146f1f684403" /><Relationship Type="http://schemas.openxmlformats.org/officeDocument/2006/relationships/notesMaster" Target="/ppt/notesMasters/notesMaster1.xml" Id="Rec1b9b7cee804a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56ac5568ac4646" /><Relationship Type="http://schemas.openxmlformats.org/officeDocument/2006/relationships/notesMaster" Target="/ppt/notesMasters/notesMaster1.xml" Id="Rdeff4425def748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02d1d2fbbf46db" /><Relationship Type="http://schemas.openxmlformats.org/officeDocument/2006/relationships/notesMaster" Target="/ppt/notesMasters/notesMaster1.xml" Id="R67aef2c869484d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411754cb93469c" /><Relationship Type="http://schemas.openxmlformats.org/officeDocument/2006/relationships/notesMaster" Target="/ppt/notesMasters/notesMaster1.xml" Id="R45b3ad9d38cd4c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a3d23005f94e6a" /><Relationship Type="http://schemas.openxmlformats.org/officeDocument/2006/relationships/notesMaster" Target="/ppt/notesMasters/notesMaster1.xml" Id="R35cfb91ec8094f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1a131e58a44ba0" /><Relationship Type="http://schemas.openxmlformats.org/officeDocument/2006/relationships/notesMaster" Target="/ppt/notesMasters/notesMaster1.xml" Id="Re7bcfc8027b14c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审批样页，拟用于主讲第9页。</a:t>
            </a:r>
          </a:p>
          <a:p xmlns:a="http://schemas.openxmlformats.org/drawingml/2006/main">
            <a:r>
              <a:t>研究Agent提出的一条路线，是先让教师更少迎合。图中改变的是模型推理时的内部表示。这会影响教师给出的回答分布。学生还没有接受训练，所以这一步本身还没有把新行为写进学生权重。下一页再看它怎样保留下来。</a:t>
            </a:r>
          </a:p>
          <a:p xmlns:a="http://schemas.openxmlformats.org/drawingml/2006/main">
            <a:r>
              <a:t>来源与边界见本页脚和审批方案。</a:t>
            </a:r>
          </a:p>
          <a:p xmlns:a="http://schemas.openxmlformats.org/drawingml/2006/main">
            <a:r>
              <a:t>原文：https://alignment.anthropic.com/2026/automated-alignment-researchers/</a:t>
            </a:r>
          </a:p>
          <a:p xmlns:a="http://schemas.openxmlformats.org/drawingml/2006/main">
            <a:r>
              <a:t>OpenAI原文：https://developers.openai.com/blog/automating-repetitive-work-at-openai-with-codex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审批样页，拟用于主讲第10页。</a:t>
            </a:r>
          </a:p>
          <a:p xmlns:a="http://schemas.openxmlformats.org/drawingml/2006/main">
            <a:r>
              <a:t>第二步才发生训练。引导后的教师给出输出概率分布，学生也给出自己的分布。KL散度用来衡量两者的差异，训练据此调整学生参数。这样，学生在正常推理时也能保留部分行为变化，随后交给外部评测。教师来自目标模型的引导版本，不需要假设更强的外部教师。</a:t>
            </a:r>
          </a:p>
          <a:p xmlns:a="http://schemas.openxmlformats.org/drawingml/2006/main">
            <a:r>
              <a:t>来源与边界见本页脚和审批方案。</a:t>
            </a:r>
          </a:p>
          <a:p xmlns:a="http://schemas.openxmlformats.org/drawingml/2006/main">
            <a:r>
              <a:t>原文：https://alignment.anthropic.com/2026/automated-alignment-researchers/</a:t>
            </a:r>
          </a:p>
          <a:p xmlns:a="http://schemas.openxmlformats.org/drawingml/2006/main">
            <a:r>
              <a:t>OpenAI原文：https://developers.openai.com/blog/automating-repetitive-work-at-openai-with-codex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审批样页，拟用于主讲第11页。</a:t>
            </a:r>
          </a:p>
          <a:p xmlns:a="http://schemas.openxmlformats.org/drawingml/2006/main">
            <a:r>
              <a:t>先用一个数值例子理解论文的指标。原来50分，训练后70分，满分100分。实际增加了20分，而原来距离满分还有50分，因此关闭了40%的改善空间。这样，下面的论文百分数才有明确的分母。多基准汇总还有几何均值，详细式子留在备份。</a:t>
            </a:r>
          </a:p>
          <a:p xmlns:a="http://schemas.openxmlformats.org/drawingml/2006/main">
            <a:r>
              <a:t>来源与边界见本页脚和审批方案。</a:t>
            </a:r>
          </a:p>
          <a:p xmlns:a="http://schemas.openxmlformats.org/drawingml/2006/main">
            <a:r>
              <a:t>原文：https://alignment.anthropic.com/2026/automated-alignment-researchers/</a:t>
            </a:r>
          </a:p>
          <a:p xmlns:a="http://schemas.openxmlformats.org/drawingml/2006/main">
            <a:r>
              <a:t>OpenAI原文：https://developers.openai.com/blog/automating-repetitive-work-at-openai-with-codex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审批样页，拟用于主讲第12页。</a:t>
            </a:r>
          </a:p>
          <a:p xmlns:a="http://schemas.openxmlformats.org/drawingml/2006/main">
            <a:r>
              <a:t>现在看论文的真实比较。横轴是前一页解释的改善空间比例。这里比较允许不同训练办法的搜索条件，方法数量都截到150个，并非刚才一个蒸馏配方的单独效果。不受限方法在这一运行中得到更大的改善。不过，每个条件只有一次运行；这些数字属于谄媚任务的爬坡评测，不代表所有任务，也不等于各条件的全部时间和成本相同。</a:t>
            </a:r>
          </a:p>
          <a:p xmlns:a="http://schemas.openxmlformats.org/drawingml/2006/main">
            <a:r>
              <a:t>来源与边界见本页脚和审批方案。</a:t>
            </a:r>
          </a:p>
          <a:p xmlns:a="http://schemas.openxmlformats.org/drawingml/2006/main">
            <a:r>
              <a:t>原文：https://alignment.anthropic.com/2026/automated-alignment-researchers/</a:t>
            </a:r>
          </a:p>
          <a:p xmlns:a="http://schemas.openxmlformats.org/drawingml/2006/main">
            <a:r>
              <a:t>OpenAI原文：https://developers.openai.com/blog/automating-repetitive-work-at-openai-with-codex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审批样页，拟用于主讲第14页。</a:t>
            </a:r>
          </a:p>
          <a:p xmlns:a="http://schemas.openxmlformats.org/drawingml/2006/main">
            <a:r>
              <a:t>OpenAI工程师Jeremy Lewi公开了他运行发布前评测的流程。研究员把目标写进Runme，Codex参考旧记录拟定计划。作者写了一句很关键的要求：先等他审阅批准，再开始执行。后面再看执行过程怎样留下命令和结果，让下一次任务可以复用。</a:t>
            </a:r>
          </a:p>
          <a:p xmlns:a="http://schemas.openxmlformats.org/drawingml/2006/main">
            <a:r>
              <a:t>来源与边界见本页脚和审批方案。</a:t>
            </a:r>
          </a:p>
          <a:p xmlns:a="http://schemas.openxmlformats.org/drawingml/2006/main">
            <a:r>
              <a:t>原文：https://alignment.anthropic.com/2026/automated-alignment-researchers/</a:t>
            </a:r>
          </a:p>
          <a:p xmlns:a="http://schemas.openxmlformats.org/drawingml/2006/main">
            <a:r>
              <a:t>OpenAI原文：https://developers.openai.com/blog/automating-repetitive-work-at-openai-with-codex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审批样页，拟用于主讲第21页。</a:t>
            </a:r>
          </a:p>
          <a:p xmlns:a="http://schemas.openxmlformats.org/drawingml/2006/main">
            <a:r>
              <a:t>准备报告时，我们要知道一个结论来自谁，能够推广到哪里。于是Codex核对了刚才那条人审要求，打开公开文章并保存证据卡。左边是原文短句，右边是实际保存的中文改写。它还保留了一项限定：这是这位作者介绍的流程。这样我们能回到具体句子检查，哪些结论可以采用，哪些仍需要人工核实。一张卡也不能证明整份报告已经核查完。</a:t>
            </a:r>
          </a:p>
          <a:p xmlns:a="http://schemas.openxmlformats.org/drawingml/2006/main">
            <a:r>
              <a:t>来源与边界见本页脚和审批方案。</a:t>
            </a:r>
          </a:p>
          <a:p xmlns:a="http://schemas.openxmlformats.org/drawingml/2006/main">
            <a:r>
              <a:t>原文：https://alignment.anthropic.com/2026/automated-alignment-researchers/</a:t>
            </a:r>
          </a:p>
          <a:p xmlns:a="http://schemas.openxmlformats.org/drawingml/2006/main">
            <a:r>
              <a:t>OpenAI原文：https://developers.openai.com/blog/automating-repetitive-work-at-openai-with-codex</a:t>
            </a:r>
          </a:p>
          <a:p xmlns:a="http://schemas.openxmlformats.org/drawingml/2006/main">
            <a:r>
              <a:t>真实输出：materials/practice/runs/smoke/output.json</a:t>
            </a:r>
          </a:p>
          <a:p xmlns:a="http://schemas.openxmlformats.org/drawingml/2006/main">
            <a:r>
              <a:t>原始限定：这是一位 OpenAI 作者对其 Runme 工作流程的自述，不能据此推断所有 Codex 评测都如此或证明评测效果。</a:t>
            </a:r>
          </a:p>
          <a:p xmlns:a="http://schemas.openxmlformats.org/drawingml/2006/main">
            <a:r>
              <a:t>动作记录：materials/practice/runs/smoke/actions.jsonl；部分早期动作事后补记，不能当精确耗时。</a:t>
            </a:r>
          </a:p>
          <a:p xmlns:a="http://schemas.openxmlformats.org/drawingml/2006/main">
            <a:r>
              <a:t>不是本组复现公司训练，也不是四人逐一执行。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审批样页，拟用于主讲第19页。</a:t>
            </a:r>
          </a:p>
          <a:p xmlns:a="http://schemas.openxmlformats.org/drawingml/2006/main">
            <a:r>
              <a:t>刚才的研究系统已经会把评测结果和记录带回下一次尝试，这是一种真实的反馈循环。还要问另一件事：研发产物的改进，是否提高了系统继续研究的能力，并能持续产生更强的后继系统？局部代码或策略改进可以存在，但完整后继研发仍需要更充分的证据。人工审批属于治理安排，不能单凭它是否存在来判定技术能力。</a:t>
            </a:r>
          </a:p>
          <a:p xmlns:a="http://schemas.openxmlformats.org/drawingml/2006/main">
            <a:r>
              <a:t>来源与边界见本页脚和审批方案。</a:t>
            </a:r>
          </a:p>
          <a:p xmlns:a="http://schemas.openxmlformats.org/drawingml/2006/main">
            <a:r>
              <a:t>原文：https://alignment.anthropic.com/2026/automated-alignment-researchers/</a:t>
            </a:r>
          </a:p>
          <a:p xmlns:a="http://schemas.openxmlformats.org/drawingml/2006/main">
            <a:r>
              <a:t>OpenAI原文：https://developers.openai.com/blog/automating-repetitive-work-at-openai-with-codex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审批样页，拟用于主讲第引用页页。</a:t>
            </a:r>
          </a:p>
          <a:p xmlns:a="http://schemas.openxmlformats.org/drawingml/2006/main">
            <a:r>
              <a:t>课堂中第一次介绍来源时说作者与研究对象，页脚给短引用与节图，完整链接放备注与文献页。</a:t>
            </a:r>
          </a:p>
          <a:p xmlns:a="http://schemas.openxmlformats.org/drawingml/2006/main">
            <a:r>
              <a:t>来源与边界见本页脚和审批方案。</a:t>
            </a:r>
          </a:p>
          <a:p xmlns:a="http://schemas.openxmlformats.org/drawingml/2006/main">
            <a:r>
              <a:t>原文：https://alignment.anthropic.com/2026/automated-alignment-researchers/</a:t>
            </a:r>
          </a:p>
          <a:p xmlns:a="http://schemas.openxmlformats.org/drawingml/2006/main">
            <a:r>
              <a:t>OpenAI原文：https://developers.openai.com/blog/automating-repetitive-work-at-openai-with-codex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8e392828f240b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65b8af98db4c4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6e578db543467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a3d038823d4ff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2705e2a061451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8253d430f44d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9053CDC-0E39-4833-858F-DD73549477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5854E77-4DF5-4EA9-9066-A79ABBEFD54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47C86C7-DD82-4F13-955C-ED278F475C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335CA50-E6F7-4C1E-AE49-9899EFF384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320F3B0-7C2D-43D5-9992-AF20BE60D1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3C3DDAE-DD2D-4174-8576-41DF38F776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EF637FC-A4A3-41A7-9546-3A54D5C59D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03FF87E-F263-4598-B8D9-FAA76C1868C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8099260-C432-464B-BDD2-A6240E1BBD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0FE4A54-E4C6-498F-BB2F-9873117F56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16e21fb9ba4c90" /><Relationship Type="http://schemas.openxmlformats.org/officeDocument/2006/relationships/slideLayout" Target="/ppt/slideLayouts/slideLayout1.xml" Id="Rfb737de89af745c8" /><Relationship Type="http://schemas.openxmlformats.org/officeDocument/2006/relationships/slideLayout" Target="/ppt/slideLayouts/slideLayout2.xml" Id="R55797bdb55c24231" /><Relationship Type="http://schemas.openxmlformats.org/officeDocument/2006/relationships/slideLayout" Target="/ppt/slideLayouts/slideLayout3.xml" Id="Rd439a60b32884a55" /><Relationship Type="http://schemas.openxmlformats.org/officeDocument/2006/relationships/slideLayout" Target="/ppt/slideLayouts/slideLayout4.xml" Id="R2d091abdd9374638" /><Relationship Type="http://schemas.openxmlformats.org/officeDocument/2006/relationships/slideLayout" Target="/ppt/slideLayouts/slideLayout5.xml" Id="Rbe6d9fb382614aa0" /><Relationship Type="http://schemas.openxmlformats.org/officeDocument/2006/relationships/slideLayout" Target="/ppt/slideLayouts/slideLayout6.xml" Id="Rdb1733b04c414b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737de89af745c8"/>
    <p:sldLayoutId xmlns:r="http://schemas.openxmlformats.org/officeDocument/2006/relationships" id="2147483650" r:id="R55797bdb55c24231"/>
    <p:sldLayoutId xmlns:r="http://schemas.openxmlformats.org/officeDocument/2006/relationships" id="2147483651" r:id="Rd439a60b32884a55"/>
    <p:sldLayoutId xmlns:r="http://schemas.openxmlformats.org/officeDocument/2006/relationships" id="2147483652" r:id="R2d091abdd9374638"/>
    <p:sldLayoutId xmlns:r="http://schemas.openxmlformats.org/officeDocument/2006/relationships" id="2147483653" r:id="Rbe6d9fb382614aa0"/>
    <p:sldLayoutId xmlns:r="http://schemas.openxmlformats.org/officeDocument/2006/relationships" id="2147483654" r:id="Rdb1733b04c414b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41806dfe194744" /><Relationship Type="http://schemas.openxmlformats.org/officeDocument/2006/relationships/notesSlide" Target="/ppt/notesSlides/notesSlide1.xml" Id="R88b02f728fbe41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7d2aa879034e68" /><Relationship Type="http://schemas.openxmlformats.org/officeDocument/2006/relationships/notesSlide" Target="/ppt/notesSlides/notesSlide2.xml" Id="R10a2546aa84647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7503d0b29f49ac" /><Relationship Type="http://schemas.openxmlformats.org/officeDocument/2006/relationships/notesSlide" Target="/ppt/notesSlides/notesSlide3.xml" Id="R4d78f5ccc26948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607e998e3144f0" /><Relationship Type="http://schemas.openxmlformats.org/officeDocument/2006/relationships/chart" Target="/ppt/slides/charts/chart1.xml" Id="Rf04aa7950534485e" /><Relationship Type="http://schemas.openxmlformats.org/officeDocument/2006/relationships/notesSlide" Target="/ppt/notesSlides/notesSlide4.xml" Id="Rd70b7067601f4c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697c54dd744455" /><Relationship Type="http://schemas.openxmlformats.org/officeDocument/2006/relationships/notesSlide" Target="/ppt/notesSlides/notesSlide5.xml" Id="Rf32b470cdc1d44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c57366a6a44a18" /><Relationship Type="http://schemas.openxmlformats.org/officeDocument/2006/relationships/notesSlide" Target="/ppt/notesSlides/notesSlide6.xml" Id="R00859df379064d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9b409e10434b62" /><Relationship Type="http://schemas.openxmlformats.org/officeDocument/2006/relationships/notesSlide" Target="/ppt/notesSlides/notesSlide7.xml" Id="Re1a2dfbb22614df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93c21a611f46df" /><Relationship Type="http://schemas.openxmlformats.org/officeDocument/2006/relationships/notesSlide" Target="/ppt/notesSlides/notesSlide8.xml" Id="R228bff486ee3451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改善空间</c:v>
          </c:tx>
          <c:spPr>
            <a:solidFill xmlns:a="http://schemas.openxmlformats.org/drawingml/2006/main">
              <a:srgbClr val="167F78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公开数据 SFT</c:v>
                </c:pt>
                <c:pt idx="1">
                  <c:v>自由数据 SFT</c:v>
                </c:pt>
                <c:pt idx="2">
                  <c:v>不受限研究方法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0.06</c:v>
                </c:pt>
                <c:pt idx="1">
                  <c:v>0.029</c:v>
                </c:pt>
                <c:pt idx="2">
                  <c:v>0.233</c:v>
                </c:pt>
              </c:numCache>
            </c:numRef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 b="1">
                  <a:solidFill>
                    <a:srgbClr val="1E3544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3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5D9D5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05"/>
      </c:valAx>
      <c:spPr>
        <a:solidFill xmlns:a="http://schemas.openxmlformats.org/drawingml/2006/main">
          <a:srgbClr val="FAF8F3"/>
        </a:solidFill>
      </c:spPr>
    </c:plotArea>
    <c:plotVisOnly val="1"/>
  </c:chart>
  <c:spPr>
    <a:solidFill xmlns:a="http://schemas.openxmlformats.org/drawingml/2006/main">
      <a:srgbClr val="FAF8F3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902C61-23F4-4538-8FC5-62DE7536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模型改进   Anthropic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4A36F9-1E21-4E37-8141-8C1E10B1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激活引导改变教师的回答倾向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608BFC-6664-4C0B-9685-ED729EAF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20A4D5-2F2F-4FA0-BE7C-AA4BAAFE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 等, Automated Researchers…, 2026, App. D.4；此图为机制示意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B8BA5D-E87E-4EA2-9FF0-9336C9B4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29375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6E8769-2849-450E-B1EB-3A3D570E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目标：更少迎合用户的错误观点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ABCC01-3107-4914-BFDC-21DAED19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31432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solidFill>
              <a:srgbClr val="E7EFEB"/>
            </a:solidFill>
          </a:ln>
        </p:spPr>
        <p:txBody>
          <a:bodyPr xmlns:a="http://schemas.openxmlformats.org/drawingml/2006/main" lIns="190500" tIns="190500" rIns="190500" bIns="190500"/>
          <a:lstStyle xmlns:a="http://schemas.openxmlformats.org/drawingml/2006/main">
            <a:def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同一模型</a:t>
            </a:r>
          </a:p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原来的内部表示 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4FE8CA-CFCE-43A7-9A6D-B033F408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86175"/>
            <a:ext cx="6667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546A41-AFFA-4A8F-8DC8-F844E262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133725"/>
            <a:ext cx="285750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A"/>
          </a:solidFill>
          <a:ln xmlns:a="http://schemas.openxmlformats.org/drawingml/2006/main" w="0">
            <a:solidFill>
              <a:srgbClr val="EFE5DA"/>
            </a:solidFill>
          </a:ln>
        </p:spPr>
        <p:txBody>
          <a:bodyPr xmlns:a="http://schemas.openxmlformats.org/drawingml/2006/main" lIns="190500" tIns="190500" rIns="190500" bIns="190500"/>
          <a:lstStyle xmlns:a="http://schemas.openxmlformats.org/drawingml/2006/main">
            <a:def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激活引导</a:t>
            </a:r>
          </a:p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加入方向性干预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60ECED-F33F-446F-A757-886AE588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686175"/>
            <a:ext cx="6667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32EB6D-908F-472D-891B-9CD96DA0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133725"/>
            <a:ext cx="2619375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solidFill>
              <a:srgbClr val="E7EFEB"/>
            </a:solidFill>
          </a:ln>
        </p:spPr>
        <p:txBody>
          <a:bodyPr xmlns:a="http://schemas.openxmlformats.org/drawingml/2006/main" lIns="190500" tIns="190500" rIns="190500" bIns="190500"/>
          <a:lstStyle xmlns:a="http://schemas.openxmlformats.org/drawingml/2006/main">
            <a:def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引导后的教师</a:t>
            </a:r>
          </a:p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输出倾向改变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E4AA02-8A5E-42A0-8F6F-A5CCEC3E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149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激活引导改变教师的输出分布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5E0AAB-520B-4D94-AA17-68705BD1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学生权重尚未在这一步更新</a:t>
            </a:r>
          </a:p>
        </p:txBody>
      </p:sp>
    </p:spTree>
    <p:extLst>
      <p:ext uri="{BB962C8B-B14F-4D97-AF65-F5344CB8AC3E}">
        <p14:creationId xmlns:p14="http://schemas.microsoft.com/office/powerpoint/2010/main" val="16612214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9B5781-AA80-46A8-A216-05EC27B4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模型改进   Anthropic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BE3DB0-12E9-4D84-BFC2-46DDC5E3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蒸馏训练更新学生模型的权重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CED11-8CE5-416F-9507-FD3257F4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1CA56-DC56-41C3-A8FD-2D84EB9D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同上, App. D.4；KL方向与配方系数未由此图指定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5D73EC-C96A-4F76-A069-45335B6C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29375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883F0E-A515-4EF3-8115-270D737D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0775"/>
            <a:ext cx="36671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solidFill>
              <a:srgbClr val="E7EFEB"/>
            </a:solidFill>
          </a:ln>
        </p:spPr>
        <p:txBody>
          <a:bodyPr xmlns:a="http://schemas.openxmlformats.org/drawingml/2006/main" lIns="190500" tIns="190500" rIns="190500" bIns="190500"/>
          <a:lstStyle xmlns:a="http://schemas.openxmlformats.org/drawingml/2006/main">
            <a:def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教师分布 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CC6047-8CF8-4D8A-BC3D-5936B7C9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36671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solidFill>
              <a:srgbClr val="E7EFEB"/>
            </a:solidFill>
          </a:ln>
        </p:spPr>
        <p:txBody>
          <a:bodyPr xmlns:a="http://schemas.openxmlformats.org/drawingml/2006/main" lIns="190500" tIns="190500" rIns="190500" bIns="190500"/>
          <a:lstStyle xmlns:a="http://schemas.openxmlformats.org/drawingml/2006/main">
            <a:def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学生分布 pθ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BE2E16-7F33-4CEE-88A0-5AC13019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52725"/>
            <a:ext cx="6286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F5D374-0144-4AEA-ABC7-3B1712E4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48175"/>
            <a:ext cx="6286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6CA2FC-E2A5-4B1D-97E0-D14CC77C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952750"/>
            <a:ext cx="26955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A"/>
          </a:solidFill>
          <a:ln xmlns:a="http://schemas.openxmlformats.org/drawingml/2006/main" w="0">
            <a:solidFill>
              <a:srgbClr val="EFE5DA"/>
            </a:solidFill>
          </a:ln>
        </p:spPr>
        <p:txBody>
          <a:bodyPr xmlns:a="http://schemas.openxmlformats.org/drawingml/2006/main" lIns="190500" tIns="190500" rIns="190500" bIns="190500"/>
          <a:lstStyle xmlns:a="http://schemas.openxmlformats.org/drawingml/2006/main">
            <a:def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比较输出分布</a:t>
            </a:r>
          </a:p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KL训练目标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45ED0A-FCE9-4AFE-85E3-B36797C0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609975"/>
            <a:ext cx="600075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1450CD-8C46-40EE-ABDD-185E1BF5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952750"/>
            <a:ext cx="21240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solidFill>
              <a:srgbClr val="E7EFEB"/>
            </a:solidFill>
          </a:ln>
        </p:spPr>
        <p:txBody>
          <a:bodyPr xmlns:a="http://schemas.openxmlformats.org/drawingml/2006/main" lIns="190500" tIns="190500" rIns="190500" bIns="190500"/>
          <a:lstStyle xmlns:a="http://schemas.openxmlformats.org/drawingml/2006/main">
            <a:def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更新权重 θ</a:t>
            </a:r>
          </a:p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正常推理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B50BC-AD52-4EB0-BECE-AD267CD3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35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推理时的临时干预，通过训练形成可保留的行为变化</a:t>
            </a:r>
          </a:p>
        </p:txBody>
      </p:sp>
    </p:spTree>
    <p:extLst>
      <p:ext uri="{BB962C8B-B14F-4D97-AF65-F5344CB8AC3E}">
        <p14:creationId xmlns:p14="http://schemas.microsoft.com/office/powerpoint/2010/main" val="13252835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C06522-6B7E-4341-9A6B-C01686B0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结果解释   一个教学例子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38319-7FCC-4A95-83EF-AC406760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改善了多少，要看原来还有多少空间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94B542-4E92-42E1-902C-13AFF0DC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B9B110-A508-4591-B105-F517F4DA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指标定义见 §2.2；50、70、100仅为教学数值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59DA07-184F-4D9A-BCBE-01A369CF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29375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EF6E57-A00F-4F7D-A61B-CB9AA290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基线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A25E82-69A4-43A3-9E31-6D1D6C4D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323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8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58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50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6C1757-6D69-4DA7-89BA-22555809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288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训练后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51CE88-20F3-46FF-B446-0A12B618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33675"/>
            <a:ext cx="323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5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70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289747-6BBC-4A7A-BE5C-1A1DE7E6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288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该指标最优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3083CC-6E45-48EC-BEB0-9011B6EA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33675"/>
            <a:ext cx="295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8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58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BE303B-BECC-4A49-AAB7-ECC4EC8C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D1E3A0-50E6-4AC2-A65C-68D83A13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关闭的改善空间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C965C7-4203-41CF-AFC8-78226277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438650"/>
            <a:ext cx="6524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(70 − 50) / (100 − 50) = 40%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7B7FF-A46C-42A4-A495-AA7F15FB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接下来才看真实实验。这个40%不是论文结果</a:t>
            </a:r>
          </a:p>
        </p:txBody>
      </p:sp>
    </p:spTree>
    <p:extLst>
      <p:ext uri="{BB962C8B-B14F-4D97-AF65-F5344CB8AC3E}">
        <p14:creationId xmlns:p14="http://schemas.microsoft.com/office/powerpoint/2010/main" val="14134630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DB9CB1-4DB5-4D1D-B364-C6A10F26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结果解释   相同方法数量下的比较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6D6A15-FC83-4956-A394-C00F78C3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方法空间不同，探索到的结果也不同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F80A8F-2826-4FD7-9FCD-3AED7336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F03A9D-8DD2-4169-AFDA-CBA0366B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App. D.4, Fig.20；Qwen3.5-2B／谄媚／前150个已评分方法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BDDF81-E8CA-4860-97BD-8DE26675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29375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AEBF9E-BAF6-47D0-846D-F88AB2A4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谄媚任务的改善空间关闭比例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8D4632F1-DCF0-4D8E-8A1F-03B12BD8BCEE}"/>
              </a:ext>
            </a:extLst>
          </p:cNvPr>
          <p:cNvGraphicFramePr/>
          <p:nvPr/>
        </p:nvGraphicFramePr>
        <p:xfrm>
          <a:off xmlns:a="http://schemas.openxmlformats.org/drawingml/2006/main" x="685800" y="2686050"/>
          <a:ext xmlns:a="http://schemas.openxmlformats.org/drawingml/2006/main" cx="6953250" cy="3105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04aa7950534485e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A439D4-3947-4C06-8094-8E521EFC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0350"/>
            <a:ext cx="3409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比较的是</a:t>
            </a:r>
          </a:p>
          <a:p xmlns:a="http://schemas.openxmlformats.org/drawingml/2006/main"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可探索的训练办法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E8A092-3E88-4348-83D5-8E5571EB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52950"/>
            <a:ext cx="338137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每条件一次</a:t>
            </a:r>
          </a:p>
          <a:p xmlns:a="http://schemas.openxmlformats.org/drawingml/2006/main"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爬坡评测套件</a:t>
            </a:r>
          </a:p>
          <a:p xmlns:a="http://schemas.openxmlformats.org/drawingml/2006/main"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任务与模型有限定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662B06-0552-40DE-A748-A41B99B6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SFT指监督微调。各条件允许的训练办法不同</a:t>
            </a:r>
          </a:p>
        </p:txBody>
      </p:sp>
    </p:spTree>
    <p:extLst>
      <p:ext uri="{BB962C8B-B14F-4D97-AF65-F5344CB8AC3E}">
        <p14:creationId xmlns:p14="http://schemas.microsoft.com/office/powerpoint/2010/main" val="13170505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056734-31A9-4933-9198-A211B032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研发现场   OpenAI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314C1A-F8C8-4D25-A3DC-01AA7826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执行之前，先让人看见计划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126D69-D372-4050-839A-1E060753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BBA350-1DF9-4242-9887-43C3484B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[5] Lewi, Automating repetitive work at OpenAI with Codex, 2026, Running evaluations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D3D686-2AC1-41BD-8D47-DD8C016E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29375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2A79ED-BA07-4040-96A6-C4029D85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原文的任务要求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710021-6DB3-41B2-8BA1-67F3E522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47975"/>
            <a:ext cx="108204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“Wait for me to review and approve</a:t>
            </a:r>
          </a:p>
          <a:p xmlns:a="http://schemas.openxmlformats.org/drawingml/2006/main">
            <a:pPr>
              <a:def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the plan before beginning.”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FE434B-8F9F-4155-A807-EB1F739B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38872F-48AE-4941-91D5-658FC9D5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3219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目标与旧记录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7383EC-33F0-42E7-B95F-FB0993BF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5181600"/>
            <a:ext cx="6096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B85C4A-38C9-4D03-93CA-365D50B2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0292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Codex拟计划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2191A5-FB03-4A08-8F17-CB1383D9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181600"/>
            <a:ext cx="6096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CC62DE-E358-44C6-B501-8A461D72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02920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人审阅后执行</a:t>
            </a:r>
          </a:p>
        </p:txBody>
      </p:sp>
    </p:spTree>
    <p:extLst>
      <p:ext uri="{BB962C8B-B14F-4D97-AF65-F5344CB8AC3E}">
        <p14:creationId xmlns:p14="http://schemas.microsoft.com/office/powerpoint/2010/main" val="11475358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0222FF-B33E-4F40-8BDC-19001061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本组实践   一条真实核查任务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DCFF55-4353-4EC9-9A0F-0CFA05C5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一条来源主张怎样变成证据卡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BA5A40-18BF-48BA-A95D-3ED0877C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6B2CB9-2ECF-45D3-96FE-4607DB55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原文依据[5]；中文摘自本项目smoke-01原始产物，工具执行由Codex完成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5B99D9-84D7-40C3-928F-366EBE95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29375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E8C0FA-05C3-4CAA-B721-93775D87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95525"/>
            <a:ext cx="4619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原文的关键要求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82B2C4-AC80-44F4-8C96-10AE79E8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4619625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“Wait for me to review</a:t>
            </a:r>
          </a:p>
          <a:p xmlns:a="http://schemas.openxmlformats.org/drawingml/2006/main">
            <a: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and approve the plan</a:t>
            </a:r>
          </a:p>
          <a:p xmlns:a="http://schemas.openxmlformats.org/drawingml/2006/main">
            <a: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before beginning.”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E1844B-BA0E-4A76-AE2B-886861A1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95525"/>
            <a:ext cx="5314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证据卡中的对应改写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7E65D6-0390-4D1B-B433-80922C4A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14650"/>
            <a:ext cx="53149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先在笔记本写计划，</a:t>
            </a:r>
          </a:p>
          <a:p xmlns:a="http://schemas.openxmlformats.org/drawingml/2006/main">
            <a: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待作者审阅批准后，</a:t>
            </a:r>
          </a:p>
          <a:p xmlns:a="http://schemas.openxmlformats.org/drawingml/2006/main">
            <a: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再开始执行。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D817D3-0894-4F3E-B453-B0DE08A2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C0ABB2-D1C2-4CF6-8837-65B54956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适用范围：这位作者的工作流，不能外推到全部发布评测</a:t>
            </a:r>
          </a:p>
        </p:txBody>
      </p:sp>
    </p:spTree>
    <p:extLst>
      <p:ext uri="{BB962C8B-B14F-4D97-AF65-F5344CB8AC3E}">
        <p14:creationId xmlns:p14="http://schemas.microsoft.com/office/powerpoint/2010/main" val="55032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3E6F22-27FA-49B4-8D86-CCE0155D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回到题目   两种回流各需要什么证据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CB9670-455E-453F-975C-F58B9CF0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结果反馈，还要走到研发能力的持续改进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85F73B-9FED-4D3C-9AE5-054F3C05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ED4417-4252-4CDB-B3A7-17F958F8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本报告分析；所选案例依据见[4][5]及完整方案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2E0F31-AB0E-4BF3-8D32-1C4C2208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29375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50155F-0FED-4609-B8F2-5FB9A2D4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2762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solidFill>
              <a:srgbClr val="E7EFEB"/>
            </a:solidFill>
          </a:ln>
        </p:spPr>
        <p:txBody>
          <a:bodyPr xmlns:a="http://schemas.openxmlformats.org/drawingml/2006/main" lIns="190500" tIns="190500" rIns="190500" bIns="190500"/>
          <a:lstStyle xmlns:a="http://schemas.openxmlformats.org/drawingml/2006/main">
            <a:def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研究系统</a:t>
            </a:r>
          </a:p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提出与执行方法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0E566C-D235-49A5-A2C2-2AEC147F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981325"/>
            <a:ext cx="6667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881E70-02BE-4E52-BDF9-E94F5ED5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86025"/>
            <a:ext cx="2857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solidFill>
              <a:srgbClr val="E7EFEB"/>
            </a:solidFill>
          </a:ln>
        </p:spPr>
        <p:txBody>
          <a:bodyPr xmlns:a="http://schemas.openxmlformats.org/drawingml/2006/main" lIns="190500" tIns="190500" rIns="190500" bIns="190500"/>
          <a:lstStyle xmlns:a="http://schemas.openxmlformats.org/drawingml/2006/main">
            <a:def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研发产物</a:t>
            </a:r>
          </a:p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权重、算法或流程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C786D9-2055-412E-9420-48DF7A7F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981325"/>
            <a:ext cx="6667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B34612-81F8-41C5-8BF4-6DF505C6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486025"/>
            <a:ext cx="28098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solidFill>
              <a:srgbClr val="E7EFEB"/>
            </a:solidFill>
          </a:ln>
        </p:spPr>
        <p:txBody>
          <a:bodyPr xmlns:a="http://schemas.openxmlformats.org/drawingml/2006/main" lIns="190500" tIns="190500" rIns="190500" bIns="190500"/>
          <a:lstStyle xmlns:a="http://schemas.openxmlformats.org/drawingml/2006/main">
            <a:def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评测与保留</a:t>
            </a:r>
          </a:p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检验局部收益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D7855B-C5D8-4348-87DF-7BF3331A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10820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已有：评测结果与记录，反馈给下一次尝试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6714E2-9527-4C60-B43D-05ACE5D7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514850"/>
            <a:ext cx="9144000" cy="2381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8065BF-7D62-467D-BD52-86F580D2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620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待验证：改进是否持续提高下一轮研发能力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E319E3-5F67-42A3-BB42-F47694CD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524500"/>
            <a:ext cx="9144000" cy="2381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6188F3-4166-4695-9202-72063FE1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并持续产生更强的后继系统</a:t>
            </a:r>
          </a:p>
        </p:txBody>
      </p:sp>
    </p:spTree>
    <p:extLst>
      <p:ext uri="{BB962C8B-B14F-4D97-AF65-F5344CB8AC3E}">
        <p14:creationId xmlns:p14="http://schemas.microsoft.com/office/powerpoint/2010/main" val="7395829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65E5FC-A579-40FE-B4D0-3E018036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来源   编号在PPT、稿件与报告中保持一致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8E7BA-E314-47A0-BC50-20EE3D50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样页引用的原始资料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4B1746-9A00-451D-A84A-EB8EB4DC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FDC977-6E4B-4B20-B64E-D75095BF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本页只列审批样页使用的来源；整套文献在批准后统一编号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7F63CB-756E-46B5-9EAE-B9BC3440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29375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4414FC-D350-419F-AD22-67C5FBDC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[4] Chen Y.-H., Wen J., Kirchner J. 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F33637-32BE-42F1-99C3-2EA41588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Automated Researchers Can Mitigate Well-Characterized</a:t>
            </a:r>
          </a:p>
          <a:p xmlns:a="http://schemas.openxmlformats.org/drawingml/2006/main"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Alignment Failures [EB/OL]. Alignment Science Blog, 2026.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9170DE-7517-4258-9191-2750C6AA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https://alignment.anthropic.com/2026/automated-alignment-researchers/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9019CA-4BDA-42AA-986D-364B0286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[5] Lewi J. Automating repetitive work at OpenAI with Codex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D767DA-8AA4-480F-8318-F477D95A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[EB/OL]. OpenAI Developers, 2026. 引用节：Running evaluations with Codex.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66F872-B2FC-4184-9887-B0C6393B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完整URL见备注。核查日期：2026-10-14</a:t>
            </a:r>
          </a:p>
        </p:txBody>
      </p:sp>
    </p:spTree>
    <p:extLst>
      <p:ext uri="{BB962C8B-B14F-4D97-AF65-F5344CB8AC3E}">
        <p14:creationId xmlns:p14="http://schemas.microsoft.com/office/powerpoint/2010/main" val="13223157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2026-10-14T02:27:47.7780000Z</dcterms:created>
  <dcterms:modified xsi:type="dcterms:W3CDTF">2026-10-14T02:27:47.7780000Z</dcterms:modified>
</coreProperties>
</file>