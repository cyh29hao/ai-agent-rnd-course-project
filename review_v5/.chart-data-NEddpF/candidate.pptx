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dca237220e49aa" /><Relationship Type="http://schemas.openxmlformats.org/officeDocument/2006/relationships/extended-properties" Target="/docProps/app.xml" Id="R53c6e13e1ce94d76" /><Relationship Type="http://schemas.openxmlformats.org/officeDocument/2006/relationships/officeDocument" Target="/ppt/presentation.xml" Id="Reedebdf9b4e547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e99eabb83e49ca"/>
  </p:sldMasterIdLst>
  <p:notesMasterIdLst>
    <p:notesMasterId xmlns:r="http://schemas.openxmlformats.org/officeDocument/2006/relationships" r:id="R25f99ff9ab8648bc"/>
  </p:notesMasterIdLst>
  <p:sldIdLst>
    <p:sldId xmlns:r="http://schemas.openxmlformats.org/officeDocument/2006/relationships" id="256" r:id="Re4c0ea54fc7a4d14"/>
    <p:sldId xmlns:r="http://schemas.openxmlformats.org/officeDocument/2006/relationships" id="257" r:id="R06cf72a2a2db4492"/>
    <p:sldId xmlns:r="http://schemas.openxmlformats.org/officeDocument/2006/relationships" id="258" r:id="R43b1328954ab412e"/>
    <p:sldId xmlns:r="http://schemas.openxmlformats.org/officeDocument/2006/relationships" id="259" r:id="R278cd45af7934852"/>
    <p:sldId xmlns:r="http://schemas.openxmlformats.org/officeDocument/2006/relationships" id="260" r:id="R88dfe1f8b415480c"/>
    <p:sldId xmlns:r="http://schemas.openxmlformats.org/officeDocument/2006/relationships" id="261" r:id="R945c916a27c744f3"/>
    <p:sldId xmlns:r="http://schemas.openxmlformats.org/officeDocument/2006/relationships" id="262" r:id="Rd38e6f43da0145ee"/>
    <p:sldId xmlns:r="http://schemas.openxmlformats.org/officeDocument/2006/relationships" id="263" r:id="R0be7511d72f44b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e4a46d80ce4b47" /><Relationship Type="http://schemas.openxmlformats.org/officeDocument/2006/relationships/slideMaster" Target="/ppt/slideMasters/slideMaster1.xml" Id="R4fe99eabb83e49ca" /><Relationship Type="http://schemas.openxmlformats.org/officeDocument/2006/relationships/notesMaster" Target="/ppt/notesMasters/notesMaster1.xml" Id="R25f99ff9ab8648bc" /><Relationship Type="http://schemas.openxmlformats.org/officeDocument/2006/relationships/presProps" Target="/ppt/presProps.xml" Id="Rdc5c9ec5eae24fce" /><Relationship Type="http://schemas.openxmlformats.org/officeDocument/2006/relationships/tableStyles" Target="/ppt/tableStyles.xml" Id="R02e115188d6346d8" /><Relationship Type="http://schemas.openxmlformats.org/officeDocument/2006/relationships/slide" Target="/ppt/slides/slide1.xml" Id="Re4c0ea54fc7a4d14" /><Relationship Type="http://schemas.openxmlformats.org/officeDocument/2006/relationships/slide" Target="/ppt/slides/slide2.xml" Id="R06cf72a2a2db4492" /><Relationship Type="http://schemas.openxmlformats.org/officeDocument/2006/relationships/slide" Target="/ppt/slides/slide3.xml" Id="R43b1328954ab412e" /><Relationship Type="http://schemas.openxmlformats.org/officeDocument/2006/relationships/slide" Target="/ppt/slides/slide4.xml" Id="R278cd45af7934852" /><Relationship Type="http://schemas.openxmlformats.org/officeDocument/2006/relationships/slide" Target="/ppt/slides/slide5.xml" Id="R88dfe1f8b415480c" /><Relationship Type="http://schemas.openxmlformats.org/officeDocument/2006/relationships/slide" Target="/ppt/slides/slide6.xml" Id="R945c916a27c744f3" /><Relationship Type="http://schemas.openxmlformats.org/officeDocument/2006/relationships/slide" Target="/ppt/slides/slide7.xml" Id="Rd38e6f43da0145ee" /><Relationship Type="http://schemas.openxmlformats.org/officeDocument/2006/relationships/slide" Target="/ppt/slides/slide8.xml" Id="R0be7511d72f44b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46ebb5661841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47bf4643b545b8" /><Relationship Type="http://schemas.openxmlformats.org/officeDocument/2006/relationships/notesMaster" Target="/ppt/notesMasters/notesMaster1.xml" Id="Re335cee7ac7f43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ed0bb971ed4873" /><Relationship Type="http://schemas.openxmlformats.org/officeDocument/2006/relationships/notesMaster" Target="/ppt/notesMasters/notesMaster1.xml" Id="Ra537669dc8dc43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8521a53ba84cdd" /><Relationship Type="http://schemas.openxmlformats.org/officeDocument/2006/relationships/notesMaster" Target="/ppt/notesMasters/notesMaster1.xml" Id="Rdd638dc7945441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371450d6534cfc" /><Relationship Type="http://schemas.openxmlformats.org/officeDocument/2006/relationships/notesMaster" Target="/ppt/notesMasters/notesMaster1.xml" Id="Rdf08dc4108ec4c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8c0b165a334432" /><Relationship Type="http://schemas.openxmlformats.org/officeDocument/2006/relationships/notesMaster" Target="/ppt/notesMasters/notesMaster1.xml" Id="Rcf48aa0d1c7841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50832cbbe84052" /><Relationship Type="http://schemas.openxmlformats.org/officeDocument/2006/relationships/notesMaster" Target="/ppt/notesMasters/notesMaster1.xml" Id="R60d8109e123746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d0536cb7264b69" /><Relationship Type="http://schemas.openxmlformats.org/officeDocument/2006/relationships/notesMaster" Target="/ppt/notesMasters/notesMaster1.xml" Id="R735ae567000f4c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5e9e3bb781484a" /><Relationship Type="http://schemas.openxmlformats.org/officeDocument/2006/relationships/notesMaster" Target="/ppt/notesMasters/notesMaster1.xml" Id="Re8b4d0a4b35b41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审批样页，拟用于主讲第9页。</a:t>
            </a:r>
          </a:p>
          <a:p xmlns:a="http://schemas.openxmlformats.org/drawingml/2006/main">
            <a:r>
              <a:t>研究Agent提出的一条路线，是先让教师更少迎合。图中改变的是模型推理时的内部表示。这会影响教师给出的回答分布。学生还没有接受训练，所以这一步本身还没有把新行为写进学生权重。下一页再看它怎样保留下来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审批样页，拟用于主讲第10页。</a:t>
            </a:r>
          </a:p>
          <a:p xmlns:a="http://schemas.openxmlformats.org/drawingml/2006/main">
            <a:r>
              <a:t>第二步才发生训练。引导后的教师给出输出概率分布，学生也给出自己的分布。KL散度用来衡量两者的差异，训练据此调整学生参数。这样，学生在正常推理时也能保留部分行为变化，随后交给外部评测。教师来自目标模型的引导版本，不需要假设更强的外部教师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审批样页，拟用于主讲第11页。</a:t>
            </a:r>
          </a:p>
          <a:p xmlns:a="http://schemas.openxmlformats.org/drawingml/2006/main">
            <a:r>
              <a:t>先用一个数值例子理解论文的指标。原来50分，训练后70分，满分100分。实际增加了20分，而原来距离满分还有50分，因此关闭了40%的改善空间。这样，下面的论文百分数才有明确的分母。多基准汇总还有几何均值，详细式子留在备份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审批样页，拟用于主讲第12页。</a:t>
            </a:r>
          </a:p>
          <a:p xmlns:a="http://schemas.openxmlformats.org/drawingml/2006/main">
            <a:r>
              <a:t>现在看论文的真实比较。横轴是前一页解释的改善空间比例。这几个条件使用相同的方法数量预算，但允许研究Agent使用的训练办法不同。不受限方法在这一运行中得到更大的改善。它提示训练目标和教师构造值得研究，但这是单任务、每条件一次的消融，不能直接推成全部安全问题的结论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审批样页，拟用于主讲第14页。</a:t>
            </a:r>
          </a:p>
          <a:p xmlns:a="http://schemas.openxmlformats.org/drawingml/2006/main">
            <a:r>
              <a:t>OpenAI工程师Jeremy Lewi公开了他运行发布前评测的流程。研究员把目标写进Runme，Codex参考旧记录拟定计划。作者写了一句很关键的要求：先等他审阅批准，再开始执行。后面再看执行过程怎样留下命令和结果，让下一次任务可以复用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审批样页，拟用于主讲第21页。</a:t>
            </a:r>
          </a:p>
          <a:p xmlns:a="http://schemas.openxmlformats.org/drawingml/2006/main">
            <a:r>
              <a:t>为了研究公司怎样用Agent，我们也让Codex核对一条来源主张。原始输入问的是：Codex是不是先写计划、等作者批准？它实际打开来源，定位评测节，保存了右边这张证据卡。卡片保留了出处和限定。工具执行由Codex完成，组长确定研究范围并审阅表达。其他成员的实际贡献按参与情况确认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  <a:p xmlns:a="http://schemas.openxmlformats.org/drawingml/2006/main">
            <a:r>
              <a:t>真实输出：materials/practice/runs/smoke/output.json</a:t>
            </a:r>
          </a:p>
          <a:p xmlns:a="http://schemas.openxmlformats.org/drawingml/2006/main">
            <a:r>
              <a:t>原始限定：这是一位 OpenAI 作者对其 Runme 工作流程的自述，不能据此推断所有 Codex 评测都如此或证明评测效果。</a:t>
            </a:r>
          </a:p>
          <a:p xmlns:a="http://schemas.openxmlformats.org/drawingml/2006/main">
            <a:r>
              <a:t>动作记录：materials/practice/runs/smoke/actions.jsonl；部分早期动作事后补记，不能当精确耗时。</a:t>
            </a:r>
          </a:p>
          <a:p xmlns:a="http://schemas.openxmlformats.org/drawingml/2006/main">
            <a:r>
              <a:t>不是本组复现公司训练，也不是四人逐一执行。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审批样页，拟用于主讲第19页。</a:t>
            </a:r>
          </a:p>
          <a:p xmlns:a="http://schemas.openxmlformats.org/drawingml/2006/main">
            <a:r>
              <a:t>这些案例已经让我们看见Agent参与研发并产生局部改进。但目标模型变好了，并不自动意味着提出方法的研究系统也变得更强。图里的回流才是需要进一步证明的部分：新系统是否提升后续研究能力，能否继续开发并检验更强的后继系统。人的审批另属治理安排，单凭它存在不能判定有没有递归技术能力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审批样页，拟用于主讲第引用页页。</a:t>
            </a:r>
          </a:p>
          <a:p xmlns:a="http://schemas.openxmlformats.org/drawingml/2006/main">
            <a:r>
              <a:t>课堂中第一次介绍来源时说作者与研究对象，页脚给短引用与节图，完整链接放备注与文献页。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3d0d937da4c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0b66e1d3e43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27072136b4f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bd1d53ed54f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d5d0e234d044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d29cd48eb04d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CB1CA8-0BEC-40A5-AB46-55480EF6B8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FD1A46-D5CA-4DC4-81E5-9995246498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13479AA-598D-4C4F-9652-0410F0591A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0145F7-7CBE-4CF4-905B-5190B4D542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EDDE029-381C-4626-9510-02256E9ED5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477573-DAC3-4B5E-B342-1F07693D35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E2AEED-E175-4A75-A90C-99CEC4B508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C3253D-AE05-4922-BE7A-58A8F50FE6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62E7BC-D1EF-4183-B04E-64602C6AD5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5E5FD2-6946-4757-91EA-3539D4A3AF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26be537af04891" /><Relationship Type="http://schemas.openxmlformats.org/officeDocument/2006/relationships/slideLayout" Target="/ppt/slideLayouts/slideLayout1.xml" Id="R8d57b32777fa4bb5" /><Relationship Type="http://schemas.openxmlformats.org/officeDocument/2006/relationships/slideLayout" Target="/ppt/slideLayouts/slideLayout2.xml" Id="R89b4bf44f4c740ce" /><Relationship Type="http://schemas.openxmlformats.org/officeDocument/2006/relationships/slideLayout" Target="/ppt/slideLayouts/slideLayout3.xml" Id="Rf708e0087933449a" /><Relationship Type="http://schemas.openxmlformats.org/officeDocument/2006/relationships/slideLayout" Target="/ppt/slideLayouts/slideLayout4.xml" Id="Re2d5fd3bfcee494e" /><Relationship Type="http://schemas.openxmlformats.org/officeDocument/2006/relationships/slideLayout" Target="/ppt/slideLayouts/slideLayout5.xml" Id="R5d23aad0e73c45bc" /><Relationship Type="http://schemas.openxmlformats.org/officeDocument/2006/relationships/slideLayout" Target="/ppt/slideLayouts/slideLayout6.xml" Id="R6070b73061404b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57b32777fa4bb5"/>
    <p:sldLayoutId xmlns:r="http://schemas.openxmlformats.org/officeDocument/2006/relationships" id="2147483650" r:id="R89b4bf44f4c740ce"/>
    <p:sldLayoutId xmlns:r="http://schemas.openxmlformats.org/officeDocument/2006/relationships" id="2147483651" r:id="Rf708e0087933449a"/>
    <p:sldLayoutId xmlns:r="http://schemas.openxmlformats.org/officeDocument/2006/relationships" id="2147483652" r:id="Re2d5fd3bfcee494e"/>
    <p:sldLayoutId xmlns:r="http://schemas.openxmlformats.org/officeDocument/2006/relationships" id="2147483653" r:id="R5d23aad0e73c45bc"/>
    <p:sldLayoutId xmlns:r="http://schemas.openxmlformats.org/officeDocument/2006/relationships" id="2147483654" r:id="R6070b73061404b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d16d6924884cfa" /><Relationship Type="http://schemas.openxmlformats.org/officeDocument/2006/relationships/notesSlide" Target="/ppt/notesSlides/notesSlide1.xml" Id="R42e91a30c72a49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4e2df7c884435c" /><Relationship Type="http://schemas.openxmlformats.org/officeDocument/2006/relationships/notesSlide" Target="/ppt/notesSlides/notesSlide2.xml" Id="R98aa85438f3d44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ac4f1e9966416b" /><Relationship Type="http://schemas.openxmlformats.org/officeDocument/2006/relationships/notesSlide" Target="/ppt/notesSlides/notesSlide3.xml" Id="Rb3b91a2b17bd41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d65d748c8e48dd" /><Relationship Type="http://schemas.openxmlformats.org/officeDocument/2006/relationships/chart" Target="/ppt/slides/charts/chart1.xml" Id="Rb36e013dad6345e2" /><Relationship Type="http://schemas.openxmlformats.org/officeDocument/2006/relationships/notesSlide" Target="/ppt/notesSlides/notesSlide4.xml" Id="Rf65d5f0ca9dd47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86c864df234980" /><Relationship Type="http://schemas.openxmlformats.org/officeDocument/2006/relationships/notesSlide" Target="/ppt/notesSlides/notesSlide5.xml" Id="R66370cd60ba542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de1ec214564bf2" /><Relationship Type="http://schemas.openxmlformats.org/officeDocument/2006/relationships/notesSlide" Target="/ppt/notesSlides/notesSlide6.xml" Id="R1e725f1f45224c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bea7582b142e3" /><Relationship Type="http://schemas.openxmlformats.org/officeDocument/2006/relationships/notesSlide" Target="/ppt/notesSlides/notesSlide7.xml" Id="R13a7ec6fc4b04a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1ab9ba5b54206" /><Relationship Type="http://schemas.openxmlformats.org/officeDocument/2006/relationships/notesSlide" Target="/ppt/notesSlides/notesSlide8.xml" Id="R8149fbd9cdba4e3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改善空间</c:v>
          </c:tx>
          <c:spPr>
            <a:solidFill xmlns:a="http://schemas.openxmlformats.org/drawingml/2006/main">
              <a:srgbClr val="167F78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公开数据 SFT</c:v>
                </c:pt>
                <c:pt idx="1">
                  <c:v>自由数据 SFT</c:v>
                </c:pt>
                <c:pt idx="2">
                  <c:v>不受限研究方法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0.06</c:v>
                </c:pt>
                <c:pt idx="1">
                  <c:v>0.029</c:v>
                </c:pt>
                <c:pt idx="2">
                  <c:v>0.233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E3544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9D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AF8F3"/>
        </a:solidFill>
      </c:spPr>
    </c:plotArea>
    <c:plotVisOnly val="1"/>
  </c:chart>
  <c:spPr>
    <a:solidFill xmlns:a="http://schemas.openxmlformats.org/drawingml/2006/main">
      <a:srgbClr val="FAF8F3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29929-A5D5-4CF8-B89D-A216B06B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模型改进   Anthropic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B0EE1-0E0E-41E1-AB9E-5DDEE458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激活引导改变教师的回答倾向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80A44-3330-41E1-BFD2-E2AFE08D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D8AF5-9E77-4CB8-A538-247697BE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2026, App. D.4；此图为机制示意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AAC4B-068C-41E1-9C68-C729F1FA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95E65-6816-43AA-93BD-0AADFE9D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目标：更少迎合用户的错误观点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78B81-DCBF-4059-88CB-7342D33C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1432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同一模型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原来的内部表示 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80249-0E2F-478A-A0AD-72CECA58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8617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5B444-C2B9-4242-BC1A-BBA3B0B5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33725"/>
            <a:ext cx="28575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0">
            <a:solidFill>
              <a:srgbClr val="EFE5DA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加入方向性干预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F9E64-B033-43FF-82B2-5892B410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8617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F5435-011B-45FE-9ABE-14B602E2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33725"/>
            <a:ext cx="26193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引导后的教师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输出倾向改变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AC3E6-CFE4-4EFB-83E2-B480D371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激活引导改变教师的输出分布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AC0FB-06F5-44D6-88BB-EB823352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学生权重尚未在这一步更新</a:t>
            </a:r>
          </a:p>
        </p:txBody>
      </p:sp>
    </p:spTree>
    <p:extLst>
      <p:ext uri="{BB962C8B-B14F-4D97-AF65-F5344CB8AC3E}">
        <p14:creationId xmlns:p14="http://schemas.microsoft.com/office/powerpoint/2010/main" val="10285724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77B54-2215-4698-A1B0-F9603122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模型改进   Anthropic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B96F1-2178-4A33-80D7-A2194B48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蒸馏训练更新学生模型的权重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C9C1A-4729-4755-AAF6-5169B9ED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B0950-5394-4955-BD36-EDD0B745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同上, App. D.4；KL方向与配方系数未由此图指定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90B43-50E8-45AB-895C-0E41E4C8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BD1D5-A08D-4660-AC60-269D49AA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3667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教师分布 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34D49-3BEB-49CC-8732-75114147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667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学生分布 pθ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83AD7-38E4-48B9-8726-FC2EE701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5272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C16B5-A923-45F2-BF00-7F6145AD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4817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CB089-2E74-472E-B4A0-F75518FD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52750"/>
            <a:ext cx="26955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0">
            <a:solidFill>
              <a:srgbClr val="EFE5DA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比较输出分布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KL训练目标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67384-B64F-4C46-900F-4A032E94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09975"/>
            <a:ext cx="60007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6E5F5-7A98-4B7D-A002-67410A8D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52750"/>
            <a:ext cx="21240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更新权重 θ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正常推理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1FD86-5C1D-4E48-A8B7-328E7818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推理时的临时干预，通过训练形成可保留的行为变化</a:t>
            </a:r>
          </a:p>
        </p:txBody>
      </p:sp>
    </p:spTree>
    <p:extLst>
      <p:ext uri="{BB962C8B-B14F-4D97-AF65-F5344CB8AC3E}">
        <p14:creationId xmlns:p14="http://schemas.microsoft.com/office/powerpoint/2010/main" val="4703326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F3385-CA04-4BDB-86EB-70656D1C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结果解释   一个教学例子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5CC12-639A-4B2C-85A3-7C8CEECE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改善了多少，要看原来还有多少空间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8CF6A-0DA2-42A2-AC7B-6A67DA2B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BCFDD-5DF7-4B3F-8BB0-0831544C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指标定义见 §2.2；50、70、100仅为教学数值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DEC1A-6D70-4A5F-ACD0-80FD16B8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7B354-FAC3-47F4-95D8-E57820CD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E0FF7-9F02-4C01-8E61-8C7791DE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413B1-B5A2-46E8-BAEC-915071D0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训练后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8D452-6686-4656-9585-365218D5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33675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F8CD3-B448-4B61-A2D6-9748C3D5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288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该指标最优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CD4EA-4FBC-4E5E-A001-D7C72868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3367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23BB0-F0D3-40B0-A257-FF3DF72D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F376B-8908-4E58-857C-84C18B47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关闭的改善空间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5DCD9-14E2-43C5-85B3-E03A1365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38650"/>
            <a:ext cx="6524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(70 − 50) / (100 − 50) = 40%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8029E-1879-4442-B128-3BBBD2C1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接下来才看真实实验。这个40%不是论文结果</a:t>
            </a:r>
          </a:p>
        </p:txBody>
      </p:sp>
    </p:spTree>
    <p:extLst>
      <p:ext uri="{BB962C8B-B14F-4D97-AF65-F5344CB8AC3E}">
        <p14:creationId xmlns:p14="http://schemas.microsoft.com/office/powerpoint/2010/main" val="8151708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4B60F-E71A-4A10-933B-C6157A25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结果解释   同预算的真实比较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2EC03-340D-4CE5-A81A-EC9F07BB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方法空间不同，探索到的结果也不同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70699-66D2-4B3A-AE3B-01FA1AB6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DE9AC-6D84-4E54-AFEA-71F6EC56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App. D.4, Fig.20；Qwen3.5-2B／谄媚／前150个已评分方法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7308D-C2AA-4664-ABF2-EC562B62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68669-2A7B-4919-88C8-D3062465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安全改善空间关闭比例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0AF5B2BE-2F4F-4381-9748-35F424CFFBE9}"/>
              </a:ext>
            </a:extLst>
          </p:cNvPr>
          <p:cNvGraphicFramePr/>
          <p:nvPr/>
        </p:nvGraphicFramePr>
        <p:xfrm>
          <a:off xmlns:a="http://schemas.openxmlformats.org/drawingml/2006/main" x="685800" y="2686050"/>
          <a:ext xmlns:a="http://schemas.openxmlformats.org/drawingml/2006/main" cx="695325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6e013dad6345e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14F3D-8664-40B4-B549-39939935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3409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比较的是</a:t>
            </a:r>
          </a:p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可探索的训练办法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F7DDA-7DB0-4BCE-923F-ADC43A72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33813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每条件一次</a:t>
            </a:r>
          </a:p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爬坡评测套件</a:t>
            </a:r>
          </a:p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任务与模型有限定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AADCC-A885-45B9-B9A7-7F315474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SFT指监督微调。各条件允许的训练办法不同</a:t>
            </a:r>
          </a:p>
        </p:txBody>
      </p:sp>
    </p:spTree>
    <p:extLst>
      <p:ext uri="{BB962C8B-B14F-4D97-AF65-F5344CB8AC3E}">
        <p14:creationId xmlns:p14="http://schemas.microsoft.com/office/powerpoint/2010/main" val="4817447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1E20D-6141-46E1-B094-0055CB29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研发现场   OpenAI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5768A-08D5-49C3-A20C-CDF1118C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执行之前，先让人看见计划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38475-93E6-4A00-B03E-51AA7A82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C5D87-AA2E-40F1-A598-C37070BD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Automating repetitive work at OpenAI with Codex, 2026, Running evaluations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296F5-11B1-45A8-BF90-8937FA33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A806E-9431-4C65-AF8D-3C157D5F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原文的任务要求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9C18E-AAB1-41DD-A22F-0956BB55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10820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“Wait for me to review and approve</a:t>
            </a:r>
          </a:p>
          <a:p xmlns:a="http://schemas.openxmlformats.org/drawingml/2006/main"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the plan before beginning.”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2E575-8EF1-41DF-94FE-62865009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8F79D-B425-439E-B4BB-F1669E7D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21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目标与旧记录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4B26F-5540-4E3D-8B9A-8B7C87D4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181600"/>
            <a:ext cx="609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35233-093C-4122-9E2D-D26B6729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0292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Codex拟计划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7C0A3-BA89-4326-B52F-5F6F5100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81600"/>
            <a:ext cx="609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3BC7F-0EC5-4A74-9238-98839094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292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人审阅后执行</a:t>
            </a:r>
          </a:p>
        </p:txBody>
      </p:sp>
    </p:spTree>
    <p:extLst>
      <p:ext uri="{BB962C8B-B14F-4D97-AF65-F5344CB8AC3E}">
        <p14:creationId xmlns:p14="http://schemas.microsoft.com/office/powerpoint/2010/main" val="14601418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0B7A9-3DFE-468D-8519-ED67D5B1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本组实践   一条真实核查任务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37733-4722-4F0E-9327-237E7792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一条来源主张怎样变成证据卡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B2DF7-4FC1-4A5D-BF7E-BE9FE9EB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742E2-B671-4382-AB60-20D14111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本项目 smoke-01 原始工具产物；执行者为Codex；原文依据为[5]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05FB0-F48D-4FEB-B5BE-33AE9C28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1F399-E652-4139-AE01-0092DC63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436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实际任务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13A0A-D51C-4A98-86E9-6AFE3CF4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333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核对执行前的</a:t>
            </a:r>
          </a:p>
          <a:p xmlns:a="http://schemas.openxmlformats.org/drawingml/2006/main">
            <a:pPr>
              <a:defRPr sz="2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计划与人审要求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81811-8452-4E3C-9B04-7C91DC30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436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工具产物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8D15C-5603-48E0-A029-3943CD48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333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来源定位</a:t>
            </a:r>
          </a:p>
          <a:p xmlns:a="http://schemas.openxmlformats.org/drawingml/2006/main"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证据卡与改写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A24C9-0E48-41E5-84D5-6EFF7399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38375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14A96-95B5-47AC-97DF-9B99DD4D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533650"/>
            <a:ext cx="5800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保留的出处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C35FB-537A-4757-96FE-D55C2F70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009900"/>
            <a:ext cx="5800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Running evaluations with Codex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63CD7-E929-41C5-821F-00E7000B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076700"/>
            <a:ext cx="5800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保留的适用范围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04CF3-2219-49A5-82FC-47AF005A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581525"/>
            <a:ext cx="58007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一位作者的工作流自述</a:t>
            </a:r>
          </a:p>
          <a:p xmlns:a="http://schemas.openxmlformats.org/drawingml/2006/main"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不能外推到所有发布评测</a:t>
            </a:r>
          </a:p>
        </p:txBody>
      </p:sp>
    </p:spTree>
    <p:extLst>
      <p:ext uri="{BB962C8B-B14F-4D97-AF65-F5344CB8AC3E}">
        <p14:creationId xmlns:p14="http://schemas.microsoft.com/office/powerpoint/2010/main" val="15845332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0F783-B0BE-462D-9812-71797103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回到题目   哪一条回流需要证据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0C8CB-0FBC-41C4-8511-61146EA7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递归改进，还要证明结果能回到下一轮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085CE-1607-4440-82E1-2102C41C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0E309-C896-4445-8FD7-E3A7BB94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本报告分析；所选案例依据见[4][5]及完整方案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B3B63-5E3A-4757-B3DA-A357D962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9EC7B-04ED-43E4-A2C2-A7E48508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276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研究系统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提出与执行方法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4A7F8-ACBA-4539-88F5-35DFE9B8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98132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A4A47-3EE3-42C7-886B-183D2FB3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86025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研发产物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权重、算法或流程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CE6CA-2328-4C85-92A4-AE0502FC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8132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5FF01-B099-4C1B-A212-E10BF262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86025"/>
            <a:ext cx="2809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评测与保留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检验局部收益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89E45-26EE-43A4-AC81-81A2B471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62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仍需证据的回流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8A3BC-E8CA-4E68-99AB-938E26C1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76850"/>
            <a:ext cx="9144000" cy="2381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938EC-470D-431E-B871-ECF2FD8A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改进后的系统，提高下一轮研究能力并持续承担后继研发</a:t>
            </a:r>
          </a:p>
        </p:txBody>
      </p:sp>
    </p:spTree>
    <p:extLst>
      <p:ext uri="{BB962C8B-B14F-4D97-AF65-F5344CB8AC3E}">
        <p14:creationId xmlns:p14="http://schemas.microsoft.com/office/powerpoint/2010/main" val="10614828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C1004-45A6-4A4F-BAF9-97BF2E79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来源   编号在PPT、稿件与报告中保持一致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4BA18-A085-4466-9460-C44D633D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样页引用的原始资料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53AE0-23C6-4747-B91B-61C4423B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0AF10-B979-46DA-B996-732C9768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本页只列审批样页使用的来源；整套文献在批准后统一编号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6283B-4B61-4ADB-9024-97081016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A8D13-51EC-4BE3-93B7-A5E512CC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[4] Chen Y.-H., Wen J., Kirchner J. 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5C180-6782-4582-B0A9-80E33B6E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Automated Researchers Can Mitigate Well-Characterized</a:t>
            </a:r>
          </a:p>
          <a:p xmlns:a="http://schemas.openxmlformats.org/drawingml/2006/main"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Alignment Failures [EB/OL]. Alignment Science Blog, 2026.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C938B-5937-4176-BBAC-F648FC6D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https://alignment.anthropic.com/2026/automated-alignment-researchers/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37321-BD2E-4013-9302-326DA604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[5] Lewi J. Automating repetitive work at OpenAI with Codex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F18A7-5EE8-4801-879A-3CCB235A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[EB/OL]. OpenAI Developers, 2026. 引用节：Running evaluations with Codex.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C89FF-3750-4E91-BD8F-47A4CA8E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完整URL见备注。核查日期：2026-10-14</a:t>
            </a:r>
          </a:p>
        </p:txBody>
      </p:sp>
    </p:spTree>
    <p:extLst>
      <p:ext uri="{BB962C8B-B14F-4D97-AF65-F5344CB8AC3E}">
        <p14:creationId xmlns:p14="http://schemas.microsoft.com/office/powerpoint/2010/main" val="1109107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2026-10-14T02:15:56.2020000Z</dcterms:created>
  <dcterms:modified xsi:type="dcterms:W3CDTF">2026-10-14T02:15:56.2020000Z</dcterms:modified>
</coreProperties>
</file>