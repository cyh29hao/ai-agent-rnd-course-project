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913c1da3254286" /><Relationship Type="http://schemas.openxmlformats.org/officeDocument/2006/relationships/extended-properties" Target="/docProps/app.xml" Id="Rd867cce094854018" /><Relationship Type="http://schemas.openxmlformats.org/officeDocument/2006/relationships/officeDocument" Target="/ppt/presentation.xml" Id="R8e59ada7f8744c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27a0d3b8984d89"/>
  </p:sldMasterIdLst>
  <p:notesMasterIdLst>
    <p:notesMasterId xmlns:r="http://schemas.openxmlformats.org/officeDocument/2006/relationships" r:id="Rb00c162a82c84d6f"/>
  </p:notesMasterIdLst>
  <p:sldIdLst>
    <p:sldId xmlns:r="http://schemas.openxmlformats.org/officeDocument/2006/relationships" id="256" r:id="R22c2b235fc954d8c"/>
    <p:sldId xmlns:r="http://schemas.openxmlformats.org/officeDocument/2006/relationships" id="257" r:id="R1f1a3495ccd44d90"/>
    <p:sldId xmlns:r="http://schemas.openxmlformats.org/officeDocument/2006/relationships" id="258" r:id="R100cb828db91428e"/>
    <p:sldId xmlns:r="http://schemas.openxmlformats.org/officeDocument/2006/relationships" id="259" r:id="R6540432cdcf54978"/>
    <p:sldId xmlns:r="http://schemas.openxmlformats.org/officeDocument/2006/relationships" id="260" r:id="R933968c579344c75"/>
    <p:sldId xmlns:r="http://schemas.openxmlformats.org/officeDocument/2006/relationships" id="261" r:id="Re4e50de64420448c"/>
    <p:sldId xmlns:r="http://schemas.openxmlformats.org/officeDocument/2006/relationships" id="262" r:id="R05523e5aa027405d"/>
    <p:sldId xmlns:r="http://schemas.openxmlformats.org/officeDocument/2006/relationships" id="263" r:id="R44e8f89c2c0147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153e521c77431b" /><Relationship Type="http://schemas.openxmlformats.org/officeDocument/2006/relationships/slideMaster" Target="/ppt/slideMasters/slideMaster1.xml" Id="R5a27a0d3b8984d89" /><Relationship Type="http://schemas.openxmlformats.org/officeDocument/2006/relationships/notesMaster" Target="/ppt/notesMasters/notesMaster1.xml" Id="Rb00c162a82c84d6f" /><Relationship Type="http://schemas.openxmlformats.org/officeDocument/2006/relationships/presProps" Target="/ppt/presProps.xml" Id="R18497c9c1098498f" /><Relationship Type="http://schemas.openxmlformats.org/officeDocument/2006/relationships/tableStyles" Target="/ppt/tableStyles.xml" Id="R48158b70b6df4a62" /><Relationship Type="http://schemas.openxmlformats.org/officeDocument/2006/relationships/slide" Target="/ppt/slides/slide1.xml" Id="R22c2b235fc954d8c" /><Relationship Type="http://schemas.openxmlformats.org/officeDocument/2006/relationships/slide" Target="/ppt/slides/slide2.xml" Id="R1f1a3495ccd44d90" /><Relationship Type="http://schemas.openxmlformats.org/officeDocument/2006/relationships/slide" Target="/ppt/slides/slide3.xml" Id="R100cb828db91428e" /><Relationship Type="http://schemas.openxmlformats.org/officeDocument/2006/relationships/slide" Target="/ppt/slides/slide4.xml" Id="R6540432cdcf54978" /><Relationship Type="http://schemas.openxmlformats.org/officeDocument/2006/relationships/slide" Target="/ppt/slides/slide5.xml" Id="R933968c579344c75" /><Relationship Type="http://schemas.openxmlformats.org/officeDocument/2006/relationships/slide" Target="/ppt/slides/slide6.xml" Id="Re4e50de64420448c" /><Relationship Type="http://schemas.openxmlformats.org/officeDocument/2006/relationships/slide" Target="/ppt/slides/slide7.xml" Id="R05523e5aa027405d" /><Relationship Type="http://schemas.openxmlformats.org/officeDocument/2006/relationships/slide" Target="/ppt/slides/slide8.xml" Id="R44e8f89c2c0147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ae062b73a241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b768b2b1f4454e" /><Relationship Type="http://schemas.openxmlformats.org/officeDocument/2006/relationships/notesMaster" Target="/ppt/notesMasters/notesMaster1.xml" Id="R7f0943dd67194f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051ec0b29c44f4" /><Relationship Type="http://schemas.openxmlformats.org/officeDocument/2006/relationships/notesMaster" Target="/ppt/notesMasters/notesMaster1.xml" Id="R26904689c7bb40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8ead5df9d149e2" /><Relationship Type="http://schemas.openxmlformats.org/officeDocument/2006/relationships/notesMaster" Target="/ppt/notesMasters/notesMaster1.xml" Id="R2fe79c93426e41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d3093b72c541dd" /><Relationship Type="http://schemas.openxmlformats.org/officeDocument/2006/relationships/notesMaster" Target="/ppt/notesMasters/notesMaster1.xml" Id="Rcc286bf501b647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0cf11fc2a949b6" /><Relationship Type="http://schemas.openxmlformats.org/officeDocument/2006/relationships/notesMaster" Target="/ppt/notesMasters/notesMaster1.xml" Id="R7e2e5ae2831148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8b16dcec664be4" /><Relationship Type="http://schemas.openxmlformats.org/officeDocument/2006/relationships/notesMaster" Target="/ppt/notesMasters/notesMaster1.xml" Id="R6bf1cc72d44743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d7843bf03a4502" /><Relationship Type="http://schemas.openxmlformats.org/officeDocument/2006/relationships/notesMaster" Target="/ppt/notesMasters/notesMaster1.xml" Id="Rf5e6cfe4245f4f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3a44ccac7d4ada" /><Relationship Type="http://schemas.openxmlformats.org/officeDocument/2006/relationships/notesMaster" Target="/ppt/notesMasters/notesMaster1.xml" Id="R22c31eaf24a240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审批样页，拟用于主讲第9页。</a:t>
            </a:r>
          </a:p>
          <a:p xmlns:a="http://schemas.openxmlformats.org/drawingml/2006/main">
            <a:r>
              <a:t>研究Agent提出的一条路线，是先让教师更少迎合。图中改变的是模型推理时的内部表示。这会影响教师给出的回答分布。学生还没有接受训练，所以这一步本身还没有把新行为写进学生权重。下一页再看它怎样保留下来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审批样页，拟用于主讲第10页。</a:t>
            </a:r>
          </a:p>
          <a:p xmlns:a="http://schemas.openxmlformats.org/drawingml/2006/main">
            <a:r>
              <a:t>第二步才发生训练。引导后的教师给出输出概率分布，学生也给出自己的分布。KL散度用来衡量两者的差异，训练据此调整学生参数。这样，学生在正常推理时也能保留部分行为变化，随后交给外部评测。教师来自目标模型的引导版本，不需要假设更强的外部教师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审批样页，拟用于主讲第11页。</a:t>
            </a:r>
          </a:p>
          <a:p xmlns:a="http://schemas.openxmlformats.org/drawingml/2006/main">
            <a:r>
              <a:t>先用一个数值例子理解论文的指标。原来50分，训练后70分，满分100分。实际增加了20分，而原来距离满分还有50分，因此关闭了40%的改善空间。这样，下面的论文百分数才有明确的分母。多基准汇总还有几何均值，详细式子留在备份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审批样页，拟用于主讲第12页。</a:t>
            </a:r>
          </a:p>
          <a:p xmlns:a="http://schemas.openxmlformats.org/drawingml/2006/main">
            <a:r>
              <a:t>现在看论文的真实比较。横轴是前一页解释的改善空间比例。这里比较允许不同训练办法的搜索条件，方法数量都截到150个，并非刚才一个蒸馏配方的单独效果。不受限方法在这一运行中得到更大的改善。不过，每个条件只有一次运行；这些数字属于谄媚任务的爬坡评测，不代表所有任务，也不等于各条件的全部时间和成本相同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审批样页，拟用于主讲第14页。</a:t>
            </a:r>
          </a:p>
          <a:p xmlns:a="http://schemas.openxmlformats.org/drawingml/2006/main">
            <a:r>
              <a:t>OpenAI工程师Jeremy Lewi公开了他运行发布前评测的流程。研究员把目标写进Runme，Codex参考旧记录拟定计划。作者写了一句很关键的要求：先等他审阅批准，再开始执行。后面再看执行过程怎样留下命令和结果，让下一次任务可以复用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审批样页，拟用于主讲第21页。</a:t>
            </a:r>
          </a:p>
          <a:p xmlns:a="http://schemas.openxmlformats.org/drawingml/2006/main">
            <a:r>
              <a:t>准备报告时，我们要知道一个结论来自谁，能够推广到哪里。于是Codex核对了刚才那条人审要求，打开公开文章并保存证据卡。左边是原文短句，右边是实际保存的中文改写。它还保留了一项限定：这是这位作者介绍的流程。这样我们能回到具体句子检查，哪些结论可以采用，哪些仍需要人工核实。一张卡也不能证明整份报告已经核查完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  <a:p xmlns:a="http://schemas.openxmlformats.org/drawingml/2006/main">
            <a:r>
              <a:t>真实输出：materials/practice/runs/smoke/output.json</a:t>
            </a:r>
          </a:p>
          <a:p xmlns:a="http://schemas.openxmlformats.org/drawingml/2006/main">
            <a:r>
              <a:t>原始限定：这是一位 OpenAI 作者对其 Runme 工作流程的自述，不能据此推断所有 Codex 评测都如此或证明评测效果。</a:t>
            </a:r>
          </a:p>
          <a:p xmlns:a="http://schemas.openxmlformats.org/drawingml/2006/main">
            <a:r>
              <a:t>动作记录：materials/practice/runs/smoke/actions.jsonl；部分早期动作事后补记，不能当精确耗时。</a:t>
            </a:r>
          </a:p>
          <a:p xmlns:a="http://schemas.openxmlformats.org/drawingml/2006/main">
            <a:r>
              <a:t>不是本组复现公司训练，也不是四人逐一执行。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审批样页，拟用于主讲第19页。</a:t>
            </a:r>
          </a:p>
          <a:p xmlns:a="http://schemas.openxmlformats.org/drawingml/2006/main">
            <a:r>
              <a:t>刚才的研究系统已经会把评测结果和记录带回下一次尝试，这是一种真实的反馈循环。还要问另一件事：研发产物的改进，是否提高了系统继续研究的能力，并能持续产生更强的后继系统？局部代码或策略改进可以存在，但完整后继研发仍需要更充分的证据。人工审批属于治理安排，不能单凭它是否存在来判定技术能力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审批样页，拟用于主讲第引用页页。</a:t>
            </a:r>
          </a:p>
          <a:p xmlns:a="http://schemas.openxmlformats.org/drawingml/2006/main">
            <a:r>
              <a:t>课堂中第一次介绍来源时说作者与研究对象，页脚给短引用与节图，完整链接放备注与文献页。</a:t>
            </a:r>
          </a:p>
          <a:p xmlns:a="http://schemas.openxmlformats.org/drawingml/2006/main">
            <a:r>
              <a:t>来源与边界见本页脚和审批方案。</a:t>
            </a:r>
          </a:p>
          <a:p xmlns:a="http://schemas.openxmlformats.org/drawingml/2006/main">
            <a:r>
              <a:t>原文：https://alignment.anthropic.com/2026/automated-alignment-researchers/</a:t>
            </a:r>
          </a:p>
          <a:p xmlns:a="http://schemas.openxmlformats.org/drawingml/2006/main">
            <a:r>
              <a:t>OpenAI原文：https://developers.openai.com/blog/automating-repetitive-work-at-openai-with-codex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184e534254b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157b556ad7471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64eabf1e384d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a6d44d60c54b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817e83814d4fd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fb79c7a374b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A7EBBF-7798-4016-8AD2-25D0D866E1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04F2388-A379-47CC-8A3C-34AA4EFBBC2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68E601-76D5-4384-B364-349FC4E65D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F38DC5-320F-41A1-9E0E-5D35EB742A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F3FBDEE-4222-4490-BA2B-23962B54B1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73A17D-7CE1-40F7-B56F-2DEE52F8CD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8BCDC6-1327-4A08-8E87-E16FBF61CF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18C57A9-1705-4B19-B2AC-F1F8E86537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DEC68C-D436-4BE0-B399-036EDCA4DE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C1F14B2-32AD-42A1-BE71-C2F038EC0A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8f5c6bd302400f" /><Relationship Type="http://schemas.openxmlformats.org/officeDocument/2006/relationships/slideLayout" Target="/ppt/slideLayouts/slideLayout1.xml" Id="R5af77b51c93849d6" /><Relationship Type="http://schemas.openxmlformats.org/officeDocument/2006/relationships/slideLayout" Target="/ppt/slideLayouts/slideLayout2.xml" Id="Rb0cacf5ea54045da" /><Relationship Type="http://schemas.openxmlformats.org/officeDocument/2006/relationships/slideLayout" Target="/ppt/slideLayouts/slideLayout3.xml" Id="R53ef272d3ebc44f7" /><Relationship Type="http://schemas.openxmlformats.org/officeDocument/2006/relationships/slideLayout" Target="/ppt/slideLayouts/slideLayout4.xml" Id="R1a5e1c07e280462a" /><Relationship Type="http://schemas.openxmlformats.org/officeDocument/2006/relationships/slideLayout" Target="/ppt/slideLayouts/slideLayout5.xml" Id="R7a4890d74a00443e" /><Relationship Type="http://schemas.openxmlformats.org/officeDocument/2006/relationships/slideLayout" Target="/ppt/slideLayouts/slideLayout6.xml" Id="R9c8d17430ff440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f77b51c93849d6"/>
    <p:sldLayoutId xmlns:r="http://schemas.openxmlformats.org/officeDocument/2006/relationships" id="2147483650" r:id="Rb0cacf5ea54045da"/>
    <p:sldLayoutId xmlns:r="http://schemas.openxmlformats.org/officeDocument/2006/relationships" id="2147483651" r:id="R53ef272d3ebc44f7"/>
    <p:sldLayoutId xmlns:r="http://schemas.openxmlformats.org/officeDocument/2006/relationships" id="2147483652" r:id="R1a5e1c07e280462a"/>
    <p:sldLayoutId xmlns:r="http://schemas.openxmlformats.org/officeDocument/2006/relationships" id="2147483653" r:id="R7a4890d74a00443e"/>
    <p:sldLayoutId xmlns:r="http://schemas.openxmlformats.org/officeDocument/2006/relationships" id="2147483654" r:id="R9c8d17430ff440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9b0eb3a7464af1" /><Relationship Type="http://schemas.openxmlformats.org/officeDocument/2006/relationships/notesSlide" Target="/ppt/notesSlides/notesSlide1.xml" Id="Rd9e7811653a344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65f329940348b9" /><Relationship Type="http://schemas.openxmlformats.org/officeDocument/2006/relationships/notesSlide" Target="/ppt/notesSlides/notesSlide2.xml" Id="R76643756855844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acf33f0eb14757" /><Relationship Type="http://schemas.openxmlformats.org/officeDocument/2006/relationships/notesSlide" Target="/ppt/notesSlides/notesSlide3.xml" Id="R9eb5a80b0a6d44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4bb901ce8640fb" /><Relationship Type="http://schemas.openxmlformats.org/officeDocument/2006/relationships/chart" Target="/ppt/slides/charts/chart1.xml" Id="R6aa6e5bda1ca408c" /><Relationship Type="http://schemas.openxmlformats.org/officeDocument/2006/relationships/notesSlide" Target="/ppt/notesSlides/notesSlide4.xml" Id="Rb170b68018cf4e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428bc4c13a40b7" /><Relationship Type="http://schemas.openxmlformats.org/officeDocument/2006/relationships/notesSlide" Target="/ppt/notesSlides/notesSlide5.xml" Id="R42e4c76d31f44e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3708f3ed6a49ca" /><Relationship Type="http://schemas.openxmlformats.org/officeDocument/2006/relationships/notesSlide" Target="/ppt/notesSlides/notesSlide6.xml" Id="R7c4aee684a4643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ff4f3dcf6b4de9" /><Relationship Type="http://schemas.openxmlformats.org/officeDocument/2006/relationships/notesSlide" Target="/ppt/notesSlides/notesSlide7.xml" Id="Rd72002e03bd24a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9cec2b22fb48c1" /><Relationship Type="http://schemas.openxmlformats.org/officeDocument/2006/relationships/notesSlide" Target="/ppt/notesSlides/notesSlide8.xml" Id="R4ad89824d8754d1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改善空间</c:v>
          </c:tx>
          <c:spPr>
            <a:solidFill xmlns:a="http://schemas.openxmlformats.org/drawingml/2006/main">
              <a:srgbClr val="167F78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公开数据 SFT</c:v>
                </c:pt>
                <c:pt idx="1">
                  <c:v>自由数据 SFT</c:v>
                </c:pt>
                <c:pt idx="2">
                  <c:v>不受限研究方法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0.06</c:v>
                </c:pt>
                <c:pt idx="1">
                  <c:v>0.029</c:v>
                </c:pt>
                <c:pt idx="2">
                  <c:v>0.233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E3544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3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5D9D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AF8F3"/>
        </a:solidFill>
      </c:spPr>
    </c:plotArea>
    <c:plotVisOnly val="1"/>
  </c:chart>
  <c:spPr>
    <a:solidFill xmlns:a="http://schemas.openxmlformats.org/drawingml/2006/main">
      <a:srgbClr val="FAF8F3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DADCC-B6E9-44B2-B1B3-D89B490A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模型改进   Anthropic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D08F6-2F6D-45A8-B219-42730433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激活引导改变教师的回答倾向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7BD6E-B02B-4E91-83A3-AFD610D4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6E66E-C520-44D6-A34B-7D757044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Chen 等, Automated Researchers…, 2026, App. D.4；此图为机制示意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060BA-C4F6-4B2F-B477-C1F7EE79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53DE1-B90A-4ECE-9532-15F95CF4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目标：更少迎合用户的错误观点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FDCCA-CCAF-4C8E-9D62-FF03C3F0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314325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同一模型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原来的内部表示 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168E0-6B73-4EB8-8661-1A2BF6C3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86175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CF036-69C0-4BB9-99E3-42073F53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33725"/>
            <a:ext cx="28575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0">
            <a:solidFill>
              <a:srgbClr val="EFE5DA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激活引导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加入方向性干预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0721A-D024-41E7-97BE-1E3F0477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686175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2A287-F356-45B8-A138-AA9C82D9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33725"/>
            <a:ext cx="2619375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引导后的教师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输出倾向改变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2E1CF-3F7F-42CB-BC06-84D54454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激活引导改变教师的输出分布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BD389-ADC7-4DDE-9F4F-CF1092F6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学生权重尚未在这一步更新</a:t>
            </a:r>
          </a:p>
        </p:txBody>
      </p:sp>
    </p:spTree>
    <p:extLst>
      <p:ext uri="{BB962C8B-B14F-4D97-AF65-F5344CB8AC3E}">
        <p14:creationId xmlns:p14="http://schemas.microsoft.com/office/powerpoint/2010/main" val="10003320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278D3-C82F-4ECA-9415-30572FAB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模型改进   Anthropic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C8F02-AE6D-466F-BE50-42C30D6B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蒸馏训练更新学生模型的权重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53600-0F08-4304-9E64-0C8DCB06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734AE-2DB0-40B8-95C2-4A9D68D6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同上, App. D.4；KL方向与配方系数未由此图指定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867A3-482D-4D7F-A474-31DBFD63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43E76-3E5B-4DEC-8123-110D9916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3667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教师分布 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F744A-E9DB-4B52-841B-C6C31684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6671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学生分布 pθ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50A9C-1724-45FC-8232-757D43EF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5272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7C98C-F96B-48C5-8DC7-9AAE6FC5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48175"/>
            <a:ext cx="6286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011E9-6001-4CD3-8DC6-1E8AAB9E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52750"/>
            <a:ext cx="26955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5DA"/>
          </a:solidFill>
          <a:ln xmlns:a="http://schemas.openxmlformats.org/drawingml/2006/main" w="0">
            <a:solidFill>
              <a:srgbClr val="EFE5DA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比较输出分布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KL训练目标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96E6F-5267-485A-A872-ABA297DA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09975"/>
            <a:ext cx="600075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819946-30AC-4D50-8FF7-F880CAD9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52750"/>
            <a:ext cx="212407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更新权重 θ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正常推理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12EB1-3880-4BA6-A8B2-762F6242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推理时的临时干预，通过训练形成可保留的行为变化</a:t>
            </a:r>
          </a:p>
        </p:txBody>
      </p:sp>
    </p:spTree>
    <p:extLst>
      <p:ext uri="{BB962C8B-B14F-4D97-AF65-F5344CB8AC3E}">
        <p14:creationId xmlns:p14="http://schemas.microsoft.com/office/powerpoint/2010/main" val="7714914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3FBCE1-F3B2-4001-B867-7EEE8B2A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结果解释   一个教学例子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24AD6-70DA-4C28-8753-C72DB066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改善了多少，要看原来还有多少空间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61BA7-B5AE-4ED5-9B98-50B92526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89B0A-C64F-4714-AC13-414FB168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指标定义见 §2.2；50、70、100仅为教学数值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62593-F7DC-4C8A-B53F-1DEA7D34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E5C92-6DF5-47B9-BA27-D364C676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24F18-22D2-4F1B-BD05-F694B556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AA863-255A-43D4-958E-843EA5B7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288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训练后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FD95FF-E826-45F3-9551-E71D0E04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33675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16112-14D9-4C15-9AE3-2BEE36F9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288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该指标最优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7EBD65-A4E2-4948-8348-189B31A2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33675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A6CCD-09EF-4351-9CC5-3F1E9B64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371B7-157D-427D-8C8E-B6FC414C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关闭的改善空间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081B7-39E5-4A34-A580-51C63FFD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438650"/>
            <a:ext cx="6524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(70 − 50) / (100 − 50) = 40%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C03C3-AA55-466A-ADBD-B8F45C0C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接下来才看真实实验。这个40%不是论文结果</a:t>
            </a:r>
          </a:p>
        </p:txBody>
      </p:sp>
    </p:spTree>
    <p:extLst>
      <p:ext uri="{BB962C8B-B14F-4D97-AF65-F5344CB8AC3E}">
        <p14:creationId xmlns:p14="http://schemas.microsoft.com/office/powerpoint/2010/main" val="17126788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768F5-9246-479D-A9F3-87FEA5E3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结果解释   相同方法数量下的比较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256B9-BF8A-4067-8834-2449EC83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方法空间不同，探索到的结果也不同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4C065-D8BF-4CCA-BC1F-FF5CEF14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1C5C4-ED5B-493A-AD41-3E90D3E7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[4] App. D.4, Fig.20；Qwen3.5-2B／谄媚／前150个已评分方法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F7B89-D250-4DE9-9087-D1F4B00F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7CD89-47FD-4FFC-8CF3-4AE9470D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谄媚任务的改善空间关闭比例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5062BBE2-17CD-4C25-A426-ACD54A461B9D}"/>
              </a:ext>
            </a:extLst>
          </p:cNvPr>
          <p:cNvGraphicFramePr/>
          <p:nvPr/>
        </p:nvGraphicFramePr>
        <p:xfrm>
          <a:off xmlns:a="http://schemas.openxmlformats.org/drawingml/2006/main" x="685800" y="2686050"/>
          <a:ext xmlns:a="http://schemas.openxmlformats.org/drawingml/2006/main" cx="6953250" cy="3105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a6e5bda1ca408c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02C7E-9AC4-4ABB-B138-E20D9D44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3409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比较的是</a:t>
            </a:r>
          </a:p>
          <a:p xmlns:a="http://schemas.openxmlformats.org/drawingml/2006/main">
            <a:pPr>
              <a:def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可探索的训练办法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87A7E-A4B5-46BE-B8A7-ACD6E977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33813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每条件一次</a:t>
            </a:r>
          </a:p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爬坡评测套件</a:t>
            </a:r>
          </a:p>
          <a:p xmlns:a="http://schemas.openxmlformats.org/drawingml/2006/main">
            <a:pPr>
              <a:def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任务与模型有限定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0902A-794D-483C-ABBD-5933499A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SFT指监督微调。各条件允许的训练办法不同</a:t>
            </a:r>
          </a:p>
        </p:txBody>
      </p:sp>
    </p:spTree>
    <p:extLst>
      <p:ext uri="{BB962C8B-B14F-4D97-AF65-F5344CB8AC3E}">
        <p14:creationId xmlns:p14="http://schemas.microsoft.com/office/powerpoint/2010/main" val="12080460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DA4FCE-6001-404F-B5E0-6814C577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研发现场   OpenAI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900AE-378F-4E4D-943E-3A241A9E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执行之前，先让人看见计划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5EF75-6755-48CF-814D-DD3506A4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9D2C8D-8ED6-4891-95B7-95EBCB6E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[5] Lewi, Automating repetitive work at OpenAI with Codex, 2026, Running evaluations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E4271-EC75-4B90-B713-68CD76A2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5EFCE-1E1E-46B1-B480-1B5709A7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原文的任务要求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C15B0-29E4-4FAB-8479-438D107F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108204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“Wait for me to review and approve</a:t>
            </a:r>
          </a:p>
          <a:p xmlns:a="http://schemas.openxmlformats.org/drawingml/2006/main">
            <a:pPr>
              <a:def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the plan before beginning.”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1B2CF-FEDA-46DB-8281-F834BB26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32B7D-22FC-4B44-B5E2-3CCBE833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321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目标与旧记录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8CB5B-BDE3-4946-9272-ACD38A89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181600"/>
            <a:ext cx="609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73D90-235A-4BD1-A104-15386FC7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0292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Codex拟计划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60850-87A5-48F3-9A47-C01CDA37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81600"/>
            <a:ext cx="609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1F6AC-3F3B-45A1-9310-BA551358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292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人审阅后执行</a:t>
            </a:r>
          </a:p>
        </p:txBody>
      </p:sp>
    </p:spTree>
    <p:extLst>
      <p:ext uri="{BB962C8B-B14F-4D97-AF65-F5344CB8AC3E}">
        <p14:creationId xmlns:p14="http://schemas.microsoft.com/office/powerpoint/2010/main" val="16722126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A0839-D0A6-4D6F-B67A-B00FE5F0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本组实践   一条真实核查任务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E6747-58BA-477F-8F02-A2D48B96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一条来源主张怎样变成证据卡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0003B-0A41-4CD0-A26E-C17AC660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AF2C5-1CF8-4625-8C5C-D2566B31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原文依据[5]；中文摘自本项目smoke-01原始产物，工具执行由Codex完成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9208E-A7F2-4137-94E4-B0F91CAC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E58B9-6C21-4DAD-8C4E-DEB08EB2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4619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原文的关键要求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6E51B-AECE-4FF5-A4C4-A3940ABB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619625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“Wait for me to review</a:t>
            </a:r>
          </a:p>
          <a:p xmlns:a="http://schemas.openxmlformats.org/drawingml/2006/main"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and approve the plan</a:t>
            </a:r>
          </a:p>
          <a:p xmlns:a="http://schemas.openxmlformats.org/drawingml/2006/main">
            <a:pPr>
              <a:def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before beginning.”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29A42-233F-4EA4-A5ED-34A3DD35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95525"/>
            <a:ext cx="531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证据卡中的对应改写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9562C-1E1C-4D1B-8181-14936F76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53149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先在笔记本写计划，</a:t>
            </a:r>
          </a:p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待作者审阅批准后，</a:t>
            </a:r>
          </a:p>
          <a:p xmlns:a="http://schemas.openxmlformats.org/drawingml/2006/main">
            <a:pPr>
              <a:def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再开始执行。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403DB-5E6C-4C0D-A734-295243DD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AE314-671B-42D9-AAB6-90B5A8C1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适用范围：这位作者的工作流，不能外推到全部发布评测</a:t>
            </a:r>
          </a:p>
        </p:txBody>
      </p:sp>
    </p:spTree>
    <p:extLst>
      <p:ext uri="{BB962C8B-B14F-4D97-AF65-F5344CB8AC3E}">
        <p14:creationId xmlns:p14="http://schemas.microsoft.com/office/powerpoint/2010/main" val="6040271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D164E-3FA9-406F-85EE-F4D6E122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回到题目   两种回流各需要什么证据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D2432-1E19-4F61-93B8-70B20366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结果反馈，还要走到研发能力的持续改进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E7520-7FD9-453E-B87E-FBCC66DD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A12D9-6C71-4186-85D9-D049B207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本报告分析；所选案例依据见[4][5]及完整方案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6BED8-CBF9-4962-8480-566D6BC5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5D02B-6FF4-4B46-B92D-163899D7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276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研究系统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提出与执行方法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8F4E3-982F-4884-B859-76903D39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981325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F9053-3B17-4051-88D3-65CD9197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86025"/>
            <a:ext cx="2857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研发产物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权重、算法或流程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F02B4-1D11-4097-B85F-205CFC43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981325"/>
            <a:ext cx="6667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67F7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CC1CE-E22C-4A1E-A0BA-F1EB90C6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86025"/>
            <a:ext cx="28098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solidFill>
              <a:srgbClr val="E7EFEB"/>
            </a:solidFill>
          </a:ln>
        </p:spPr>
        <p:txBody>
          <a:bodyPr xmlns:a="http://schemas.openxmlformats.org/drawingml/2006/main" lIns="190500" tIns="190500" rIns="190500" bIns="190500"/>
          <a:lstStyle xmlns:a="http://schemas.openxmlformats.org/drawingml/2006/main">
            <a:def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评测与保留</a:t>
            </a:r>
          </a:p>
          <a:p xmlns:a="http://schemas.openxmlformats.org/drawingml/2006/main">
            <a:pPr>
              <a:def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检验局部收益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6F5F7-4412-4D03-A1E4-78F906F7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已有：评测结果与记录，反馈给下一次尝试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1B719-1A70-49A0-8209-7234D99A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14850"/>
            <a:ext cx="9144000" cy="2381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E7EFE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ECE6A0-846D-4BE8-89ED-2EC3B5BD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620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待验证：改进是否持续提高下一轮研发能力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B50F3-5471-4B90-9F22-EAED646C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24500"/>
            <a:ext cx="9144000" cy="2381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A5B1F-68F3-43EC-80B7-34FB6F4E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B65D3E"/>
                </a:solidFill>
                <a:latin typeface="Microsoft YaHei"/>
                <a:ea typeface="Microsoft YaHei"/>
                <a:cs typeface="Microsoft YaHei"/>
              </a:rPr>
              <a:t>并持续产生更强的后继系统</a:t>
            </a:r>
          </a:p>
        </p:txBody>
      </p:sp>
    </p:spTree>
    <p:extLst>
      <p:ext uri="{BB962C8B-B14F-4D97-AF65-F5344CB8AC3E}">
        <p14:creationId xmlns:p14="http://schemas.microsoft.com/office/powerpoint/2010/main" val="20936600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BFBBD-E56C-466A-AF99-8F417DE0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来源   编号在PPT、稿件与报告中保持一致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03357-50CE-4878-A4F5-638BB412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样页引用的原始资料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B1A680-E3F4-4CCF-BDE3-26BDD186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9D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ED087-4A77-400C-BB69-4A3A0032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本页只列审批样页使用的来源；整套文献在批准后统一编号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06643-B337-44A4-B349-202DC9FC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29375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57884-8F5A-4B66-876E-6A5CA453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[4] Chen Y.-H., Wen J., Kirchner J. 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7D10A-19B8-4028-A123-2623FFAE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Automated Researchers Can Mitigate Well-Characterized</a:t>
            </a:r>
          </a:p>
          <a:p xmlns:a="http://schemas.openxmlformats.org/drawingml/2006/main">
            <a:pPr>
              <a:def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Alignment Failures [EB/OL]. Alignment Science Blog, 2026.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60CBBD-98FD-4B46-AC62-122A09A7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https://alignment.anthropic.com/2026/automated-alignment-researchers/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C916E-6F0A-461A-A696-E263CD29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7F78"/>
                </a:solidFill>
                <a:latin typeface="Microsoft YaHei"/>
                <a:ea typeface="Microsoft YaHei"/>
                <a:cs typeface="Microsoft YaHei"/>
              </a:rPr>
              <a:t>[5] Lewi J. Automating repetitive work at OpenAI with Codex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83829-9CB6-4BCE-B9C6-2C685522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rPr>
              <a:t>[EB/OL]. OpenAI Developers, 2026. 引用节：Running evaluations with Codex.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99833-DE96-440D-AFB9-8AD222C1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rPr>
              <a:t>完整URL见备注。核查日期：2026-10-14</a:t>
            </a:r>
          </a:p>
        </p:txBody>
      </p:sp>
    </p:spTree>
    <p:extLst>
      <p:ext uri="{BB962C8B-B14F-4D97-AF65-F5344CB8AC3E}">
        <p14:creationId xmlns:p14="http://schemas.microsoft.com/office/powerpoint/2010/main" val="16268419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2026-10-14T02:33:09.1050000Z</dcterms:created>
  <dcterms:modified xsi:type="dcterms:W3CDTF">2026-10-14T02:33:09.1050000Z</dcterms:modified>
</coreProperties>
</file>