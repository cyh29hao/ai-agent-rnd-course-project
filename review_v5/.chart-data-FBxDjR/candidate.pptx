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06fcab37af42a4" /><Relationship Type="http://schemas.openxmlformats.org/officeDocument/2006/relationships/extended-properties" Target="/docProps/app.xml" Id="Ra9b3068350ee43fc" /><Relationship Type="http://schemas.openxmlformats.org/officeDocument/2006/relationships/officeDocument" Target="/ppt/presentation.xml" Id="Rcfde8b25ad8b42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4ea30a14f444cb"/>
  </p:sldMasterIdLst>
  <p:notesMasterIdLst>
    <p:notesMasterId xmlns:r="http://schemas.openxmlformats.org/officeDocument/2006/relationships" r:id="Ra72128345ff14966"/>
  </p:notesMasterIdLst>
  <p:sldIdLst>
    <p:sldId xmlns:r="http://schemas.openxmlformats.org/officeDocument/2006/relationships" id="256" r:id="Rdcf56f793e3247d9"/>
    <p:sldId xmlns:r="http://schemas.openxmlformats.org/officeDocument/2006/relationships" id="257" r:id="R4980a26e0f0343dd"/>
    <p:sldId xmlns:r="http://schemas.openxmlformats.org/officeDocument/2006/relationships" id="258" r:id="Rdd9e8b63bba44374"/>
    <p:sldId xmlns:r="http://schemas.openxmlformats.org/officeDocument/2006/relationships" id="259" r:id="R6c07eb3dc0784ef8"/>
    <p:sldId xmlns:r="http://schemas.openxmlformats.org/officeDocument/2006/relationships" id="260" r:id="Refce9b482bdf4b96"/>
    <p:sldId xmlns:r="http://schemas.openxmlformats.org/officeDocument/2006/relationships" id="261" r:id="R850fa13a72f94970"/>
    <p:sldId xmlns:r="http://schemas.openxmlformats.org/officeDocument/2006/relationships" id="262" r:id="R840335a7f94643aa"/>
    <p:sldId xmlns:r="http://schemas.openxmlformats.org/officeDocument/2006/relationships" id="263" r:id="R17b3f7f60bcc46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26e93555ff493c" /><Relationship Type="http://schemas.openxmlformats.org/officeDocument/2006/relationships/slideMaster" Target="/ppt/slideMasters/slideMaster1.xml" Id="R3e4ea30a14f444cb" /><Relationship Type="http://schemas.openxmlformats.org/officeDocument/2006/relationships/notesMaster" Target="/ppt/notesMasters/notesMaster1.xml" Id="Ra72128345ff14966" /><Relationship Type="http://schemas.openxmlformats.org/officeDocument/2006/relationships/presProps" Target="/ppt/presProps.xml" Id="R4fed33a691134920" /><Relationship Type="http://schemas.openxmlformats.org/officeDocument/2006/relationships/tableStyles" Target="/ppt/tableStyles.xml" Id="R2ad6051d3a5e4d23" /><Relationship Type="http://schemas.openxmlformats.org/officeDocument/2006/relationships/slide" Target="/ppt/slides/slide1.xml" Id="Rdcf56f793e3247d9" /><Relationship Type="http://schemas.openxmlformats.org/officeDocument/2006/relationships/slide" Target="/ppt/slides/slide2.xml" Id="R4980a26e0f0343dd" /><Relationship Type="http://schemas.openxmlformats.org/officeDocument/2006/relationships/slide" Target="/ppt/slides/slide3.xml" Id="Rdd9e8b63bba44374" /><Relationship Type="http://schemas.openxmlformats.org/officeDocument/2006/relationships/slide" Target="/ppt/slides/slide4.xml" Id="R6c07eb3dc0784ef8" /><Relationship Type="http://schemas.openxmlformats.org/officeDocument/2006/relationships/slide" Target="/ppt/slides/slide5.xml" Id="Refce9b482bdf4b96" /><Relationship Type="http://schemas.openxmlformats.org/officeDocument/2006/relationships/slide" Target="/ppt/slides/slide6.xml" Id="R850fa13a72f94970" /><Relationship Type="http://schemas.openxmlformats.org/officeDocument/2006/relationships/slide" Target="/ppt/slides/slide7.xml" Id="R840335a7f94643aa" /><Relationship Type="http://schemas.openxmlformats.org/officeDocument/2006/relationships/slide" Target="/ppt/slides/slide8.xml" Id="R17b3f7f60bcc46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6b3c262dfa49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acb73ccb0c426c" /><Relationship Type="http://schemas.openxmlformats.org/officeDocument/2006/relationships/notesMaster" Target="/ppt/notesMasters/notesMaster1.xml" Id="Rc20e1bfe0fe54a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aa7e0b4558480c" /><Relationship Type="http://schemas.openxmlformats.org/officeDocument/2006/relationships/notesMaster" Target="/ppt/notesMasters/notesMaster1.xml" Id="R5c9605b656bd46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191e00e4b24fa1" /><Relationship Type="http://schemas.openxmlformats.org/officeDocument/2006/relationships/notesMaster" Target="/ppt/notesMasters/notesMaster1.xml" Id="Rb1d294657d0f48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0e2ce5880d47e5" /><Relationship Type="http://schemas.openxmlformats.org/officeDocument/2006/relationships/notesMaster" Target="/ppt/notesMasters/notesMaster1.xml" Id="R2fa871c975414d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13b2a022ad4f56" /><Relationship Type="http://schemas.openxmlformats.org/officeDocument/2006/relationships/notesMaster" Target="/ppt/notesMasters/notesMaster1.xml" Id="R94034530d91545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a78039ea5e4688" /><Relationship Type="http://schemas.openxmlformats.org/officeDocument/2006/relationships/notesMaster" Target="/ppt/notesMasters/notesMaster1.xml" Id="R18fefcf906df4c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1fbd59dbb94fa7" /><Relationship Type="http://schemas.openxmlformats.org/officeDocument/2006/relationships/notesMaster" Target="/ppt/notesMasters/notesMaster1.xml" Id="R971beae3f4b344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e330d32c4140bc" /><Relationship Type="http://schemas.openxmlformats.org/officeDocument/2006/relationships/notesMaster" Target="/ppt/notesMasters/notesMaster1.xml" Id="Rea423afbe1dd41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审批样页，拟用于主讲第9页。</a:t>
            </a:r>
          </a:p>
          <a:p xmlns:a="http://schemas.openxmlformats.org/drawingml/2006/main">
            <a:r>
              <a:t>研究Agent提出的一条路线，是先让教师更少迎合。图中改变的是模型推理时的内部表示。这会影响教师给出的回答分布。学生还没有接受训练，所以这一步本身还没有把新行为写进学生权重。下一页再看它怎样保留下来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审批样页，拟用于主讲第10页。</a:t>
            </a:r>
          </a:p>
          <a:p xmlns:a="http://schemas.openxmlformats.org/drawingml/2006/main">
            <a:r>
              <a:t>第二步才发生训练。引导后的教师给出输出概率分布，学生也给出自己的分布。KL散度用来衡量两者的差异，训练据此调整学生参数。这样，学生在正常推理时也能保留部分行为变化，随后交给外部评测。教师来自目标模型的引导版本，不需要假设更强的外部教师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审批样页，拟用于主讲第11页。</a:t>
            </a:r>
          </a:p>
          <a:p xmlns:a="http://schemas.openxmlformats.org/drawingml/2006/main">
            <a:r>
              <a:t>先用一个数值例子理解论文的指标。原来50分，训练后70分，满分100分。实际增加了20分，而原来距离满分还有50分，因此关闭了40%的改善空间。这样，下面的论文百分数才有明确的分母。多基准汇总还有几何均值，详细式子留在备份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审批样页，拟用于主讲第12页。</a:t>
            </a:r>
          </a:p>
          <a:p xmlns:a="http://schemas.openxmlformats.org/drawingml/2006/main">
            <a:r>
              <a:t>现在看论文的真实比较。横轴是前一页解释的改善空间比例。这几个条件使用相同的方法数量预算，但允许研究Agent使用的训练办法不同。不受限方法在这一运行中得到更大的改善。它提示训练目标和教师构造值得研究，但这是单任务、每条件一次的消融，不能直接推成全部安全问题的结论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审批样页，拟用于主讲第14页。</a:t>
            </a:r>
          </a:p>
          <a:p xmlns:a="http://schemas.openxmlformats.org/drawingml/2006/main">
            <a:r>
              <a:t>OpenAI工程师Jeremy Lewi公开了他运行发布前评测的流程。研究员把目标写进Runme，Codex参考旧记录拟定计划。作者写了一句很关键的要求：先等他审阅批准，再开始执行。后面再看执行过程怎样留下命令和结果，让下一次任务可以复用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审批样页，拟用于主讲第21页。</a:t>
            </a:r>
          </a:p>
          <a:p xmlns:a="http://schemas.openxmlformats.org/drawingml/2006/main">
            <a:r>
              <a:t>为了研究公司怎样用Agent，我们也让Codex核对一条来源主张。原始输入问的是：Codex是不是先写计划、等作者批准？它实际打开来源，定位评测节，保存了右边这张证据卡。卡片保留了出处和限定。工具执行由Codex完成，组长确定研究范围并审阅表达。其他成员的实际贡献按参与情况确认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  <a:p xmlns:a="http://schemas.openxmlformats.org/drawingml/2006/main">
            <a:r>
              <a:t>真实输出：materials/practice/runs/smoke/output.json</a:t>
            </a:r>
          </a:p>
          <a:p xmlns:a="http://schemas.openxmlformats.org/drawingml/2006/main">
            <a:r>
              <a:t>原始限定：这是一位 OpenAI 作者对其 Runme 工作流程的自述，不能据此推断所有 Codex 评测都如此或证明评测效果。</a:t>
            </a:r>
          </a:p>
          <a:p xmlns:a="http://schemas.openxmlformats.org/drawingml/2006/main">
            <a:r>
              <a:t>动作记录：materials/practice/runs/smoke/actions.jsonl；部分早期动作事后补记，不能当精确耗时。</a:t>
            </a:r>
          </a:p>
          <a:p xmlns:a="http://schemas.openxmlformats.org/drawingml/2006/main">
            <a:r>
              <a:t>不是本组复现公司训练，也不是四人逐一执行。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审批样页，拟用于主讲第19页。</a:t>
            </a:r>
          </a:p>
          <a:p xmlns:a="http://schemas.openxmlformats.org/drawingml/2006/main">
            <a:r>
              <a:t>这些案例已经让我们看见Agent参与研发并产生局部改进。但目标模型变好了，并不自动意味着提出方法的研究系统也变得更强。图里的回流才是需要进一步证明的部分：新系统是否提升后续研究能力，能否继续开发并检验更强的后继系统。人的审批另属治理安排，单凭它存在不能判定有没有递归技术能力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审批样页，拟用于主讲第引用页页。</a:t>
            </a:r>
          </a:p>
          <a:p xmlns:a="http://schemas.openxmlformats.org/drawingml/2006/main">
            <a:r>
              <a:t>课堂中第一次介绍来源时说作者与研究对象，页脚给短引用与节图，完整链接放备注与文献页。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1e9fe984b4f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fe422bf0f4e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aff2284354e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b9742ff2a40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e98cec855447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1d7ba8a6f42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5FA64B-16BE-4BB5-8DF3-874CE53EFD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01EC65-6965-49B0-BB14-691E02B6B4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7EED8E-3E83-4485-BEAF-4E37628BA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B9FBFD-FEF1-4BC6-BDE3-3E4677509F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E2D06C-3D42-4D5C-868C-7B1783DDA4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AE0DC8-177B-4B0E-8353-D3F60D7F2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CCFE62-B518-4A72-AA66-CE53E356F4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1D2E1FD-25F2-406D-87E8-13AFE31A67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1BF553-41EF-43E5-89A3-610EEE541E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1843E4-D0E9-4A82-96BB-53D7065E26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a4a04d3b344b97" /><Relationship Type="http://schemas.openxmlformats.org/officeDocument/2006/relationships/slideLayout" Target="/ppt/slideLayouts/slideLayout1.xml" Id="Raaa53f00439f439e" /><Relationship Type="http://schemas.openxmlformats.org/officeDocument/2006/relationships/slideLayout" Target="/ppt/slideLayouts/slideLayout2.xml" Id="R3e0daceaeb2146a0" /><Relationship Type="http://schemas.openxmlformats.org/officeDocument/2006/relationships/slideLayout" Target="/ppt/slideLayouts/slideLayout3.xml" Id="R2b973178943c4873" /><Relationship Type="http://schemas.openxmlformats.org/officeDocument/2006/relationships/slideLayout" Target="/ppt/slideLayouts/slideLayout4.xml" Id="R2ddaf022b8314a2d" /><Relationship Type="http://schemas.openxmlformats.org/officeDocument/2006/relationships/slideLayout" Target="/ppt/slideLayouts/slideLayout5.xml" Id="R5053e61abdf74986" /><Relationship Type="http://schemas.openxmlformats.org/officeDocument/2006/relationships/slideLayout" Target="/ppt/slideLayouts/slideLayout6.xml" Id="Rf74f2f908d3d4a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a53f00439f439e"/>
    <p:sldLayoutId xmlns:r="http://schemas.openxmlformats.org/officeDocument/2006/relationships" id="2147483650" r:id="R3e0daceaeb2146a0"/>
    <p:sldLayoutId xmlns:r="http://schemas.openxmlformats.org/officeDocument/2006/relationships" id="2147483651" r:id="R2b973178943c4873"/>
    <p:sldLayoutId xmlns:r="http://schemas.openxmlformats.org/officeDocument/2006/relationships" id="2147483652" r:id="R2ddaf022b8314a2d"/>
    <p:sldLayoutId xmlns:r="http://schemas.openxmlformats.org/officeDocument/2006/relationships" id="2147483653" r:id="R5053e61abdf74986"/>
    <p:sldLayoutId xmlns:r="http://schemas.openxmlformats.org/officeDocument/2006/relationships" id="2147483654" r:id="Rf74f2f908d3d4a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b8f7c1c8894d6a" /><Relationship Type="http://schemas.openxmlformats.org/officeDocument/2006/relationships/notesSlide" Target="/ppt/notesSlides/notesSlide1.xml" Id="R1830d7c78e5a46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6a0c3f7694326" /><Relationship Type="http://schemas.openxmlformats.org/officeDocument/2006/relationships/notesSlide" Target="/ppt/notesSlides/notesSlide2.xml" Id="Raccead4d1d7245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088b9b2cc466d" /><Relationship Type="http://schemas.openxmlformats.org/officeDocument/2006/relationships/notesSlide" Target="/ppt/notesSlides/notesSlide3.xml" Id="Reaebf56d314b47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776e62ddaf43d3" /><Relationship Type="http://schemas.openxmlformats.org/officeDocument/2006/relationships/chart" Target="/ppt/slides/charts/chart1.xml" Id="R0b3c23b37c3c4496" /><Relationship Type="http://schemas.openxmlformats.org/officeDocument/2006/relationships/notesSlide" Target="/ppt/notesSlides/notesSlide4.xml" Id="R94a3971490ba47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16291d451045f0" /><Relationship Type="http://schemas.openxmlformats.org/officeDocument/2006/relationships/notesSlide" Target="/ppt/notesSlides/notesSlide5.xml" Id="R26f98610e85045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a653d962346b1" /><Relationship Type="http://schemas.openxmlformats.org/officeDocument/2006/relationships/notesSlide" Target="/ppt/notesSlides/notesSlide6.xml" Id="R94c30e79e8fd4a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fc7d66ad14a40" /><Relationship Type="http://schemas.openxmlformats.org/officeDocument/2006/relationships/notesSlide" Target="/ppt/notesSlides/notesSlide7.xml" Id="Rbc5404c6c15541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3117007c684042" /><Relationship Type="http://schemas.openxmlformats.org/officeDocument/2006/relationships/notesSlide" Target="/ppt/notesSlides/notesSlide8.xml" Id="R47c6180558e240f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 xmlns:a="http://schemas.openxmlformats.org/drawingml/2006/main">
              <a:srgbClr val="167F78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公开数据 SFT</c:v>
                </c:pt>
                <c:pt idx="1">
                  <c:v>自由数据 SFT</c:v>
                </c:pt>
                <c:pt idx="2">
                  <c:v>不受限研究方法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0.06</c:v>
                </c:pt>
                <c:pt idx="1">
                  <c:v>0.029</c:v>
                </c:pt>
                <c:pt idx="2">
                  <c:v>0.233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E3544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9D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AF8F3"/>
        </a:solidFill>
      </c:spPr>
    </c:plotArea>
    <c:plotVisOnly val="1"/>
  </c:chart>
  <c:spPr>
    <a:solidFill xmlns:a="http://schemas.openxmlformats.org/drawingml/2006/main">
      <a:srgbClr val="FAF8F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C852B-C1E4-4BAE-87C4-A5267D25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模型改进   Anthropic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713F7-8693-4C35-AC12-4F60327C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先改变教师的回答倾向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D61FD-66B0-48F8-A454-5B29E30E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CCEC1-85E7-4E87-81E9-2B82D922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2026, App. D.4；此图为机制示意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9E73B-2C70-4AEE-AC61-0C48922E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CA908-E88B-4111-82A9-B29E97D0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目标：更少迎合用户的错误观点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4627F-20C8-4424-963A-00AD174D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143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同一模型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原来的内部表示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E3B12-47A0-4C74-9D30-1612857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8617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799F1-C3ED-4333-9A42-18528EBD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33725"/>
            <a:ext cx="28575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0">
            <a:solidFill>
              <a:srgbClr val="EFE5DA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加入方向性干预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4D998-7F83-4E57-A10B-3FE1727C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8617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C02E4-86B5-451D-98DA-0AE6A16C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33725"/>
            <a:ext cx="26193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输出倾向改变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2DA6C-4D1C-48B3-BE81-0BCFF495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这一页只看教师怎样产生不同的输出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6B511-2757-4676-A343-622865E5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学生权重尚未在这一步更新</a:t>
            </a:r>
          </a:p>
        </p:txBody>
      </p:sp>
    </p:spTree>
    <p:extLst>
      <p:ext uri="{BB962C8B-B14F-4D97-AF65-F5344CB8AC3E}">
        <p14:creationId xmlns:p14="http://schemas.microsoft.com/office/powerpoint/2010/main" val="66879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04146-DD5E-4C6A-A804-44C7AC1F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模型改进   Anthropic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FE19D-7678-4510-9E60-E4E7B598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再把教师的行为训练给学生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9A14B-75A0-4D6C-B4BF-E2BFB487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313FA-ECA8-4ACB-8562-857D63FA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同上, App. D.4；KL方向与配方系数未由此图指定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F46FD-7B58-4AFA-A07F-BD964A12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F0F9A-1E34-4969-B94E-A3639C73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667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教师分布 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AE843-2C88-4652-B772-76637B3F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667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学生分布 pθ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447F0-EE0B-4C10-B37C-1C6204C5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527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03F07-3DB2-4E9C-92C3-EE364263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481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54D76-750D-4E11-92D0-D01B8633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26955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0">
            <a:solidFill>
              <a:srgbClr val="EFE5DA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比较输出分布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KL训练目标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D2CCC-85D4-4345-B0D6-E1CAF4E4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9975"/>
            <a:ext cx="6000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DB8BD-980F-45EF-9FA8-88D53C3F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52750"/>
            <a:ext cx="21240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更新学生权重 θ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正常推理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02737-1030-4617-88B6-64B6F542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推理时的临时干预，通过训练形成可保留的行为变化</a:t>
            </a:r>
          </a:p>
        </p:txBody>
      </p:sp>
    </p:spTree>
    <p:extLst>
      <p:ext uri="{BB962C8B-B14F-4D97-AF65-F5344CB8AC3E}">
        <p14:creationId xmlns:p14="http://schemas.microsoft.com/office/powerpoint/2010/main" val="1035700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172F8-8B02-477E-A898-33BCF50C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结果解释   一个教学例子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048B3-747C-4E3A-BBB7-B3738DA9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改善了多少，要看原来还有多少空间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813EB-0556-4DCB-8797-0699A8A8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E0606-0CAF-4DF7-8A03-2FE0AAE1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指标定义见 §2.2；50、70、100仅为教学数值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3A2EA-8044-4317-B10F-6FBBB174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B938B-4E35-40B0-B675-39D353E0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31BEB-8908-4258-A54D-8819B091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F26D2-7B20-433E-9F77-9F713F70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训练后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34501-EB83-407B-92A7-75663DA2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3367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85B0E-E100-4659-B8EE-0F56CDF9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该指标最优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E513E-97FF-496C-88B4-4C79AA98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3367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C058F-E81A-482F-95DF-E3442E5C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0641F-6875-4888-BC95-35EF411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关闭的改善空间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82C68-3EC7-4929-AEB5-0FFC91A4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38650"/>
            <a:ext cx="652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(70 − 50) / (100 − 50) = 40%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F7039-A6E0-48FE-925A-24D9FDA0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接下来才看真实实验。这个40%不是论文结果</a:t>
            </a:r>
          </a:p>
        </p:txBody>
      </p:sp>
    </p:spTree>
    <p:extLst>
      <p:ext uri="{BB962C8B-B14F-4D97-AF65-F5344CB8AC3E}">
        <p14:creationId xmlns:p14="http://schemas.microsoft.com/office/powerpoint/2010/main" val="7767675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845C8-8D24-46F1-AF6A-75B5DE45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结果解释   同预算的真实比较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1D092-8D4D-4C55-9C5F-939DB337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训练目标改变，探索到的结果也不同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14CB8-F75F-45F5-8C52-072A7BAB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0DD99-46ED-4C99-AAAE-9736E967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App. D.4, Fig.20；Qwen3.5-2B／谄媚／前150个已评分方法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D2D3B-058C-4BF6-8516-8BE3C723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6C001-621F-4DF4-AA37-7EF8D8CE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安全改善空间关闭比例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FB7C5090-203C-4739-8BFC-92412C0ADA9F}"/>
              </a:ext>
            </a:extLst>
          </p:cNvPr>
          <p:cNvGraphicFramePr/>
          <p:nvPr/>
        </p:nvGraphicFramePr>
        <p:xfrm>
          <a:off xmlns:a="http://schemas.openxmlformats.org/drawingml/2006/main" x="685800" y="2686050"/>
          <a:ext xmlns:a="http://schemas.openxmlformats.org/drawingml/2006/main" cx="695325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3c23b37c3c449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43D3E-EC4D-406E-9E52-EB057A2E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3409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比较的是</a:t>
            </a:r>
          </a:p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可探索的训练办法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45485-BB98-43BD-985E-0FB582D3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3381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每条件一次</a:t>
            </a:r>
          </a:p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爬坡评测套件</a:t>
            </a:r>
          </a:p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任务与模型有限定</a:t>
            </a:r>
          </a:p>
        </p:txBody>
      </p:sp>
    </p:spTree>
    <p:extLst>
      <p:ext uri="{BB962C8B-B14F-4D97-AF65-F5344CB8AC3E}">
        <p14:creationId xmlns:p14="http://schemas.microsoft.com/office/powerpoint/2010/main" val="116744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C467F-8549-49EF-8682-A40A1C92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研发现场   OpenAI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2BAE9-A5D2-494D-A528-B2EDF09D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执行之前，先让人看见计划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C9D4B-212B-4E32-8FBE-6FCD0284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A4F11-15B3-4EC8-B0C3-A72DA65C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Automating repetitive work at OpenAI with Codex, 2026, Running evaluations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EC25A-22D1-43C3-808D-7D8177EA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29F20-9723-4698-8559-5476546E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原文的任务要求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AFD3F-A337-468A-A2FA-34A0CD95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0820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 xmlns:a="http://schemas.openxmlformats.org/drawingml/2006/main"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C4F21-10C0-41A4-AE41-84E81B95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3FED9-319B-4766-A2F2-CE9FA525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21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0DD83-1735-4D33-8B58-816CACF1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18160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36EDD-7A93-4920-9624-C23C4DC2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0292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183A6-C176-4FDC-8EA2-FD6C79A5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8160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0D9A7-2FAF-4435-B266-BA22FC80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29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人审阅后执行</a:t>
            </a:r>
          </a:p>
        </p:txBody>
      </p:sp>
    </p:spTree>
    <p:extLst>
      <p:ext uri="{BB962C8B-B14F-4D97-AF65-F5344CB8AC3E}">
        <p14:creationId xmlns:p14="http://schemas.microsoft.com/office/powerpoint/2010/main" val="550715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6A672-3360-4086-B954-8D77BB53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本组实践   一条真实核查任务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65F3A-FB54-4FFA-B8E2-79D9CF77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我们也让Agent交出可回查的研究材料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19E32-EB78-4FA8-8AB6-F3427E79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B9986-90C6-49FA-8681-1E8491AB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本项目 smoke-01 原始工具产物；执行者为Codex；原文依据为[5]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50044-5BD1-4A03-85BB-6646D77E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C26A9-8FE9-4651-B6C5-7BDDD7DD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36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实际任务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EA8AD-3A87-4C6D-BF7A-1B53AEA7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333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核对执行前的</a:t>
            </a:r>
          </a:p>
          <a:p xmlns:a="http://schemas.openxmlformats.org/drawingml/2006/main">
            <a:pPr>
              <a:defRPr sz="2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计划与人审要求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9BFF1-B25E-4DCE-AB98-9AF996FC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436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工具产物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9C7CA-FB2D-457D-94F7-7AEDE73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333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来源定位</a:t>
            </a:r>
          </a:p>
          <a:p xmlns:a="http://schemas.openxmlformats.org/drawingml/2006/main"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证据卡与改写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1A80B-6C20-4B4C-A8F6-9A9C1BD1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38375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A704D-7DE7-4F6E-B1D8-1589DA4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533650"/>
            <a:ext cx="5800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保留的出处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C3600-1C78-4E26-B7C3-EE46CEDC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009900"/>
            <a:ext cx="580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Running evaluations with Codex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203E4-EE92-4937-B7AF-1051CFE1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76700"/>
            <a:ext cx="5800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保留的适用范围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B9F83-734A-4618-BE4E-3B743240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581525"/>
            <a:ext cx="58007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一位作者的工作流自述</a:t>
            </a:r>
          </a:p>
          <a:p xmlns:a="http://schemas.openxmlformats.org/drawingml/2006/main"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不能外推到所有发布评测</a:t>
            </a:r>
          </a:p>
        </p:txBody>
      </p:sp>
    </p:spTree>
    <p:extLst>
      <p:ext uri="{BB962C8B-B14F-4D97-AF65-F5344CB8AC3E}">
        <p14:creationId xmlns:p14="http://schemas.microsoft.com/office/powerpoint/2010/main" val="5080911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D0807-746E-44C5-891E-C0B75C85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回到题目   哪一条回流需要证据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83537-DA46-480A-B082-EAFC1D04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递归改进，还要证明结果能回到下一轮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E372D-C649-4BD7-A31D-688EF335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F4A5B-BEB7-4A3D-BC7F-E91420FA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本报告分析；所选案例依据见[4][5]及完整方案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25C0A-E087-4503-B88A-FA190D6C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22BEA-B686-48A8-8D4D-305F58AF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76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研究系统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提出与执行方法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96A8A-A84D-4FB5-9E97-87630CBE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8132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8CF4B-CFC9-4947-A0B2-6EBC8327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86025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研发产物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权重、算法或流程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CA166-C194-49F7-8DD2-4007E905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8132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B2E4A-0478-4BC7-8A57-C540DC3F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86025"/>
            <a:ext cx="2809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评测与保留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检验局部收益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E7245-9A3B-4CE1-9C2E-9F451283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62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仍需证据的回流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54E34-214C-4389-80C4-01768D78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76850"/>
            <a:ext cx="9144000" cy="2381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F6F57-3342-4CD2-A2B6-AE159DA5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改进后的系统，提高下一轮研究能力并持续承担后继研发</a:t>
            </a:r>
          </a:p>
        </p:txBody>
      </p:sp>
    </p:spTree>
    <p:extLst>
      <p:ext uri="{BB962C8B-B14F-4D97-AF65-F5344CB8AC3E}">
        <p14:creationId xmlns:p14="http://schemas.microsoft.com/office/powerpoint/2010/main" val="18256777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AC2FB-AE83-49FB-BFE5-BF8FDF78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来源   编号在PPT、稿件与报告中保持一致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8EB3D-9CCE-48DA-A684-9B954337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样页引用的原始资料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6A57C-AF5B-4548-BF5F-1B6160F4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57CC4-DF44-43AA-8029-4F5BBFBE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本页只列审批样页使用的来源；整套文献在批准后统一编号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10429-7F5D-4E3B-B8C0-D65081F1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2EEBD-790A-4590-A084-53E1971D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[4] Chen Y.-H., Wen J., Kirchner J. 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CF283-1929-4928-8C63-31B0C2E0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Automated Researchers Can Mitigate Well-Characterized</a:t>
            </a:r>
          </a:p>
          <a:p xmlns:a="http://schemas.openxmlformats.org/drawingml/2006/main"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Alignment Failures [EB/OL]. Alignment Science Blog,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04073-D2B6-470B-B990-22915921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https://alignment.anthropic.com/2026/automated-alignment-researchers/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47282-7296-4F00-9CCF-595AEAE9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[5] Lewi J. Automating repetitive work at OpenAI with Codex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2F3A5-60A7-4A43-BDBB-03AB4F06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[EB/OL]. OpenAI Developers, 2026. 引用节：Running evaluations with Codex.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6D87C-F86C-4A86-A657-83392F0E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完整URL见备注。核查日期：2026-10-14</a:t>
            </a:r>
          </a:p>
        </p:txBody>
      </p:sp>
    </p:spTree>
    <p:extLst>
      <p:ext uri="{BB962C8B-B14F-4D97-AF65-F5344CB8AC3E}">
        <p14:creationId xmlns:p14="http://schemas.microsoft.com/office/powerpoint/2010/main" val="517323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2026-10-14T02:12:50.3080000Z</dcterms:created>
  <dcterms:modified xsi:type="dcterms:W3CDTF">2026-10-14T02:12:50.3080000Z</dcterms:modified>
</coreProperties>
</file>