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xlsx" ContentType="application/vnd.openxmlformats-officedocument.spreadsheetml.sheet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Relationships xmlns="http://schemas.openxmlformats.org/package/2006/relationships"><Relationship Id="rIdChartSnapshot1" Type="http://schemas.openxmlformats.org/officeDocument/2006/relationships/package" Target="../embeddings/chart-data-snapshot-00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改善空间</c:v>
          </c:tx>
          <c:spPr>
            <a:solidFill>
              <a:srgbClr val="167F78"/>
            </a:solidFill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950" b="1">
                    <a:solidFill>
                      <a:srgbClr val="1E3544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公开数据 SFT</c:v>
                </c:pt>
                <c:pt idx="1">
                  <c:v>自由数据 SFT</c:v>
                </c:pt>
                <c:pt idx="2">
                  <c:v>不受限研究方法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0.06</c:v>
                </c:pt>
                <c:pt idx="1">
                  <c:v>0.029</c:v>
                </c:pt>
                <c:pt idx="2">
                  <c:v>0.233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A7-40F3-BAE1-89DD1B67E92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3"/>
          <c:min val="0"/>
        </c:scaling>
        <c:delete val="0"/>
        <c:axPos val="b"/>
        <c:majorGridlines>
          <c:spPr>
            <a:ln w="9525">
              <a:solidFill>
                <a:srgbClr val="D5D9D5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0.05"/>
      </c:valAx>
      <c:spPr>
        <a:solidFill>
          <a:srgbClr val="FAF8F3"/>
        </a:solidFill>
      </c:spPr>
    </c:plotArea>
    <c:plotVisOnly val="1"/>
    <c:dispBlanksAs val="zero"/>
    <c:showDLblsOverMax val="1"/>
  </c:chart>
  <c:spPr>
    <a:solidFill>
      <a:srgbClr val="FAF8F3"/>
    </a:solidFill>
  </c:spPr>
  <c:externalData r:id="rIdChartSnapshot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主讲第1页，设计预算15秒（未真人计时）。</a:t>
            </a:r>
          </a:p>
          <a:p>
            <a:r>
              <a:t>大家好。我们关注的是智能体在大模型产业研发中的应用。AI已经开始参与研发AI，那么，这些改进能不能一轮一轮继续下去？这是今天想回答的问题。</a:t>
            </a:r>
          </a:p>
          <a:p>
            <a:endParaRPr/>
          </a:p>
          <a:p>
            <a:r>
              <a:t>来源：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主讲第2页，设计预算30秒（未真人计时）。</a:t>
            </a:r>
          </a:p>
          <a:p>
            <a:r>
              <a:t>这个问题其实比大模型早得多。1965年，统计学家Good就讨论过：如果机器能够参与设计更好的机器，改进会不会不断继续？当时主要是思想推演，今天则开始出现能检查的研发实例。我们不急着预测什么时候会发生智能爆炸，先把问题落到一项真实任务上：Agent接过了什么工作，交付了什么，又怎样知道它做得更好？</a:t>
            </a:r>
          </a:p>
          <a:p>
            <a:endParaRPr/>
          </a:p>
          <a:p>
            <a:r>
              <a:t>来源：</a:t>
            </a:r>
          </a:p>
          <a:p>
            <a:r>
              <a:t>[1] Good, 1965</a:t>
            </a:r>
          </a:p>
          <a:p>
            <a:r>
              <a:t>https://scienceplusplus.org/metascience/assets/Good1965.pdf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主讲第3页，设计预算35秒（未真人计时）。</a:t>
            </a:r>
          </a:p>
          <a:p>
            <a:r>
              <a:t>可以先想象研究员面前的一轮实验：有了一个想法，还得写代码、配置训练、读日志，最后判断结果值不值得保留。比如，模型变得更少迎合用户了，会不会同时变得不擅长数学？一次实验失败，下次又该从哪里接着试？这些工作有明确工具，也有需要判断的环节。课程里讲的工具调用、记忆和评测，进入大模型研发以后，就对应这些具体动作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主讲第4页，设计预算40秒（未真人计时）。</a:t>
            </a:r>
          </a:p>
          <a:p>
            <a:r>
              <a:t>自我修改听起来很诱人，但有一个老问题：凭什么保留这次修改？这里有两种思路。Gödel Machine要求先证明修改有益，再允许修改；这个保证很强，但真实研发很难事先把所有后果都证明清楚。另一种思路是产生候选，实际运行，再用评测筛选，神经架构搜索和后面的代码自改研究更接近这条路线。它们体现的是验证方式的差异。今天的案例主要依赖实验，所以评测测了什么、漏了什么，会直接影响结论。</a:t>
            </a:r>
          </a:p>
          <a:p>
            <a:endParaRPr/>
          </a:p>
          <a:p>
            <a:r>
              <a:t>来源：</a:t>
            </a:r>
          </a:p>
          <a:p>
            <a:r>
              <a:t>[2] Schmidhuber, Gödel Machines</a:t>
            </a:r>
          </a:p>
          <a:p>
            <a:r>
              <a:t>https://people.idsia.ch/~juergen/gmweb4/gmweb4.html</a:t>
            </a:r>
          </a:p>
          <a:p>
            <a:r>
              <a:t>[3] Zoph &amp; Le, NAS, 2016</a:t>
            </a:r>
          </a:p>
          <a:p>
            <a:r>
              <a:t>https://arxiv.org/abs/1611.01578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主讲第5页，设计预算20秒（未真人计时）。</a:t>
            </a:r>
          </a:p>
          <a:p>
            <a:r>
              <a:t>下面按这四步展开：任务怎样交给Agent，方法怎样进入模型，结果怎样用于下一轮，最后再问哪些证据能支持递归自我改进。大家可以一直带着一个问题看：这次到底是哪一部分变好了？</a:t>
            </a:r>
          </a:p>
          <a:p>
            <a:endParaRPr/>
          </a:p>
          <a:p>
            <a:r>
              <a:t>来源：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主讲第6页，设计预算25秒（未真人计时）。</a:t>
            </a:r>
          </a:p>
          <a:p>
            <a:r>
              <a:t>我们重点选这两家，因为公开证据互相补充：Anthropic能追到训练方法和模型变化，OpenAI能追到任务、工具和决策记录。再用Google与开放研究补上算法、策略和代码。这样选，方便比较不同研发环节，不是在给公司排座次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  <a:p>
            <a:r>
              <a:t>[7] AgentEvolver论文, 2025</a:t>
            </a:r>
          </a:p>
          <a:p>
            <a:r>
              <a:t>https://arxiv.org/html/2511.10395v1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主讲第7页，设计预算40秒（未真人计时）。</a:t>
            </a:r>
          </a:p>
          <a:p>
            <a:r>
              <a:t>先看Anthropic Fellows项目的一项公开对齐研究。任务是让模型少迎合错误观点：用户说错了，模型也应该能指出问题。请看图上三个角色。研究Agent负责想办法、写实现和调用训练工具；Qwen3.5-2B是接受训练的目标模型；评测器检查是否改善，以及有没有能力副作用。这里“Agent研发AI”的具体含义，就是它能通过工具改变另一个模型。下面看它怎样把一个想法变成可检查的实验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主讲第8页，设计预算40秒（未真人计时）。</a:t>
            </a:r>
          </a:p>
          <a:p>
            <a:r>
              <a:t>从左往右看，一轮研究先读资料、提出假设，然后提交实现。这里还有一个细节：Agent在看到本轮评测结果之前，要把小论文冻结下来，说明自己打算做什么。这样，事后就能对照原来的假设看结果，而不是只写一个漂亮的成功故事。代码经过监控后，训练工具更新目标模型，再由外部评测打分。典型方法的预算约一张H200、半小时。交付物因此必须是能运行的方法；有想法，还要能在资源约束内把它做出来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主讲第9页，设计预算40秒（未真人计时）。</a:t>
            </a:r>
          </a:p>
          <a:p>
            <a:r>
              <a:t>一次尝试结束以后，结果不会随着聊天结束就消失。多个研究Agent并行探索，方法、得分和研究记录进入共享资料。新的会话可以读取这些记录，知道哪些方向试过，再提出下一种方法。所以这里的记忆首先是一套外部工程机制：即使换了会话，研究也能接续。请注意这个回流方向，它把经验带回下一次尝试，却没有因此更新研究Agent的模型权重。下一页我们就看一个真正涉及目标模型变化的方法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主讲第10页，设计预算50秒（未真人计时）。</a:t>
            </a:r>
          </a:p>
          <a:p>
            <a:r>
              <a:t>这项研究在开放权重实验中找到的一条成功路线，是激活引导加自蒸馏。先只看第一步。模型回答问题时，中间会形成内部表示；方法对这些表示施加方向性的干预，让回答更倾向于指出错误，而不是顺着用户说。图上的教师，就是目标模型经过引导后的版本，并不是另外请来的一个更强模型。这个干预作用在模型内部，不是把一条新指令拼到用户提示里。可以把这一步理解为，先临时改变它的回答倾向。此时学生还没有经过训练：去掉这项推理时干预，刚才的变化能不能留下来？这就需要第二步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主讲第11页，设计预算50秒（未真人计时）。</a:t>
            </a:r>
          </a:p>
          <a:p>
            <a:r>
              <a:t>请跟着短片看三个动作。首先，引导后的教师给出输出概率分布；学生也给出自己的分布。然后，训练目标用KL散度衡量两者的差异，并据此调整学生参数。最后，学生不用刚才的临时引导，正常推理，再接受外部评测。把教师和学生分开讲，就是为了看清临时干预与参数训练发生在不同阶段。也就是说，第一步改变教师的输出，第二步才试着把这种行为写进学生权重。短片是教学示意，不是论文的实验录像。分布更接近，只说明训练目标被优化了；学生是否真的少迎合、是否损失能力，仍要看最后的评测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主讲第12页，设计预算40秒（未真人计时）。</a:t>
            </a:r>
          </a:p>
          <a:p>
            <a:r>
              <a:t>在展示真实数字之前，先看这个教学例子。假设基线是50分，训练以后70分，最优是100分。实际多了20分，但原来有50分的改善空间，所以关闭了40%的改善空间。分母是原来还能提高多少，不是测试题的总数，因此这个40%不能读成通过率。如果换了基线，百分数也会随原有改善空间改变。论文还会把多个基准汇总，具体计算放在备份。大家只要先记住这条尺子，下一页的百分数就不会被误读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主讲第13页，设计预算40秒（未真人计时）。</a:t>
            </a:r>
          </a:p>
          <a:p>
            <a:r>
              <a:t>现在看原论文前150个已评分方法的结果。公开数据SFT是6.0%，允许自由选择数据的SFT是2.9%，不受限研究方法是23.3%。这一运行里，更开放的方法空间找到了更大改善。图比较的是三种搜索条件，不能把23.3%全算成刚才那个蒸馏方法的效果。每个条件只有一次运行，相同方法数量也不等于总成本相同。所以我们得到的是一个具体任务中的研发成果；下一部分换一个环节，看Agent怎样协助把评测本身跑清楚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主讲第14页，设计预算35秒（未真人计时）。</a:t>
            </a:r>
          </a:p>
          <a:p>
            <a:r>
              <a:t>OpenAI工程师Jeremy Lewi公开过一项发布前评测工作流。研究员已经有评测目标，但要完成它，还需要找到正确工具、准备命令、处理执行问题，最后解释结果。作者把这些工作放进Runme笔记，让Codex读取工具说明和之前的记录，再协助推进。这里我们能顺着一次任务往下看：任务怎么提出，谁决定开始执行，结果又怎么留下来。</a:t>
            </a:r>
          </a:p>
          <a:p>
            <a:endParaRPr/>
          </a:p>
          <a:p>
            <a:r>
              <a:t>来源：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主讲第15页，设计预算40秒（未真人计时）。</a:t>
            </a:r>
          </a:p>
          <a:p>
            <a:r>
              <a:t>屏幕上这句原文很直接：开始之前，等我审阅并批准计划。看下面这条顺序，先有目标和既有记录，Codex再写出计划，研究员审阅后才执行。为什么这一步有用？因为命令能够跑通，不代表它回答了正确的问题。把计划先写出来，人就能检查准备跑哪些评测、是否漏掉关键条件。这个例子清楚展示了人在执行决策上的位置；它描述的是作者自己的工作流，不能替整个公司作同样的保证。</a:t>
            </a:r>
          </a:p>
          <a:p>
            <a:endParaRPr/>
          </a:p>
          <a:p>
            <a:r>
              <a:t>来源：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主讲第16页，设计预算40秒（未真人计时）。</a:t>
            </a:r>
          </a:p>
          <a:p>
            <a:r>
              <a:t>跑完以后，Runme保存的不只是最后一个分数。请从上到下看：目标和计划解释为什么做，命令和输出记录具体发生了什么，解释与取舍说明下一步根据什么继续。这样换一个会话，Codex也能读取旧记录，不必每次重新摸索。这和前面共享实验记录的想法相通：经验被保存下来，后续任务可以复用。到这里改善的是研发流程和外部记忆；我们还没有证据说，Codex自己的模型权重因此改变了。</a:t>
            </a:r>
          </a:p>
          <a:p>
            <a:endParaRPr/>
          </a:p>
          <a:p>
            <a:r>
              <a:t>来源：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主讲第17页，设计预算40秒（未真人计时）。</a:t>
            </a:r>
          </a:p>
          <a:p>
            <a:r>
              <a:t>Google DeepMind的AlphaEvolve把同样的生成、执行、筛选循环用在程序上。Gemini先提出候选程序，执行器测正确性和性能，系统保留较好的候选，再继续生成。这里最重要的是，评价可以落到实际运行结果上：程序有没有算对，速度有没有更快。这类反馈适合检查算法改动。它优化的是程序，并不直接重训练模型权重。那么，改一个程序能给大模型研发带来什么收益？下一页看训练里的例子。</a:t>
            </a:r>
          </a:p>
          <a:p>
            <a:endParaRPr/>
          </a:p>
          <a:p>
            <a:r>
              <a:t>来源：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主讲第18页，设计预算40秒（未真人计时）。</a:t>
            </a:r>
          </a:p>
          <a:p>
            <a:r>
              <a:t>这个案例报告，一个矩阵乘法kernel获得23%的加速，对应Gemini总训练时间减少1%。看到两个数字，先分别找分母：左边是一个算子，右边是完整训练。完整训练还有其他大量工作，所以局部加速很明显，整体收益仍可能较小。这个例子说明，Agent产生的算法确实可以改善AI训练的一部分。但不能据此说，整个训练都快了23%，也不能直接跳到Agent已经独立研发出下一代Gemini。</a:t>
            </a:r>
          </a:p>
          <a:p>
            <a:endParaRPr/>
          </a:p>
          <a:p>
            <a:r>
              <a:t>来源：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主讲第19页，设计预算40秒（未真人计时）。</a:t>
            </a:r>
          </a:p>
          <a:p>
            <a:r>
              <a:t>再看开放研究，改动对象还有两类。通义团队的AgentEvolver通过生成任务、复用经验，并分析轨迹中不同部分的贡献，支持Agent策略训练。它涉及训练策略，超过了只改提示词的范围。Sakana的Darwin Gödel Machine则尝试修改Agent自身代码，包括工具和工作方式，再用基准筛选。一个改策略，一个改代码，不能都笼统说成模型权重升级。开放框架让这些方法更容易被检查，但不等于相关数据和权重也全部开放。</a:t>
            </a:r>
          </a:p>
          <a:p>
            <a:endParaRPr/>
          </a:p>
          <a:p>
            <a:r>
              <a:t>来源：</a:t>
            </a:r>
          </a:p>
          <a:p>
            <a:r>
              <a:t>[7] AgentEvolver论文, 2025</a:t>
            </a:r>
          </a:p>
          <a:p>
            <a:r>
              <a:t>https://arxiv.org/html/2511.10395v1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[11] modelscope/AgentEvolver</a:t>
            </a:r>
          </a:p>
          <a:p>
            <a:r>
              <a:t>https://github.com/modelscope/AgentEvolver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主讲第20页，设计预算40秒（未真人计时）。</a:t>
            </a:r>
          </a:p>
          <a:p>
            <a:r>
              <a:t>现在把案例放回同一张研发地图，大家看每一行到底改了什么：Anthropic改变目标模型的后训练方法和权重，OpenAI改善评测流程与记录，Google优化训练相关算法，开放研究则训练策略或修改Agent代码。它们都进入了AI研发，却不是同一种改进。因此，遇到“AI会自我改进”的说法，先问改的是哪一部分，再问怎样验证。分清对象以后，我们才有条件讨论递归的那个环节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  <a:p>
            <a:r>
              <a:t>[7] AgentEvolver论文, 2025</a:t>
            </a:r>
          </a:p>
          <a:p>
            <a:r>
              <a:t>https://arxiv.org/html/2511.10395v1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主讲第21页，设计预算45秒（未真人计时）。</a:t>
            </a:r>
          </a:p>
          <a:p>
            <a:r>
              <a:t>请先看图中已有证据的回路：执行之后得到评测和记录，这些结果回到下一次尝试。前面的案例已经展示了这样的反馈。但递归自我改进还要追问另一条回路：研发得到的变化，能不能提高系统继续做研发的能力，并让它持续产生更强的后继系统？比如，把上一轮更好的程序存下来，和因此拥有更强的研发能力，仍是两件需要分别验证的事。代码和策略自改已经触及局部环节，完整后继研发还需要更连续的证据。人是否审批是治理安排，不能单凭这一点判断有没有技术上的递归改进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主讲第22页，设计预算35秒（未真人计时）。</a:t>
            </a:r>
          </a:p>
          <a:p>
            <a:r>
              <a:t>怎样补上这些证据？我们可以沿着三件事继续检查。第一，新版本离开参与搜索的题目以后，是否仍然更强？第二，它是否让下一轮研究更有效，而不仅是在同一张排行榜上继续爬分？第三，多轮之后，这种收益能否保留下来，副作用和资源代价是否可接受？这些问题把一次成功与持续进步区分开。目前的公开案例已经回答了其中一些局部问题，但还没有把这条完整链条验证充分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主讲第23页，设计预算20秒（未真人计时）。</a:t>
            </a:r>
          </a:p>
          <a:p>
            <a:r>
              <a:t>回到题目：AI参与研发AI，已经有具体实例，也产生了可检查的局部改进。离持续递归还有多远，关键要看这些改进是否提高后续研发能力。这正是当前公开证据还需要补上的一环。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  <a:p>
            <a:r>
              <a:t>[7] AgentEvolver论文, 2025</a:t>
            </a:r>
          </a:p>
          <a:p>
            <a:r>
              <a:t>https://arxiv.org/html/2511.10395v1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主讲第24页，设计预算5秒（未真人计时）。</a:t>
            </a:r>
          </a:p>
          <a:p>
            <a:r>
              <a:t>谢谢大家，欢迎提问。</a:t>
            </a:r>
          </a:p>
          <a:p>
            <a:endParaRPr/>
          </a:p>
          <a:p>
            <a:r>
              <a:t>来源：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文献编号与主讲保持一致；完整来源定位见来源与答辩手册。</a:t>
            </a:r>
          </a:p>
          <a:p>
            <a:r>
              <a:t>[1] Good, 1965</a:t>
            </a:r>
          </a:p>
          <a:p>
            <a:r>
              <a:t>https://scienceplusplus.org/metascience/assets/Good1965.pdf</a:t>
            </a:r>
          </a:p>
          <a:p>
            <a:r>
              <a:t>[2] Schmidhuber, Gödel Machines</a:t>
            </a:r>
          </a:p>
          <a:p>
            <a:r>
              <a:t>https://people.idsia.ch/~juergen/gmweb4/gmweb4.html</a:t>
            </a:r>
          </a:p>
          <a:p>
            <a:r>
              <a:t>[3] Zoph &amp; Le, NAS, 2016</a:t>
            </a:r>
          </a:p>
          <a:p>
            <a:r>
              <a:t>https://arxiv.org/abs/1611.01578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文献编号与主讲保持一致；完整来源定位见来源与答辩手册。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  <a:p>
            <a:r>
              <a:t>[7] AgentEvolver论文, 2025</a:t>
            </a:r>
          </a:p>
          <a:p>
            <a:r>
              <a:t>https://arxiv.org/html/2511.10395v1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[9] OpenAI研究加速报告, 2026</a:t>
            </a:r>
          </a:p>
          <a:p>
            <a:r>
              <a:t>https://openai.com/index/research-acceleration-view-inside-openai/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  <a:p>
            <a:r>
              <a:t>[11] modelscope/AgentEvolver</a:t>
            </a:r>
          </a:p>
          <a:p>
            <a:r>
              <a:t>https://github.com/modelscope/AgentEvolver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§2.3、§3.2、§5.1。能力门槛是95%置信区间不完全低于基线，不能改写成每项都无下降。held-out在选择Petri方法时是validation，不能将所有阶段称为完全独立终测。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KL方向仅为教学选定，不宣称获胜配方的全部方向、系数或实现。互动HTML的二类单参数原型是教学演示，不是AAR训练复现。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App. D.4。全程峰值26.4/18.7/6.0/4.5与固定方法数不同。相同方法数不等于同全部时间、成本。该比较未重跑held-out/Petri。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§6，Fig.9。研究Agent的ECI156与目标ECI158是所报代理指标，不能推断全能力排序。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§6 Fig.9、App. E.1。与开放权重蒸馏不同实验。没有因此证明更弱研究Agent在全部能力上超越目标。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OpenAI研究加速报告§1与方法。3.1不是生产率倍数。运行时间不会自动转化为有效研究贡献。</a:t>
            </a:r>
          </a:p>
          <a:p>
            <a:r>
              <a:t>[9] OpenAI研究加速报告, 2026</a:t>
            </a:r>
          </a:p>
          <a:p>
            <a:r>
              <a:t>https://openai.com/index/research-acceleration-view-inside-openai/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不要把框架Apache-2.0外推为所有模型、训练数据或基础设施开放。SWE与Polyglot结果是各自基准，不能与Qwen谄媚分数直接排名。</a:t>
            </a:r>
          </a:p>
          <a:p>
            <a:r>
              <a:t>[7] AgentEvolver论文, 2025</a:t>
            </a:r>
          </a:p>
          <a:p>
            <a:r>
              <a:t>https://arxiv.org/html/2511.10395v1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[11] modelscope/AgentEvolver</a:t>
            </a:r>
          </a:p>
          <a:p>
            <a:r>
              <a:t>https://github.com/modelscope/AgentEvolver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这是本报告对技术能力与治理安排的区分。RSI并无本报告通用评分标准；对所选公开证据做限定性判断。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DCA93B2-9703-4D78-BB51-32B5A69BF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BDB36B9-20C8-4513-B2BE-F8C9ABB17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FBF47B5E-371E-46B6-9C93-E8A05852F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929F0C-7DDE-4740-B97D-72EC884BE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E31CC85-D87E-43EE-952B-E88736C8D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AF444E9-279B-40F1-A983-9DA7332E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239E3BE-1C15-49E5-B4BA-410DCDE6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BB9C08A3-67B4-4DBF-97FB-496B2C91D60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39CAC98-0AD8-4034-9A44-5C8E941FF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4E49282-932E-4350-A5DE-5FA07634E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8CEEFA9-9A88-4A1C-90F2-C7B0B64C630E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CDDCD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CDDC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DDCD7"/>
                </a:solidFill>
                <a:latin typeface="Microsoft YaHei"/>
                <a:ea typeface="Microsoft YaHei"/>
                <a:cs typeface="Microsoft YaHei"/>
              </a:rPr>
              <a:t>大模型与智能体工程实践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4B2B2C7-A5CE-4A68-A0CA-05A162A847D6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10820400" cy="1857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智能体在大模型产业</a:t>
            </a:r>
          </a:p>
          <a:p>
            <a: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研发中的应用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FC7E546-C743-407E-88BC-68AA0F6CD26A}"/>
              </a:ext>
            </a:extLst>
          </p:cNvPr>
          <p:cNvSpPr>
            <a:spLocks noGrp="1"/>
          </p:cNvSpPr>
          <p:nvPr/>
        </p:nvSpPr>
        <p:spPr>
          <a:xfrm>
            <a:off x="685800" y="3600450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B4DAD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75" b="1">
                <a:solidFill>
                  <a:srgbClr val="B4DA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B4DAD2"/>
                </a:solidFill>
                <a:latin typeface="Microsoft YaHei"/>
                <a:ea typeface="Microsoft YaHei"/>
                <a:cs typeface="Microsoft YaHei"/>
              </a:rPr>
              <a:t>AI辅助研发距离递归自我改进还有多远？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BB2970F-6669-44FA-9758-4A2FE9C9E5F4}"/>
              </a:ext>
            </a:extLst>
          </p:cNvPr>
          <p:cNvSpPr>
            <a:spLocks noGrp="1"/>
          </p:cNvSpPr>
          <p:nvPr/>
        </p:nvSpPr>
        <p:spPr>
          <a:xfrm>
            <a:off x="685800" y="450532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以Anthropic、OpenAI等公司的公开实践为例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902C4A-3076-493D-8C73-DD06C773C738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陈云海   张程翔   赵金城   曹天卓</a:t>
            </a:r>
          </a:p>
        </p:txBody>
      </p:sp>
    </p:spTree>
    <p:extLst>
      <p:ext uri="{BB962C8B-B14F-4D97-AF65-F5344CB8AC3E}">
        <p14:creationId xmlns:p14="http://schemas.microsoft.com/office/powerpoint/2010/main" val="55752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BB9B1F3C-4E68-4BC0-984B-775FDB47D27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95ECD7-2B39-4B5D-8A23-052EA5674021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机器设计更好机器：一个早于大模型的问题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441CDE-6952-4A6F-BFE8-717E92990A1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CB450E4-9576-4DFC-8734-701494A4A3CD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[1] Good, 1965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2C27A5-689E-434F-9DB9-CC252EA893BF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1B1BF19-195A-4407-A809-3A30729BAF19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39814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8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8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1965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AC8824-6C2C-4A94-A95E-5CB6812FF1E5}"/>
              </a:ext>
            </a:extLst>
          </p:cNvPr>
          <p:cNvSpPr>
            <a:spLocks noGrp="1"/>
          </p:cNvSpPr>
          <p:nvPr/>
        </p:nvSpPr>
        <p:spPr>
          <a:xfrm>
            <a:off x="685800" y="3876675"/>
            <a:ext cx="3905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I. J. Good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DF92E8-C9C0-4CD2-9801-BC4D16D232C2}"/>
              </a:ext>
            </a:extLst>
          </p:cNvPr>
          <p:cNvSpPr>
            <a:spLocks noGrp="1"/>
          </p:cNvSpPr>
          <p:nvPr/>
        </p:nvSpPr>
        <p:spPr>
          <a:xfrm>
            <a:off x="5238750" y="2390775"/>
            <a:ext cx="6267450" cy="2257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如果机器能参与设计</a:t>
            </a:r>
          </a:p>
          <a:p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更好的机器，</a:t>
            </a:r>
          </a:p>
          <a:p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改进会不会继续？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E8A28D0-96ED-497D-A918-8A3DF0D0A123}"/>
              </a:ext>
            </a:extLst>
          </p:cNvPr>
          <p:cNvSpPr>
            <a:spLocks noGrp="1"/>
          </p:cNvSpPr>
          <p:nvPr/>
        </p:nvSpPr>
        <p:spPr>
          <a:xfrm>
            <a:off x="685800" y="52101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D4B0A1-791D-4D31-9EE5-D48B29AD03FC}"/>
              </a:ext>
            </a:extLst>
          </p:cNvPr>
          <p:cNvSpPr>
            <a:spLocks noGrp="1"/>
          </p:cNvSpPr>
          <p:nvPr/>
        </p:nvSpPr>
        <p:spPr>
          <a:xfrm>
            <a:off x="685800" y="5553075"/>
            <a:ext cx="108204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今天可以追问：它接手了哪项任务，交付了什么结果</a:t>
            </a:r>
          </a:p>
        </p:txBody>
      </p:sp>
    </p:spTree>
    <p:extLst>
      <p:ext uri="{BB962C8B-B14F-4D97-AF65-F5344CB8AC3E}">
        <p14:creationId xmlns:p14="http://schemas.microsoft.com/office/powerpoint/2010/main" val="1653697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D7E9ABD0-3996-4138-9483-0298F979535F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B47127-468D-466D-A658-856B130517C2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研发AI，需要反复做实验和评测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CED712-2AB9-4234-9B33-4D6398AE1EBA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5BB84D9-D0CC-4349-A54B-D1B60451A7B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 等, Automated Researchers…, 2026；[5] Lewi, OpenAI评测工作流,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50E829-49B6-433C-B76D-C46A466EC12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F64C30E-A0EB-4CE0-BEF7-DFDFF43E5A60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24669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2AD7C8-4132-4A2F-9678-D80254C0459B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2409825" cy="1504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提出训练方法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247FA86-38F0-49E0-A83E-8F1082C9E069}"/>
              </a:ext>
            </a:extLst>
          </p:cNvPr>
          <p:cNvSpPr>
            <a:spLocks noGrp="1"/>
          </p:cNvSpPr>
          <p:nvPr/>
        </p:nvSpPr>
        <p:spPr>
          <a:xfrm>
            <a:off x="3057525" y="2647950"/>
            <a:ext cx="31432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0FE13E2-EEE3-4CBD-9A02-3817C83C8048}"/>
              </a:ext>
            </a:extLst>
          </p:cNvPr>
          <p:cNvSpPr>
            <a:spLocks noGrp="1"/>
          </p:cNvSpPr>
          <p:nvPr/>
        </p:nvSpPr>
        <p:spPr>
          <a:xfrm>
            <a:off x="3467100" y="2476500"/>
            <a:ext cx="24669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实现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5F3D3CB-7B6C-4B3C-82B8-F4062F61AA58}"/>
              </a:ext>
            </a:extLst>
          </p:cNvPr>
          <p:cNvSpPr>
            <a:spLocks noGrp="1"/>
          </p:cNvSpPr>
          <p:nvPr/>
        </p:nvSpPr>
        <p:spPr>
          <a:xfrm>
            <a:off x="3467100" y="3314700"/>
            <a:ext cx="2409825" cy="1504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把方法变成代码与训练任务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1F79CBAD-BABE-4F84-ABFE-878053E3BD96}"/>
              </a:ext>
            </a:extLst>
          </p:cNvPr>
          <p:cNvSpPr>
            <a:spLocks noGrp="1"/>
          </p:cNvSpPr>
          <p:nvPr/>
        </p:nvSpPr>
        <p:spPr>
          <a:xfrm>
            <a:off x="5838825" y="2647950"/>
            <a:ext cx="31432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FABDD56-59BC-4A41-AC40-481A19AA5C30}"/>
              </a:ext>
            </a:extLst>
          </p:cNvPr>
          <p:cNvSpPr>
            <a:spLocks noGrp="1"/>
          </p:cNvSpPr>
          <p:nvPr/>
        </p:nvSpPr>
        <p:spPr>
          <a:xfrm>
            <a:off x="6248400" y="2476500"/>
            <a:ext cx="24669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评测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A5A9AFE-F507-4948-B859-D1E9C16A30BB}"/>
              </a:ext>
            </a:extLst>
          </p:cNvPr>
          <p:cNvSpPr>
            <a:spLocks noGrp="1"/>
          </p:cNvSpPr>
          <p:nvPr/>
        </p:nvSpPr>
        <p:spPr>
          <a:xfrm>
            <a:off x="6248400" y="3314700"/>
            <a:ext cx="2409825" cy="1504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检查行为改善和能力损失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C18294A9-7C73-48C2-B8AE-D757ABFF7A36}"/>
              </a:ext>
            </a:extLst>
          </p:cNvPr>
          <p:cNvSpPr>
            <a:spLocks noGrp="1"/>
          </p:cNvSpPr>
          <p:nvPr/>
        </p:nvSpPr>
        <p:spPr>
          <a:xfrm>
            <a:off x="8620125" y="2647950"/>
            <a:ext cx="31432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CEE6815-74FC-435D-90EB-AEB0B263AD5E}"/>
              </a:ext>
            </a:extLst>
          </p:cNvPr>
          <p:cNvSpPr>
            <a:spLocks noGrp="1"/>
          </p:cNvSpPr>
          <p:nvPr/>
        </p:nvSpPr>
        <p:spPr>
          <a:xfrm>
            <a:off x="9029700" y="2476500"/>
            <a:ext cx="24669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下一轮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63EA6F9-016B-4DC7-9854-95E1340DF009}"/>
              </a:ext>
            </a:extLst>
          </p:cNvPr>
          <p:cNvSpPr>
            <a:spLocks noGrp="1"/>
          </p:cNvSpPr>
          <p:nvPr/>
        </p:nvSpPr>
        <p:spPr>
          <a:xfrm>
            <a:off x="9029700" y="3314700"/>
            <a:ext cx="2409825" cy="1504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记录失败，决定下一次尝试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480CA56-613E-4CAF-8947-0CFAED37BC59}"/>
              </a:ext>
            </a:extLst>
          </p:cNvPr>
          <p:cNvSpPr>
            <a:spLocks noGrp="1"/>
          </p:cNvSpPr>
          <p:nvPr/>
        </p:nvSpPr>
        <p:spPr>
          <a:xfrm>
            <a:off x="685800" y="53721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一次行为改善，可能伴随其他能力下降</a:t>
            </a:r>
          </a:p>
        </p:txBody>
      </p:sp>
    </p:spTree>
    <p:extLst>
      <p:ext uri="{BB962C8B-B14F-4D97-AF65-F5344CB8AC3E}">
        <p14:creationId xmlns:p14="http://schemas.microsoft.com/office/powerpoint/2010/main" val="1634704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A843D8C8-28A7-4119-984B-096A65060D14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36C7936-260E-49E1-BECE-0BEE9F66F98B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自我修改怎样才值得保留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1AC537-AF90-4896-B067-CA120D1E63DB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733A531-97DF-4EA2-92C3-965BC647556A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[2] Schmidhuber, Gödel Machines；[3] Zoph &amp; Le, NAS, 2016；[8] Sakana AI, DGM, 2025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B722C9-A08A-4F78-913A-05F0EB08109B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9E9966-2BDE-4972-9CC6-571B2F1BB10D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485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证明后修改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21C8640-C0DE-43C4-B9F7-AE5B0FEDC65C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485775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Gödel Machine</a:t>
            </a:r>
          </a:p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先证明修改有益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3B40BC3-85A5-4A69-8B7E-C57F887BF39C}"/>
              </a:ext>
            </a:extLst>
          </p:cNvPr>
          <p:cNvSpPr>
            <a:spLocks noGrp="1"/>
          </p:cNvSpPr>
          <p:nvPr/>
        </p:nvSpPr>
        <p:spPr>
          <a:xfrm>
            <a:off x="6572250" y="2200275"/>
            <a:ext cx="49339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评测后保留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1792CDF-3593-4940-8F38-004EE6CA4F98}"/>
              </a:ext>
            </a:extLst>
          </p:cNvPr>
          <p:cNvSpPr>
            <a:spLocks noGrp="1"/>
          </p:cNvSpPr>
          <p:nvPr/>
        </p:nvSpPr>
        <p:spPr>
          <a:xfrm>
            <a:off x="6572250" y="3143250"/>
            <a:ext cx="493395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NAS与DGM</a:t>
            </a:r>
          </a:p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搜索候选，再检验结果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A58E7E5-0DF7-4AC8-95F9-D57F13DC2A92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9D0190-3C6A-44D7-9E97-F815A55DA361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108204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真实研发怎样验证“更好”，贯穿今天的案例</a:t>
            </a:r>
          </a:p>
        </p:txBody>
      </p:sp>
    </p:spTree>
    <p:extLst>
      <p:ext uri="{BB962C8B-B14F-4D97-AF65-F5344CB8AC3E}">
        <p14:creationId xmlns:p14="http://schemas.microsoft.com/office/powerpoint/2010/main" val="2004459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24311B2D-1473-4004-8810-A69CEF4436E1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E876C85-19F1-4221-948E-7DF52A7E1A5E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今天沿着一项研发任务找答案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6559D48-DD77-48F2-AD8D-79C6E8CE439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7A9269-1C67-4D03-A684-C93527F94187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68DEE9-B2F8-4E95-89C4-1F7E2B2D573B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08C842-3507-425C-A7E8-F20A74984F44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104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E2642F5-B7B3-4D3C-808C-FBE724559F22}"/>
              </a:ext>
            </a:extLst>
          </p:cNvPr>
          <p:cNvSpPr>
            <a:spLocks noGrp="1"/>
          </p:cNvSpPr>
          <p:nvPr/>
        </p:nvSpPr>
        <p:spPr>
          <a:xfrm>
            <a:off x="2257425" y="2238375"/>
            <a:ext cx="9239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任务怎样交给Agent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32D49D9-E238-4B64-B6CE-24C8A0B866E4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104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DFF9715-6480-4A47-B8C8-A6AD93DCC339}"/>
              </a:ext>
            </a:extLst>
          </p:cNvPr>
          <p:cNvSpPr>
            <a:spLocks noGrp="1"/>
          </p:cNvSpPr>
          <p:nvPr/>
        </p:nvSpPr>
        <p:spPr>
          <a:xfrm>
            <a:off x="2257425" y="3200400"/>
            <a:ext cx="9239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方法怎样进入模型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2EEA266-C155-4873-848D-ABB4C446EB01}"/>
              </a:ext>
            </a:extLst>
          </p:cNvPr>
          <p:cNvSpPr>
            <a:spLocks noGrp="1"/>
          </p:cNvSpPr>
          <p:nvPr/>
        </p:nvSpPr>
        <p:spPr>
          <a:xfrm>
            <a:off x="685800" y="4124325"/>
            <a:ext cx="104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A61527-8D18-489F-BA91-4D13E5ABBB29}"/>
              </a:ext>
            </a:extLst>
          </p:cNvPr>
          <p:cNvSpPr>
            <a:spLocks noGrp="1"/>
          </p:cNvSpPr>
          <p:nvPr/>
        </p:nvSpPr>
        <p:spPr>
          <a:xfrm>
            <a:off x="2257425" y="4162425"/>
            <a:ext cx="9239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结果怎样进入下一轮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D2699A4-401D-4146-BAFC-C661A7971F14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104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D0BB15-1F40-4D21-884F-70C8C39276AC}"/>
              </a:ext>
            </a:extLst>
          </p:cNvPr>
          <p:cNvSpPr>
            <a:spLocks noGrp="1"/>
          </p:cNvSpPr>
          <p:nvPr/>
        </p:nvSpPr>
        <p:spPr>
          <a:xfrm>
            <a:off x="2257425" y="5124450"/>
            <a:ext cx="9239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哪些证据才能支持RSI</a:t>
            </a:r>
          </a:p>
        </p:txBody>
      </p:sp>
    </p:spTree>
    <p:extLst>
      <p:ext uri="{BB962C8B-B14F-4D97-AF65-F5344CB8AC3E}">
        <p14:creationId xmlns:p14="http://schemas.microsoft.com/office/powerpoint/2010/main" val="1588368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E3E1BDFB-21B3-4954-A3B7-7DC24DAA8F0B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BA0C71-7566-4FCB-87DC-0C8DD81357F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为什么重点看Anthropic与OpenAI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A08CBE-00C3-46FE-8A2D-71703BC3AC9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0D5BBE6-E61A-4404-8652-8A36C96DA9EE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 等, Automated Researchers…, 2026；[5] Lewi, OpenAI评测工作流, 2026；[6] Google DeepMind, AlphaEvolve, 2025；[7] AgentEvolver论文, 2025；[8] Sakana AI, DGM, 2025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95E0AE-7EDB-4EED-806B-02725027178B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129579-7098-4F95-ACFE-A97F0FF5AD59}"/>
              </a:ext>
            </a:extLst>
          </p:cNvPr>
          <p:cNvSpPr>
            <a:spLocks noGrp="1"/>
          </p:cNvSpPr>
          <p:nvPr/>
        </p:nvSpPr>
        <p:spPr>
          <a:xfrm>
            <a:off x="685800" y="2257425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Anthropic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44FC4A-20FA-42D8-8907-6056772D0A64}"/>
              </a:ext>
            </a:extLst>
          </p:cNvPr>
          <p:cNvSpPr>
            <a:spLocks noGrp="1"/>
          </p:cNvSpPr>
          <p:nvPr/>
        </p:nvSpPr>
        <p:spPr>
          <a:xfrm>
            <a:off x="4095750" y="2257425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方法、目标模型权重与实验评测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355697-6670-4902-83BB-72C04B195A6B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B7923D0-D78A-4A10-A99D-CE3CF6B598B5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OpenAI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BAA733-15C0-42CE-9F74-6F233A32CF49}"/>
              </a:ext>
            </a:extLst>
          </p:cNvPr>
          <p:cNvSpPr>
            <a:spLocks noGrp="1"/>
          </p:cNvSpPr>
          <p:nvPr/>
        </p:nvSpPr>
        <p:spPr>
          <a:xfrm>
            <a:off x="4095750" y="3476625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研发任务、工具使用与决策记录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BF0254-46D4-4B4D-9A1A-D23CDB3D2F67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EA18208-B060-40E6-BEFF-4A1CD0241A64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10820400" cy="771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Google与开放研究补充算法、策略和代码的改动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84090B-6377-455F-83AE-B8ADD208385A}"/>
              </a:ext>
            </a:extLst>
          </p:cNvPr>
          <p:cNvSpPr>
            <a:spLocks noGrp="1"/>
          </p:cNvSpPr>
          <p:nvPr/>
        </p:nvSpPr>
        <p:spPr>
          <a:xfrm>
            <a:off x="685800" y="584835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按可检查的公开证据选案例</a:t>
            </a:r>
          </a:p>
        </p:txBody>
      </p:sp>
    </p:spTree>
    <p:extLst>
      <p:ext uri="{BB962C8B-B14F-4D97-AF65-F5344CB8AC3E}">
        <p14:creationId xmlns:p14="http://schemas.microsoft.com/office/powerpoint/2010/main" val="674660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2C124BC0-0FE2-4AF3-AE75-84A98EC676C6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12FCCE4-0611-4DB8-BE25-F8E8AE9251D5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任务：让模型少迎合错误观点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E92894-7036-4373-919C-06EC000389F5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414A70-27CF-463C-808E-2CAFB35EA8F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 等, Automated Researchers…,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BED24E-9276-4EDB-A3A1-18C0161A5973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6A86C76-7411-4D74-A373-DBC6E4C38298}"/>
              </a:ext>
            </a:extLst>
          </p:cNvPr>
          <p:cNvSpPr>
            <a:spLocks noGrp="1"/>
          </p:cNvSpPr>
          <p:nvPr/>
        </p:nvSpPr>
        <p:spPr>
          <a:xfrm>
            <a:off x="685800" y="2657475"/>
            <a:ext cx="3048000" cy="14573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研究Agent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提出并实施方法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02C3ACDC-AC2B-40F2-8EF4-586AAF8806B4}"/>
              </a:ext>
            </a:extLst>
          </p:cNvPr>
          <p:cNvSpPr>
            <a:spLocks noGrp="1"/>
          </p:cNvSpPr>
          <p:nvPr/>
        </p:nvSpPr>
        <p:spPr>
          <a:xfrm>
            <a:off x="40005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213ADE6-157F-42AE-A76B-14137358AAE2}"/>
              </a:ext>
            </a:extLst>
          </p:cNvPr>
          <p:cNvSpPr>
            <a:spLocks noGrp="1"/>
          </p:cNvSpPr>
          <p:nvPr/>
        </p:nvSpPr>
        <p:spPr>
          <a:xfrm>
            <a:off x="4933950" y="2657475"/>
            <a:ext cx="2952750" cy="1457325"/>
          </a:xfrm>
          <a:prstGeom prst="rect">
            <a:avLst/>
          </a:prstGeom>
          <a:solidFill>
            <a:srgbClr val="EFE5DA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Qwen3.5-2B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接受后训练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FEB6197B-DC55-4F95-80B6-D49DE5DB467F}"/>
              </a:ext>
            </a:extLst>
          </p:cNvPr>
          <p:cNvSpPr>
            <a:spLocks noGrp="1"/>
          </p:cNvSpPr>
          <p:nvPr/>
        </p:nvSpPr>
        <p:spPr>
          <a:xfrm>
            <a:off x="81534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6174272-8129-4644-BFD5-689E53BAD445}"/>
              </a:ext>
            </a:extLst>
          </p:cNvPr>
          <p:cNvSpPr>
            <a:spLocks noGrp="1"/>
          </p:cNvSpPr>
          <p:nvPr/>
        </p:nvSpPr>
        <p:spPr>
          <a:xfrm>
            <a:off x="9086850" y="2657475"/>
            <a:ext cx="2419350" cy="14573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评测器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行为与能力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0EAD0E3-45A1-475B-AE38-E107991A2890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任务：减少顺着用户错误观点说的行为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B58E1D-CF65-40DE-887D-A2A0FFCB775C}"/>
              </a:ext>
            </a:extLst>
          </p:cNvPr>
          <p:cNvSpPr>
            <a:spLocks noGrp="1"/>
          </p:cNvSpPr>
          <p:nvPr/>
        </p:nvSpPr>
        <p:spPr>
          <a:xfrm>
            <a:off x="685800" y="5000625"/>
            <a:ext cx="108204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研究者、被训练模型、评测器承担不同角色</a:t>
            </a:r>
          </a:p>
        </p:txBody>
      </p:sp>
    </p:spTree>
    <p:extLst>
      <p:ext uri="{BB962C8B-B14F-4D97-AF65-F5344CB8AC3E}">
        <p14:creationId xmlns:p14="http://schemas.microsoft.com/office/powerpoint/2010/main" val="573329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DAA5EB1-0554-411A-87BC-66FD80F4F066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378F1D-6A7E-46E9-81DD-657ABFF67E6A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一轮研究需要交付能运行的方法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EE5892-629B-4DD1-9BEC-AF355FAD1F2B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9261DF-D822-49A4-90AA-69B3ABFA5B48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 等, Automated Researchers…,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ED1551-694B-4694-9411-47C725C77683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5B972EC-FEBA-43BB-99CD-12935FBD4E4F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22955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0E5B5D-00A2-42B4-8BA0-DE0D2E6E26C6}"/>
              </a:ext>
            </a:extLst>
          </p:cNvPr>
          <p:cNvSpPr>
            <a:spLocks noGrp="1"/>
          </p:cNvSpPr>
          <p:nvPr/>
        </p:nvSpPr>
        <p:spPr>
          <a:xfrm>
            <a:off x="685800" y="2819400"/>
            <a:ext cx="22955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提出假设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E932A18-86C3-4DFA-AE66-7F721EBBA347}"/>
              </a:ext>
            </a:extLst>
          </p:cNvPr>
          <p:cNvSpPr>
            <a:spLocks noGrp="1"/>
          </p:cNvSpPr>
          <p:nvPr/>
        </p:nvSpPr>
        <p:spPr>
          <a:xfrm>
            <a:off x="685800" y="3762375"/>
            <a:ext cx="2295525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资料与研究方法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4F69EF0-BF9B-4E28-B841-39D41E58D5F7}"/>
              </a:ext>
            </a:extLst>
          </p:cNvPr>
          <p:cNvSpPr>
            <a:spLocks noGrp="1"/>
          </p:cNvSpPr>
          <p:nvPr/>
        </p:nvSpPr>
        <p:spPr>
          <a:xfrm>
            <a:off x="3486150" y="2152650"/>
            <a:ext cx="22955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7DC07FD-9A70-4005-B5D0-5DF278139EC4}"/>
              </a:ext>
            </a:extLst>
          </p:cNvPr>
          <p:cNvSpPr>
            <a:spLocks noGrp="1"/>
          </p:cNvSpPr>
          <p:nvPr/>
        </p:nvSpPr>
        <p:spPr>
          <a:xfrm>
            <a:off x="3486150" y="2819400"/>
            <a:ext cx="22955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冻结小论文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9CCC22-4F7F-47D3-AAA8-4CD5F64AC9A2}"/>
              </a:ext>
            </a:extLst>
          </p:cNvPr>
          <p:cNvSpPr>
            <a:spLocks noGrp="1"/>
          </p:cNvSpPr>
          <p:nvPr/>
        </p:nvSpPr>
        <p:spPr>
          <a:xfrm>
            <a:off x="3486150" y="3762375"/>
            <a:ext cx="2295525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本轮结果尚未公布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86B7841-37FC-4F76-B553-8A186FF02575}"/>
              </a:ext>
            </a:extLst>
          </p:cNvPr>
          <p:cNvSpPr>
            <a:spLocks noGrp="1"/>
          </p:cNvSpPr>
          <p:nvPr/>
        </p:nvSpPr>
        <p:spPr>
          <a:xfrm>
            <a:off x="6286500" y="2152650"/>
            <a:ext cx="22955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9CB1D1F-C096-41E0-BCEB-6AF6F988AF1C}"/>
              </a:ext>
            </a:extLst>
          </p:cNvPr>
          <p:cNvSpPr>
            <a:spLocks noGrp="1"/>
          </p:cNvSpPr>
          <p:nvPr/>
        </p:nvSpPr>
        <p:spPr>
          <a:xfrm>
            <a:off x="6286500" y="2819400"/>
            <a:ext cx="22955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提交实现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D86C40E-3014-4F18-B8F3-4B4E6F8BF404}"/>
              </a:ext>
            </a:extLst>
          </p:cNvPr>
          <p:cNvSpPr>
            <a:spLocks noGrp="1"/>
          </p:cNvSpPr>
          <p:nvPr/>
        </p:nvSpPr>
        <p:spPr>
          <a:xfrm>
            <a:off x="6286500" y="3762375"/>
            <a:ext cx="2295525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代码监控后训练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6A664B2-4F69-4513-AA4C-F0699A32AD58}"/>
              </a:ext>
            </a:extLst>
          </p:cNvPr>
          <p:cNvSpPr>
            <a:spLocks noGrp="1"/>
          </p:cNvSpPr>
          <p:nvPr/>
        </p:nvSpPr>
        <p:spPr>
          <a:xfrm>
            <a:off x="9086850" y="2152650"/>
            <a:ext cx="24193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6B9153F-0EB7-4A0F-9E92-B3BF2A8BF2FD}"/>
              </a:ext>
            </a:extLst>
          </p:cNvPr>
          <p:cNvSpPr>
            <a:spLocks noGrp="1"/>
          </p:cNvSpPr>
          <p:nvPr/>
        </p:nvSpPr>
        <p:spPr>
          <a:xfrm>
            <a:off x="9086850" y="2819400"/>
            <a:ext cx="24193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外部评测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2CB1653-2803-4A8F-BB51-0E4C86DA1AF2}"/>
              </a:ext>
            </a:extLst>
          </p:cNvPr>
          <p:cNvSpPr>
            <a:spLocks noGrp="1"/>
          </p:cNvSpPr>
          <p:nvPr/>
        </p:nvSpPr>
        <p:spPr>
          <a:xfrm>
            <a:off x="9086850" y="3762375"/>
            <a:ext cx="24193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反馈结果与副作用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C744C9D-B590-4971-A154-7992E0EF0EE6}"/>
              </a:ext>
            </a:extLst>
          </p:cNvPr>
          <p:cNvSpPr>
            <a:spLocks noGrp="1"/>
          </p:cNvSpPr>
          <p:nvPr/>
        </p:nvSpPr>
        <p:spPr>
          <a:xfrm>
            <a:off x="685800" y="5476875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典型方法预算：约1张H200，约30分钟</a:t>
            </a:r>
          </a:p>
        </p:txBody>
      </p:sp>
    </p:spTree>
    <p:extLst>
      <p:ext uri="{BB962C8B-B14F-4D97-AF65-F5344CB8AC3E}">
        <p14:creationId xmlns:p14="http://schemas.microsoft.com/office/powerpoint/2010/main" val="1287064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9D3C33B4-2CA1-4619-A5A5-7A07DE61F372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1D22C1E-83B1-42AE-BA2F-2BCA9AF212D6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下一次尝试，能读到之前的成功与失败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82CFDD-3868-499C-9086-E71F948381B5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BEA2B6-5948-44E9-9397-638BD90E2787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 等, Automated Researchers…,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59F3FF-7456-4691-90ED-28E7CE47ADF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D31099E-D90C-4306-92AD-E51AD5FF75BB}"/>
              </a:ext>
            </a:extLst>
          </p:cNvPr>
          <p:cNvSpPr>
            <a:spLocks noGrp="1"/>
          </p:cNvSpPr>
          <p:nvPr/>
        </p:nvSpPr>
        <p:spPr>
          <a:xfrm>
            <a:off x="685800" y="2609850"/>
            <a:ext cx="3124200" cy="15335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多个研究Agent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并行探索候选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656DB1DF-4B19-492F-86EB-574A577A4AC3}"/>
              </a:ext>
            </a:extLst>
          </p:cNvPr>
          <p:cNvSpPr>
            <a:spLocks noGrp="1"/>
          </p:cNvSpPr>
          <p:nvPr/>
        </p:nvSpPr>
        <p:spPr>
          <a:xfrm>
            <a:off x="4067175" y="324802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D83C2C2-416B-46B9-9A92-80B75C8C62AD}"/>
              </a:ext>
            </a:extLst>
          </p:cNvPr>
          <p:cNvSpPr>
            <a:spLocks noGrp="1"/>
          </p:cNvSpPr>
          <p:nvPr/>
        </p:nvSpPr>
        <p:spPr>
          <a:xfrm>
            <a:off x="4962525" y="2609850"/>
            <a:ext cx="3019425" cy="1533525"/>
          </a:xfrm>
          <a:prstGeom prst="rect">
            <a:avLst/>
          </a:prstGeom>
          <a:solidFill>
            <a:srgbClr val="EFE5DA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共享记录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方法、评分与失败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636DCF6E-3565-4BFF-98D1-EE71479AF376}"/>
              </a:ext>
            </a:extLst>
          </p:cNvPr>
          <p:cNvSpPr>
            <a:spLocks noGrp="1"/>
          </p:cNvSpPr>
          <p:nvPr/>
        </p:nvSpPr>
        <p:spPr>
          <a:xfrm>
            <a:off x="8239125" y="324802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888666-F673-4952-9ECC-DF79BE373D78}"/>
              </a:ext>
            </a:extLst>
          </p:cNvPr>
          <p:cNvSpPr>
            <a:spLocks noGrp="1"/>
          </p:cNvSpPr>
          <p:nvPr/>
        </p:nvSpPr>
        <p:spPr>
          <a:xfrm>
            <a:off x="9105900" y="2609850"/>
            <a:ext cx="2400300" cy="15335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新会话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读取后继续尝试</a:t>
            </a:r>
          </a:p>
        </p:txBody>
      </p:sp>
      <p:sp>
        <p:nvSpPr>
          <p:cNvPr id="11" name="箭头: 左 10">
            <a:extLst>
              <a:ext uri="{FF2B5EF4-FFF2-40B4-BE49-F238E27FC236}">
                <a16:creationId xmlns:a16="http://schemas.microsoft.com/office/drawing/2014/main" id="{F0898C86-36A6-41EF-BC05-0C22BBF0C61E}"/>
              </a:ext>
            </a:extLst>
          </p:cNvPr>
          <p:cNvSpPr>
            <a:spLocks noGrp="1"/>
          </p:cNvSpPr>
          <p:nvPr/>
        </p:nvSpPr>
        <p:spPr>
          <a:xfrm>
            <a:off x="2238375" y="4572000"/>
            <a:ext cx="7715250" cy="228600"/>
          </a:xfrm>
          <a:prstGeom prst="leftArrow">
            <a:avLst/>
          </a:prstGeom>
          <a:solidFill>
            <a:srgbClr val="E7EFEB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2853164-3672-4CD8-90BB-BE8DD557689B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研究能接续：记忆保存在外部记录中</a:t>
            </a:r>
          </a:p>
        </p:txBody>
      </p:sp>
    </p:spTree>
    <p:extLst>
      <p:ext uri="{BB962C8B-B14F-4D97-AF65-F5344CB8AC3E}">
        <p14:creationId xmlns:p14="http://schemas.microsoft.com/office/powerpoint/2010/main" val="300241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61F49323-D9DA-488C-AC27-EC307AC084D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362D072-39FE-4BDA-85ED-AEAE3B6FD411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激活引导改变教师的回答倾向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144D10-26CA-45FA-AD4B-6C397C019ECD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7074F3-3319-498C-B961-977361EEECF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 等, Automated Researchers…,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2C90BD-7D50-4598-AAD3-637D6700B74A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3BA0B7-42E3-4704-A9C4-139075370283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10820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目标：更少迎合错误观点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DBC6D3B-A6A7-40EA-B2A6-05674D20626E}"/>
              </a:ext>
            </a:extLst>
          </p:cNvPr>
          <p:cNvSpPr>
            <a:spLocks noGrp="1"/>
          </p:cNvSpPr>
          <p:nvPr/>
        </p:nvSpPr>
        <p:spPr>
          <a:xfrm>
            <a:off x="685800" y="3133725"/>
            <a:ext cx="3143250" cy="120015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原内部表示 h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6AF4D9FE-AAA9-47DF-8FA4-FC1F65A1740A}"/>
              </a:ext>
            </a:extLst>
          </p:cNvPr>
          <p:cNvSpPr>
            <a:spLocks noGrp="1"/>
          </p:cNvSpPr>
          <p:nvPr/>
        </p:nvSpPr>
        <p:spPr>
          <a:xfrm>
            <a:off x="4095750" y="3619500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3B6C05-0B82-4B60-8490-9D5722A4F38A}"/>
              </a:ext>
            </a:extLst>
          </p:cNvPr>
          <p:cNvSpPr>
            <a:spLocks noGrp="1"/>
          </p:cNvSpPr>
          <p:nvPr/>
        </p:nvSpPr>
        <p:spPr>
          <a:xfrm>
            <a:off x="4933950" y="3133725"/>
            <a:ext cx="2857500" cy="1200150"/>
          </a:xfrm>
          <a:prstGeom prst="rect">
            <a:avLst/>
          </a:prstGeom>
          <a:solidFill>
            <a:srgbClr val="EFE5DA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方向性干预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h′ = h + αv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22B90CD8-0FA2-44AF-AFC3-9ADB83013643}"/>
              </a:ext>
            </a:extLst>
          </p:cNvPr>
          <p:cNvSpPr>
            <a:spLocks noGrp="1"/>
          </p:cNvSpPr>
          <p:nvPr/>
        </p:nvSpPr>
        <p:spPr>
          <a:xfrm>
            <a:off x="8067675" y="3619500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422C674-3479-4AE4-B4D9-2CF57E55C6ED}"/>
              </a:ext>
            </a:extLst>
          </p:cNvPr>
          <p:cNvSpPr>
            <a:spLocks noGrp="1"/>
          </p:cNvSpPr>
          <p:nvPr/>
        </p:nvSpPr>
        <p:spPr>
          <a:xfrm>
            <a:off x="8886825" y="3133725"/>
            <a:ext cx="2619375" cy="120015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引导后的教师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输出倾向改变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BDB339-CB2A-46DC-A55A-B90183689576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推理时的临时改变，怎样保留下来？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ACBD8F3-188E-4686-92EC-C0BF59F3CB9A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8204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h′公式为一般教学示意，方向与强度取决于具体方法</a:t>
            </a:r>
          </a:p>
        </p:txBody>
      </p:sp>
    </p:spTree>
    <p:extLst>
      <p:ext uri="{BB962C8B-B14F-4D97-AF65-F5344CB8AC3E}">
        <p14:creationId xmlns:p14="http://schemas.microsoft.com/office/powerpoint/2010/main" val="3886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B051D668-E3AB-41B7-B91C-1BD4A2D93AF0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B501FB3-A377-4BE7-A48E-2DC3DBE854A7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蒸馏训练把行为变化写进学生权重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76D0819-349C-4A7A-93A7-3124F15D07B9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A3DF91-0919-40F3-9A15-DD0DC057CAA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 等, Automated Researchers…, 2026；App. D.4；机制教学示意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42988F5-274B-428E-AFFA-A2D8AA28ED6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DBD246-98A3-4353-BCC8-4E9EFE5C984B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3009900" cy="142875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引导后的教师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给出分布 pT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46EAA5B9-1F39-4BAD-982D-27630A98171E}"/>
              </a:ext>
            </a:extLst>
          </p:cNvPr>
          <p:cNvSpPr>
            <a:spLocks noGrp="1"/>
          </p:cNvSpPr>
          <p:nvPr/>
        </p:nvSpPr>
        <p:spPr>
          <a:xfrm>
            <a:off x="3952875" y="317182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DFE644-E6AD-4A8E-8641-24631417CA58}"/>
              </a:ext>
            </a:extLst>
          </p:cNvPr>
          <p:cNvSpPr>
            <a:spLocks noGrp="1"/>
          </p:cNvSpPr>
          <p:nvPr/>
        </p:nvSpPr>
        <p:spPr>
          <a:xfrm>
            <a:off x="4829175" y="2571750"/>
            <a:ext cx="2990850" cy="142875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KL训练目标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调整学生权重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A5369B4C-51BF-424E-930F-48E2D8E4282B}"/>
              </a:ext>
            </a:extLst>
          </p:cNvPr>
          <p:cNvSpPr>
            <a:spLocks noGrp="1"/>
          </p:cNvSpPr>
          <p:nvPr/>
        </p:nvSpPr>
        <p:spPr>
          <a:xfrm>
            <a:off x="8086725" y="317182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85B89C-3C6D-40B9-8FA9-5E68832D7F86}"/>
              </a:ext>
            </a:extLst>
          </p:cNvPr>
          <p:cNvSpPr>
            <a:spLocks noGrp="1"/>
          </p:cNvSpPr>
          <p:nvPr/>
        </p:nvSpPr>
        <p:spPr>
          <a:xfrm>
            <a:off x="8953500" y="2571750"/>
            <a:ext cx="2552700" cy="142875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正常推理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外部评测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E74DA0-A49B-4DD6-86D6-B46FA1BCEE83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1082040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分布差异成为训练信号，参数更新发生在学生模型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70F72E0-2894-46B8-ABD1-DDD166A3A48D}"/>
              </a:ext>
            </a:extLst>
          </p:cNvPr>
          <p:cNvSpPr>
            <a:spLocks noGrp="1"/>
          </p:cNvSpPr>
          <p:nvPr/>
        </p:nvSpPr>
        <p:spPr>
          <a:xfrm>
            <a:off x="685800" y="5819775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KL方向和完整配方由具体方法定义，此图不指定超参数</a:t>
            </a:r>
          </a:p>
        </p:txBody>
      </p:sp>
      <p:pic>
        <p:nvPicPr>
          <p:cNvPr id="14" name="MechanismTeachingVideo">
            <a:hlinkClick action="ppaction://media"/>
            <a:extLst>
              <a:ext uri="{FF2B5EF4-FFF2-40B4-BE49-F238E27FC236}">
                <a16:creationId xmlns:a16="http://schemas.microsoft.com/office/drawing/2014/main" id="{7404216F-3FD5-0B99-ABE4-6B5CD1472CC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963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2335946C-CAFB-4746-8EE3-70CF66DDAA2D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32E0F93-FF61-4801-9F97-645941113226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改善空间：先弄清百分数的分母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A3E4921-9C19-4643-B405-0D3CD6144FF4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70429C1-6765-4415-B4D3-49C7220E272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 等, Automated Researchers…,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9A0ED80-E98F-4326-A7B9-E70F6634D50B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73F5EBB-D58E-4EFD-9687-A421F885C184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30575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823DECC-24A5-463B-B4B8-6D7D38D937BD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305752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15920A-1979-4C1C-A381-3E6ABFAEDB02}"/>
              </a:ext>
            </a:extLst>
          </p:cNvPr>
          <p:cNvSpPr>
            <a:spLocks noGrp="1"/>
          </p:cNvSpPr>
          <p:nvPr/>
        </p:nvSpPr>
        <p:spPr>
          <a:xfrm>
            <a:off x="4562475" y="2238375"/>
            <a:ext cx="30575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训练后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3E6B3BB-71BC-4628-9C3D-549803E780DE}"/>
              </a:ext>
            </a:extLst>
          </p:cNvPr>
          <p:cNvSpPr>
            <a:spLocks noGrp="1"/>
          </p:cNvSpPr>
          <p:nvPr/>
        </p:nvSpPr>
        <p:spPr>
          <a:xfrm>
            <a:off x="4562475" y="2800350"/>
            <a:ext cx="305752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6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6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70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233D41F-41BD-4C20-8E33-D2A5080491F8}"/>
              </a:ext>
            </a:extLst>
          </p:cNvPr>
          <p:cNvSpPr>
            <a:spLocks noGrp="1"/>
          </p:cNvSpPr>
          <p:nvPr/>
        </p:nvSpPr>
        <p:spPr>
          <a:xfrm>
            <a:off x="8439150" y="2238375"/>
            <a:ext cx="30575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该指标最优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0470FDE-0D09-4633-8E4C-9B89AAE93590}"/>
              </a:ext>
            </a:extLst>
          </p:cNvPr>
          <p:cNvSpPr>
            <a:spLocks noGrp="1"/>
          </p:cNvSpPr>
          <p:nvPr/>
        </p:nvSpPr>
        <p:spPr>
          <a:xfrm>
            <a:off x="8439150" y="2800350"/>
            <a:ext cx="305752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49D24B0-D25A-4A48-A090-124BF968F897}"/>
              </a:ext>
            </a:extLst>
          </p:cNvPr>
          <p:cNvSpPr>
            <a:spLocks noGrp="1"/>
          </p:cNvSpPr>
          <p:nvPr/>
        </p:nvSpPr>
        <p:spPr>
          <a:xfrm>
            <a:off x="685800" y="41052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B08ECFD-B1AD-4FB3-ACE4-3F52E689AD6B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428625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关闭的改善空间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FDCEFE-AAC1-4332-9CD8-7079BE22F571}"/>
              </a:ext>
            </a:extLst>
          </p:cNvPr>
          <p:cNvSpPr>
            <a:spLocks noGrp="1"/>
          </p:cNvSpPr>
          <p:nvPr/>
        </p:nvSpPr>
        <p:spPr>
          <a:xfrm>
            <a:off x="4981575" y="4505325"/>
            <a:ext cx="6524625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(70 − 50) / (100 − 50) = 40%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F6A367E-F4E7-4CF4-B602-25DB553ABD91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50、70、100是教学数值，40%不是论文结果</a:t>
            </a:r>
          </a:p>
        </p:txBody>
      </p:sp>
    </p:spTree>
    <p:extLst>
      <p:ext uri="{BB962C8B-B14F-4D97-AF65-F5344CB8AC3E}">
        <p14:creationId xmlns:p14="http://schemas.microsoft.com/office/powerpoint/2010/main" val="319732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10DE09D3-F57C-4DFE-86A9-C177867BD243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4B64994-0F93-4F2B-94EE-4B36D3D938F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相同方法数量下，开放搜索获得更大改善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B6C5E3-B18C-41A4-80A9-64D8189A148C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7C0DC3-EF30-4FB6-BB1E-500ACE344C0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 等, Automated Researchers…,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5FB2EB-60A1-4029-A2D7-CFB021D0A6A8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9A1BB73-BCC0-4AEF-987B-E620803C0A51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Qwen3.5-2B谄媚任务：前150个已评分方法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22BC249B-E691-49A0-9865-BB14BCFEF7E6}"/>
              </a:ext>
            </a:extLst>
          </p:cNvPr>
          <p:cNvGraphicFramePr/>
          <p:nvPr/>
        </p:nvGraphicFramePr>
        <p:xfrm>
          <a:off x="685800" y="2667000"/>
          <a:ext cx="7019925" cy="308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2437D5E4-F868-4883-A748-EF65479409CF}"/>
              </a:ext>
            </a:extLst>
          </p:cNvPr>
          <p:cNvSpPr>
            <a:spLocks noGrp="1"/>
          </p:cNvSpPr>
          <p:nvPr/>
        </p:nvSpPr>
        <p:spPr>
          <a:xfrm>
            <a:off x="8172450" y="2914650"/>
            <a:ext cx="333375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比较搜索条件</a:t>
            </a:r>
          </a:p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允许的方法不同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28F15D-9AC1-486D-BD31-07B480FD6CEF}"/>
              </a:ext>
            </a:extLst>
          </p:cNvPr>
          <p:cNvSpPr>
            <a:spLocks noGrp="1"/>
          </p:cNvSpPr>
          <p:nvPr/>
        </p:nvSpPr>
        <p:spPr>
          <a:xfrm>
            <a:off x="8172450" y="4552950"/>
            <a:ext cx="33337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每条件一次运行</a:t>
            </a:r>
          </a:p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爬坡评测套件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C54665D-ED0A-4967-BE07-20C4509173F4}"/>
              </a:ext>
            </a:extLst>
          </p:cNvPr>
          <p:cNvSpPr>
            <a:spLocks noGrp="1"/>
          </p:cNvSpPr>
          <p:nvPr/>
        </p:nvSpPr>
        <p:spPr>
          <a:xfrm>
            <a:off x="685800" y="5934075"/>
            <a:ext cx="108204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横轴：改善空间关闭比例；SFT为监督微调；依据[4] Fig.20</a:t>
            </a:r>
          </a:p>
        </p:txBody>
      </p:sp>
    </p:spTree>
    <p:extLst>
      <p:ext uri="{BB962C8B-B14F-4D97-AF65-F5344CB8AC3E}">
        <p14:creationId xmlns:p14="http://schemas.microsoft.com/office/powerpoint/2010/main" val="724496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318890C3-6E19-495E-8206-A742FB53B661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研发流程  OpenAI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B892DE-7CF1-449E-9A88-9B5C9C1F233E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另一项任务：把发布前评测跑清楚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ACA3E8-07E0-43D9-AB85-D1B8A29AC9DA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7674596-AD92-4F3D-B392-A10999457AD0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OpenAI评测工作流,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FF0ED35-400D-4EEB-B196-35731B3360A3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03B9BC3-A528-4EC6-B929-2A81D6807B27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1082040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发布前，怎样检查模型是否达到要求？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983130-C719-446F-8711-F3840A8491C4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B09FD1-A96C-4548-AE1C-CCE1CF20FF9A}"/>
              </a:ext>
            </a:extLst>
          </p:cNvPr>
          <p:cNvSpPr>
            <a:spLocks noGrp="1"/>
          </p:cNvSpPr>
          <p:nvPr/>
        </p:nvSpPr>
        <p:spPr>
          <a:xfrm>
            <a:off x="4095750" y="3333750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确定本次评测目标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997AB4E-1B7B-4D95-8001-511679570906}"/>
              </a:ext>
            </a:extLst>
          </p:cNvPr>
          <p:cNvSpPr>
            <a:spLocks noGrp="1"/>
          </p:cNvSpPr>
          <p:nvPr/>
        </p:nvSpPr>
        <p:spPr>
          <a:xfrm>
            <a:off x="685800" y="423862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0C1EEE8-EA21-4E15-BE98-BECAB8005183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8FE4DE3-8F67-4E7E-A2E8-2E10EE669DBF}"/>
              </a:ext>
            </a:extLst>
          </p:cNvPr>
          <p:cNvSpPr>
            <a:spLocks noGrp="1"/>
          </p:cNvSpPr>
          <p:nvPr/>
        </p:nvSpPr>
        <p:spPr>
          <a:xfrm>
            <a:off x="4095750" y="4533900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找工具、写命令、检查结果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F8EBEB0-65A0-4828-9593-2ED3C057D337}"/>
              </a:ext>
            </a:extLst>
          </p:cNvPr>
          <p:cNvSpPr>
            <a:spLocks noGrp="1"/>
          </p:cNvSpPr>
          <p:nvPr/>
        </p:nvSpPr>
        <p:spPr>
          <a:xfrm>
            <a:off x="685800" y="54387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2072581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B58F7719-374B-460E-849C-A7D2E9435BCE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研发流程  OpenAI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E2B51DA-4D0B-44B9-9B25-DB08D3361476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执行之前，研究员先审阅计划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F25715D-4B33-4CD7-8619-707544CF8427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F91876-5A6B-411B-AD36-E7EB1D26C5B8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OpenAI评测工作流,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1265163-1EA1-44A7-B173-CC935340A110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EAF45E-F469-4BC6-A2B3-817846A9D986}"/>
              </a:ext>
            </a:extLst>
          </p:cNvPr>
          <p:cNvSpPr>
            <a:spLocks noGrp="1"/>
          </p:cNvSpPr>
          <p:nvPr/>
        </p:nvSpPr>
        <p:spPr>
          <a:xfrm>
            <a:off x="685800" y="2181225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作者给Codex的要求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B0406EA-D351-4E48-BA20-E1531CD7DDF2}"/>
              </a:ext>
            </a:extLst>
          </p:cNvPr>
          <p:cNvSpPr>
            <a:spLocks noGrp="1"/>
          </p:cNvSpPr>
          <p:nvPr/>
        </p:nvSpPr>
        <p:spPr>
          <a:xfrm>
            <a:off x="685800" y="2886075"/>
            <a:ext cx="10820400" cy="1457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“Wait for me to review and approve</a:t>
            </a:r>
          </a:p>
          <a:p>
            <a: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the plan before beginning.”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47CFEB-F2FA-4B79-A57E-C3988B010C7C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12C3DFD-E23E-40EF-B428-79D3C7B52EA0}"/>
              </a:ext>
            </a:extLst>
          </p:cNvPr>
          <p:cNvSpPr>
            <a:spLocks noGrp="1"/>
          </p:cNvSpPr>
          <p:nvPr/>
        </p:nvSpPr>
        <p:spPr>
          <a:xfrm>
            <a:off x="685800" y="5133975"/>
            <a:ext cx="32385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目标与旧记录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CD452808-1ADB-4F65-A667-4C2453DF9B75}"/>
              </a:ext>
            </a:extLst>
          </p:cNvPr>
          <p:cNvSpPr>
            <a:spLocks noGrp="1"/>
          </p:cNvSpPr>
          <p:nvPr/>
        </p:nvSpPr>
        <p:spPr>
          <a:xfrm>
            <a:off x="3914775" y="5248275"/>
            <a:ext cx="52387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BDFAB9-258E-4E71-B815-4D9E250C9B4A}"/>
              </a:ext>
            </a:extLst>
          </p:cNvPr>
          <p:cNvSpPr>
            <a:spLocks noGrp="1"/>
          </p:cNvSpPr>
          <p:nvPr/>
        </p:nvSpPr>
        <p:spPr>
          <a:xfrm>
            <a:off x="4686300" y="5133975"/>
            <a:ext cx="31051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Codex拟计划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E88F9494-56C5-4353-95F8-87BEEDCCF7F9}"/>
              </a:ext>
            </a:extLst>
          </p:cNvPr>
          <p:cNvSpPr>
            <a:spLocks noGrp="1"/>
          </p:cNvSpPr>
          <p:nvPr/>
        </p:nvSpPr>
        <p:spPr>
          <a:xfrm>
            <a:off x="7858125" y="5248275"/>
            <a:ext cx="52387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FB4D993-D480-4F1E-8CBE-9E732BC79FD3}"/>
              </a:ext>
            </a:extLst>
          </p:cNvPr>
          <p:cNvSpPr>
            <a:spLocks noGrp="1"/>
          </p:cNvSpPr>
          <p:nvPr/>
        </p:nvSpPr>
        <p:spPr>
          <a:xfrm>
            <a:off x="8667750" y="5133975"/>
            <a:ext cx="28384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人审阅后执行</a:t>
            </a:r>
          </a:p>
        </p:txBody>
      </p:sp>
    </p:spTree>
    <p:extLst>
      <p:ext uri="{BB962C8B-B14F-4D97-AF65-F5344CB8AC3E}">
        <p14:creationId xmlns:p14="http://schemas.microsoft.com/office/powerpoint/2010/main" val="174011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DB0EA07-A3AF-471E-84A3-682AF60528BB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研发流程  OpenAI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DD84EAE-D72A-441A-A661-93FFEFE8BA9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Runme让下一次任务能接着做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2239F5-B861-40BF-98E8-915DD284F2BA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E4D880B-B62C-4B60-A11A-239E0BE31AE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OpenAI评测工作流,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AE95E3B-23BB-443F-8374-98FAAB718494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B5834FB-05CE-48A7-AF1A-87023C74CFDF}"/>
              </a:ext>
            </a:extLst>
          </p:cNvPr>
          <p:cNvSpPr>
            <a:spLocks noGrp="1"/>
          </p:cNvSpPr>
          <p:nvPr/>
        </p:nvSpPr>
        <p:spPr>
          <a:xfrm>
            <a:off x="685800" y="2181225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Runme笔记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6E7852-6C9B-474C-A468-41B2453EDA46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目标与计划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530069C-DB2E-4A97-BB00-C114B93F6654}"/>
              </a:ext>
            </a:extLst>
          </p:cNvPr>
          <p:cNvSpPr>
            <a:spLocks noGrp="1"/>
          </p:cNvSpPr>
          <p:nvPr/>
        </p:nvSpPr>
        <p:spPr>
          <a:xfrm>
            <a:off x="4095750" y="3076575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为什么做，准备怎样做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FC91C6A-B082-4200-A63E-2FE8E529470D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8DE046D-4A87-49E8-A8CF-C253B54B62EE}"/>
              </a:ext>
            </a:extLst>
          </p:cNvPr>
          <p:cNvSpPr>
            <a:spLocks noGrp="1"/>
          </p:cNvSpPr>
          <p:nvPr/>
        </p:nvSpPr>
        <p:spPr>
          <a:xfrm>
            <a:off x="685800" y="4181475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命令与输出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53A22A-7715-4454-B617-FBE5B009007C}"/>
              </a:ext>
            </a:extLst>
          </p:cNvPr>
          <p:cNvSpPr>
            <a:spLocks noGrp="1"/>
          </p:cNvSpPr>
          <p:nvPr/>
        </p:nvSpPr>
        <p:spPr>
          <a:xfrm>
            <a:off x="4095750" y="4181475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实际做了什么，发生了什么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E8D7A0-47AE-4854-BFC0-9ECBAFE8F294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9961B80-C017-4309-89AB-B5AD16125823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30289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解释与取舍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B2C7698-7BA3-4F2B-8597-4E0A6A4C56B7}"/>
              </a:ext>
            </a:extLst>
          </p:cNvPr>
          <p:cNvSpPr>
            <a:spLocks noGrp="1"/>
          </p:cNvSpPr>
          <p:nvPr/>
        </p:nvSpPr>
        <p:spPr>
          <a:xfrm>
            <a:off x="4095750" y="5334000"/>
            <a:ext cx="741045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下一次任务可以读取判断依据</a:t>
            </a:r>
          </a:p>
        </p:txBody>
      </p:sp>
    </p:spTree>
    <p:extLst>
      <p:ext uri="{BB962C8B-B14F-4D97-AF65-F5344CB8AC3E}">
        <p14:creationId xmlns:p14="http://schemas.microsoft.com/office/powerpoint/2010/main" val="6574017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D5FF5BEC-38FE-45C5-98D8-F47FE7B2CABE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其他研发对象  Google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55C4326-9B8C-41C5-8829-53F5244EC7F5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AlphaEvolve把程序候选交给自动评测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78DA70-E055-413D-B617-3768E9AB87C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8BAEDB3-1A10-47BD-9BFE-EDC9A664509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[6] Google DeepMind, AlphaEvolve, 2025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52AD79-9C96-4462-8358-AD262E8E6C71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6F544E0-ABF2-4FF9-9B7A-66ECF319223A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3048000" cy="14192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Gemini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提出程序候选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152726A7-7D2F-46EF-B4A2-B6806458BE44}"/>
              </a:ext>
            </a:extLst>
          </p:cNvPr>
          <p:cNvSpPr>
            <a:spLocks noGrp="1"/>
          </p:cNvSpPr>
          <p:nvPr/>
        </p:nvSpPr>
        <p:spPr>
          <a:xfrm>
            <a:off x="40005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CA4739F-627D-461F-82C4-D61252678133}"/>
              </a:ext>
            </a:extLst>
          </p:cNvPr>
          <p:cNvSpPr>
            <a:spLocks noGrp="1"/>
          </p:cNvSpPr>
          <p:nvPr/>
        </p:nvSpPr>
        <p:spPr>
          <a:xfrm>
            <a:off x="4933950" y="2686050"/>
            <a:ext cx="2952750" cy="1419225"/>
          </a:xfrm>
          <a:prstGeom prst="rect">
            <a:avLst/>
          </a:prstGeom>
          <a:solidFill>
            <a:srgbClr val="EFE5DA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执行与评测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正确性、性能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01495EC3-EEBC-44D1-B2C8-7EFF039BFEFB}"/>
              </a:ext>
            </a:extLst>
          </p:cNvPr>
          <p:cNvSpPr>
            <a:spLocks noGrp="1"/>
          </p:cNvSpPr>
          <p:nvPr/>
        </p:nvSpPr>
        <p:spPr>
          <a:xfrm>
            <a:off x="81534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1CAAA93-0580-4FB8-80E6-614636A6B2FE}"/>
              </a:ext>
            </a:extLst>
          </p:cNvPr>
          <p:cNvSpPr>
            <a:spLocks noGrp="1"/>
          </p:cNvSpPr>
          <p:nvPr/>
        </p:nvSpPr>
        <p:spPr>
          <a:xfrm>
            <a:off x="9086850" y="2686050"/>
            <a:ext cx="2419350" cy="14192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保留较好程序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继续产生候选</a:t>
            </a:r>
          </a:p>
        </p:txBody>
      </p:sp>
      <p:sp>
        <p:nvSpPr>
          <p:cNvPr id="11" name="箭头: 左 10">
            <a:extLst>
              <a:ext uri="{FF2B5EF4-FFF2-40B4-BE49-F238E27FC236}">
                <a16:creationId xmlns:a16="http://schemas.microsoft.com/office/drawing/2014/main" id="{79CAF228-1D71-4752-8E2E-50F0318B2EB1}"/>
              </a:ext>
            </a:extLst>
          </p:cNvPr>
          <p:cNvSpPr>
            <a:spLocks noGrp="1"/>
          </p:cNvSpPr>
          <p:nvPr/>
        </p:nvSpPr>
        <p:spPr>
          <a:xfrm>
            <a:off x="2152650" y="4533900"/>
            <a:ext cx="7810500" cy="228600"/>
          </a:xfrm>
          <a:prstGeom prst="leftArrow">
            <a:avLst/>
          </a:prstGeom>
          <a:solidFill>
            <a:srgbClr val="E7EFEB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4F84E8-2EC9-4715-BE07-D500D3657CB7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108204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改进对象：能运行和检查的算法程序</a:t>
            </a:r>
          </a:p>
        </p:txBody>
      </p:sp>
    </p:spTree>
    <p:extLst>
      <p:ext uri="{BB962C8B-B14F-4D97-AF65-F5344CB8AC3E}">
        <p14:creationId xmlns:p14="http://schemas.microsoft.com/office/powerpoint/2010/main" val="1781412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CB1E8A6-6013-4ADE-9C94-D8C20DE54B09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其他研发对象  Google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B632CE-802F-42CF-B1B8-1C12B2905676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算子加速23%，对应总训练时间减少1%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C3E55E-F479-4295-955F-D009ECEF9D89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D73AB1-19DD-4923-AD17-B3C321FBD01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[6] Google DeepMind, AlphaEvolve, 2025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DACC34-5878-4E75-9E29-59A1639BA9D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D9FDAE-5B0A-4A00-B8A3-E9EB0889D0DF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4953000" cy="1590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8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8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23%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1A834C-E300-4223-BC10-2D5748F2D327}"/>
              </a:ext>
            </a:extLst>
          </p:cNvPr>
          <p:cNvSpPr>
            <a:spLocks noGrp="1"/>
          </p:cNvSpPr>
          <p:nvPr/>
        </p:nvSpPr>
        <p:spPr>
          <a:xfrm>
            <a:off x="685800" y="4133850"/>
            <a:ext cx="4953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所举矩阵乘法kernel的加速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20CEEBE-9778-47AC-A5D1-DD3EC2B321B9}"/>
              </a:ext>
            </a:extLst>
          </p:cNvPr>
          <p:cNvSpPr>
            <a:spLocks noGrp="1"/>
          </p:cNvSpPr>
          <p:nvPr/>
        </p:nvSpPr>
        <p:spPr>
          <a:xfrm>
            <a:off x="7029450" y="2200275"/>
            <a:ext cx="4476750" cy="1590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84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84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1%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FADC6D0-0729-4B9D-9F6A-37097A506A2B}"/>
              </a:ext>
            </a:extLst>
          </p:cNvPr>
          <p:cNvSpPr>
            <a:spLocks noGrp="1"/>
          </p:cNvSpPr>
          <p:nvPr/>
        </p:nvSpPr>
        <p:spPr>
          <a:xfrm>
            <a:off x="7029450" y="4133850"/>
            <a:ext cx="44767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Gemini总训练时间减少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51CD5E7-17F3-4ACA-B89C-9F4164416EB9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C7203F1-9BFC-485D-B2FE-766838C83E5A}"/>
              </a:ext>
            </a:extLst>
          </p:cNvPr>
          <p:cNvSpPr>
            <a:spLocks noGrp="1"/>
          </p:cNvSpPr>
          <p:nvPr/>
        </p:nvSpPr>
        <p:spPr>
          <a:xfrm>
            <a:off x="685800" y="5705475"/>
            <a:ext cx="10820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局部与整体的分母不同</a:t>
            </a:r>
          </a:p>
        </p:txBody>
      </p:sp>
    </p:spTree>
    <p:extLst>
      <p:ext uri="{BB962C8B-B14F-4D97-AF65-F5344CB8AC3E}">
        <p14:creationId xmlns:p14="http://schemas.microsoft.com/office/powerpoint/2010/main" val="1357706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36C5CC81-4C76-429C-85D0-2736A10A6522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开放研究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D02794-F9BB-4B10-8095-4ECD67462F2D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Agent策略与自身代码，也成为改进对象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C3E479-9F84-418F-989D-912BB65313B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421A16-A848-4065-956B-86F9502A258C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[7] AgentEvolver论文, 2025；[8] Sakana AI, DGM, 2025；[11] modelscope/AgentEvolver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EDABF0-1440-431E-9162-8BCC2683EC45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AB1E83F-A282-4343-A281-E29EA6320717}"/>
              </a:ext>
            </a:extLst>
          </p:cNvPr>
          <p:cNvSpPr>
            <a:spLocks noGrp="1"/>
          </p:cNvSpPr>
          <p:nvPr/>
        </p:nvSpPr>
        <p:spPr>
          <a:xfrm>
            <a:off x="685800" y="2219325"/>
            <a:ext cx="5114925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通义 AgentEvolver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8C6744-0A01-4A97-ADA3-E599AA778A5C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5019675" cy="1695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生成任务</a:t>
            </a:r>
          </a:p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复用经验</a:t>
            </a:r>
          </a:p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贡献归因支持策略训练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5A1691-46C0-41F2-BE85-50E1801A863C}"/>
              </a:ext>
            </a:extLst>
          </p:cNvPr>
          <p:cNvSpPr>
            <a:spLocks noGrp="1"/>
          </p:cNvSpPr>
          <p:nvPr/>
        </p:nvSpPr>
        <p:spPr>
          <a:xfrm>
            <a:off x="6629400" y="2219325"/>
            <a:ext cx="48768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Sakana DGM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A52EB7F-2D7A-4819-A8A5-A1DDE9BD28F0}"/>
              </a:ext>
            </a:extLst>
          </p:cNvPr>
          <p:cNvSpPr>
            <a:spLocks noGrp="1"/>
          </p:cNvSpPr>
          <p:nvPr/>
        </p:nvSpPr>
        <p:spPr>
          <a:xfrm>
            <a:off x="6629400" y="3124200"/>
            <a:ext cx="4876800" cy="1695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修改Agent自身代码</a:t>
            </a:r>
          </a:p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运行基准检查</a:t>
            </a:r>
          </a:p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保留较好的版本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76CB90B-1768-4E14-B483-918D7BD34E99}"/>
              </a:ext>
            </a:extLst>
          </p:cNvPr>
          <p:cNvSpPr>
            <a:spLocks noGrp="1"/>
          </p:cNvSpPr>
          <p:nvPr/>
        </p:nvSpPr>
        <p:spPr>
          <a:xfrm>
            <a:off x="685800" y="52482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FFB859B-8BF0-4EA6-8CA8-914AD22492E6}"/>
              </a:ext>
            </a:extLst>
          </p:cNvPr>
          <p:cNvSpPr>
            <a:spLocks noGrp="1"/>
          </p:cNvSpPr>
          <p:nvPr/>
        </p:nvSpPr>
        <p:spPr>
          <a:xfrm>
            <a:off x="685800" y="5591175"/>
            <a:ext cx="108204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策略训练与代码自改，需要分别追踪</a:t>
            </a:r>
          </a:p>
        </p:txBody>
      </p:sp>
    </p:spTree>
    <p:extLst>
      <p:ext uri="{BB962C8B-B14F-4D97-AF65-F5344CB8AC3E}">
        <p14:creationId xmlns:p14="http://schemas.microsoft.com/office/powerpoint/2010/main" val="7173322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3CE9329A-0BAE-4CE4-8153-204ABA660E2F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F1546F2-6372-4A07-8B04-0DAA18ED411F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这些案例改变了研发系统的不同部分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CF3E6D-C93E-4E2F-839E-844B7955EC9B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84D42C-E4AC-46D9-B343-181C49458A02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 等, Automated Researchers…, 2026；[5] Lewi, OpenAI评测工作流, 2026；[6] Google DeepMind, AlphaEvolve, 2025；[7] AgentEvolver论文, 2025；[8] Sakana AI, DGM, 2025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29F895-63F8-40F1-AE66-CC9E211F41EB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3FEC31B-F522-4FAF-98E1-A4E09F3DA5CC}"/>
              </a:ext>
            </a:extLst>
          </p:cNvPr>
          <p:cNvSpPr>
            <a:spLocks noGrp="1"/>
          </p:cNvSpPr>
          <p:nvPr/>
        </p:nvSpPr>
        <p:spPr>
          <a:xfrm>
            <a:off x="685800" y="2228850"/>
            <a:ext cx="2381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Anthropic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FBFA37-F6CE-4C78-A3DB-802F5559CDEF}"/>
              </a:ext>
            </a:extLst>
          </p:cNvPr>
          <p:cNvSpPr>
            <a:spLocks noGrp="1"/>
          </p:cNvSpPr>
          <p:nvPr/>
        </p:nvSpPr>
        <p:spPr>
          <a:xfrm>
            <a:off x="3524250" y="2228850"/>
            <a:ext cx="32194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目标模型权重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629851D-CC6F-4DC9-AB61-6F9B3649E2D4}"/>
              </a:ext>
            </a:extLst>
          </p:cNvPr>
          <p:cNvSpPr>
            <a:spLocks noGrp="1"/>
          </p:cNvSpPr>
          <p:nvPr/>
        </p:nvSpPr>
        <p:spPr>
          <a:xfrm>
            <a:off x="7239000" y="2228850"/>
            <a:ext cx="42672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训练后的行为与能力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A567B7-3440-44BC-924E-D261890DCE63}"/>
              </a:ext>
            </a:extLst>
          </p:cNvPr>
          <p:cNvSpPr>
            <a:spLocks noGrp="1"/>
          </p:cNvSpPr>
          <p:nvPr/>
        </p:nvSpPr>
        <p:spPr>
          <a:xfrm>
            <a:off x="685800" y="29718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965619D-13FD-4AB8-BD5C-1A45CFB7D8BD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2381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OpenAI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59BAC0E-991F-4B56-979F-D9D317AC71FB}"/>
              </a:ext>
            </a:extLst>
          </p:cNvPr>
          <p:cNvSpPr>
            <a:spLocks noGrp="1"/>
          </p:cNvSpPr>
          <p:nvPr/>
        </p:nvSpPr>
        <p:spPr>
          <a:xfrm>
            <a:off x="3524250" y="3162300"/>
            <a:ext cx="32194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流程与记录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7AE572B-5D5A-49DD-9C9B-BEC521284154}"/>
              </a:ext>
            </a:extLst>
          </p:cNvPr>
          <p:cNvSpPr>
            <a:spLocks noGrp="1"/>
          </p:cNvSpPr>
          <p:nvPr/>
        </p:nvSpPr>
        <p:spPr>
          <a:xfrm>
            <a:off x="7239000" y="3162300"/>
            <a:ext cx="42672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命令结果、研究员判断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87C27E-36CF-4351-877C-F4DFD96736CC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7E6E9F-6230-42F1-9210-034ADE895117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2381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Google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8E8809F-FD1B-4A58-B69B-591A73F86C75}"/>
              </a:ext>
            </a:extLst>
          </p:cNvPr>
          <p:cNvSpPr>
            <a:spLocks noGrp="1"/>
          </p:cNvSpPr>
          <p:nvPr/>
        </p:nvSpPr>
        <p:spPr>
          <a:xfrm>
            <a:off x="3524250" y="4095750"/>
            <a:ext cx="32194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算法程序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87E79DE-DB26-4635-BDDA-6551CAD035CE}"/>
              </a:ext>
            </a:extLst>
          </p:cNvPr>
          <p:cNvSpPr>
            <a:spLocks noGrp="1"/>
          </p:cNvSpPr>
          <p:nvPr/>
        </p:nvSpPr>
        <p:spPr>
          <a:xfrm>
            <a:off x="7239000" y="4095750"/>
            <a:ext cx="42672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正确性与性能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290F9C1-4E73-4F8B-92E0-D93A1B63D26F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17CF88A-7470-44A9-8249-33578F61BF62}"/>
              </a:ext>
            </a:extLst>
          </p:cNvPr>
          <p:cNvSpPr>
            <a:spLocks noGrp="1"/>
          </p:cNvSpPr>
          <p:nvPr/>
        </p:nvSpPr>
        <p:spPr>
          <a:xfrm>
            <a:off x="685800" y="5029200"/>
            <a:ext cx="2381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开放研究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E1A13AE-99FF-4471-815D-459D13411254}"/>
              </a:ext>
            </a:extLst>
          </p:cNvPr>
          <p:cNvSpPr>
            <a:spLocks noGrp="1"/>
          </p:cNvSpPr>
          <p:nvPr/>
        </p:nvSpPr>
        <p:spPr>
          <a:xfrm>
            <a:off x="3524250" y="5029200"/>
            <a:ext cx="32194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策略或代码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778FA1-6979-4551-9813-49278166654C}"/>
              </a:ext>
            </a:extLst>
          </p:cNvPr>
          <p:cNvSpPr>
            <a:spLocks noGrp="1"/>
          </p:cNvSpPr>
          <p:nvPr/>
        </p:nvSpPr>
        <p:spPr>
          <a:xfrm>
            <a:off x="7239000" y="5029200"/>
            <a:ext cx="42672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任务评测、版本表现</a:t>
            </a:r>
          </a:p>
        </p:txBody>
      </p:sp>
    </p:spTree>
    <p:extLst>
      <p:ext uri="{BB962C8B-B14F-4D97-AF65-F5344CB8AC3E}">
        <p14:creationId xmlns:p14="http://schemas.microsoft.com/office/powerpoint/2010/main" val="1219544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5466EAF5-1522-40E2-A219-6083FC8C2D41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23CF775-1289-4FA7-BF44-A1ABD1CCF820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结果反馈与研发能力递归改进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1F0959-FB9D-42A6-94FD-43A42B58AA65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338A821-D995-48A4-82A0-B9B969B9283C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 等, Automated Researchers…, 2026；[5] Lewi, OpenAI评测工作流, 2026；[8] Sakana AI, DGM, 2025；[10] Anthropic, Recursive Self-Improvement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19DC21-DC51-417F-8B5C-3AEDAB287911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396CC0-34EC-41E0-8714-0EA2D6D335F5}"/>
              </a:ext>
            </a:extLst>
          </p:cNvPr>
          <p:cNvSpPr>
            <a:spLocks noGrp="1"/>
          </p:cNvSpPr>
          <p:nvPr/>
        </p:nvSpPr>
        <p:spPr>
          <a:xfrm>
            <a:off x="685800" y="2438400"/>
            <a:ext cx="2762250" cy="125730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研究系统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提出与执行方法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A97BFF13-B3DF-438D-B119-CB1411804CDA}"/>
              </a:ext>
            </a:extLst>
          </p:cNvPr>
          <p:cNvSpPr>
            <a:spLocks noGrp="1"/>
          </p:cNvSpPr>
          <p:nvPr/>
        </p:nvSpPr>
        <p:spPr>
          <a:xfrm>
            <a:off x="3705225" y="2943225"/>
            <a:ext cx="66675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9E39057-8EF7-4408-B020-FBB51F64637C}"/>
              </a:ext>
            </a:extLst>
          </p:cNvPr>
          <p:cNvSpPr>
            <a:spLocks noGrp="1"/>
          </p:cNvSpPr>
          <p:nvPr/>
        </p:nvSpPr>
        <p:spPr>
          <a:xfrm>
            <a:off x="4638675" y="2438400"/>
            <a:ext cx="2857500" cy="125730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研发产物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权重、算法或流程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92522045-837F-4896-B0C6-C48CE5079EAB}"/>
              </a:ext>
            </a:extLst>
          </p:cNvPr>
          <p:cNvSpPr>
            <a:spLocks noGrp="1"/>
          </p:cNvSpPr>
          <p:nvPr/>
        </p:nvSpPr>
        <p:spPr>
          <a:xfrm>
            <a:off x="7762875" y="2943225"/>
            <a:ext cx="66675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E51F43-6862-4C54-8121-4345EC01DC2A}"/>
              </a:ext>
            </a:extLst>
          </p:cNvPr>
          <p:cNvSpPr>
            <a:spLocks noGrp="1"/>
          </p:cNvSpPr>
          <p:nvPr/>
        </p:nvSpPr>
        <p:spPr>
          <a:xfrm>
            <a:off x="8696325" y="2438400"/>
            <a:ext cx="2809875" cy="125730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评测与保留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检验局部收益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71E98F-DCFD-4577-8664-6150483EEA0D}"/>
              </a:ext>
            </a:extLst>
          </p:cNvPr>
          <p:cNvSpPr>
            <a:spLocks noGrp="1"/>
          </p:cNvSpPr>
          <p:nvPr/>
        </p:nvSpPr>
        <p:spPr>
          <a:xfrm>
            <a:off x="685800" y="3914775"/>
            <a:ext cx="108204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已有：结果与记录反馈到下一次尝试</a:t>
            </a:r>
          </a:p>
        </p:txBody>
      </p:sp>
      <p:sp>
        <p:nvSpPr>
          <p:cNvPr id="12" name="箭头: 左 11">
            <a:extLst>
              <a:ext uri="{FF2B5EF4-FFF2-40B4-BE49-F238E27FC236}">
                <a16:creationId xmlns:a16="http://schemas.microsoft.com/office/drawing/2014/main" id="{B75C2E96-6EBE-4833-B09C-8980D006630F}"/>
              </a:ext>
            </a:extLst>
          </p:cNvPr>
          <p:cNvSpPr>
            <a:spLocks noGrp="1"/>
          </p:cNvSpPr>
          <p:nvPr/>
        </p:nvSpPr>
        <p:spPr>
          <a:xfrm>
            <a:off x="1571625" y="4524375"/>
            <a:ext cx="9144000" cy="228600"/>
          </a:xfrm>
          <a:prstGeom prst="leftArrow">
            <a:avLst/>
          </a:prstGeom>
          <a:solidFill>
            <a:srgbClr val="E7EFEB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E27FB97-6DF9-4F22-8A95-F4750F78A030}"/>
              </a:ext>
            </a:extLst>
          </p:cNvPr>
          <p:cNvSpPr>
            <a:spLocks noGrp="1"/>
          </p:cNvSpPr>
          <p:nvPr/>
        </p:nvSpPr>
        <p:spPr>
          <a:xfrm>
            <a:off x="685800" y="5000625"/>
            <a:ext cx="108204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待验证：改进持续提高下一轮研发能力</a:t>
            </a:r>
          </a:p>
        </p:txBody>
      </p:sp>
      <p:sp>
        <p:nvSpPr>
          <p:cNvPr id="14" name="箭头: 左 13">
            <a:extLst>
              <a:ext uri="{FF2B5EF4-FFF2-40B4-BE49-F238E27FC236}">
                <a16:creationId xmlns:a16="http://schemas.microsoft.com/office/drawing/2014/main" id="{6FCED638-616B-4243-858F-000F085136A9}"/>
              </a:ext>
            </a:extLst>
          </p:cNvPr>
          <p:cNvSpPr>
            <a:spLocks noGrp="1"/>
          </p:cNvSpPr>
          <p:nvPr/>
        </p:nvSpPr>
        <p:spPr>
          <a:xfrm>
            <a:off x="1571625" y="5600700"/>
            <a:ext cx="9144000" cy="228600"/>
          </a:xfrm>
          <a:prstGeom prst="leftArrow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BBA0351-A6F3-4BFB-990D-B0F7BF514B43}"/>
              </a:ext>
            </a:extLst>
          </p:cNvPr>
          <p:cNvSpPr>
            <a:spLocks noGrp="1"/>
          </p:cNvSpPr>
          <p:nvPr/>
        </p:nvSpPr>
        <p:spPr>
          <a:xfrm>
            <a:off x="685800" y="5934075"/>
            <a:ext cx="108204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并持续产生更强的后继系统</a:t>
            </a:r>
          </a:p>
        </p:txBody>
      </p:sp>
    </p:spTree>
    <p:extLst>
      <p:ext uri="{BB962C8B-B14F-4D97-AF65-F5344CB8AC3E}">
        <p14:creationId xmlns:p14="http://schemas.microsoft.com/office/powerpoint/2010/main" val="14209580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2ACFAFF-9BDC-42F0-A842-05094244529E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023760C-F993-47A4-AEF6-234B35F6716A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后继研发还需要怎样的证据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C428144-F641-4D9E-B855-E87EE4764AA8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098721-B235-4BB3-BE93-37857C75818D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 等, Automated Researchers…, 2026；[8] Sakana AI, DGM, 2025；[10] Anthropic, Recursive Self-Improvement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640877-C63F-4F53-8079-442FCA6DE8F9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AFFDB6D-B356-471A-B393-99DA41B0C1F8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9810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F896F1-6CE9-4D9E-A0D0-A8BFB6D590F4}"/>
              </a:ext>
            </a:extLst>
          </p:cNvPr>
          <p:cNvSpPr>
            <a:spLocks noGrp="1"/>
          </p:cNvSpPr>
          <p:nvPr/>
        </p:nvSpPr>
        <p:spPr>
          <a:xfrm>
            <a:off x="2266950" y="2390775"/>
            <a:ext cx="92392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新版本在未参与搜索的任务上仍然更强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CA76384-1C4D-4079-9567-299492D13BA2}"/>
              </a:ext>
            </a:extLst>
          </p:cNvPr>
          <p:cNvSpPr>
            <a:spLocks noGrp="1"/>
          </p:cNvSpPr>
          <p:nvPr/>
        </p:nvSpPr>
        <p:spPr>
          <a:xfrm>
            <a:off x="685800" y="3495675"/>
            <a:ext cx="9810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469C176-B0A5-4B0B-8CF7-0C3B5F8F11B2}"/>
              </a:ext>
            </a:extLst>
          </p:cNvPr>
          <p:cNvSpPr>
            <a:spLocks noGrp="1"/>
          </p:cNvSpPr>
          <p:nvPr/>
        </p:nvSpPr>
        <p:spPr>
          <a:xfrm>
            <a:off x="2266950" y="3581400"/>
            <a:ext cx="92392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改进能让下一轮研究更有效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7AA648-FED3-4547-A6A5-6C9931474E26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9810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7DAD6C-93D3-4527-933D-8234311424DD}"/>
              </a:ext>
            </a:extLst>
          </p:cNvPr>
          <p:cNvSpPr>
            <a:spLocks noGrp="1"/>
          </p:cNvSpPr>
          <p:nvPr/>
        </p:nvSpPr>
        <p:spPr>
          <a:xfrm>
            <a:off x="2266950" y="4772025"/>
            <a:ext cx="92392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多轮之后仍保留收益，代价可接受</a:t>
            </a:r>
          </a:p>
        </p:txBody>
      </p:sp>
    </p:spTree>
    <p:extLst>
      <p:ext uri="{BB962C8B-B14F-4D97-AF65-F5344CB8AC3E}">
        <p14:creationId xmlns:p14="http://schemas.microsoft.com/office/powerpoint/2010/main" val="734008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79603210-0295-4FC3-81C2-BBF4917EFF62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E9787CB-6359-4C6A-81A1-D98AFEE1BB31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AI已经参与研发AI，持续递归仍需证实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5FFA7E-6CF5-4C80-92D2-2520A5F5C6B4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E883E1-7417-4787-95F4-CF97E5B8005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 等, Automated Researchers…, 2026；[5] Lewi, OpenAI评测工作流, 2026；[6] Google DeepMind, AlphaEvolve, 2025；[7] AgentEvolver论文, 2025；[8] Sakana AI, DGM, 2025；[10] Anthropic, Recursive Self-Improvement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B56883-00E5-4BBC-B2CA-AAF2ACD53E03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B39C15-C8DA-4021-9005-193DEAC8F8CD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108204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6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能交付局部改进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4FC70B1-558C-4938-8224-7EACC6283900}"/>
              </a:ext>
            </a:extLst>
          </p:cNvPr>
          <p:cNvSpPr>
            <a:spLocks noGrp="1"/>
          </p:cNvSpPr>
          <p:nvPr/>
        </p:nvSpPr>
        <p:spPr>
          <a:xfrm>
            <a:off x="685800" y="3295650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权重、算法、策略、代码和研发流程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FF2C816-F9C6-4E98-8130-CA77F4CFF7C5}"/>
              </a:ext>
            </a:extLst>
          </p:cNvPr>
          <p:cNvSpPr>
            <a:spLocks noGrp="1"/>
          </p:cNvSpPr>
          <p:nvPr/>
        </p:nvSpPr>
        <p:spPr>
          <a:xfrm>
            <a:off x="685800" y="44196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D1F1EB-2A83-4BDA-A202-038D76366D26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108204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持续提高后继研发能力，仍需更充分的证据</a:t>
            </a:r>
          </a:p>
        </p:txBody>
      </p:sp>
    </p:spTree>
    <p:extLst>
      <p:ext uri="{BB962C8B-B14F-4D97-AF65-F5344CB8AC3E}">
        <p14:creationId xmlns:p14="http://schemas.microsoft.com/office/powerpoint/2010/main" val="19549573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BBC8322F-BF39-4646-AE72-FD74A94EFFF5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结束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999094-8028-4830-B2F5-1327385097E2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谢谢，欢迎提问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E308D7-141E-42AA-805E-F137BB4B43CC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ED7E094-190B-4ABF-8180-A84499B9120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BA9A48-B260-432B-8D0F-9A746796ADE3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5A2EE5B-AA7C-430E-8DC4-91143BE1AAA9}"/>
              </a:ext>
            </a:extLst>
          </p:cNvPr>
          <p:cNvSpPr>
            <a:spLocks noGrp="1"/>
          </p:cNvSpPr>
          <p:nvPr/>
        </p:nvSpPr>
        <p:spPr>
          <a:xfrm>
            <a:off x="685800" y="2409825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Agent改了什么？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DCF36D0-5CFB-4BD1-B2C7-72A633346C2C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怎么知道改好了？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8EC106C-6F9B-4EDD-99F9-4AFEDA53CB94}"/>
              </a:ext>
            </a:extLst>
          </p:cNvPr>
          <p:cNvSpPr>
            <a:spLocks noGrp="1"/>
          </p:cNvSpPr>
          <p:nvPr/>
        </p:nvSpPr>
        <p:spPr>
          <a:xfrm>
            <a:off x="685800" y="4600575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改进能否帮助下一轮研发？</a:t>
            </a:r>
          </a:p>
        </p:txBody>
      </p:sp>
    </p:spTree>
    <p:extLst>
      <p:ext uri="{BB962C8B-B14F-4D97-AF65-F5344CB8AC3E}">
        <p14:creationId xmlns:p14="http://schemas.microsoft.com/office/powerpoint/2010/main" val="4202799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E0AB4C89-8FAC-4283-A10A-5C2459465C33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4B2044F-D318-4885-8F8F-847744AEA04F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参考文献  历史与模型研发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BA5E217-4093-49FB-BBD9-895732DF0593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5FC66E-E1A3-4CAD-B83B-22D04F387A4A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完整链接与来源定位见备注及来源手册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F2D9E8-88C4-4381-AD9C-8009E9151509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20F07DD-3C35-4568-98A8-A2255CE7879A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[1] Good I. J. Speculations Concerning the First Ultraintelligent Machine. Advances in Computers, 1965, 6:31–88.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CCBF03-9F4A-4517-AA15-EE07902F69A4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[2] Schmidhuber J. Gödel Machines: Fully Self-Referential Optimal Universal Self-Improvers. 2003/2004技术报告.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7FA74C9-FAF9-4304-879A-6D233EEC16B2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[3] Zoph B, Le Q V. Neural Architecture Search with Reinforcement Learning. arXiv:1611.01578, 2016.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10F63E2-6F52-4CB5-A2CC-58DB2F525CBC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[4] Chen Y.-H., Wen J., Kirchner J. H. Automated Researchers Can Mitigate Well-Characterized Alignment Failures. 2026.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03969BA-0D1B-4292-9D69-CDAC97F15A7B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[5] Lewi J. Automating repetitive work at OpenAI with Codex. OpenAI Developers, 2026-08-25.</a:t>
            </a:r>
          </a:p>
        </p:txBody>
      </p:sp>
    </p:spTree>
    <p:extLst>
      <p:ext uri="{BB962C8B-B14F-4D97-AF65-F5344CB8AC3E}">
        <p14:creationId xmlns:p14="http://schemas.microsoft.com/office/powerpoint/2010/main" val="13475592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DE3CDDA-C91D-44CE-BC09-4622F9B5D775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B798799-7054-4BE3-B1A7-826ED6A97513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参考文献  算法、开放研究与RSI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32FC782-7932-42BE-AD88-EF1404B406A5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4B035E0-051A-48CA-8A8B-136E29B0678F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完整链接与来源定位见备注及来源手册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791AB8-FAFE-45B0-A186-3D3164E96F9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EA2DFD-98EB-4900-A02B-5F57F4951AE5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[6] Google DeepMind. AlphaEvolve: A Gemini-powered coding agent for designing advanced algorithms. 2025.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2535A4-80FC-4920-B9A2-C1B245C80158}"/>
              </a:ext>
            </a:extLst>
          </p:cNvPr>
          <p:cNvSpPr>
            <a:spLocks noGrp="1"/>
          </p:cNvSpPr>
          <p:nvPr/>
        </p:nvSpPr>
        <p:spPr>
          <a:xfrm>
            <a:off x="685800" y="282892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[7] AgentEvolver: Towards Efficient Self-Evolving Agent System. arXiv:2511.10395, 2025.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6EB05D-93B2-4688-817C-5D0D4EEC169F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[8] Sakana AI. The Darwin Gödel Machine: AI that improves itself by rewriting its own code. 2025.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C188D4-BAFF-4E95-B109-863EDBDAB6A7}"/>
              </a:ext>
            </a:extLst>
          </p:cNvPr>
          <p:cNvSpPr>
            <a:spLocks noGrp="1"/>
          </p:cNvSpPr>
          <p:nvPr/>
        </p:nvSpPr>
        <p:spPr>
          <a:xfrm>
            <a:off x="685800" y="406717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[9] OpenAI. Research acceleration: a view from inside OpenAI. 2026.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77E4F66-382B-41EC-BE8C-80C080D0F893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[10] Anthropic. Recursive Self-Improvement. Anthropic Institute.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8683BB-9D22-4817-8429-F9DDF009C5CF}"/>
              </a:ext>
            </a:extLst>
          </p:cNvPr>
          <p:cNvSpPr>
            <a:spLocks noGrp="1"/>
          </p:cNvSpPr>
          <p:nvPr/>
        </p:nvSpPr>
        <p:spPr>
          <a:xfrm>
            <a:off x="685800" y="530542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[11] ModelScope. AgentEvolver官方代码仓库. Apache-2.0.</a:t>
            </a:r>
          </a:p>
        </p:txBody>
      </p:sp>
    </p:spTree>
    <p:extLst>
      <p:ext uri="{BB962C8B-B14F-4D97-AF65-F5344CB8AC3E}">
        <p14:creationId xmlns:p14="http://schemas.microsoft.com/office/powerpoint/2010/main" val="6477288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3B983F45-9BDC-4F46-891A-E6463BF456FE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E550F9F-3626-4BC4-A60A-9EE7A6D6BE62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训练结果怎样避免只在排行榜上好看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611B5E-4098-49B4-8BC1-05C577AA1587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F7E07B3-5D04-454B-8C82-7F7B38B6064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 等, Automated Researchers…,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E3BA93-0A96-4A3B-922A-270578A42C48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487D339-FA22-4D12-8F0B-4BE424078586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研究Agent能看到爬坡评分，隐藏评测由独立评测器执行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63D6F0A-D543-469B-A30C-C4DB8F8008CA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能力门槛：MMLU、GSM8K、IFEval的95%置信区间检查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2941489-61A5-475C-8B09-877E264EAEF5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held-out参与选择Petri方法时承担验证集作用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9C4FE7-E6A2-452C-BE62-13ACCEBBD6A5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外部评测与代码监控降低风险，仍需检查取巧和泛化</a:t>
            </a:r>
          </a:p>
        </p:txBody>
      </p:sp>
    </p:spTree>
    <p:extLst>
      <p:ext uri="{BB962C8B-B14F-4D97-AF65-F5344CB8AC3E}">
        <p14:creationId xmlns:p14="http://schemas.microsoft.com/office/powerpoint/2010/main" val="2450713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60F3CE49-8A06-44A9-8EBA-DF27D0B915E3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000EEE3-738D-4639-BEC1-35A633952AF6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KL与改善空间的数学解释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F554A9-3EE0-43D3-855E-EF4DEE5DD45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0E2753-87E9-41DB-B1A0-7B543C1889DF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 等, Automated Researchers…,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8EF55A-323E-4CCF-A223-1B563F6DF7E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55BC7EE-45A8-4AF5-BE2C-F25865F19435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教学选定的KL(pT∥pθ) = Σ pT(y) log[pT(y)/pθ(y)]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CC1EFC2-9933-45BA-97DA-0F377FC926B7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优化学生参数，使学生输出分布接近教师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336FBF-A852-4EBB-A6A7-887C4A5C6FD0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单基准改善比例 = (得分 − 基线) / (最优 − 基线)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9363F5-BC25-433A-9285-C42407723F6E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多基准汇总使用几何均值，负向指标需按原文转换</a:t>
            </a:r>
          </a:p>
        </p:txBody>
      </p:sp>
    </p:spTree>
    <p:extLst>
      <p:ext uri="{BB962C8B-B14F-4D97-AF65-F5344CB8AC3E}">
        <p14:creationId xmlns:p14="http://schemas.microsoft.com/office/powerpoint/2010/main" val="7237199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5AA1BEF-F7BD-4F90-932E-08A6A1BD43B3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CEBFCFD-91F8-4B34-BA40-D539D3E038BF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前150个方法比较的适用范围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51C2B0-0339-453B-BD44-BBE0C216A63D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2A22F20-05E6-42DE-94C7-08EDC4E1663E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 等, Automated Researchers…,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90826A-D5DD-40CB-A4A2-13DC74C0D459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F6CD269-9827-4A62-BD17-DF35A8ED792B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不受限研究允许探索不同训练配方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78DB6BC-47E2-4EB1-9B59-6EEE128FCB8B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公开数据SFT与自由数据SFT限制训练方式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69B3805-1CCF-4E41-A9EB-D1D6224758FD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23.3%、6.0%、2.9%对应Fig.20前150个已评分方法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4F9352-8511-4D14-A02E-43A12968A1C7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每条件一次，仅爬坡评测；不推断单一方法因果贡献</a:t>
            </a:r>
          </a:p>
        </p:txBody>
      </p:sp>
    </p:spTree>
    <p:extLst>
      <p:ext uri="{BB962C8B-B14F-4D97-AF65-F5344CB8AC3E}">
        <p14:creationId xmlns:p14="http://schemas.microsoft.com/office/powerpoint/2010/main" val="13199088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D7767985-9144-4C08-BD5C-09F25E7FC9A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8DFEA0-594C-43BA-8836-4894D003A99F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另一个实验：研究Agent只生成训练数据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B69C11-A06D-41DC-A087-CE73ECCC9D99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C096B6-0E6D-42F7-AD15-F2EF7CD1EAEA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 等, Automated Researchers…,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99CB95A-CC35-4F52-B6EC-69C077B73703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6CFF50-84F7-44C5-B786-B87BC25C8B51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研究Agent：Sonnet 5；只能构造训练数据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CFBD61D-F113-4D2C-89E7-461338676603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目标：Opus 4.8早期检查点，已有对齐SFT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2D1035-BED1-4D11-BCBC-37324D9A3740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产生数据后训练目标模型，再做Petri评测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B9F68E0-65B6-4A8A-B710-AD3D0B8C2B81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这个设置与Qwen激活引导实验分开</a:t>
            </a:r>
          </a:p>
        </p:txBody>
      </p:sp>
    </p:spTree>
    <p:extLst>
      <p:ext uri="{BB962C8B-B14F-4D97-AF65-F5344CB8AC3E}">
        <p14:creationId xmlns:p14="http://schemas.microsoft.com/office/powerpoint/2010/main" val="15606032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1E4D34BE-23D8-4044-932A-5CD386C70420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590E3DB-6D7C-42F4-8406-0A93EF216D97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65%与72%究竟衡量什么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F53795-390F-45AF-8C94-A4299F35CAAD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24E69F1-7707-41C2-A045-2EEE9E3BD140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 等, Automated Researchers…,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F6E2FA-4E8C-48A6-B133-61B87A40FDF4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1B9037F-C391-4CC7-B5F7-10375DFC505D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所设十维Petri审计：覆盖加权的改善空间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C48B11-86F2-4AA6-B307-EA8BEE9D1D9D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公式：改善维度比例 × 改善比例的几何均值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A13DE2-BA82-4132-9439-C3A4881E4C19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研究胜出检查点65%，发布版对照72%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844B2C-6879-4440-8AB8-10E5BBC197CF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它衡量设定维度的改善，不能读成总体安全通过率</a:t>
            </a:r>
          </a:p>
        </p:txBody>
      </p:sp>
    </p:spTree>
    <p:extLst>
      <p:ext uri="{BB962C8B-B14F-4D97-AF65-F5344CB8AC3E}">
        <p14:creationId xmlns:p14="http://schemas.microsoft.com/office/powerpoint/2010/main" val="11689752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53C0B78-2598-4E02-906D-BC21CD337FA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8FBE59-C428-4563-A50D-D9EE1F198BB0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3.1个Agent工作日怎样理解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0CC673-9175-4C2E-A384-ED00CC48C475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AA132E7-E24B-4E06-8FCF-9E02697478F8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[9] OpenAI研究加速报告,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A7EFB6-961C-44D3-9482-50EC8A95F166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F9C478-62CD-455A-BFF6-2150D3DB8F02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Agent运行工作日 / 人类工作日 = 3.1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8DCA9C-71D5-4251-A8CD-0C7AE21CC790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按8小时折算运行时长，截至2026年8月中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CEA4D3-1B78-45C9-9829-AAB78F4C8559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可以说明组织采用规模，不能直接换算产出效率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5ABF2F3-2704-4AEB-B959-5476585D2DC8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净提效还需质量、人工成本与失败任务等对照</a:t>
            </a:r>
          </a:p>
        </p:txBody>
      </p:sp>
    </p:spTree>
    <p:extLst>
      <p:ext uri="{BB962C8B-B14F-4D97-AF65-F5344CB8AC3E}">
        <p14:creationId xmlns:p14="http://schemas.microsoft.com/office/powerpoint/2010/main" val="11126970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5885139B-F48A-47A7-9E34-FB9EAEED3E56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1AE92E-8AAC-4D0C-B5B7-BAF67B81116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代码开放与模型训练开放的区别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992872-D826-4C52-834D-317E9218F85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BB49FF-49C2-41FC-BC08-BD06E5E769BD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[7] AgentEvolver论文, 2025；[8] Sakana AI, DGM, 2025；[11] modelscope/AgentEvolver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430B8E-DAB1-49AE-9F56-C830B76EAB23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153B0BC-12CD-4ED8-A26D-D08EA11F1EE1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AgentEvolver支持任务生成、经验复用和策略训练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D3A138-1E31-4C1B-9A50-B190C07AAEF3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DGM探索修改Agent工具与代码，底层权重需另查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4F3ABD-444C-46B6-8B56-C37A57C30A0A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框架代码可以开放，训练权重和数据可能另有条件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C544A5-88C5-4115-84C3-FD98E9DEFC49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复现应逐项确认模型、数据、环境和计算预算</a:t>
            </a:r>
          </a:p>
        </p:txBody>
      </p:sp>
    </p:spTree>
    <p:extLst>
      <p:ext uri="{BB962C8B-B14F-4D97-AF65-F5344CB8AC3E}">
        <p14:creationId xmlns:p14="http://schemas.microsoft.com/office/powerpoint/2010/main" val="15530820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0D924600-E6FE-4B8B-BC67-A3CC263E5F7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09BA4C-1568-4BD9-AF9F-9C675B179A06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为什么人审不能单独判定RSI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AD3FA8D-8EC6-4F63-A49B-7596AE7B286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23FED5A-5EDC-4A6D-AC42-3FE02A7AF22D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 等, Automated Researchers…, 2026；[5] Lewi, OpenAI评测工作流, 2026；[8] Sakana AI, DGM, 2025；[10] Anthropic, Recursive Self-Improvement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5200639-DC73-44F1-8276-80095C7741D2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E14A3F8-1898-4A0B-8326-D21B20E83FD1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人工审批说明谁控制目标、执行或发布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35F434-6AEC-4067-B947-5729FF00484A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技术判断要追踪修改对象与能力反馈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2A9A14F-CE9A-47EC-B6A8-478E88A0D423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有审批的系统仍可能存在局部递归能力改进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8A92B1E-708B-430D-9F33-EB884FC75277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没有审批也不保证持续后继研发或可靠结果</a:t>
            </a:r>
          </a:p>
        </p:txBody>
      </p:sp>
    </p:spTree>
    <p:extLst>
      <p:ext uri="{BB962C8B-B14F-4D97-AF65-F5344CB8AC3E}">
        <p14:creationId xmlns:p14="http://schemas.microsoft.com/office/powerpoint/2010/main" val="20838962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3968</Words>
  <Application>Microsoft Office PowerPoint</Application>
  <DocSecurity>0</DocSecurity>
  <PresentationFormat>宽屏</PresentationFormat>
  <Paragraphs>588</Paragraphs>
  <Slides>34</Slides>
  <Notes>34</Notes>
  <HiddenSlides>0</HiddenSlides>
  <MMClips>1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7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云海 陈</cp:lastModifiedBy>
  <cp:revision>1</cp:revision>
  <dcterms:created xsi:type="dcterms:W3CDTF">2026-10-14T03:06:34Z</dcterms:created>
  <dcterms:modified xsi:type="dcterms:W3CDTF">2026-10-14T03:06:55Z</dcterms:modified>
</cp:coreProperties>
</file>