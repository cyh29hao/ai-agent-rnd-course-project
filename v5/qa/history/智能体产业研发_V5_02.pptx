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1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xlsx" ContentType="application/vnd.openxmlformats-officedocument.spreadsheetml.sheet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Relationships xmlns="http://schemas.openxmlformats.org/package/2006/relationships"><Relationship Id="rIdChartSnapshot1" Type="http://schemas.openxmlformats.org/officeDocument/2006/relationships/package" Target="../embeddings/chart-data-snapshot-00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改善空间</c:v>
          </c:tx>
          <c:spPr>
            <a:solidFill>
              <a:srgbClr val="167F78"/>
            </a:solidFill>
          </c:spPr>
          <c:invertIfNegative val="0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950" b="1">
                    <a:solidFill>
                      <a:srgbClr val="1E3544"/>
                    </a:solidFill>
                    <a:latin typeface="Microsoft YaHei"/>
                    <a:ea typeface="Microsoft YaHei"/>
                    <a:cs typeface="Microsoft YaHei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Data'!$A$2:$A$4</c:f>
              <c:strCache>
                <c:ptCount val="3"/>
                <c:pt idx="0">
                  <c:v>原样公共数据 SFT</c:v>
                </c:pt>
                <c:pt idx="1">
                  <c:v>自由构造数据 SFT</c:v>
                </c:pt>
                <c:pt idx="2">
                  <c:v>不受限研究方法</c:v>
                </c:pt>
              </c:strCache>
            </c:strRef>
          </c:cat>
          <c:val>
            <c:numRef>
              <c:f>'Chart Data'!$B$2:$B$4</c:f>
              <c:numCache>
                <c:formatCode>0%</c:formatCode>
                <c:ptCount val="3"/>
                <c:pt idx="0">
                  <c:v>0.06</c:v>
                </c:pt>
                <c:pt idx="1">
                  <c:v>0.029</c:v>
                </c:pt>
                <c:pt idx="2">
                  <c:v>0.233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AD0-47F4-AF13-A27B2D87A45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1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80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0.3"/>
          <c:min val="0"/>
        </c:scaling>
        <c:delete val="0"/>
        <c:axPos val="b"/>
        <c:majorGridlines>
          <c:spPr>
            <a:ln w="9525">
              <a:solidFill>
                <a:srgbClr val="D5D9D5"/>
              </a:solidFill>
              <a:prstDash val="solid"/>
            </a:ln>
          </c:spPr>
        </c:majorGridlines>
        <c:numFmt formatCode="0%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65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48650112"/>
        <c:crosses val="autoZero"/>
        <c:crossBetween val="between"/>
        <c:majorUnit val="0.05"/>
      </c:valAx>
      <c:spPr>
        <a:solidFill>
          <a:srgbClr val="FAF8F3"/>
        </a:solidFill>
      </c:spPr>
    </c:plotArea>
    <c:plotVisOnly val="1"/>
    <c:dispBlanksAs val="zero"/>
    <c:showDLblsOverMax val="1"/>
  </c:chart>
  <c:spPr>
    <a:solidFill>
      <a:srgbClr val="FAF8F3"/>
    </a:solidFill>
  </c:spPr>
  <c:externalData r:id="rIdChartSnapshot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主讲第1页，设计预算15秒（未真人计时）。</a:t>
            </a:r>
          </a:p>
          <a:p>
            <a:r>
              <a:t>大家好。我们关注的是智能体在大模型产业研发中的应用。AI已经开始参与研发AI，那么，这些改进能不能一轮一轮继续下去？这是今天想回答的问题。</a:t>
            </a:r>
          </a:p>
          <a:p>
            <a:endParaRPr/>
          </a:p>
          <a:p>
            <a:r>
              <a:t>来源：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主讲第2页，设计预算30秒（未真人计时）。</a:t>
            </a:r>
          </a:p>
          <a:p>
            <a:r>
              <a:t>这个问题其实比大模型早得多。1965年，统计学家Good就讨论过：如果机器能够参与设计更好的机器，改进会不会不断继续？当时主要是思想推演，今天则开始出现能检查的研发实例。我们不急着预测什么时候会发生智能爆炸，先把问题落到一项真实任务上：Agent接过了什么工作，交付了什么，又怎样知道它做得更好？</a:t>
            </a:r>
          </a:p>
          <a:p>
            <a:endParaRPr/>
          </a:p>
          <a:p>
            <a:r>
              <a:t>来源：</a:t>
            </a:r>
          </a:p>
          <a:p>
            <a:r>
              <a:t>[1] Good, 1965</a:t>
            </a:r>
          </a:p>
          <a:p>
            <a:r>
              <a:t>https://scienceplusplus.org/metascience/assets/Good1965.pdf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主讲第3页，设计预算35秒（未真人计时）。</a:t>
            </a:r>
          </a:p>
          <a:p>
            <a:r>
              <a:t>可以先想象研究员面前的一轮实验：有了一个想法，还得写代码、配置训练、读日志，最后判断结果值不值得保留。比如，模型变得更少迎合用户了，会不会同时变得不擅长数学？一次实验失败，下次又该从哪里接着试？这些工作有明确工具，也有需要判断的环节。课程里讲的工具调用、记忆和评测，进入大模型研发以后，就对应这些具体动作。</a:t>
            </a:r>
          </a:p>
          <a:p>
            <a:endParaRPr/>
          </a:p>
          <a:p>
            <a:r>
              <a:t>来源：</a:t>
            </a:r>
          </a:p>
          <a:p>
            <a:r>
              <a:t>[4] Chen 等, Automated Researchers…, 2026</a:t>
            </a:r>
          </a:p>
          <a:p>
            <a:r>
              <a:t>https://alignment.anthropic.com/2026/automated-alignment-researchers/</a:t>
            </a:r>
          </a:p>
          <a:p>
            <a:r>
              <a:t>[5] Lewi, OpenAI评测工作流, 2026</a:t>
            </a:r>
          </a:p>
          <a:p>
            <a:r>
              <a:t>https://developers.openai.com/blog/automating-repetitive-work-at-openai-with-codex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主讲第4页，设计预算40秒（未真人计时）。</a:t>
            </a:r>
          </a:p>
          <a:p>
            <a:r>
              <a:t>自我修改听起来很诱人，但有一个老问题：凭什么保留这次修改？这里有两种思路。Gödel Machine要求先证明修改有益，再允许修改；这个保证很强，但真实研发很难事先把所有后果都证明清楚。另一种思路是产生候选，实际运行，再用评测筛选，神经架构搜索和后面的代码自改研究更接近这条路线。它们体现的是验证方式的差异。今天的案例主要依赖实验，所以评测测了什么、漏了什么，会直接影响结论。</a:t>
            </a:r>
          </a:p>
          <a:p>
            <a:endParaRPr/>
          </a:p>
          <a:p>
            <a:r>
              <a:t>来源：</a:t>
            </a:r>
          </a:p>
          <a:p>
            <a:r>
              <a:t>[2] Schmidhuber, Gödel Machines</a:t>
            </a:r>
          </a:p>
          <a:p>
            <a:r>
              <a:t>https://people.idsia.ch/~juergen/gmweb4/gmweb4.html</a:t>
            </a:r>
          </a:p>
          <a:p>
            <a:r>
              <a:t>[3] Zoph &amp; Le, NAS, 2016</a:t>
            </a:r>
          </a:p>
          <a:p>
            <a:r>
              <a:t>https://arxiv.org/abs/1611.01578</a:t>
            </a:r>
          </a:p>
          <a:p>
            <a:r>
              <a:t>[8] Sakana AI, DGM, 2025</a:t>
            </a:r>
          </a:p>
          <a:p>
            <a:r>
              <a:t>https://sakana.ai/dgm/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主讲第5页，设计预算20秒（未真人计时）。</a:t>
            </a:r>
          </a:p>
          <a:p>
            <a:r>
              <a:t>下面按这四步展开：任务怎样交给Agent，方法怎样进入模型，结果怎样用于下一轮，最后再问哪些证据能支持递归自我改进。大家可以一直带着一个问题看：这次到底是哪一部分变好了？</a:t>
            </a:r>
          </a:p>
          <a:p>
            <a:endParaRPr/>
          </a:p>
          <a:p>
            <a:r>
              <a:t>来源：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主讲第6页，设计预算25秒（未真人计时）。</a:t>
            </a:r>
          </a:p>
          <a:p>
            <a:r>
              <a:t>我们重点选这两家，因为公开证据互相补充：Anthropic能追到训练方法和模型变化，OpenAI能追到任务、工具和决策记录。再用Google与开放研究补上算法、策略和代码。这样选，方便比较不同研发环节，不是在给公司排座次。</a:t>
            </a:r>
          </a:p>
          <a:p>
            <a:endParaRPr/>
          </a:p>
          <a:p>
            <a:r>
              <a:t>来源：</a:t>
            </a:r>
          </a:p>
          <a:p>
            <a:r>
              <a:t>[4] Chen 等, Automated Researchers…, 2026</a:t>
            </a:r>
          </a:p>
          <a:p>
            <a:r>
              <a:t>https://alignment.anthropic.com/2026/automated-alignment-researchers/</a:t>
            </a:r>
          </a:p>
          <a:p>
            <a:r>
              <a:t>[5] Lewi, OpenAI评测工作流, 2026</a:t>
            </a:r>
          </a:p>
          <a:p>
            <a:r>
              <a:t>https://developers.openai.com/blog/automating-repetitive-work-at-openai-with-codex</a:t>
            </a:r>
          </a:p>
          <a:p>
            <a:r>
              <a:t>[6] Google DeepMind, AlphaEvolve, 2025</a:t>
            </a:r>
          </a:p>
          <a:p>
            <a:r>
              <a:t>https://deepmind.google/blog/alphaevolve-a-gemini-powered-coding-agent-for-designing-advanced-algorithms/</a:t>
            </a:r>
          </a:p>
          <a:p>
            <a:r>
              <a:t>[7] AgentEvolver论文, 2025</a:t>
            </a:r>
          </a:p>
          <a:p>
            <a:r>
              <a:t>https://arxiv.org/html/2511.10395v1</a:t>
            </a:r>
          </a:p>
          <a:p>
            <a:r>
              <a:t>[8] Sakana AI, DGM, 2025</a:t>
            </a:r>
          </a:p>
          <a:p>
            <a:r>
              <a:t>https://sakana.ai/dgm/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主讲第7页，设计预算40秒（未真人计时）。</a:t>
            </a:r>
          </a:p>
          <a:p>
            <a:r>
              <a:t>先看Anthropic Fellows项目的一项公开对齐研究。任务是让模型少迎合错误观点：用户说错了，模型也应该能指出问题。请看图上三个角色。Claude Opus4.8作为研究Agent，想办法、写实现和调用训练工具；Qwen3.5-2B是接受训练的目标模型；评测器检查改善和能力副作用。这里“Agent研发AI”的具体含义，就是它能通过工具改变另一个模型。下面看它怎样把一个想法变成可检查的实验。</a:t>
            </a:r>
          </a:p>
          <a:p>
            <a:endParaRPr/>
          </a:p>
          <a:p>
            <a:r>
              <a:t>来源：</a:t>
            </a:r>
          </a:p>
          <a:p>
            <a:r>
              <a:t>[4] Chen 等, Automated Researchers…, 2026</a:t>
            </a:r>
          </a:p>
          <a:p>
            <a:r>
              <a:t>https://alignment.anthropic.com/2026/automated-alignment-researchers/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主讲第8页，设计预算40秒（未真人计时）。</a:t>
            </a:r>
          </a:p>
          <a:p>
            <a:r>
              <a:t>从左往右看，一轮研究先读资料、提出假设，在看到本轮评测结果之前冻结小论文，再提交实现。这样就能对照原来的假设检查结果。基本规则不允许利用评测数据，也禁止从研究Agent或更强模型蒸馏。代码经过监控，训练工具更新目标模型，最后由外部评测打分。典型方法的预算约一张H200、半小时。所以，Agent必须把想法做成可运行的方法，同时遵守资源和数据边界。</a:t>
            </a:r>
          </a:p>
          <a:p>
            <a:endParaRPr/>
          </a:p>
          <a:p>
            <a:r>
              <a:t>来源：</a:t>
            </a:r>
          </a:p>
          <a:p>
            <a:r>
              <a:t>[4] Chen 等, Automated Researchers…, 2026</a:t>
            </a:r>
          </a:p>
          <a:p>
            <a:r>
              <a:t>https://alignment.anthropic.com/2026/automated-alignment-researchers/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主讲第9页，设计预算40秒（未真人计时）。</a:t>
            </a:r>
          </a:p>
          <a:p>
            <a:r>
              <a:t>一次尝试结束以后，结果不会随着聊天结束就消失。多个研究Agent并行探索，方法、得分和研究记录进入共享资料。新的会话可以读取这些记录，知道哪些方向试过，再提出下一种方法。所以这里的记忆首先是一套外部工程机制：即使换了会话，研究也能接续。请注意这个回流方向，它把经验带回下一次尝试，却没有因此更新研究Agent的模型权重。下一页我们就看一个真正涉及目标模型变化的方法。</a:t>
            </a:r>
          </a:p>
          <a:p>
            <a:endParaRPr/>
          </a:p>
          <a:p>
            <a:r>
              <a:t>来源：</a:t>
            </a:r>
          </a:p>
          <a:p>
            <a:r>
              <a:t>[4] Chen 等, Automated Researchers…, 2026</a:t>
            </a:r>
          </a:p>
          <a:p>
            <a:r>
              <a:t>https://alignment.anthropic.com/2026/automated-alignment-researchers/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主讲第10页，设计预算50秒（未真人计时）。</a:t>
            </a:r>
          </a:p>
          <a:p>
            <a:r>
              <a:t>这项研究在开放权重实验中找到的一条成功路线，是激活引导加自蒸馏。先只看第一步。模型回答问题时，中间会形成内部表示；方法对这些表示施加方向性的干预，让回答更倾向于指出错误，而不是顺着用户说。图上的教师，就是目标模型经过引导后的版本，并不是另外请来的一个更强模型。这个干预作用在模型内部，不是把一条新指令拼到用户提示里。可以把这一步理解为，先临时改变它的回答倾向。此时学生还没有经过训练：去掉这项推理时干预，刚才的变化能不能留下来？这就需要第二步。</a:t>
            </a:r>
          </a:p>
          <a:p>
            <a:endParaRPr/>
          </a:p>
          <a:p>
            <a:r>
              <a:t>来源：</a:t>
            </a:r>
          </a:p>
          <a:p>
            <a:r>
              <a:t>[4] Chen 等, Automated Researchers…, 2026</a:t>
            </a:r>
          </a:p>
          <a:p>
            <a:r>
              <a:t>https://alignment.anthropic.com/2026/automated-alignment-researchers/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主讲第11页，设计预算50秒（未真人计时）。</a:t>
            </a:r>
          </a:p>
          <a:p>
            <a:r>
              <a:t>请跟着短片看三个动作。首先，引导后的教师给出输出概率分布；学生也给出自己的分布。然后，训练目标用KL散度衡量两者的差异，并据此调整学生参数。最后，学生不用刚才的临时引导，正常推理，再接受外部评测。把教师和学生分开讲，就是为了看清临时干预与参数训练发生在不同阶段。也就是说，第一步改变教师的输出，第二步才试着把这种行为写进学生权重。短片是教学示意，不是论文的实验录像。分布更接近，只说明训练目标被优化了；学生是否真的少迎合、是否损失能力，仍要看最后的评测。</a:t>
            </a:r>
          </a:p>
          <a:p>
            <a:endParaRPr/>
          </a:p>
          <a:p>
            <a:r>
              <a:t>来源：</a:t>
            </a:r>
          </a:p>
          <a:p>
            <a:r>
              <a:t>[4] Chen 等, Automated Researchers…, 2026</a:t>
            </a:r>
          </a:p>
          <a:p>
            <a:r>
              <a:t>https://alignment.anthropic.com/2026/automated-alignment-researchers/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主讲第12页，设计预算40秒（未真人计时）。</a:t>
            </a:r>
          </a:p>
          <a:p>
            <a:r>
              <a:t>在展示真实数字之前，先看这个教学例子。假设基线是50分，训练以后70分，最优是100分。实际多了20分，但原来有50分的改善空间，所以关闭了40%的改善空间。分母是原来还能提高多少，不是测试题的总数，因此这个40%不能读成通过率。如果换了基线，百分数也会随原有改善空间改变。论文还会把多个基准汇总，具体计算放在备份。大家只要先记住这条尺子，下一页的百分数就不会被误读。</a:t>
            </a:r>
          </a:p>
          <a:p>
            <a:endParaRPr/>
          </a:p>
          <a:p>
            <a:r>
              <a:t>来源：</a:t>
            </a:r>
          </a:p>
          <a:p>
            <a:r>
              <a:t>[4] Chen 等, Automated Researchers…, 2026</a:t>
            </a:r>
          </a:p>
          <a:p>
            <a:r>
              <a:t>https://alignment.anthropic.com/2026/automated-alignment-researchers/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主讲第13页，设计预算40秒（未真人计时）。</a:t>
            </a:r>
          </a:p>
          <a:p>
            <a:r>
              <a:t>这里选取论文图二十的四种条件中的三种，看前150个已评分方法。公共数据SFT是6.0%，自由构造数据SFT是2.9%，不受限研究方法是23.3%。这是搜索条件的比较，不能把23.3%全算成刚才蒸馏配方的效果。每个条件只有一次运行，相同方法数量也不代表总成本相同。我们看到的是具体任务中的改善；下一部分换一个环节，看Agent怎样协助把评测本身跑清楚。</a:t>
            </a:r>
          </a:p>
          <a:p>
            <a:endParaRPr/>
          </a:p>
          <a:p>
            <a:r>
              <a:t>来源：</a:t>
            </a:r>
          </a:p>
          <a:p>
            <a:r>
              <a:t>[4] Chen 等, Automated Researchers…, 2026</a:t>
            </a:r>
          </a:p>
          <a:p>
            <a:r>
              <a:t>https://alignment.anthropic.com/2026/automated-alignment-researchers/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主讲第14页，设计预算35秒（未真人计时）。</a:t>
            </a:r>
          </a:p>
          <a:p>
            <a:r>
              <a:t>OpenAI工程师Jeremy Lewi公开过一项发布前评测工作流。研究员已经有评测目标，但要完成它，还需要找到正确工具、准备命令、处理执行问题，最后解释结果。作者把这些工作放进Runme笔记，让Codex读取工具说明和之前的记录，再协助推进。这里我们能顺着一次任务往下看：任务怎么提出，谁决定开始执行，结果又怎么留下来。</a:t>
            </a:r>
          </a:p>
          <a:p>
            <a:endParaRPr/>
          </a:p>
          <a:p>
            <a:r>
              <a:t>来源：</a:t>
            </a:r>
          </a:p>
          <a:p>
            <a:r>
              <a:t>[5] Lewi, OpenAI评测工作流, 2026</a:t>
            </a:r>
          </a:p>
          <a:p>
            <a:r>
              <a:t>https://developers.openai.com/blog/automating-repetitive-work-at-openai-with-codex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主讲第15页，设计预算40秒（未真人计时）。</a:t>
            </a:r>
          </a:p>
          <a:p>
            <a:r>
              <a:t>屏幕上这句原文很直接：开始之前，等我审阅并批准计划。看下面这条顺序，先有目标和既有记录，Codex再写出计划，研究员审阅后才执行。为什么这一步有用？因为命令能够跑通，不代表它回答了正确的问题。把计划先写出来，人就能检查准备跑哪些评测、是否漏掉关键条件。这个例子清楚展示了人在执行决策上的位置；它描述的是作者自己的工作流，不能替整个公司作同样的保证。</a:t>
            </a:r>
          </a:p>
          <a:p>
            <a:endParaRPr/>
          </a:p>
          <a:p>
            <a:r>
              <a:t>来源：</a:t>
            </a:r>
          </a:p>
          <a:p>
            <a:r>
              <a:t>[5] Lewi, OpenAI评测工作流, 2026</a:t>
            </a:r>
          </a:p>
          <a:p>
            <a:r>
              <a:t>https://developers.openai.com/blog/automating-repetitive-work-at-openai-with-codex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主讲第16页，设计预算40秒（未真人计时）。</a:t>
            </a:r>
          </a:p>
          <a:p>
            <a:r>
              <a:t>跑完以后，Runme保存的不只是最后一个分数。请从上到下看：目标和计划解释为什么做，命令和输出记录具体发生了什么，解释与取舍说明下一步根据什么继续。这样换一个会话，Codex也能读取旧记录，不必每次重新摸索。这和前面共享实验记录的想法相通：经验被保存下来，后续任务可以复用。到这里改善的是研发流程和外部记忆；我们还没有证据说，Codex自己的模型权重因此改变了。</a:t>
            </a:r>
          </a:p>
          <a:p>
            <a:endParaRPr/>
          </a:p>
          <a:p>
            <a:r>
              <a:t>来源：</a:t>
            </a:r>
          </a:p>
          <a:p>
            <a:r>
              <a:t>[5] Lewi, OpenAI评测工作流, 2026</a:t>
            </a:r>
          </a:p>
          <a:p>
            <a:r>
              <a:t>https://developers.openai.com/blog/automating-repetitive-work-at-openai-with-codex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主讲第17页，设计预算40秒（未真人计时）。</a:t>
            </a:r>
          </a:p>
          <a:p>
            <a:r>
              <a:t>Google DeepMind的AlphaEvolve把同样的生成、执行、筛选循环用在程序上。Gemini先提出候选程序，执行器测正确性和性能，系统保留较好的候选，再继续生成。这里最重要的是，评价可以落到实际运行结果上：程序有没有算对，速度有没有更快。这类反馈适合检查算法改动。它优化的是程序，并不直接重训练模型权重。那么，改一个程序能给大模型研发带来什么收益？下一页看训练里的例子。</a:t>
            </a:r>
          </a:p>
          <a:p>
            <a:endParaRPr/>
          </a:p>
          <a:p>
            <a:r>
              <a:t>来源：</a:t>
            </a:r>
          </a:p>
          <a:p>
            <a:r>
              <a:t>[6] Google DeepMind, AlphaEvolve, 2025</a:t>
            </a:r>
          </a:p>
          <a:p>
            <a:r>
              <a:t>https://deepmind.google/blog/alphaevolve-a-gemini-powered-coding-agent-for-designing-advanced-algorithms/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主讲第18页，设计预算40秒（未真人计时）。</a:t>
            </a:r>
          </a:p>
          <a:p>
            <a:r>
              <a:t>这个案例报告，一个矩阵乘法kernel获得23%的加速，对应Gemini总训练时间减少1%。看到两个数字，先分别找分母：左边是一个算子，右边是完整训练。完整训练还有其他大量工作，所以局部加速很明显，整体收益仍可能较小。这个例子说明，Agent产生的算法确实可以改善AI训练的一部分。但不能据此说，整个训练都快了23%，也不能直接跳到Agent已经独立研发出下一代Gemini。</a:t>
            </a:r>
          </a:p>
          <a:p>
            <a:endParaRPr/>
          </a:p>
          <a:p>
            <a:r>
              <a:t>来源：</a:t>
            </a:r>
          </a:p>
          <a:p>
            <a:r>
              <a:t>[6] Google DeepMind, AlphaEvolve, 2025</a:t>
            </a:r>
          </a:p>
          <a:p>
            <a:r>
              <a:t>https://deepmind.google/blog/alphaevolve-a-gemini-powered-coding-agent-for-designing-advanced-algorithms/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主讲第19页，设计预算40秒（未真人计时）。</a:t>
            </a:r>
          </a:p>
          <a:p>
            <a:r>
              <a:t>再看开放研究，改动对象还有两类。通义团队的AgentEvolver通过生成任务、复用经验和轨迹贡献归因，支持Agent策略训练。Sakana的Darwin Gödel Machine则修改Agent自身代码，用基准评价，并保留候选谱系，让不同版本继续探索。一个改策略，一个改代码，不能都笼统说成基础模型权重升级。开放框架让这些方法更容易被检查，但不等于相关数据和权重也全部开放。</a:t>
            </a:r>
          </a:p>
          <a:p>
            <a:endParaRPr/>
          </a:p>
          <a:p>
            <a:r>
              <a:t>来源：</a:t>
            </a:r>
          </a:p>
          <a:p>
            <a:r>
              <a:t>[7] AgentEvolver论文, 2025</a:t>
            </a:r>
          </a:p>
          <a:p>
            <a:r>
              <a:t>https://arxiv.org/html/2511.10395v1</a:t>
            </a:r>
          </a:p>
          <a:p>
            <a:r>
              <a:t>[8] Sakana AI, DGM, 2025</a:t>
            </a:r>
          </a:p>
          <a:p>
            <a:r>
              <a:t>https://sakana.ai/dgm/</a:t>
            </a:r>
          </a:p>
          <a:p>
            <a:r>
              <a:t>[11] modelscope/AgentEvolver</a:t>
            </a:r>
          </a:p>
          <a:p>
            <a:r>
              <a:t>https://github.com/modelscope/AgentEvolver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主讲第20页，设计预算40秒（未真人计时）。</a:t>
            </a:r>
          </a:p>
          <a:p>
            <a:r>
              <a:t>现在把案例放回同一张研发地图，大家看每一行到底改了什么：Anthropic改变目标模型的后训练方法和权重，OpenAI改善评测流程与记录，Google优化训练相关算法，开放研究则训练策略或修改Agent代码。它们都进入了AI研发，却不是同一种改进。因此，遇到“AI会自我改进”的说法，先问改的是哪一部分，再问怎样验证。分清对象以后，我们才有条件讨论递归的那个环节。</a:t>
            </a:r>
          </a:p>
          <a:p>
            <a:endParaRPr/>
          </a:p>
          <a:p>
            <a:r>
              <a:t>来源：</a:t>
            </a:r>
          </a:p>
          <a:p>
            <a:r>
              <a:t>[4] Chen 等, Automated Researchers…, 2026</a:t>
            </a:r>
          </a:p>
          <a:p>
            <a:r>
              <a:t>https://alignment.anthropic.com/2026/automated-alignment-researchers/</a:t>
            </a:r>
          </a:p>
          <a:p>
            <a:r>
              <a:t>[5] Lewi, OpenAI评测工作流, 2026</a:t>
            </a:r>
          </a:p>
          <a:p>
            <a:r>
              <a:t>https://developers.openai.com/blog/automating-repetitive-work-at-openai-with-codex</a:t>
            </a:r>
          </a:p>
          <a:p>
            <a:r>
              <a:t>[6] Google DeepMind, AlphaEvolve, 2025</a:t>
            </a:r>
          </a:p>
          <a:p>
            <a:r>
              <a:t>https://deepmind.google/blog/alphaevolve-a-gemini-powered-coding-agent-for-designing-advanced-algorithms/</a:t>
            </a:r>
          </a:p>
          <a:p>
            <a:r>
              <a:t>[7] AgentEvolver论文, 2025</a:t>
            </a:r>
          </a:p>
          <a:p>
            <a:r>
              <a:t>https://arxiv.org/html/2511.10395v1</a:t>
            </a:r>
          </a:p>
          <a:p>
            <a:r>
              <a:t>[8] Sakana AI, DGM, 2025</a:t>
            </a:r>
          </a:p>
          <a:p>
            <a:r>
              <a:t>https://sakana.ai/dgm/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主讲第21页，设计预算45秒（未真人计时）。</a:t>
            </a:r>
          </a:p>
          <a:p>
            <a:r>
              <a:t>请先看图中已有证据的回路：执行之后得到评测和记录，这些结果回到下一次尝试。再看另一条回路：研发得到的变化，能不能提高系统继续做研发的能力？把上一轮更好的程序存下来，和因此获得更强研发能力，需要分别验证。DGM已经展示了限定代码系统中的局部自改进。我们这里强调的证据缺口，指向基础模型后继研发的持续循环：改进能否帮助它不断研发出更强的后继模型？人是否审批是治理安排，不能单凭这一点判断有没有技术上的递归改进。</a:t>
            </a:r>
          </a:p>
          <a:p>
            <a:endParaRPr/>
          </a:p>
          <a:p>
            <a:r>
              <a:t>来源：</a:t>
            </a:r>
          </a:p>
          <a:p>
            <a:r>
              <a:t>[4] Chen 等, Automated Researchers…, 2026</a:t>
            </a:r>
          </a:p>
          <a:p>
            <a:r>
              <a:t>https://alignment.anthropic.com/2026/automated-alignment-researchers/</a:t>
            </a:r>
          </a:p>
          <a:p>
            <a:r>
              <a:t>[5] Lewi, OpenAI评测工作流, 2026</a:t>
            </a:r>
          </a:p>
          <a:p>
            <a:r>
              <a:t>https://developers.openai.com/blog/automating-repetitive-work-at-openai-with-codex</a:t>
            </a:r>
          </a:p>
          <a:p>
            <a:r>
              <a:t>[8] Sakana AI, DGM, 2025</a:t>
            </a:r>
          </a:p>
          <a:p>
            <a:r>
              <a:t>https://sakana.ai/dgm/</a:t>
            </a:r>
          </a:p>
          <a:p>
            <a:r>
              <a:t>[10] Anthropic, Recursive Self-Improvement</a:t>
            </a:r>
          </a:p>
          <a:p>
            <a:r>
              <a:t>https://www.anthropic.com/institute/recursive-self-improvement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主讲第22页，设计预算35秒（未真人计时）。</a:t>
            </a:r>
          </a:p>
          <a:p>
            <a:r>
              <a:t>怎样补上这些证据？我们可以沿着三件事继续检查。第一，新版本离开参与搜索的题目以后，是否仍然更强？第二，它是否让下一轮研究更有效，而不仅是在同一张排行榜上继续爬分？第三，多轮之后，这种收益能否保留下来，副作用和资源代价是否可接受？这些问题把一次成功与持续进步区分开。目前的公开案例已经回答了其中一些局部问题，但还没有把这条完整链条验证充分。</a:t>
            </a:r>
          </a:p>
          <a:p>
            <a:endParaRPr/>
          </a:p>
          <a:p>
            <a:r>
              <a:t>来源：</a:t>
            </a:r>
          </a:p>
          <a:p>
            <a:r>
              <a:t>[4] Chen 等, Automated Researchers…, 2026</a:t>
            </a:r>
          </a:p>
          <a:p>
            <a:r>
              <a:t>https://alignment.anthropic.com/2026/automated-alignment-researchers/</a:t>
            </a:r>
          </a:p>
          <a:p>
            <a:r>
              <a:t>[8] Sakana AI, DGM, 2025</a:t>
            </a:r>
          </a:p>
          <a:p>
            <a:r>
              <a:t>https://sakana.ai/dgm/</a:t>
            </a:r>
          </a:p>
          <a:p>
            <a:r>
              <a:t>[10] Anthropic, Recursive Self-Improvement</a:t>
            </a:r>
          </a:p>
          <a:p>
            <a:r>
              <a:t>https://www.anthropic.com/institute/recursive-self-improvement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主讲第23页，设计预算20秒（未真人计时）。</a:t>
            </a:r>
          </a:p>
          <a:p>
            <a:r>
              <a:t>回到题目：AI参与研发AI已有实例，限定代码系统的局部自改也有证据。还需要检验的是，这些改进能否持续提高基础模型的后继研发能力。一次成功之后，下一轮研究是否因此更强？</a:t>
            </a:r>
          </a:p>
          <a:p>
            <a:endParaRPr/>
          </a:p>
          <a:p>
            <a:r>
              <a:t>来源：</a:t>
            </a:r>
          </a:p>
          <a:p>
            <a:r>
              <a:t>[4] Chen 等, Automated Researchers…, 2026</a:t>
            </a:r>
          </a:p>
          <a:p>
            <a:r>
              <a:t>https://alignment.anthropic.com/2026/automated-alignment-researchers/</a:t>
            </a:r>
          </a:p>
          <a:p>
            <a:r>
              <a:t>[5] Lewi, OpenAI评测工作流, 2026</a:t>
            </a:r>
          </a:p>
          <a:p>
            <a:r>
              <a:t>https://developers.openai.com/blog/automating-repetitive-work-at-openai-with-codex</a:t>
            </a:r>
          </a:p>
          <a:p>
            <a:r>
              <a:t>[6] Google DeepMind, AlphaEvolve, 2025</a:t>
            </a:r>
          </a:p>
          <a:p>
            <a:r>
              <a:t>https://deepmind.google/blog/alphaevolve-a-gemini-powered-coding-agent-for-designing-advanced-algorithms/</a:t>
            </a:r>
          </a:p>
          <a:p>
            <a:r>
              <a:t>[7] AgentEvolver论文, 2025</a:t>
            </a:r>
          </a:p>
          <a:p>
            <a:r>
              <a:t>https://arxiv.org/html/2511.10395v1</a:t>
            </a:r>
          </a:p>
          <a:p>
            <a:r>
              <a:t>[8] Sakana AI, DGM, 2025</a:t>
            </a:r>
          </a:p>
          <a:p>
            <a:r>
              <a:t>https://sakana.ai/dgm/</a:t>
            </a:r>
          </a:p>
          <a:p>
            <a:r>
              <a:t>[10] Anthropic, Recursive Self-Improvement</a:t>
            </a:r>
          </a:p>
          <a:p>
            <a:r>
              <a:t>https://www.anthropic.com/institute/recursive-self-improvement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主讲第24页，设计预算5秒（未真人计时）。</a:t>
            </a:r>
          </a:p>
          <a:p>
            <a:r>
              <a:t>谢谢大家，欢迎提问。</a:t>
            </a:r>
          </a:p>
          <a:p>
            <a:endParaRPr/>
          </a:p>
          <a:p>
            <a:r>
              <a:t>来源：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文献编号与主讲保持一致；完整来源定位见来源与答辩手册。</a:t>
            </a:r>
          </a:p>
          <a:p>
            <a:r>
              <a:t>[1] Good, 1965</a:t>
            </a:r>
          </a:p>
          <a:p>
            <a:r>
              <a:t>https://scienceplusplus.org/metascience/assets/Good1965.pdf</a:t>
            </a:r>
          </a:p>
          <a:p>
            <a:r>
              <a:t>[2] Schmidhuber, Gödel Machines</a:t>
            </a:r>
          </a:p>
          <a:p>
            <a:r>
              <a:t>https://people.idsia.ch/~juergen/gmweb4/gmweb4.html</a:t>
            </a:r>
          </a:p>
          <a:p>
            <a:r>
              <a:t>[3] Zoph &amp; Le, NAS, 2016</a:t>
            </a:r>
          </a:p>
          <a:p>
            <a:r>
              <a:t>https://arxiv.org/abs/1611.01578</a:t>
            </a:r>
          </a:p>
          <a:p>
            <a:r>
              <a:t>[4] Chen 等, Automated Researchers…, 2026</a:t>
            </a:r>
          </a:p>
          <a:p>
            <a:r>
              <a:t>https://alignment.anthropic.com/2026/automated-alignment-researchers/</a:t>
            </a:r>
          </a:p>
          <a:p>
            <a:r>
              <a:t>[5] Lewi, OpenAI评测工作流, 2026</a:t>
            </a:r>
          </a:p>
          <a:p>
            <a:r>
              <a:t>https://developers.openai.com/blog/automating-repetitive-work-at-openai-with-codex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文献编号与主讲保持一致；完整来源定位见来源与答辩手册。</a:t>
            </a:r>
          </a:p>
          <a:p>
            <a:r>
              <a:t>[6] Google DeepMind, AlphaEvolve, 2025</a:t>
            </a:r>
          </a:p>
          <a:p>
            <a:r>
              <a:t>https://deepmind.google/blog/alphaevolve-a-gemini-powered-coding-agent-for-designing-advanced-algorithms/</a:t>
            </a:r>
          </a:p>
          <a:p>
            <a:r>
              <a:t>[7] AgentEvolver论文, 2025</a:t>
            </a:r>
          </a:p>
          <a:p>
            <a:r>
              <a:t>https://arxiv.org/html/2511.10395v1</a:t>
            </a:r>
          </a:p>
          <a:p>
            <a:r>
              <a:t>[8] Sakana AI, DGM, 2025</a:t>
            </a:r>
          </a:p>
          <a:p>
            <a:r>
              <a:t>https://sakana.ai/dgm/</a:t>
            </a:r>
          </a:p>
          <a:p>
            <a:r>
              <a:t>[9] OpenAI研究加速报告, 2026</a:t>
            </a:r>
          </a:p>
          <a:p>
            <a:r>
              <a:t>https://openai.com/index/research-acceleration-view-inside-openai/</a:t>
            </a:r>
          </a:p>
          <a:p>
            <a:r>
              <a:t>[10] Anthropic, Recursive Self-Improvement</a:t>
            </a:r>
          </a:p>
          <a:p>
            <a:r>
              <a:t>https://www.anthropic.com/institute/recursive-self-improvement</a:t>
            </a:r>
          </a:p>
          <a:p>
            <a:r>
              <a:t>[11] modelscope/AgentEvolver</a:t>
            </a:r>
          </a:p>
          <a:p>
            <a:r>
              <a:t>https://github.com/modelscope/AgentEvolver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AAR §2.3、§3.2、§5.1。能力门槛是95%置信区间不完全低于基线，不能改写成每项都无下降。held-out在选择Petri方法时是validation，不能将所有阶段称为完全独立终测。</a:t>
            </a:r>
          </a:p>
          <a:p>
            <a:r>
              <a:t>[4] Chen 等, Automated Researchers…, 2026</a:t>
            </a:r>
          </a:p>
          <a:p>
            <a:r>
              <a:t>https://alignment.anthropic.com/2026/automated-alignment-researchers/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KL方向仅为教学选定，不宣称获胜配方的全部方向、系数或实现。互动HTML的二类单参数原型是教学演示，不是AAR训练复现。</a:t>
            </a:r>
          </a:p>
          <a:p>
            <a:r>
              <a:t>[4] Chen 等, Automated Researchers…, 2026</a:t>
            </a:r>
          </a:p>
          <a:p>
            <a:r>
              <a:t>https://alignment.anthropic.com/2026/automated-alignment-researchers/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AAR App. D.4。全程峰值26.4/18.7/6.0/4.5与固定方法数不同。相同方法数不等于同全部时间、成本。该比较未重跑held-out/Petri。</a:t>
            </a:r>
          </a:p>
          <a:p>
            <a:r>
              <a:t>[4] Chen 等, Automated Researchers…, 2026</a:t>
            </a:r>
          </a:p>
          <a:p>
            <a:r>
              <a:t>https://alignment.anthropic.com/2026/automated-alignment-researchers/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AAR §6，Fig.9。研究Agent的ECI156与目标ECI158是所报代理指标，不能推断全能力排序。</a:t>
            </a:r>
          </a:p>
          <a:p>
            <a:r>
              <a:t>[4] Chen 等, Automated Researchers…, 2026</a:t>
            </a:r>
          </a:p>
          <a:p>
            <a:r>
              <a:t>https://alignment.anthropic.com/2026/automated-alignment-researchers/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AAR §6 Fig.9、App. E.1。与开放权重蒸馏不同实验。没有因此证明更弱研究Agent在全部能力上超越目标。</a:t>
            </a:r>
          </a:p>
          <a:p>
            <a:r>
              <a:t>[4] Chen 等, Automated Researchers…, 2026</a:t>
            </a:r>
          </a:p>
          <a:p>
            <a:r>
              <a:t>https://alignment.anthropic.com/2026/automated-alignment-researchers/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OpenAI研究加速报告§1与方法。3.1不是生产率倍数。运行时间不会自动转化为有效研究贡献。</a:t>
            </a:r>
          </a:p>
          <a:p>
            <a:r>
              <a:t>[9] OpenAI研究加速报告, 2026</a:t>
            </a:r>
          </a:p>
          <a:p>
            <a:r>
              <a:t>https://openai.com/index/research-acceleration-view-inside-openai/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不要把框架Apache-2.0外推为所有模型、训练数据或基础设施开放。SWE与Polyglot结果是各自基准，不能与Qwen谄媚分数直接排名。</a:t>
            </a:r>
          </a:p>
          <a:p>
            <a:r>
              <a:t>[7] AgentEvolver论文, 2025</a:t>
            </a:r>
          </a:p>
          <a:p>
            <a:r>
              <a:t>https://arxiv.org/html/2511.10395v1</a:t>
            </a:r>
          </a:p>
          <a:p>
            <a:r>
              <a:t>[8] Sakana AI, DGM, 2025</a:t>
            </a:r>
          </a:p>
          <a:p>
            <a:r>
              <a:t>https://sakana.ai/dgm/</a:t>
            </a:r>
          </a:p>
          <a:p>
            <a:r>
              <a:t>[11] modelscope/AgentEvolver</a:t>
            </a:r>
          </a:p>
          <a:p>
            <a:r>
              <a:t>https://github.com/modelscope/AgentEvolver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这是本报告对技术能力与治理安排的区分。RSI并无本报告通用评分标准；对所选公开证据做限定性判断。</a:t>
            </a:r>
          </a:p>
          <a:p>
            <a:r>
              <a:t>[4] Chen 等, Automated Researchers…, 2026</a:t>
            </a:r>
          </a:p>
          <a:p>
            <a:r>
              <a:t>https://alignment.anthropic.com/2026/automated-alignment-researchers/</a:t>
            </a:r>
          </a:p>
          <a:p>
            <a:r>
              <a:t>[5] Lewi, OpenAI评测工作流, 2026</a:t>
            </a:r>
          </a:p>
          <a:p>
            <a:r>
              <a:t>https://developers.openai.com/blog/automating-repetitive-work-at-openai-with-codex</a:t>
            </a:r>
          </a:p>
          <a:p>
            <a:r>
              <a:t>[8] Sakana AI, DGM, 2025</a:t>
            </a:r>
          </a:p>
          <a:p>
            <a:r>
              <a:t>https://sakana.ai/dgm/</a:t>
            </a:r>
          </a:p>
          <a:p>
            <a:r>
              <a:t>[10] Anthropic, Recursive Self-Improvement</a:t>
            </a:r>
          </a:p>
          <a:p>
            <a:r>
              <a:t>https://www.anthropic.com/institute/recursive-self-improvement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377DE9BD-09E3-4AA2-AFCE-B891675C5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D9B1A019-05AE-4C37-A1B6-8731329EE9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DF0A261B-8E06-4287-BF30-63E5F704A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98B7E746-F404-4BBF-B8B6-741967D59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C3314253-5C61-43B8-8CC9-DB8CF29DFA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D9859816-28A8-46DF-94C3-1C1901885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670530E2-4C9C-433D-A2A6-F9A1AAF2C2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AC3C0FA5-337B-46AF-B71A-D9F41611D73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B7EC6D52-C79B-4D42-9615-349FBD7B4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C585AEA7-49CE-4DAB-922B-330EDE3D08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5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58A6B357-399E-4137-87AA-57FC01E83631}"/>
              </a:ext>
            </a:extLst>
          </p:cNvPr>
          <p:cNvSpPr>
            <a:spLocks noGrp="1"/>
          </p:cNvSpPr>
          <p:nvPr/>
        </p:nvSpPr>
        <p:spPr>
          <a:xfrm>
            <a:off x="685800" y="514350"/>
            <a:ext cx="108204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0">
                <a:solidFill>
                  <a:srgbClr val="CDDCD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00" b="0">
                <a:solidFill>
                  <a:srgbClr val="CDDC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DDCD7"/>
                </a:solidFill>
                <a:latin typeface="Microsoft YaHei"/>
                <a:ea typeface="Microsoft YaHei"/>
                <a:cs typeface="Microsoft YaHei"/>
              </a:rPr>
              <a:t>大模型与智能体工程实践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C9CAD53-96A3-441D-8637-EED64191712A}"/>
              </a:ext>
            </a:extLst>
          </p:cNvPr>
          <p:cNvSpPr>
            <a:spLocks noGrp="1"/>
          </p:cNvSpPr>
          <p:nvPr/>
        </p:nvSpPr>
        <p:spPr>
          <a:xfrm>
            <a:off x="685800" y="1457325"/>
            <a:ext cx="10820400" cy="1857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4800" b="1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4800" b="1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rPr>
              <a:t>智能体在大模型产业</a:t>
            </a:r>
          </a:p>
          <a:p>
            <a:pPr>
              <a:defRPr sz="4800" b="1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rPr>
              <a:t>研发中的应用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DFA75C5-3D54-4468-9F6C-B83B51C3AD61}"/>
              </a:ext>
            </a:extLst>
          </p:cNvPr>
          <p:cNvSpPr>
            <a:spLocks noGrp="1"/>
          </p:cNvSpPr>
          <p:nvPr/>
        </p:nvSpPr>
        <p:spPr>
          <a:xfrm>
            <a:off x="685800" y="3600450"/>
            <a:ext cx="108204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075" b="1">
                <a:solidFill>
                  <a:srgbClr val="B4DAD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75" b="1">
                <a:solidFill>
                  <a:srgbClr val="B4DA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75" b="1">
                <a:solidFill>
                  <a:srgbClr val="B4DAD2"/>
                </a:solidFill>
                <a:latin typeface="Microsoft YaHei"/>
                <a:ea typeface="Microsoft YaHei"/>
                <a:cs typeface="Microsoft YaHei"/>
              </a:rPr>
              <a:t>AI辅助研发距离递归自我改进还有多远？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B847330-16FB-48DB-AF9F-E55AF6348D73}"/>
              </a:ext>
            </a:extLst>
          </p:cNvPr>
          <p:cNvSpPr>
            <a:spLocks noGrp="1"/>
          </p:cNvSpPr>
          <p:nvPr/>
        </p:nvSpPr>
        <p:spPr>
          <a:xfrm>
            <a:off x="685800" y="4505325"/>
            <a:ext cx="108204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75" b="0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75" b="0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rPr>
              <a:t>以Anthropic、OpenAI等公司的公开实践为例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62CD3F7-B441-449A-9E94-5EE036309EBE}"/>
              </a:ext>
            </a:extLst>
          </p:cNvPr>
          <p:cNvSpPr>
            <a:spLocks noGrp="1"/>
          </p:cNvSpPr>
          <p:nvPr/>
        </p:nvSpPr>
        <p:spPr>
          <a:xfrm>
            <a:off x="685800" y="5638800"/>
            <a:ext cx="108204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0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00" b="0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rPr>
              <a:t>陈云海   张程翔   赵金城   曹天卓</a:t>
            </a:r>
          </a:p>
        </p:txBody>
      </p:sp>
    </p:spTree>
    <p:extLst>
      <p:ext uri="{BB962C8B-B14F-4D97-AF65-F5344CB8AC3E}">
        <p14:creationId xmlns:p14="http://schemas.microsoft.com/office/powerpoint/2010/main" val="5784162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9C8E76C1-BD22-4C59-A7CB-E32D2B89DFA6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一  问题与动机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11FAC7C-B777-4050-BD89-D7C9FF90D253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机器设计更好机器：一个早于大模型的问题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308757D-E267-4E38-8142-94137CECBE62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9ECFCDB-3F6E-47F2-81E3-4F15A370C812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[1] Good, 1965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7DC7170-D9BB-43F6-A506-CDE99D1F201F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64D5847-EB9F-4492-A000-55C23951D2F5}"/>
              </a:ext>
            </a:extLst>
          </p:cNvPr>
          <p:cNvSpPr>
            <a:spLocks noGrp="1"/>
          </p:cNvSpPr>
          <p:nvPr/>
        </p:nvSpPr>
        <p:spPr>
          <a:xfrm>
            <a:off x="685800" y="2171700"/>
            <a:ext cx="3981450" cy="1428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81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81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1965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576664B-0A96-4E08-AB1F-B171DE64BB3D}"/>
              </a:ext>
            </a:extLst>
          </p:cNvPr>
          <p:cNvSpPr>
            <a:spLocks noGrp="1"/>
          </p:cNvSpPr>
          <p:nvPr/>
        </p:nvSpPr>
        <p:spPr>
          <a:xfrm>
            <a:off x="685800" y="3876675"/>
            <a:ext cx="39052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7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7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I. J. Good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F45EF78-8392-420A-95BB-F47F3236F098}"/>
              </a:ext>
            </a:extLst>
          </p:cNvPr>
          <p:cNvSpPr>
            <a:spLocks noGrp="1"/>
          </p:cNvSpPr>
          <p:nvPr/>
        </p:nvSpPr>
        <p:spPr>
          <a:xfrm>
            <a:off x="5238750" y="2390775"/>
            <a:ext cx="6267450" cy="2257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如果机器能参与设计</a:t>
            </a:r>
          </a:p>
          <a:p>
            <a:pPr>
              <a:def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更好的机器，</a:t>
            </a:r>
          </a:p>
          <a:p>
            <a:pPr>
              <a:def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改进会不会继续？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6380F8E-2E65-43D0-B0E0-F297CDD83DB8}"/>
              </a:ext>
            </a:extLst>
          </p:cNvPr>
          <p:cNvSpPr>
            <a:spLocks noGrp="1"/>
          </p:cNvSpPr>
          <p:nvPr/>
        </p:nvSpPr>
        <p:spPr>
          <a:xfrm>
            <a:off x="685800" y="5210175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5EDB8B5-079E-4B4D-A109-8A4F4EE9AEE2}"/>
              </a:ext>
            </a:extLst>
          </p:cNvPr>
          <p:cNvSpPr>
            <a:spLocks noGrp="1"/>
          </p:cNvSpPr>
          <p:nvPr/>
        </p:nvSpPr>
        <p:spPr>
          <a:xfrm>
            <a:off x="685800" y="5553075"/>
            <a:ext cx="108204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今天可以追问：它接手了哪项任务，交付了什么结果</a:t>
            </a:r>
          </a:p>
        </p:txBody>
      </p:sp>
    </p:spTree>
    <p:extLst>
      <p:ext uri="{BB962C8B-B14F-4D97-AF65-F5344CB8AC3E}">
        <p14:creationId xmlns:p14="http://schemas.microsoft.com/office/powerpoint/2010/main" val="16419232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5499A5E-A700-4BEC-8F23-7EA9E278AD81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一  问题与动机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097DE04-BCB3-468F-AFEB-ED1CA48028E3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研发AI，需要反复做实验和评测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C0F7376-BDB1-4EE9-AF4A-17B4BE7AFB0D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80DBCB1-0062-49F1-A7C2-06A8AC04C452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Chen等, AAR, 2026；[5] Lewi, Codex评测, 2026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3FD50B8-BC06-4D4D-9FF6-ADE307D688A5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8F7A41C-0F9E-4AE1-B787-3D8D5C26C16B}"/>
              </a:ext>
            </a:extLst>
          </p:cNvPr>
          <p:cNvSpPr>
            <a:spLocks noGrp="1"/>
          </p:cNvSpPr>
          <p:nvPr/>
        </p:nvSpPr>
        <p:spPr>
          <a:xfrm>
            <a:off x="685800" y="2476500"/>
            <a:ext cx="2466975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8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8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方法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6C32440-5E1F-44FB-A19A-D275FFAC2DFB}"/>
              </a:ext>
            </a:extLst>
          </p:cNvPr>
          <p:cNvSpPr>
            <a:spLocks noGrp="1"/>
          </p:cNvSpPr>
          <p:nvPr/>
        </p:nvSpPr>
        <p:spPr>
          <a:xfrm>
            <a:off x="685800" y="3314700"/>
            <a:ext cx="2409825" cy="1504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提出训练方法</a:t>
            </a:r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FD98645D-E3DF-4833-9EC2-5E8CDFF80DFC}"/>
              </a:ext>
            </a:extLst>
          </p:cNvPr>
          <p:cNvSpPr>
            <a:spLocks noGrp="1"/>
          </p:cNvSpPr>
          <p:nvPr/>
        </p:nvSpPr>
        <p:spPr>
          <a:xfrm>
            <a:off x="3057525" y="2647950"/>
            <a:ext cx="314325" cy="228600"/>
          </a:xfrm>
          <a:prstGeom prst="rightArrow">
            <a:avLst/>
          </a:prstGeom>
          <a:solidFill>
            <a:srgbClr val="167F78"/>
          </a:solidFill>
          <a:ln w="0">
            <a:noFill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16DBACD-89C6-43BF-9C45-E499F3E6775A}"/>
              </a:ext>
            </a:extLst>
          </p:cNvPr>
          <p:cNvSpPr>
            <a:spLocks noGrp="1"/>
          </p:cNvSpPr>
          <p:nvPr/>
        </p:nvSpPr>
        <p:spPr>
          <a:xfrm>
            <a:off x="3467100" y="2476500"/>
            <a:ext cx="2466975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8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8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实现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3669E40-C9E5-4AA0-AF61-E140CC29244F}"/>
              </a:ext>
            </a:extLst>
          </p:cNvPr>
          <p:cNvSpPr>
            <a:spLocks noGrp="1"/>
          </p:cNvSpPr>
          <p:nvPr/>
        </p:nvSpPr>
        <p:spPr>
          <a:xfrm>
            <a:off x="3467100" y="3314700"/>
            <a:ext cx="2409825" cy="1504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把方法变成代码与训练任务</a:t>
            </a:r>
          </a:p>
        </p:txBody>
      </p:sp>
      <p:sp>
        <p:nvSpPr>
          <p:cNvPr id="11" name="箭头: 右 10">
            <a:extLst>
              <a:ext uri="{FF2B5EF4-FFF2-40B4-BE49-F238E27FC236}">
                <a16:creationId xmlns:a16="http://schemas.microsoft.com/office/drawing/2014/main" id="{36B22DA1-4EF9-43A1-863F-77C7CD84903E}"/>
              </a:ext>
            </a:extLst>
          </p:cNvPr>
          <p:cNvSpPr>
            <a:spLocks noGrp="1"/>
          </p:cNvSpPr>
          <p:nvPr/>
        </p:nvSpPr>
        <p:spPr>
          <a:xfrm>
            <a:off x="5838825" y="2647950"/>
            <a:ext cx="314325" cy="228600"/>
          </a:xfrm>
          <a:prstGeom prst="rightArrow">
            <a:avLst/>
          </a:prstGeom>
          <a:solidFill>
            <a:srgbClr val="167F78"/>
          </a:solidFill>
          <a:ln w="0">
            <a:noFill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A7171CD-E490-40E0-A1F5-9BC59C4A6B84}"/>
              </a:ext>
            </a:extLst>
          </p:cNvPr>
          <p:cNvSpPr>
            <a:spLocks noGrp="1"/>
          </p:cNvSpPr>
          <p:nvPr/>
        </p:nvSpPr>
        <p:spPr>
          <a:xfrm>
            <a:off x="6248400" y="2476500"/>
            <a:ext cx="2466975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8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8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评测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875BC5B-4EB3-4558-89A4-9B8C049A09CD}"/>
              </a:ext>
            </a:extLst>
          </p:cNvPr>
          <p:cNvSpPr>
            <a:spLocks noGrp="1"/>
          </p:cNvSpPr>
          <p:nvPr/>
        </p:nvSpPr>
        <p:spPr>
          <a:xfrm>
            <a:off x="6248400" y="3314700"/>
            <a:ext cx="2409825" cy="1504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检查行为改善和能力损失</a:t>
            </a:r>
          </a:p>
        </p:txBody>
      </p:sp>
      <p:sp>
        <p:nvSpPr>
          <p:cNvPr id="14" name="箭头: 右 13">
            <a:extLst>
              <a:ext uri="{FF2B5EF4-FFF2-40B4-BE49-F238E27FC236}">
                <a16:creationId xmlns:a16="http://schemas.microsoft.com/office/drawing/2014/main" id="{315CD4CD-CD9B-4984-A419-8597DDEDE32E}"/>
              </a:ext>
            </a:extLst>
          </p:cNvPr>
          <p:cNvSpPr>
            <a:spLocks noGrp="1"/>
          </p:cNvSpPr>
          <p:nvPr/>
        </p:nvSpPr>
        <p:spPr>
          <a:xfrm>
            <a:off x="8620125" y="2647950"/>
            <a:ext cx="314325" cy="228600"/>
          </a:xfrm>
          <a:prstGeom prst="rightArrow">
            <a:avLst/>
          </a:prstGeom>
          <a:solidFill>
            <a:srgbClr val="167F78"/>
          </a:solidFill>
          <a:ln w="0">
            <a:noFill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81181F3-323F-464A-9D2F-67AE9F6C4F8B}"/>
              </a:ext>
            </a:extLst>
          </p:cNvPr>
          <p:cNvSpPr>
            <a:spLocks noGrp="1"/>
          </p:cNvSpPr>
          <p:nvPr/>
        </p:nvSpPr>
        <p:spPr>
          <a:xfrm>
            <a:off x="9029700" y="2476500"/>
            <a:ext cx="2466975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8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8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下一轮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0DFAEB3-3B49-41D9-8D06-8ACA4D1A1098}"/>
              </a:ext>
            </a:extLst>
          </p:cNvPr>
          <p:cNvSpPr>
            <a:spLocks noGrp="1"/>
          </p:cNvSpPr>
          <p:nvPr/>
        </p:nvSpPr>
        <p:spPr>
          <a:xfrm>
            <a:off x="9029700" y="3314700"/>
            <a:ext cx="2409825" cy="1504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记录失败，决定下一次尝试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250FA55-5D73-4472-8869-258D5948BD59}"/>
              </a:ext>
            </a:extLst>
          </p:cNvPr>
          <p:cNvSpPr>
            <a:spLocks noGrp="1"/>
          </p:cNvSpPr>
          <p:nvPr/>
        </p:nvSpPr>
        <p:spPr>
          <a:xfrm>
            <a:off x="685800" y="5372100"/>
            <a:ext cx="108204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7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7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rPr>
              <a:t>一次行为改善，可能伴随其他能力下降</a:t>
            </a:r>
          </a:p>
        </p:txBody>
      </p:sp>
    </p:spTree>
    <p:extLst>
      <p:ext uri="{BB962C8B-B14F-4D97-AF65-F5344CB8AC3E}">
        <p14:creationId xmlns:p14="http://schemas.microsoft.com/office/powerpoint/2010/main" val="5662663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9204F404-6618-4D36-A2C5-5F9901399C16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一  问题与动机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06E928B-39F5-4A53-A25B-8337192B4774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自我修改怎样才值得保留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F54B88E-E77D-4396-AD33-EB1432434A68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CCC0066-9D20-40DE-8831-DB01C2F6DE91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[2] Gödel Machines；[3] NAS, 2016；[8] DGM, 2025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EE6EF90-A640-46E9-B309-4D3A97EA4AC4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CD357E3-1257-4BAA-BF8B-70CAF8D35A69}"/>
              </a:ext>
            </a:extLst>
          </p:cNvPr>
          <p:cNvSpPr>
            <a:spLocks noGrp="1"/>
          </p:cNvSpPr>
          <p:nvPr/>
        </p:nvSpPr>
        <p:spPr>
          <a:xfrm>
            <a:off x="685800" y="2200275"/>
            <a:ext cx="485775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8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8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证明后修改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919D0BF-59DB-42F5-AB28-9819B1C5627A}"/>
              </a:ext>
            </a:extLst>
          </p:cNvPr>
          <p:cNvSpPr>
            <a:spLocks noGrp="1"/>
          </p:cNvSpPr>
          <p:nvPr/>
        </p:nvSpPr>
        <p:spPr>
          <a:xfrm>
            <a:off x="685800" y="3143250"/>
            <a:ext cx="4857750" cy="1219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Gödel Machine</a:t>
            </a:r>
          </a:p>
          <a:p>
            <a:pPr>
              <a:defRPr sz="24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先证明修改有益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9BAB9A4-FA30-463D-97A6-350EE3B3E65E}"/>
              </a:ext>
            </a:extLst>
          </p:cNvPr>
          <p:cNvSpPr>
            <a:spLocks noGrp="1"/>
          </p:cNvSpPr>
          <p:nvPr/>
        </p:nvSpPr>
        <p:spPr>
          <a:xfrm>
            <a:off x="6572250" y="2200275"/>
            <a:ext cx="493395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85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85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rPr>
              <a:t>评测后保留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F357325-D90F-4715-A5B1-13B2A32EA843}"/>
              </a:ext>
            </a:extLst>
          </p:cNvPr>
          <p:cNvSpPr>
            <a:spLocks noGrp="1"/>
          </p:cNvSpPr>
          <p:nvPr/>
        </p:nvSpPr>
        <p:spPr>
          <a:xfrm>
            <a:off x="6572250" y="3143250"/>
            <a:ext cx="4933950" cy="1219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NAS与DGM</a:t>
            </a:r>
          </a:p>
          <a:p>
            <a:pPr>
              <a:defRPr sz="24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搜索候选，再检验结果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37FFF93-E39F-4E4C-9695-2BB6B540DBE1}"/>
              </a:ext>
            </a:extLst>
          </p:cNvPr>
          <p:cNvSpPr>
            <a:spLocks noGrp="1"/>
          </p:cNvSpPr>
          <p:nvPr/>
        </p:nvSpPr>
        <p:spPr>
          <a:xfrm>
            <a:off x="685800" y="487680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C89A777-4F44-4B50-BA90-3F2ABA783161}"/>
              </a:ext>
            </a:extLst>
          </p:cNvPr>
          <p:cNvSpPr>
            <a:spLocks noGrp="1"/>
          </p:cNvSpPr>
          <p:nvPr/>
        </p:nvSpPr>
        <p:spPr>
          <a:xfrm>
            <a:off x="685800" y="5276850"/>
            <a:ext cx="10820400" cy="904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5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5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真实研发怎样验证“更好”，贯穿今天的案例</a:t>
            </a:r>
          </a:p>
        </p:txBody>
      </p:sp>
    </p:spTree>
    <p:extLst>
      <p:ext uri="{BB962C8B-B14F-4D97-AF65-F5344CB8AC3E}">
        <p14:creationId xmlns:p14="http://schemas.microsoft.com/office/powerpoint/2010/main" val="13923505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79730973-95E6-40C1-B561-77CA788CD461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一  问题与动机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CAEC72F-C822-4F07-A7F6-E3BC02D25F5E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沿着研发链条找答案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DAA9A21-2144-41B2-B99E-0625362B288B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F37C08D-6628-4907-958E-9E5A69E46C98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72809D9-015C-4388-A733-14465B86A41E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4C0D623-0302-4FF7-B593-32A9204B8048}"/>
              </a:ext>
            </a:extLst>
          </p:cNvPr>
          <p:cNvSpPr>
            <a:spLocks noGrp="1"/>
          </p:cNvSpPr>
          <p:nvPr/>
        </p:nvSpPr>
        <p:spPr>
          <a:xfrm>
            <a:off x="685800" y="2200275"/>
            <a:ext cx="104775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1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1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D844C8A-A4AA-4909-AF87-A34AB0749A4C}"/>
              </a:ext>
            </a:extLst>
          </p:cNvPr>
          <p:cNvSpPr>
            <a:spLocks noGrp="1"/>
          </p:cNvSpPr>
          <p:nvPr/>
        </p:nvSpPr>
        <p:spPr>
          <a:xfrm>
            <a:off x="2257425" y="2238375"/>
            <a:ext cx="923925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7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7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任务怎样交给Agent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5023E00-D8D5-4B4E-B60C-472A4E6072AD}"/>
              </a:ext>
            </a:extLst>
          </p:cNvPr>
          <p:cNvSpPr>
            <a:spLocks noGrp="1"/>
          </p:cNvSpPr>
          <p:nvPr/>
        </p:nvSpPr>
        <p:spPr>
          <a:xfrm>
            <a:off x="685800" y="3162300"/>
            <a:ext cx="104775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1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1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2BE4C08-118E-48CB-BBBF-6B36DACA6E33}"/>
              </a:ext>
            </a:extLst>
          </p:cNvPr>
          <p:cNvSpPr>
            <a:spLocks noGrp="1"/>
          </p:cNvSpPr>
          <p:nvPr/>
        </p:nvSpPr>
        <p:spPr>
          <a:xfrm>
            <a:off x="2257425" y="3200400"/>
            <a:ext cx="923925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7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7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方法怎样进入模型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61BD7AE-4DEC-4564-AFC1-5959116AA770}"/>
              </a:ext>
            </a:extLst>
          </p:cNvPr>
          <p:cNvSpPr>
            <a:spLocks noGrp="1"/>
          </p:cNvSpPr>
          <p:nvPr/>
        </p:nvSpPr>
        <p:spPr>
          <a:xfrm>
            <a:off x="685800" y="4124325"/>
            <a:ext cx="104775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1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1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5500779-D859-4E2C-86C6-72A4695277B8}"/>
              </a:ext>
            </a:extLst>
          </p:cNvPr>
          <p:cNvSpPr>
            <a:spLocks noGrp="1"/>
          </p:cNvSpPr>
          <p:nvPr/>
        </p:nvSpPr>
        <p:spPr>
          <a:xfrm>
            <a:off x="2257425" y="4162425"/>
            <a:ext cx="923925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7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7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结果怎样进入下一轮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2292640-9E53-4219-9385-2B05BCD943B0}"/>
              </a:ext>
            </a:extLst>
          </p:cNvPr>
          <p:cNvSpPr>
            <a:spLocks noGrp="1"/>
          </p:cNvSpPr>
          <p:nvPr/>
        </p:nvSpPr>
        <p:spPr>
          <a:xfrm>
            <a:off x="685800" y="5086350"/>
            <a:ext cx="104775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1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1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D2AC779-D2E6-48F7-87A3-4CC1503246D1}"/>
              </a:ext>
            </a:extLst>
          </p:cNvPr>
          <p:cNvSpPr>
            <a:spLocks noGrp="1"/>
          </p:cNvSpPr>
          <p:nvPr/>
        </p:nvSpPr>
        <p:spPr>
          <a:xfrm>
            <a:off x="2257425" y="5124450"/>
            <a:ext cx="923925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7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7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哪些证据才能支持RSI</a:t>
            </a:r>
          </a:p>
        </p:txBody>
      </p:sp>
    </p:spTree>
    <p:extLst>
      <p:ext uri="{BB962C8B-B14F-4D97-AF65-F5344CB8AC3E}">
        <p14:creationId xmlns:p14="http://schemas.microsoft.com/office/powerpoint/2010/main" val="9242356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3007B828-5E01-42E9-A782-2A5AC75C4FA7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一  问题与动机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AAE1C67-E380-4C92-B050-9BC7CE7814DD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为什么重点看Anthropic与OpenAI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AA6533F-A2F5-4492-86B5-F605F631CBE7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6CA1C0B-FFD1-4C85-B810-0A6767DEC932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Chen等, AAR, 2026；[5] Lewi, Codex评测, 2026；[6] AlphaEvolve, 2025；[7] AgentEvolver, 2025；[8] DGM, 2025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7B3E868-A88F-4BC2-A6EE-3998C42D0424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2AD1798-8FAA-439C-AAD6-DFC2C7FA1989}"/>
              </a:ext>
            </a:extLst>
          </p:cNvPr>
          <p:cNvSpPr>
            <a:spLocks noGrp="1"/>
          </p:cNvSpPr>
          <p:nvPr/>
        </p:nvSpPr>
        <p:spPr>
          <a:xfrm>
            <a:off x="685800" y="2257425"/>
            <a:ext cx="30289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Anthropic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F084E36-3928-476A-9D13-95598831E3D8}"/>
              </a:ext>
            </a:extLst>
          </p:cNvPr>
          <p:cNvSpPr>
            <a:spLocks noGrp="1"/>
          </p:cNvSpPr>
          <p:nvPr/>
        </p:nvSpPr>
        <p:spPr>
          <a:xfrm>
            <a:off x="4095750" y="2257425"/>
            <a:ext cx="74104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方法、目标模型权重与实验评测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78F525C-F367-47BF-B035-A674F6DF8B75}"/>
              </a:ext>
            </a:extLst>
          </p:cNvPr>
          <p:cNvSpPr>
            <a:spLocks noGrp="1"/>
          </p:cNvSpPr>
          <p:nvPr/>
        </p:nvSpPr>
        <p:spPr>
          <a:xfrm>
            <a:off x="685800" y="316230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BB99701-EEA8-4E7B-BD4B-37F9328C7617}"/>
              </a:ext>
            </a:extLst>
          </p:cNvPr>
          <p:cNvSpPr>
            <a:spLocks noGrp="1"/>
          </p:cNvSpPr>
          <p:nvPr/>
        </p:nvSpPr>
        <p:spPr>
          <a:xfrm>
            <a:off x="685800" y="3476625"/>
            <a:ext cx="30289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OpenAI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3955B82-8479-4B7A-8AAE-2A441C938ECE}"/>
              </a:ext>
            </a:extLst>
          </p:cNvPr>
          <p:cNvSpPr>
            <a:spLocks noGrp="1"/>
          </p:cNvSpPr>
          <p:nvPr/>
        </p:nvSpPr>
        <p:spPr>
          <a:xfrm>
            <a:off x="4095750" y="3476625"/>
            <a:ext cx="74104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研发任务、工具使用与决策记录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B7CCDC4-4E75-4716-98FA-805CB7E1557A}"/>
              </a:ext>
            </a:extLst>
          </p:cNvPr>
          <p:cNvSpPr>
            <a:spLocks noGrp="1"/>
          </p:cNvSpPr>
          <p:nvPr/>
        </p:nvSpPr>
        <p:spPr>
          <a:xfrm>
            <a:off x="685800" y="438150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76C14E5-134B-4B67-97E1-703235F12A89}"/>
              </a:ext>
            </a:extLst>
          </p:cNvPr>
          <p:cNvSpPr>
            <a:spLocks noGrp="1"/>
          </p:cNvSpPr>
          <p:nvPr/>
        </p:nvSpPr>
        <p:spPr>
          <a:xfrm>
            <a:off x="685800" y="5067300"/>
            <a:ext cx="10820400" cy="771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Google与开放研究补充算法、策略和代码的改动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C7924A7-346B-4002-BDAF-36E5BC97BCDB}"/>
              </a:ext>
            </a:extLst>
          </p:cNvPr>
          <p:cNvSpPr>
            <a:spLocks noGrp="1"/>
          </p:cNvSpPr>
          <p:nvPr/>
        </p:nvSpPr>
        <p:spPr>
          <a:xfrm>
            <a:off x="685800" y="5848350"/>
            <a:ext cx="108204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02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按可检查的公开证据选案例</a:t>
            </a:r>
          </a:p>
        </p:txBody>
      </p:sp>
    </p:spTree>
    <p:extLst>
      <p:ext uri="{BB962C8B-B14F-4D97-AF65-F5344CB8AC3E}">
        <p14:creationId xmlns:p14="http://schemas.microsoft.com/office/powerpoint/2010/main" val="17564055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F4B242CA-F544-4041-AD0D-0E73F13A5A74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二  模型改进  Anthropic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12C0698-29C1-4AAC-9094-49A526C6E9E3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任务：让模型少迎合错误观点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C103F84-ED34-424F-8577-4B4FEC1EF4C1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ED3DDD8-B844-44B2-9D7A-F5F038CB386B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Chen等, AAR, 2026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542630D-B1E2-4BAF-8178-BE0938135AC5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F17B5DA-94E9-4F76-BE28-6E14697FE970}"/>
              </a:ext>
            </a:extLst>
          </p:cNvPr>
          <p:cNvSpPr>
            <a:spLocks noGrp="1"/>
          </p:cNvSpPr>
          <p:nvPr/>
        </p:nvSpPr>
        <p:spPr>
          <a:xfrm>
            <a:off x="685800" y="2657475"/>
            <a:ext cx="3048000" cy="1457325"/>
          </a:xfrm>
          <a:prstGeom prst="rect">
            <a:avLst/>
          </a:prstGeom>
          <a:solidFill>
            <a:srgbClr val="E7EFEB"/>
          </a:solidFill>
          <a:ln w="0">
            <a:noFill/>
          </a:ln>
        </p:spPr>
        <p:txBody>
          <a:bodyPr lIns="171450" tIns="171450" rIns="171450" bIns="171450"/>
          <a:lstStyle>
            <a:defPPr>
              <a:defRPr sz="20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0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研究Agent</a:t>
            </a:r>
          </a:p>
          <a:p>
            <a:pPr>
              <a:defRPr sz="20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Claude Opus 4.8</a:t>
            </a:r>
          </a:p>
          <a:p>
            <a:pPr>
              <a:defRPr sz="20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提出并实施方法</a:t>
            </a:r>
          </a:p>
        </p:txBody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3E0DCBA8-2E16-4177-865F-65DCE826BB10}"/>
              </a:ext>
            </a:extLst>
          </p:cNvPr>
          <p:cNvSpPr>
            <a:spLocks noGrp="1"/>
          </p:cNvSpPr>
          <p:nvPr/>
        </p:nvSpPr>
        <p:spPr>
          <a:xfrm>
            <a:off x="4000500" y="3267075"/>
            <a:ext cx="609600" cy="228600"/>
          </a:xfrm>
          <a:prstGeom prst="rightArrow">
            <a:avLst/>
          </a:prstGeom>
          <a:solidFill>
            <a:srgbClr val="167F78"/>
          </a:solidFill>
          <a:ln w="0">
            <a:noFill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E8D9F39-1D73-4AE7-8F24-C140A12636A5}"/>
              </a:ext>
            </a:extLst>
          </p:cNvPr>
          <p:cNvSpPr>
            <a:spLocks noGrp="1"/>
          </p:cNvSpPr>
          <p:nvPr/>
        </p:nvSpPr>
        <p:spPr>
          <a:xfrm>
            <a:off x="4933950" y="2657475"/>
            <a:ext cx="2952750" cy="1457325"/>
          </a:xfrm>
          <a:prstGeom prst="rect">
            <a:avLst/>
          </a:prstGeom>
          <a:solidFill>
            <a:srgbClr val="EFE5DA"/>
          </a:solidFill>
          <a:ln w="0">
            <a:noFill/>
          </a:ln>
        </p:spPr>
        <p:txBody>
          <a:bodyPr lIns="171450" tIns="171450" rIns="171450" bIns="171450"/>
          <a:lstStyle>
            <a:def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Qwen3.5-2B</a:t>
            </a:r>
          </a:p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接受后训练</a:t>
            </a:r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FCCC60CB-DB0B-4840-9EBC-5BB2D1A8AAED}"/>
              </a:ext>
            </a:extLst>
          </p:cNvPr>
          <p:cNvSpPr>
            <a:spLocks noGrp="1"/>
          </p:cNvSpPr>
          <p:nvPr/>
        </p:nvSpPr>
        <p:spPr>
          <a:xfrm>
            <a:off x="8153400" y="3267075"/>
            <a:ext cx="609600" cy="228600"/>
          </a:xfrm>
          <a:prstGeom prst="rightArrow">
            <a:avLst/>
          </a:prstGeom>
          <a:solidFill>
            <a:srgbClr val="167F78"/>
          </a:solidFill>
          <a:ln w="0">
            <a:noFill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56AB994-A74B-4CAC-8123-D56BAE142047}"/>
              </a:ext>
            </a:extLst>
          </p:cNvPr>
          <p:cNvSpPr>
            <a:spLocks noGrp="1"/>
          </p:cNvSpPr>
          <p:nvPr/>
        </p:nvSpPr>
        <p:spPr>
          <a:xfrm>
            <a:off x="9086850" y="2657475"/>
            <a:ext cx="2419350" cy="1457325"/>
          </a:xfrm>
          <a:prstGeom prst="rect">
            <a:avLst/>
          </a:prstGeom>
          <a:solidFill>
            <a:srgbClr val="E7EFEB"/>
          </a:solidFill>
          <a:ln w="0">
            <a:noFill/>
          </a:ln>
        </p:spPr>
        <p:txBody>
          <a:bodyPr lIns="171450" tIns="171450" rIns="171450" bIns="171450"/>
          <a:lstStyle>
            <a:def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评测器</a:t>
            </a:r>
          </a:p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行为与能力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A207D32-FA4E-4AAF-ADE3-9CE2B26E0CF5}"/>
              </a:ext>
            </a:extLst>
          </p:cNvPr>
          <p:cNvSpPr>
            <a:spLocks noGrp="1"/>
          </p:cNvSpPr>
          <p:nvPr/>
        </p:nvSpPr>
        <p:spPr>
          <a:xfrm>
            <a:off x="685800" y="2114550"/>
            <a:ext cx="108204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任务：减少顺着用户错误观点说的行为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DECE8F7-A49A-48B0-8140-42F555AB8148}"/>
              </a:ext>
            </a:extLst>
          </p:cNvPr>
          <p:cNvSpPr>
            <a:spLocks noGrp="1"/>
          </p:cNvSpPr>
          <p:nvPr/>
        </p:nvSpPr>
        <p:spPr>
          <a:xfrm>
            <a:off x="685800" y="5000625"/>
            <a:ext cx="10820400" cy="895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7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7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研究者、被训练模型、评测器承担不同角色</a:t>
            </a:r>
          </a:p>
        </p:txBody>
      </p:sp>
    </p:spTree>
    <p:extLst>
      <p:ext uri="{BB962C8B-B14F-4D97-AF65-F5344CB8AC3E}">
        <p14:creationId xmlns:p14="http://schemas.microsoft.com/office/powerpoint/2010/main" val="7394918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86449E57-AE98-48E3-A2FB-DD5E97670E37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二  模型改进  Anthropic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C5428D2-DCF9-44E9-BD76-3D63C50DB18F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一轮研究需要交付能运行的方法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AA8455D-4F1A-4B7E-995A-186B5B3D127C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036B148-678B-40E1-8C6A-CC93860626DC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Chen等, AAR, 2026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2116A72-5455-4B61-9A61-765E89A3788D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48EFBB0-6923-4F81-BC48-AAFF4B9319F1}"/>
              </a:ext>
            </a:extLst>
          </p:cNvPr>
          <p:cNvSpPr>
            <a:spLocks noGrp="1"/>
          </p:cNvSpPr>
          <p:nvPr/>
        </p:nvSpPr>
        <p:spPr>
          <a:xfrm>
            <a:off x="685800" y="2152650"/>
            <a:ext cx="2295525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00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3D04285-EEAE-4AD0-8782-CA165C6A126E}"/>
              </a:ext>
            </a:extLst>
          </p:cNvPr>
          <p:cNvSpPr>
            <a:spLocks noGrp="1"/>
          </p:cNvSpPr>
          <p:nvPr/>
        </p:nvSpPr>
        <p:spPr>
          <a:xfrm>
            <a:off x="685800" y="2819400"/>
            <a:ext cx="2295525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7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7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提出假设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BFEF28D-040E-40E5-BE9D-3527CB3983B9}"/>
              </a:ext>
            </a:extLst>
          </p:cNvPr>
          <p:cNvSpPr>
            <a:spLocks noGrp="1"/>
          </p:cNvSpPr>
          <p:nvPr/>
        </p:nvSpPr>
        <p:spPr>
          <a:xfrm>
            <a:off x="685800" y="3762375"/>
            <a:ext cx="2295525" cy="1238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资料与研究方法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CB468A8-CF91-47FC-9E7C-FD82CCA73ACF}"/>
              </a:ext>
            </a:extLst>
          </p:cNvPr>
          <p:cNvSpPr>
            <a:spLocks noGrp="1"/>
          </p:cNvSpPr>
          <p:nvPr/>
        </p:nvSpPr>
        <p:spPr>
          <a:xfrm>
            <a:off x="3486150" y="2152650"/>
            <a:ext cx="2295525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00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40CD9E4-C021-49C2-A776-7785B547C667}"/>
              </a:ext>
            </a:extLst>
          </p:cNvPr>
          <p:cNvSpPr>
            <a:spLocks noGrp="1"/>
          </p:cNvSpPr>
          <p:nvPr/>
        </p:nvSpPr>
        <p:spPr>
          <a:xfrm>
            <a:off x="3486150" y="2819400"/>
            <a:ext cx="2295525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7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7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冻结小论文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523350D-B5D1-48FE-B952-F60EA55195FE}"/>
              </a:ext>
            </a:extLst>
          </p:cNvPr>
          <p:cNvSpPr>
            <a:spLocks noGrp="1"/>
          </p:cNvSpPr>
          <p:nvPr/>
        </p:nvSpPr>
        <p:spPr>
          <a:xfrm>
            <a:off x="3486150" y="3762375"/>
            <a:ext cx="2295525" cy="1238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本轮结果尚未公布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2D1FDD9-950D-4BEC-AC38-E82C3E420C18}"/>
              </a:ext>
            </a:extLst>
          </p:cNvPr>
          <p:cNvSpPr>
            <a:spLocks noGrp="1"/>
          </p:cNvSpPr>
          <p:nvPr/>
        </p:nvSpPr>
        <p:spPr>
          <a:xfrm>
            <a:off x="6286500" y="2152650"/>
            <a:ext cx="2295525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00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D136784-DE9E-47ED-AEE1-A410E510C442}"/>
              </a:ext>
            </a:extLst>
          </p:cNvPr>
          <p:cNvSpPr>
            <a:spLocks noGrp="1"/>
          </p:cNvSpPr>
          <p:nvPr/>
        </p:nvSpPr>
        <p:spPr>
          <a:xfrm>
            <a:off x="6286500" y="2819400"/>
            <a:ext cx="2295525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7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7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提交实现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CEDC020-5D8D-47A3-9438-0C1341FD0A8E}"/>
              </a:ext>
            </a:extLst>
          </p:cNvPr>
          <p:cNvSpPr>
            <a:spLocks noGrp="1"/>
          </p:cNvSpPr>
          <p:nvPr/>
        </p:nvSpPr>
        <p:spPr>
          <a:xfrm>
            <a:off x="6286500" y="3762375"/>
            <a:ext cx="2295525" cy="1238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代码监控后训练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B63AF73-9B89-4914-B2D1-2C2413A72345}"/>
              </a:ext>
            </a:extLst>
          </p:cNvPr>
          <p:cNvSpPr>
            <a:spLocks noGrp="1"/>
          </p:cNvSpPr>
          <p:nvPr/>
        </p:nvSpPr>
        <p:spPr>
          <a:xfrm>
            <a:off x="9086850" y="2152650"/>
            <a:ext cx="24193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00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432AF61-F005-45A9-9ABD-761D2C0A2786}"/>
              </a:ext>
            </a:extLst>
          </p:cNvPr>
          <p:cNvSpPr>
            <a:spLocks noGrp="1"/>
          </p:cNvSpPr>
          <p:nvPr/>
        </p:nvSpPr>
        <p:spPr>
          <a:xfrm>
            <a:off x="9086850" y="2819400"/>
            <a:ext cx="241935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7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7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外部评测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93B05B1-D3AF-4275-84B9-A9A4EE46EECF}"/>
              </a:ext>
            </a:extLst>
          </p:cNvPr>
          <p:cNvSpPr>
            <a:spLocks noGrp="1"/>
          </p:cNvSpPr>
          <p:nvPr/>
        </p:nvSpPr>
        <p:spPr>
          <a:xfrm>
            <a:off x="9086850" y="3762375"/>
            <a:ext cx="2419350" cy="1238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反馈结果与副作用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6DA9B22-5735-4B8B-B5AF-E64A5BC3AB0A}"/>
              </a:ext>
            </a:extLst>
          </p:cNvPr>
          <p:cNvSpPr>
            <a:spLocks noGrp="1"/>
          </p:cNvSpPr>
          <p:nvPr/>
        </p:nvSpPr>
        <p:spPr>
          <a:xfrm>
            <a:off x="685800" y="5267325"/>
            <a:ext cx="10820400" cy="5048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典型方法预算：约1张H200，约30分钟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44AF7DC-21F4-422C-9E98-677669C16105}"/>
              </a:ext>
            </a:extLst>
          </p:cNvPr>
          <p:cNvSpPr>
            <a:spLocks noGrp="1"/>
          </p:cNvSpPr>
          <p:nvPr/>
        </p:nvSpPr>
        <p:spPr>
          <a:xfrm>
            <a:off x="685800" y="5934075"/>
            <a:ext cx="1082040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基本规则：禁用评测数据，禁止从研究Agent或更强模型蒸馏</a:t>
            </a:r>
          </a:p>
        </p:txBody>
      </p:sp>
    </p:spTree>
    <p:extLst>
      <p:ext uri="{BB962C8B-B14F-4D97-AF65-F5344CB8AC3E}">
        <p14:creationId xmlns:p14="http://schemas.microsoft.com/office/powerpoint/2010/main" val="20745695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23E62EFD-0187-40A2-86F0-72194C8C47FF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二  模型改进  Anthropic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771E9CC-E5A5-425F-AA5C-2721E6D61520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下一次尝试，能读到之前的成功与失败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B94750C-A0C2-487C-94A0-6E03F88D38DF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4E7332A-9660-4F43-9E0A-92351229555F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Chen等, AAR, 2026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DCB5095-30AE-41B5-83E3-89695908AE21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6024C4E-EA1C-4502-AAD6-1797C1C8EDDC}"/>
              </a:ext>
            </a:extLst>
          </p:cNvPr>
          <p:cNvSpPr>
            <a:spLocks noGrp="1"/>
          </p:cNvSpPr>
          <p:nvPr/>
        </p:nvSpPr>
        <p:spPr>
          <a:xfrm>
            <a:off x="685800" y="2609850"/>
            <a:ext cx="3124200" cy="1533525"/>
          </a:xfrm>
          <a:prstGeom prst="rect">
            <a:avLst/>
          </a:prstGeom>
          <a:solidFill>
            <a:srgbClr val="E7EFEB"/>
          </a:solidFill>
          <a:ln w="0">
            <a:noFill/>
          </a:ln>
        </p:spPr>
        <p:txBody>
          <a:bodyPr lIns="171450" tIns="171450" rIns="171450" bIns="171450"/>
          <a:lstStyle>
            <a:def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多个研究Agent</a:t>
            </a:r>
          </a:p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并行探索候选</a:t>
            </a:r>
          </a:p>
        </p:txBody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FF7EBF84-FCEF-4729-87F9-FB3A26AEC14E}"/>
              </a:ext>
            </a:extLst>
          </p:cNvPr>
          <p:cNvSpPr>
            <a:spLocks noGrp="1"/>
          </p:cNvSpPr>
          <p:nvPr/>
        </p:nvSpPr>
        <p:spPr>
          <a:xfrm>
            <a:off x="4067175" y="3248025"/>
            <a:ext cx="609600" cy="228600"/>
          </a:xfrm>
          <a:prstGeom prst="rightArrow">
            <a:avLst/>
          </a:prstGeom>
          <a:solidFill>
            <a:srgbClr val="167F78"/>
          </a:solidFill>
          <a:ln w="0">
            <a:noFill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EF650C5-B70D-4AE4-9C53-79C446B1F4C0}"/>
              </a:ext>
            </a:extLst>
          </p:cNvPr>
          <p:cNvSpPr>
            <a:spLocks noGrp="1"/>
          </p:cNvSpPr>
          <p:nvPr/>
        </p:nvSpPr>
        <p:spPr>
          <a:xfrm>
            <a:off x="4962525" y="2609850"/>
            <a:ext cx="3019425" cy="1533525"/>
          </a:xfrm>
          <a:prstGeom prst="rect">
            <a:avLst/>
          </a:prstGeom>
          <a:solidFill>
            <a:srgbClr val="EFE5DA"/>
          </a:solidFill>
          <a:ln w="0">
            <a:noFill/>
          </a:ln>
        </p:spPr>
        <p:txBody>
          <a:bodyPr lIns="171450" tIns="171450" rIns="171450" bIns="171450"/>
          <a:lstStyle>
            <a:def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共享记录</a:t>
            </a:r>
          </a:p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方法、评分与失败</a:t>
            </a:r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4281939C-4228-4571-9A6A-DB4CED2B042F}"/>
              </a:ext>
            </a:extLst>
          </p:cNvPr>
          <p:cNvSpPr>
            <a:spLocks noGrp="1"/>
          </p:cNvSpPr>
          <p:nvPr/>
        </p:nvSpPr>
        <p:spPr>
          <a:xfrm>
            <a:off x="8239125" y="3248025"/>
            <a:ext cx="609600" cy="228600"/>
          </a:xfrm>
          <a:prstGeom prst="rightArrow">
            <a:avLst/>
          </a:prstGeom>
          <a:solidFill>
            <a:srgbClr val="167F78"/>
          </a:solidFill>
          <a:ln w="0">
            <a:noFill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8EC9B1F-21EA-4A3C-B06B-45846F617080}"/>
              </a:ext>
            </a:extLst>
          </p:cNvPr>
          <p:cNvSpPr>
            <a:spLocks noGrp="1"/>
          </p:cNvSpPr>
          <p:nvPr/>
        </p:nvSpPr>
        <p:spPr>
          <a:xfrm>
            <a:off x="9105900" y="2609850"/>
            <a:ext cx="2400300" cy="1533525"/>
          </a:xfrm>
          <a:prstGeom prst="rect">
            <a:avLst/>
          </a:prstGeom>
          <a:solidFill>
            <a:srgbClr val="E7EFEB"/>
          </a:solidFill>
          <a:ln w="0">
            <a:noFill/>
          </a:ln>
        </p:spPr>
        <p:txBody>
          <a:bodyPr lIns="171450" tIns="171450" rIns="171450" bIns="171450"/>
          <a:lstStyle>
            <a:def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新会话</a:t>
            </a:r>
          </a:p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读取后继续尝试</a:t>
            </a:r>
          </a:p>
        </p:txBody>
      </p:sp>
      <p:sp>
        <p:nvSpPr>
          <p:cNvPr id="11" name="箭头: 左 10">
            <a:extLst>
              <a:ext uri="{FF2B5EF4-FFF2-40B4-BE49-F238E27FC236}">
                <a16:creationId xmlns:a16="http://schemas.microsoft.com/office/drawing/2014/main" id="{01178016-40B5-4FA4-B32C-53B6AD57E952}"/>
              </a:ext>
            </a:extLst>
          </p:cNvPr>
          <p:cNvSpPr>
            <a:spLocks noGrp="1"/>
          </p:cNvSpPr>
          <p:nvPr/>
        </p:nvSpPr>
        <p:spPr>
          <a:xfrm>
            <a:off x="2238375" y="4572000"/>
            <a:ext cx="7715250" cy="228600"/>
          </a:xfrm>
          <a:prstGeom prst="leftArrow">
            <a:avLst/>
          </a:prstGeom>
          <a:solidFill>
            <a:srgbClr val="E7EFEB"/>
          </a:solidFill>
          <a:ln w="0">
            <a:noFill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7600771-0BBF-43E4-8D52-A5891D043D0C}"/>
              </a:ext>
            </a:extLst>
          </p:cNvPr>
          <p:cNvSpPr>
            <a:spLocks noGrp="1"/>
          </p:cNvSpPr>
          <p:nvPr/>
        </p:nvSpPr>
        <p:spPr>
          <a:xfrm>
            <a:off x="685800" y="5238750"/>
            <a:ext cx="10820400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7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7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研究能接续：记忆保存在外部记录中</a:t>
            </a:r>
          </a:p>
        </p:txBody>
      </p:sp>
    </p:spTree>
    <p:extLst>
      <p:ext uri="{BB962C8B-B14F-4D97-AF65-F5344CB8AC3E}">
        <p14:creationId xmlns:p14="http://schemas.microsoft.com/office/powerpoint/2010/main" val="11229399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6200BE9A-7CD3-40B1-AE4B-7BB90A8CFC2B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二  模型改进  Anthropic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0BBBF99-145D-4FCF-AADF-6F189A3384D9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激活引导改变教师的回答倾向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1F0BADF-C557-429B-875C-3E85B7FC5CB3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D21C691-DF55-4132-BAD0-317189CADE32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Chen等, AAR, 2026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0AB4E17-7684-4235-B8AF-C25295EF2FA9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6791CC7-ABCA-4E46-A644-BA932472C423}"/>
              </a:ext>
            </a:extLst>
          </p:cNvPr>
          <p:cNvSpPr>
            <a:spLocks noGrp="1"/>
          </p:cNvSpPr>
          <p:nvPr/>
        </p:nvSpPr>
        <p:spPr>
          <a:xfrm>
            <a:off x="685800" y="2095500"/>
            <a:ext cx="108204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目标：更少迎合错误观点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B888BD6-BCC1-4474-A3F3-57045E9225C1}"/>
              </a:ext>
            </a:extLst>
          </p:cNvPr>
          <p:cNvSpPr>
            <a:spLocks noGrp="1"/>
          </p:cNvSpPr>
          <p:nvPr/>
        </p:nvSpPr>
        <p:spPr>
          <a:xfrm>
            <a:off x="685800" y="3133725"/>
            <a:ext cx="3143250" cy="1200150"/>
          </a:xfrm>
          <a:prstGeom prst="rect">
            <a:avLst/>
          </a:prstGeom>
          <a:solidFill>
            <a:srgbClr val="E7EFEB"/>
          </a:solidFill>
          <a:ln w="0">
            <a:noFill/>
          </a:ln>
        </p:spPr>
        <p:txBody>
          <a:bodyPr lIns="171450" tIns="171450" rIns="171450" bIns="171450"/>
          <a:lstStyle>
            <a:def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原内部表示 h</a:t>
            </a:r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08F3C642-F630-4400-8575-F793F6BB6AD1}"/>
              </a:ext>
            </a:extLst>
          </p:cNvPr>
          <p:cNvSpPr>
            <a:spLocks noGrp="1"/>
          </p:cNvSpPr>
          <p:nvPr/>
        </p:nvSpPr>
        <p:spPr>
          <a:xfrm>
            <a:off x="4095750" y="3619500"/>
            <a:ext cx="609600" cy="228600"/>
          </a:xfrm>
          <a:prstGeom prst="rightArrow">
            <a:avLst/>
          </a:prstGeom>
          <a:solidFill>
            <a:srgbClr val="167F78"/>
          </a:solidFill>
          <a:ln w="0">
            <a:noFill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739473D-A376-4BDE-AC32-908F0547595B}"/>
              </a:ext>
            </a:extLst>
          </p:cNvPr>
          <p:cNvSpPr>
            <a:spLocks noGrp="1"/>
          </p:cNvSpPr>
          <p:nvPr/>
        </p:nvSpPr>
        <p:spPr>
          <a:xfrm>
            <a:off x="4933950" y="3133725"/>
            <a:ext cx="2857500" cy="1200150"/>
          </a:xfrm>
          <a:prstGeom prst="rect">
            <a:avLst/>
          </a:prstGeom>
          <a:solidFill>
            <a:srgbClr val="EFE5DA"/>
          </a:solidFill>
          <a:ln w="0">
            <a:noFill/>
          </a:ln>
        </p:spPr>
        <p:txBody>
          <a:bodyPr lIns="171450" tIns="171450" rIns="171450" bIns="171450"/>
          <a:lstStyle>
            <a:def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方向性干预</a:t>
            </a:r>
          </a:p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h′ = h + αv</a:t>
            </a:r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C99F2A1C-8940-49BD-8896-280FAB135587}"/>
              </a:ext>
            </a:extLst>
          </p:cNvPr>
          <p:cNvSpPr>
            <a:spLocks noGrp="1"/>
          </p:cNvSpPr>
          <p:nvPr/>
        </p:nvSpPr>
        <p:spPr>
          <a:xfrm>
            <a:off x="8067675" y="3619500"/>
            <a:ext cx="609600" cy="228600"/>
          </a:xfrm>
          <a:prstGeom prst="rightArrow">
            <a:avLst/>
          </a:prstGeom>
          <a:solidFill>
            <a:srgbClr val="167F78"/>
          </a:solidFill>
          <a:ln w="0">
            <a:noFill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00BD302-4714-40F8-B597-20EE41655E66}"/>
              </a:ext>
            </a:extLst>
          </p:cNvPr>
          <p:cNvSpPr>
            <a:spLocks noGrp="1"/>
          </p:cNvSpPr>
          <p:nvPr/>
        </p:nvSpPr>
        <p:spPr>
          <a:xfrm>
            <a:off x="8886825" y="3133725"/>
            <a:ext cx="2619375" cy="1200150"/>
          </a:xfrm>
          <a:prstGeom prst="rect">
            <a:avLst/>
          </a:prstGeom>
          <a:solidFill>
            <a:srgbClr val="E7EFEB"/>
          </a:solidFill>
          <a:ln w="0">
            <a:noFill/>
          </a:ln>
        </p:spPr>
        <p:txBody>
          <a:bodyPr lIns="171450" tIns="171450" rIns="171450" bIns="171450"/>
          <a:lstStyle>
            <a:def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引导后的教师</a:t>
            </a:r>
          </a:p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输出倾向改变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CFDDBFD-7CAA-4CE4-8AA8-57E9A35C6A63}"/>
              </a:ext>
            </a:extLst>
          </p:cNvPr>
          <p:cNvSpPr>
            <a:spLocks noGrp="1"/>
          </p:cNvSpPr>
          <p:nvPr/>
        </p:nvSpPr>
        <p:spPr>
          <a:xfrm>
            <a:off x="685800" y="5048250"/>
            <a:ext cx="10820400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7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7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推理时的临时改变，怎样保留下来？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0680BBC-97A2-4953-B086-C1C31F2450A1}"/>
              </a:ext>
            </a:extLst>
          </p:cNvPr>
          <p:cNvSpPr>
            <a:spLocks noGrp="1"/>
          </p:cNvSpPr>
          <p:nvPr/>
        </p:nvSpPr>
        <p:spPr>
          <a:xfrm>
            <a:off x="685800" y="5876925"/>
            <a:ext cx="1082040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h′公式为一般教学示意，方向与强度取决于具体方法</a:t>
            </a:r>
          </a:p>
        </p:txBody>
      </p:sp>
    </p:spTree>
    <p:extLst>
      <p:ext uri="{BB962C8B-B14F-4D97-AF65-F5344CB8AC3E}">
        <p14:creationId xmlns:p14="http://schemas.microsoft.com/office/powerpoint/2010/main" val="10796851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4CFF09DD-3A24-4B91-AFA5-CE5655D6F875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二  模型改进  Anthropic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A2CF29F-9C26-496A-A9DC-0270B898042F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蒸馏训练把行为变化写进学生权重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6228656-7718-4342-A2E8-1BFC6AE69399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934F8F0-E086-4317-9105-0987EDB6DDD1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Chen等, AAR, 2026；App. D.4；机制教学示意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1D2A578-3C11-4941-80BD-74842671A545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8AA9D39-0E85-4E4F-BEBE-6A13F5EF1B9B}"/>
              </a:ext>
            </a:extLst>
          </p:cNvPr>
          <p:cNvSpPr>
            <a:spLocks noGrp="1"/>
          </p:cNvSpPr>
          <p:nvPr/>
        </p:nvSpPr>
        <p:spPr>
          <a:xfrm>
            <a:off x="685800" y="2409825"/>
            <a:ext cx="3238500" cy="1000125"/>
          </a:xfrm>
          <a:prstGeom prst="rect">
            <a:avLst/>
          </a:prstGeom>
          <a:solidFill>
            <a:srgbClr val="E7EFEB"/>
          </a:solidFill>
          <a:ln w="0">
            <a:noFill/>
          </a:ln>
        </p:spPr>
        <p:txBody>
          <a:bodyPr lIns="171450" tIns="171450" rIns="171450" bIns="171450"/>
          <a:lstStyle>
            <a:defPPr>
              <a:defRPr sz="210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0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教师分布 pT</a:t>
            </a:r>
          </a:p>
          <a:p>
            <a:pPr>
              <a:defRPr sz="210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目标模型的引导版本</a:t>
            </a:r>
          </a:p>
        </p:txBody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C1C6A594-39F1-435A-8FF4-ABD80BAAB655}"/>
              </a:ext>
            </a:extLst>
          </p:cNvPr>
          <p:cNvSpPr>
            <a:spLocks noGrp="1"/>
          </p:cNvSpPr>
          <p:nvPr/>
        </p:nvSpPr>
        <p:spPr>
          <a:xfrm>
            <a:off x="4191000" y="2905125"/>
            <a:ext cx="609600" cy="228600"/>
          </a:xfrm>
          <a:prstGeom prst="rightArrow">
            <a:avLst/>
          </a:prstGeom>
          <a:solidFill>
            <a:srgbClr val="167F78"/>
          </a:solidFill>
          <a:ln w="0">
            <a:noFill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D2D38ED-BDAF-4B36-9F41-F9FB751FDA36}"/>
              </a:ext>
            </a:extLst>
          </p:cNvPr>
          <p:cNvSpPr>
            <a:spLocks noGrp="1"/>
          </p:cNvSpPr>
          <p:nvPr/>
        </p:nvSpPr>
        <p:spPr>
          <a:xfrm>
            <a:off x="685800" y="4105275"/>
            <a:ext cx="3238500" cy="1000125"/>
          </a:xfrm>
          <a:prstGeom prst="rect">
            <a:avLst/>
          </a:prstGeom>
          <a:solidFill>
            <a:srgbClr val="E7EFEB"/>
          </a:solidFill>
          <a:ln w="0">
            <a:noFill/>
          </a:ln>
        </p:spPr>
        <p:txBody>
          <a:bodyPr lIns="171450" tIns="171450" rIns="171450" bIns="171450"/>
          <a:lstStyle>
            <a:defPPr>
              <a:defRPr sz="210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0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学生分布 pθ</a:t>
            </a:r>
          </a:p>
          <a:p>
            <a:pPr>
              <a:defRPr sz="210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训练前的学生</a:t>
            </a:r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D530EE54-33F2-47F0-9D68-A6C579A04362}"/>
              </a:ext>
            </a:extLst>
          </p:cNvPr>
          <p:cNvSpPr>
            <a:spLocks noGrp="1"/>
          </p:cNvSpPr>
          <p:nvPr/>
        </p:nvSpPr>
        <p:spPr>
          <a:xfrm>
            <a:off x="4191000" y="4581525"/>
            <a:ext cx="609600" cy="228600"/>
          </a:xfrm>
          <a:prstGeom prst="rightArrow">
            <a:avLst/>
          </a:prstGeom>
          <a:solidFill>
            <a:srgbClr val="167F78"/>
          </a:solidFill>
          <a:ln w="0">
            <a:noFill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4E352D4-8BB8-4E87-9B32-34F47977C2C3}"/>
              </a:ext>
            </a:extLst>
          </p:cNvPr>
          <p:cNvSpPr>
            <a:spLocks noGrp="1"/>
          </p:cNvSpPr>
          <p:nvPr/>
        </p:nvSpPr>
        <p:spPr>
          <a:xfrm>
            <a:off x="5076825" y="2533650"/>
            <a:ext cx="2905125" cy="2571750"/>
          </a:xfrm>
          <a:prstGeom prst="rect">
            <a:avLst/>
          </a:prstGeom>
          <a:solidFill>
            <a:srgbClr val="E7EFEB"/>
          </a:solidFill>
          <a:ln w="0">
            <a:noFill/>
          </a:ln>
        </p:spPr>
        <p:txBody>
          <a:bodyPr lIns="171450" tIns="171450" rIns="171450" bIns="171450"/>
          <a:lstStyle>
            <a:def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比较输出分布</a:t>
            </a:r>
          </a:p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KL训练目标</a:t>
            </a:r>
          </a:p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更新学生权重</a:t>
            </a:r>
          </a:p>
        </p:txBody>
      </p:sp>
      <p:sp>
        <p:nvSpPr>
          <p:cNvPr id="11" name="箭头: 右 10">
            <a:extLst>
              <a:ext uri="{FF2B5EF4-FFF2-40B4-BE49-F238E27FC236}">
                <a16:creationId xmlns:a16="http://schemas.microsoft.com/office/drawing/2014/main" id="{C9298F98-6FAD-478D-A633-8206E36148FE}"/>
              </a:ext>
            </a:extLst>
          </p:cNvPr>
          <p:cNvSpPr>
            <a:spLocks noGrp="1"/>
          </p:cNvSpPr>
          <p:nvPr/>
        </p:nvSpPr>
        <p:spPr>
          <a:xfrm>
            <a:off x="8248650" y="3705225"/>
            <a:ext cx="609600" cy="228600"/>
          </a:xfrm>
          <a:prstGeom prst="rightArrow">
            <a:avLst/>
          </a:prstGeom>
          <a:solidFill>
            <a:srgbClr val="167F78"/>
          </a:solidFill>
          <a:ln w="0">
            <a:noFill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93BBAD3-0375-4A95-BFB6-AE559DBCE361}"/>
              </a:ext>
            </a:extLst>
          </p:cNvPr>
          <p:cNvSpPr>
            <a:spLocks noGrp="1"/>
          </p:cNvSpPr>
          <p:nvPr/>
        </p:nvSpPr>
        <p:spPr>
          <a:xfrm>
            <a:off x="9210675" y="3162300"/>
            <a:ext cx="2295525" cy="1333500"/>
          </a:xfrm>
          <a:prstGeom prst="rect">
            <a:avLst/>
          </a:prstGeom>
          <a:solidFill>
            <a:srgbClr val="E7EFEB"/>
          </a:solidFill>
          <a:ln w="0">
            <a:noFill/>
          </a:ln>
        </p:spPr>
        <p:txBody>
          <a:bodyPr lIns="171450" tIns="171450" rIns="171450" bIns="171450"/>
          <a:lstStyle>
            <a:def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正常推理</a:t>
            </a:r>
          </a:p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外部评测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644D037-3067-4239-88DB-844057EA5FBD}"/>
              </a:ext>
            </a:extLst>
          </p:cNvPr>
          <p:cNvSpPr>
            <a:spLocks noGrp="1"/>
          </p:cNvSpPr>
          <p:nvPr/>
        </p:nvSpPr>
        <p:spPr>
          <a:xfrm>
            <a:off x="685800" y="5314950"/>
            <a:ext cx="108204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分布差异成为训练信号，参数更新发生在学生模型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320BA1A-59DC-4D20-AB81-C05B8E404EA1}"/>
              </a:ext>
            </a:extLst>
          </p:cNvPr>
          <p:cNvSpPr>
            <a:spLocks noGrp="1"/>
          </p:cNvSpPr>
          <p:nvPr/>
        </p:nvSpPr>
        <p:spPr>
          <a:xfrm>
            <a:off x="685800" y="6000750"/>
            <a:ext cx="108204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7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KL方向和完整配方由具体方法定义，此图不指定超参数</a:t>
            </a:r>
          </a:p>
        </p:txBody>
      </p:sp>
      <p:pic>
        <p:nvPicPr>
          <p:cNvPr id="16" name="MechanismTeachingVideo">
            <a:hlinkClick action="ppaction://media"/>
            <a:extLst>
              <a:ext uri="{FF2B5EF4-FFF2-40B4-BE49-F238E27FC236}">
                <a16:creationId xmlns:a16="http://schemas.microsoft.com/office/drawing/2014/main" id="{C2365EF2-6B3C-A32A-D8DA-3D83BEBD5EC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2234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8000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87D31E0F-A1F5-4DAE-9D09-E6F53CC1690C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二  模型改进  Anthropic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335E5E0-9214-4097-A72B-C6459FCFABE5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改善空间：先弄清百分数的分母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8A74564-FB44-4714-AA3A-890FB02144B5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EEA57F5-A04E-40CF-BB66-E43147C585E2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Chen等, AAR, 2026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7346EAD-20DF-46F4-920E-3665D4562F87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A693EAE-854E-452E-86B8-40F00B7C3132}"/>
              </a:ext>
            </a:extLst>
          </p:cNvPr>
          <p:cNvSpPr>
            <a:spLocks noGrp="1"/>
          </p:cNvSpPr>
          <p:nvPr/>
        </p:nvSpPr>
        <p:spPr>
          <a:xfrm>
            <a:off x="685800" y="2238375"/>
            <a:ext cx="3057525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基线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F54E329-77A5-4D31-8274-21F2DEC9A6BB}"/>
              </a:ext>
            </a:extLst>
          </p:cNvPr>
          <p:cNvSpPr>
            <a:spLocks noGrp="1"/>
          </p:cNvSpPr>
          <p:nvPr/>
        </p:nvSpPr>
        <p:spPr>
          <a:xfrm>
            <a:off x="685800" y="2800350"/>
            <a:ext cx="3057525" cy="1095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61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61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50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763402B-DAAA-4D43-89B6-641A680F8240}"/>
              </a:ext>
            </a:extLst>
          </p:cNvPr>
          <p:cNvSpPr>
            <a:spLocks noGrp="1"/>
          </p:cNvSpPr>
          <p:nvPr/>
        </p:nvSpPr>
        <p:spPr>
          <a:xfrm>
            <a:off x="4562475" y="2238375"/>
            <a:ext cx="3057525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训练后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B888B41-619D-4F77-9469-2517608752AA}"/>
              </a:ext>
            </a:extLst>
          </p:cNvPr>
          <p:cNvSpPr>
            <a:spLocks noGrp="1"/>
          </p:cNvSpPr>
          <p:nvPr/>
        </p:nvSpPr>
        <p:spPr>
          <a:xfrm>
            <a:off x="4562475" y="2800350"/>
            <a:ext cx="3057525" cy="1095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61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61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70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23E54CF-229D-4D96-B497-4E543930FBD5}"/>
              </a:ext>
            </a:extLst>
          </p:cNvPr>
          <p:cNvSpPr>
            <a:spLocks noGrp="1"/>
          </p:cNvSpPr>
          <p:nvPr/>
        </p:nvSpPr>
        <p:spPr>
          <a:xfrm>
            <a:off x="8439150" y="2238375"/>
            <a:ext cx="3057525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该指标最优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2176C59-A91D-4ED1-ADFF-14C2E6F70E94}"/>
              </a:ext>
            </a:extLst>
          </p:cNvPr>
          <p:cNvSpPr>
            <a:spLocks noGrp="1"/>
          </p:cNvSpPr>
          <p:nvPr/>
        </p:nvSpPr>
        <p:spPr>
          <a:xfrm>
            <a:off x="8439150" y="2800350"/>
            <a:ext cx="3057525" cy="1095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61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61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100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900AD34-2BDE-4943-A02A-5615944DE173}"/>
              </a:ext>
            </a:extLst>
          </p:cNvPr>
          <p:cNvSpPr>
            <a:spLocks noGrp="1"/>
          </p:cNvSpPr>
          <p:nvPr/>
        </p:nvSpPr>
        <p:spPr>
          <a:xfrm>
            <a:off x="685800" y="4105275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2909621-BA64-4803-A56A-CD0EC4F9FD9A}"/>
              </a:ext>
            </a:extLst>
          </p:cNvPr>
          <p:cNvSpPr>
            <a:spLocks noGrp="1"/>
          </p:cNvSpPr>
          <p:nvPr/>
        </p:nvSpPr>
        <p:spPr>
          <a:xfrm>
            <a:off x="685800" y="4514850"/>
            <a:ext cx="4286250" cy="561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5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5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关闭的改善空间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29E1806-C124-497B-B636-F4E12045105A}"/>
              </a:ext>
            </a:extLst>
          </p:cNvPr>
          <p:cNvSpPr>
            <a:spLocks noGrp="1"/>
          </p:cNvSpPr>
          <p:nvPr/>
        </p:nvSpPr>
        <p:spPr>
          <a:xfrm>
            <a:off x="4981575" y="4505325"/>
            <a:ext cx="6524625" cy="828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0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(70 − 50) / (100 − 50) = 40%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421F3D9-DF42-4B57-A0D1-98EE4BEE1F16}"/>
              </a:ext>
            </a:extLst>
          </p:cNvPr>
          <p:cNvSpPr>
            <a:spLocks noGrp="1"/>
          </p:cNvSpPr>
          <p:nvPr/>
        </p:nvSpPr>
        <p:spPr>
          <a:xfrm>
            <a:off x="685800" y="5734050"/>
            <a:ext cx="108204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50、70、100是教学数值，40%不是论文结果</a:t>
            </a:r>
          </a:p>
        </p:txBody>
      </p:sp>
    </p:spTree>
    <p:extLst>
      <p:ext uri="{BB962C8B-B14F-4D97-AF65-F5344CB8AC3E}">
        <p14:creationId xmlns:p14="http://schemas.microsoft.com/office/powerpoint/2010/main" val="20945929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EB54773-CFF4-4389-B0E1-BB67FE461A30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二  模型改进  Anthropic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7C0976C-0F3C-4553-A49C-39D719CEF3BD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同一案例中，不受限方法搜索取得更大改善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D5EB309-F956-4165-B5A6-97A2070B41F7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AF840BD-1B52-454F-8F07-A947442A6052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Chen等, AAR, 2026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432CCB8-0153-4037-8218-39A76EDBF3A0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10C7869-7EEB-4D3F-9BB6-928388453505}"/>
              </a:ext>
            </a:extLst>
          </p:cNvPr>
          <p:cNvSpPr>
            <a:spLocks noGrp="1"/>
          </p:cNvSpPr>
          <p:nvPr/>
        </p:nvSpPr>
        <p:spPr>
          <a:xfrm>
            <a:off x="685800" y="2095500"/>
            <a:ext cx="108204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Qwen3.5-2B谄媚任务：前150个已评分方法</a:t>
            </a:r>
          </a:p>
        </p:txBody>
      </p:sp>
      <p:graphicFrame>
        <p:nvGraphicFramePr>
          <p:cNvPr id="7" name="Chart">
            <a:extLst>
              <a:ext uri="{FF2B5EF4-FFF2-40B4-BE49-F238E27FC236}">
                <a16:creationId xmlns:a16="http://schemas.microsoft.com/office/drawing/2014/main" id="{64A42C5A-09EE-4886-8ACD-B7A3E4D1DF34}"/>
              </a:ext>
            </a:extLst>
          </p:cNvPr>
          <p:cNvGraphicFramePr/>
          <p:nvPr/>
        </p:nvGraphicFramePr>
        <p:xfrm>
          <a:off x="685800" y="2667000"/>
          <a:ext cx="7019925" cy="3086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713A0831-7555-46E6-98EF-84DF61636419}"/>
              </a:ext>
            </a:extLst>
          </p:cNvPr>
          <p:cNvSpPr>
            <a:spLocks noGrp="1"/>
          </p:cNvSpPr>
          <p:nvPr/>
        </p:nvSpPr>
        <p:spPr>
          <a:xfrm>
            <a:off x="8172450" y="2914650"/>
            <a:ext cx="3333750" cy="1095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比较搜索条件</a:t>
            </a:r>
          </a:p>
          <a:p>
            <a:pPr>
              <a:defRPr sz="24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允许的方法不同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D7E6526-1DD4-4DC9-8961-FE90AA3D2AE6}"/>
              </a:ext>
            </a:extLst>
          </p:cNvPr>
          <p:cNvSpPr>
            <a:spLocks noGrp="1"/>
          </p:cNvSpPr>
          <p:nvPr/>
        </p:nvSpPr>
        <p:spPr>
          <a:xfrm>
            <a:off x="8172450" y="4552950"/>
            <a:ext cx="3333750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每条件一次运行</a:t>
            </a:r>
          </a:p>
          <a:p>
            <a:pPr>
              <a:def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爬坡评测套件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6E326A1-00C3-4B9B-9F7D-BF0CCD635CB6}"/>
              </a:ext>
            </a:extLst>
          </p:cNvPr>
          <p:cNvSpPr>
            <a:spLocks noGrp="1"/>
          </p:cNvSpPr>
          <p:nvPr/>
        </p:nvSpPr>
        <p:spPr>
          <a:xfrm>
            <a:off x="685800" y="5934075"/>
            <a:ext cx="1082040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7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横轴：改善空间关闭比例；选取[4] Fig.20中的三项比较</a:t>
            </a:r>
          </a:p>
        </p:txBody>
      </p:sp>
    </p:spTree>
    <p:extLst>
      <p:ext uri="{BB962C8B-B14F-4D97-AF65-F5344CB8AC3E}">
        <p14:creationId xmlns:p14="http://schemas.microsoft.com/office/powerpoint/2010/main" val="12979811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4FA63FED-C449-465B-9F38-D91FA529DDB8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三  研发流程  OpenAI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60B110D-C84B-4789-999A-C75980B8EA0D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另一项任务：把发布前评测跑清楚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1EC4950-EC74-48D4-93C8-7748E446B301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C3DC422-BBF7-426C-8829-983318A8261A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[5] Lewi, Codex评测, 2026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51623AA-42F6-41E5-A236-5E306F4BE603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E335304-A556-4B99-AE0C-1A761B9988B6}"/>
              </a:ext>
            </a:extLst>
          </p:cNvPr>
          <p:cNvSpPr>
            <a:spLocks noGrp="1"/>
          </p:cNvSpPr>
          <p:nvPr/>
        </p:nvSpPr>
        <p:spPr>
          <a:xfrm>
            <a:off x="685800" y="2171700"/>
            <a:ext cx="10820400" cy="828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0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发布前，怎样检查模型是否达到要求？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7DAB7A6-2672-45D7-BE71-C7DC7123FF60}"/>
              </a:ext>
            </a:extLst>
          </p:cNvPr>
          <p:cNvSpPr>
            <a:spLocks noGrp="1"/>
          </p:cNvSpPr>
          <p:nvPr/>
        </p:nvSpPr>
        <p:spPr>
          <a:xfrm>
            <a:off x="685800" y="3333750"/>
            <a:ext cx="30289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研究员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8B2525B-9161-4D64-B313-8E323EEEBC18}"/>
              </a:ext>
            </a:extLst>
          </p:cNvPr>
          <p:cNvSpPr>
            <a:spLocks noGrp="1"/>
          </p:cNvSpPr>
          <p:nvPr/>
        </p:nvSpPr>
        <p:spPr>
          <a:xfrm>
            <a:off x="4095750" y="3333750"/>
            <a:ext cx="74104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确定本次评测目标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096B346-8754-4459-88C8-A61FAF8FE98B}"/>
              </a:ext>
            </a:extLst>
          </p:cNvPr>
          <p:cNvSpPr>
            <a:spLocks noGrp="1"/>
          </p:cNvSpPr>
          <p:nvPr/>
        </p:nvSpPr>
        <p:spPr>
          <a:xfrm>
            <a:off x="685800" y="4238625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FC0AFEB-9154-41D3-BC97-A80FEB252F97}"/>
              </a:ext>
            </a:extLst>
          </p:cNvPr>
          <p:cNvSpPr>
            <a:spLocks noGrp="1"/>
          </p:cNvSpPr>
          <p:nvPr/>
        </p:nvSpPr>
        <p:spPr>
          <a:xfrm>
            <a:off x="685800" y="4533900"/>
            <a:ext cx="30289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Codex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E54AF22-D656-44DF-A8D5-6F15CFCC71D9}"/>
              </a:ext>
            </a:extLst>
          </p:cNvPr>
          <p:cNvSpPr>
            <a:spLocks noGrp="1"/>
          </p:cNvSpPr>
          <p:nvPr/>
        </p:nvSpPr>
        <p:spPr>
          <a:xfrm>
            <a:off x="4095750" y="4533900"/>
            <a:ext cx="74104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找工具、写命令、检查结果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D967CED-006D-45CA-A25D-8477F5E1D306}"/>
              </a:ext>
            </a:extLst>
          </p:cNvPr>
          <p:cNvSpPr>
            <a:spLocks noGrp="1"/>
          </p:cNvSpPr>
          <p:nvPr/>
        </p:nvSpPr>
        <p:spPr>
          <a:xfrm>
            <a:off x="685800" y="5438775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21227017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45F2FBA8-A792-4248-96DA-E9EBDE6B8541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三  研发流程  OpenAI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ACCF1B3-9661-4F08-A727-C65C0E6950E7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执行之前，研究员先审阅计划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9CF503C-2358-4B4F-96FA-B712C89B84F5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8DB2718-4B40-4D05-AB09-2AEC1A7C0CF2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[5] Lewi, Codex评测, 2026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AF0BEA7-14DA-4BE9-8EAF-810B62DA5951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FFB2371-F735-4474-9873-8D637093DA43}"/>
              </a:ext>
            </a:extLst>
          </p:cNvPr>
          <p:cNvSpPr>
            <a:spLocks noGrp="1"/>
          </p:cNvSpPr>
          <p:nvPr/>
        </p:nvSpPr>
        <p:spPr>
          <a:xfrm>
            <a:off x="685800" y="2181225"/>
            <a:ext cx="108204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作者给Codex的要求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11D957E-B89A-45EA-9736-EE18B003673A}"/>
              </a:ext>
            </a:extLst>
          </p:cNvPr>
          <p:cNvSpPr>
            <a:spLocks noGrp="1"/>
          </p:cNvSpPr>
          <p:nvPr/>
        </p:nvSpPr>
        <p:spPr>
          <a:xfrm>
            <a:off x="685800" y="2886075"/>
            <a:ext cx="10820400" cy="1457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2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2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“Wait for me to review and approve</a:t>
            </a:r>
          </a:p>
          <a:p>
            <a:pPr>
              <a:defRPr sz="32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the plan before beginning.”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AB9892B-4B5B-4E8B-944C-A8AABD00C85B}"/>
              </a:ext>
            </a:extLst>
          </p:cNvPr>
          <p:cNvSpPr>
            <a:spLocks noGrp="1"/>
          </p:cNvSpPr>
          <p:nvPr/>
        </p:nvSpPr>
        <p:spPr>
          <a:xfrm>
            <a:off x="685800" y="461010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FC3AC43-939F-4E42-A92A-763C830E8CC1}"/>
              </a:ext>
            </a:extLst>
          </p:cNvPr>
          <p:cNvSpPr>
            <a:spLocks noGrp="1"/>
          </p:cNvSpPr>
          <p:nvPr/>
        </p:nvSpPr>
        <p:spPr>
          <a:xfrm>
            <a:off x="685800" y="5133975"/>
            <a:ext cx="323850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目标与旧记录</a:t>
            </a:r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A15777F8-6039-4027-A96E-B4C4B5232CF3}"/>
              </a:ext>
            </a:extLst>
          </p:cNvPr>
          <p:cNvSpPr>
            <a:spLocks noGrp="1"/>
          </p:cNvSpPr>
          <p:nvPr/>
        </p:nvSpPr>
        <p:spPr>
          <a:xfrm>
            <a:off x="3914775" y="5248275"/>
            <a:ext cx="523875" cy="228600"/>
          </a:xfrm>
          <a:prstGeom prst="rightArrow">
            <a:avLst/>
          </a:prstGeom>
          <a:solidFill>
            <a:srgbClr val="167F78"/>
          </a:solidFill>
          <a:ln w="0">
            <a:noFill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DA1E4E9-0CB0-4BD0-A561-39831B60F844}"/>
              </a:ext>
            </a:extLst>
          </p:cNvPr>
          <p:cNvSpPr>
            <a:spLocks noGrp="1"/>
          </p:cNvSpPr>
          <p:nvPr/>
        </p:nvSpPr>
        <p:spPr>
          <a:xfrm>
            <a:off x="4686300" y="5133975"/>
            <a:ext cx="310515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Codex拟计划</a:t>
            </a:r>
          </a:p>
        </p:txBody>
      </p:sp>
      <p:sp>
        <p:nvSpPr>
          <p:cNvPr id="12" name="箭头: 右 11">
            <a:extLst>
              <a:ext uri="{FF2B5EF4-FFF2-40B4-BE49-F238E27FC236}">
                <a16:creationId xmlns:a16="http://schemas.microsoft.com/office/drawing/2014/main" id="{680DCD18-00D6-4ED1-B85B-5CBA10D2A112}"/>
              </a:ext>
            </a:extLst>
          </p:cNvPr>
          <p:cNvSpPr>
            <a:spLocks noGrp="1"/>
          </p:cNvSpPr>
          <p:nvPr/>
        </p:nvSpPr>
        <p:spPr>
          <a:xfrm>
            <a:off x="7858125" y="5248275"/>
            <a:ext cx="523875" cy="228600"/>
          </a:xfrm>
          <a:prstGeom prst="rightArrow">
            <a:avLst/>
          </a:prstGeom>
          <a:solidFill>
            <a:srgbClr val="167F78"/>
          </a:solidFill>
          <a:ln w="0">
            <a:noFill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CEFA1D7-CB44-4F7C-80A0-13E18DD1B9AC}"/>
              </a:ext>
            </a:extLst>
          </p:cNvPr>
          <p:cNvSpPr>
            <a:spLocks noGrp="1"/>
          </p:cNvSpPr>
          <p:nvPr/>
        </p:nvSpPr>
        <p:spPr>
          <a:xfrm>
            <a:off x="8667750" y="5133975"/>
            <a:ext cx="283845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人审阅后执行</a:t>
            </a:r>
          </a:p>
        </p:txBody>
      </p:sp>
    </p:spTree>
    <p:extLst>
      <p:ext uri="{BB962C8B-B14F-4D97-AF65-F5344CB8AC3E}">
        <p14:creationId xmlns:p14="http://schemas.microsoft.com/office/powerpoint/2010/main" val="10912783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943FC82F-F5B9-4897-88AA-97C298D38414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三  研发流程  OpenAI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8B3D6F7-F28A-4796-9A3C-27CAD7444D51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Runme让下一次任务能接着做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135E8AB-A9CE-41E5-A023-D461EFA54237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F20DBC8-D06B-4AB1-94C6-AF3209F72741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[5] Lewi, Codex评测, 2026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74EE425-586B-43A3-806F-AA664E900BE5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BD226D2-A778-4206-A500-7E50EFFF750E}"/>
              </a:ext>
            </a:extLst>
          </p:cNvPr>
          <p:cNvSpPr>
            <a:spLocks noGrp="1"/>
          </p:cNvSpPr>
          <p:nvPr/>
        </p:nvSpPr>
        <p:spPr>
          <a:xfrm>
            <a:off x="685800" y="2181225"/>
            <a:ext cx="42862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0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Runme笔记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2FEDFA5-B253-425C-A33F-1BABDF4E155F}"/>
              </a:ext>
            </a:extLst>
          </p:cNvPr>
          <p:cNvSpPr>
            <a:spLocks noGrp="1"/>
          </p:cNvSpPr>
          <p:nvPr/>
        </p:nvSpPr>
        <p:spPr>
          <a:xfrm>
            <a:off x="685800" y="3076575"/>
            <a:ext cx="30289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目标与计划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EDF6F16-0BAC-440A-9E58-B9C88CD8096C}"/>
              </a:ext>
            </a:extLst>
          </p:cNvPr>
          <p:cNvSpPr>
            <a:spLocks noGrp="1"/>
          </p:cNvSpPr>
          <p:nvPr/>
        </p:nvSpPr>
        <p:spPr>
          <a:xfrm>
            <a:off x="4095750" y="3076575"/>
            <a:ext cx="74104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为什么做，准备怎样做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0D99E31-62B5-4941-B8E4-679B55D3238E}"/>
              </a:ext>
            </a:extLst>
          </p:cNvPr>
          <p:cNvSpPr>
            <a:spLocks noGrp="1"/>
          </p:cNvSpPr>
          <p:nvPr/>
        </p:nvSpPr>
        <p:spPr>
          <a:xfrm>
            <a:off x="685800" y="39814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A37FC39-8917-4CAC-B518-F5330FD67D0D}"/>
              </a:ext>
            </a:extLst>
          </p:cNvPr>
          <p:cNvSpPr>
            <a:spLocks noGrp="1"/>
          </p:cNvSpPr>
          <p:nvPr/>
        </p:nvSpPr>
        <p:spPr>
          <a:xfrm>
            <a:off x="685800" y="4181475"/>
            <a:ext cx="30289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命令与输出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3731F68-FED5-4118-9B27-AC021B975CD4}"/>
              </a:ext>
            </a:extLst>
          </p:cNvPr>
          <p:cNvSpPr>
            <a:spLocks noGrp="1"/>
          </p:cNvSpPr>
          <p:nvPr/>
        </p:nvSpPr>
        <p:spPr>
          <a:xfrm>
            <a:off x="4095750" y="4181475"/>
            <a:ext cx="74104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实际做了什么，发生了什么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5601BA7-EDE7-4B67-AA4A-81C9A269EE97}"/>
              </a:ext>
            </a:extLst>
          </p:cNvPr>
          <p:cNvSpPr>
            <a:spLocks noGrp="1"/>
          </p:cNvSpPr>
          <p:nvPr/>
        </p:nvSpPr>
        <p:spPr>
          <a:xfrm>
            <a:off x="685800" y="50863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FAC256-BE02-4AB6-AF73-B10D47C71412}"/>
              </a:ext>
            </a:extLst>
          </p:cNvPr>
          <p:cNvSpPr>
            <a:spLocks noGrp="1"/>
          </p:cNvSpPr>
          <p:nvPr/>
        </p:nvSpPr>
        <p:spPr>
          <a:xfrm>
            <a:off x="685800" y="5334000"/>
            <a:ext cx="302895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解释与取舍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35E97D4-BEBB-4FC7-87FF-DB349798E59E}"/>
              </a:ext>
            </a:extLst>
          </p:cNvPr>
          <p:cNvSpPr>
            <a:spLocks noGrp="1"/>
          </p:cNvSpPr>
          <p:nvPr/>
        </p:nvSpPr>
        <p:spPr>
          <a:xfrm>
            <a:off x="4095750" y="5334000"/>
            <a:ext cx="7410450" cy="742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下一次任务可以读取判断依据</a:t>
            </a:r>
          </a:p>
        </p:txBody>
      </p:sp>
    </p:spTree>
    <p:extLst>
      <p:ext uri="{BB962C8B-B14F-4D97-AF65-F5344CB8AC3E}">
        <p14:creationId xmlns:p14="http://schemas.microsoft.com/office/powerpoint/2010/main" val="4403173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19E44BBC-07CE-4766-A9DD-F164852F6322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三  其他研发对象  Google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DACDA10-B100-4499-9879-EAEC3AB90B2F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AlphaEvolve把程序候选交给自动评测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0D4854-6B1A-499E-9C0F-1CD0428F5FD4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7434678-4CFF-4A19-BDDD-953FE32A571D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[6] AlphaEvolve, 2025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7D88EF0-01D0-4FDE-A049-ABCA236C7A3E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5DEA16D-C909-453A-B9EA-9D6228069A9B}"/>
              </a:ext>
            </a:extLst>
          </p:cNvPr>
          <p:cNvSpPr>
            <a:spLocks noGrp="1"/>
          </p:cNvSpPr>
          <p:nvPr/>
        </p:nvSpPr>
        <p:spPr>
          <a:xfrm>
            <a:off x="685800" y="2686050"/>
            <a:ext cx="3048000" cy="1419225"/>
          </a:xfrm>
          <a:prstGeom prst="rect">
            <a:avLst/>
          </a:prstGeom>
          <a:solidFill>
            <a:srgbClr val="E7EFEB"/>
          </a:solidFill>
          <a:ln w="0">
            <a:noFill/>
          </a:ln>
        </p:spPr>
        <p:txBody>
          <a:bodyPr lIns="171450" tIns="171450" rIns="171450" bIns="171450"/>
          <a:lstStyle>
            <a:def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Gemini</a:t>
            </a:r>
          </a:p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提出程序候选</a:t>
            </a:r>
          </a:p>
        </p:txBody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6315ADD2-7CD1-4B92-B088-1460F5C932F1}"/>
              </a:ext>
            </a:extLst>
          </p:cNvPr>
          <p:cNvSpPr>
            <a:spLocks noGrp="1"/>
          </p:cNvSpPr>
          <p:nvPr/>
        </p:nvSpPr>
        <p:spPr>
          <a:xfrm>
            <a:off x="4000500" y="3267075"/>
            <a:ext cx="609600" cy="228600"/>
          </a:xfrm>
          <a:prstGeom prst="rightArrow">
            <a:avLst/>
          </a:prstGeom>
          <a:solidFill>
            <a:srgbClr val="167F78"/>
          </a:solidFill>
          <a:ln w="0">
            <a:noFill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D61E589-02CC-45D0-9032-9EBD156F81E7}"/>
              </a:ext>
            </a:extLst>
          </p:cNvPr>
          <p:cNvSpPr>
            <a:spLocks noGrp="1"/>
          </p:cNvSpPr>
          <p:nvPr/>
        </p:nvSpPr>
        <p:spPr>
          <a:xfrm>
            <a:off x="4933950" y="2686050"/>
            <a:ext cx="2952750" cy="1419225"/>
          </a:xfrm>
          <a:prstGeom prst="rect">
            <a:avLst/>
          </a:prstGeom>
          <a:solidFill>
            <a:srgbClr val="EFE5DA"/>
          </a:solidFill>
          <a:ln w="0">
            <a:noFill/>
          </a:ln>
        </p:spPr>
        <p:txBody>
          <a:bodyPr lIns="171450" tIns="171450" rIns="171450" bIns="171450"/>
          <a:lstStyle>
            <a:def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执行与评测</a:t>
            </a:r>
          </a:p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正确性、性能</a:t>
            </a:r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81AE2F2B-1618-4D1F-A6DD-7B986CE58366}"/>
              </a:ext>
            </a:extLst>
          </p:cNvPr>
          <p:cNvSpPr>
            <a:spLocks noGrp="1"/>
          </p:cNvSpPr>
          <p:nvPr/>
        </p:nvSpPr>
        <p:spPr>
          <a:xfrm>
            <a:off x="8153400" y="3267075"/>
            <a:ext cx="609600" cy="228600"/>
          </a:xfrm>
          <a:prstGeom prst="rightArrow">
            <a:avLst/>
          </a:prstGeom>
          <a:solidFill>
            <a:srgbClr val="167F78"/>
          </a:solidFill>
          <a:ln w="0">
            <a:noFill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918BB0A-3671-4706-9DFB-44CBED1D44BB}"/>
              </a:ext>
            </a:extLst>
          </p:cNvPr>
          <p:cNvSpPr>
            <a:spLocks noGrp="1"/>
          </p:cNvSpPr>
          <p:nvPr/>
        </p:nvSpPr>
        <p:spPr>
          <a:xfrm>
            <a:off x="9086850" y="2686050"/>
            <a:ext cx="2419350" cy="1419225"/>
          </a:xfrm>
          <a:prstGeom prst="rect">
            <a:avLst/>
          </a:prstGeom>
          <a:solidFill>
            <a:srgbClr val="E7EFEB"/>
          </a:solidFill>
          <a:ln w="0">
            <a:noFill/>
          </a:ln>
        </p:spPr>
        <p:txBody>
          <a:bodyPr lIns="171450" tIns="171450" rIns="171450" bIns="171450"/>
          <a:lstStyle>
            <a:def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保留较好程序</a:t>
            </a:r>
          </a:p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继续产生候选</a:t>
            </a:r>
          </a:p>
        </p:txBody>
      </p:sp>
      <p:sp>
        <p:nvSpPr>
          <p:cNvPr id="11" name="箭头: 左 10">
            <a:extLst>
              <a:ext uri="{FF2B5EF4-FFF2-40B4-BE49-F238E27FC236}">
                <a16:creationId xmlns:a16="http://schemas.microsoft.com/office/drawing/2014/main" id="{4CDABF3C-6C6D-4F94-8A30-047A5C79501E}"/>
              </a:ext>
            </a:extLst>
          </p:cNvPr>
          <p:cNvSpPr>
            <a:spLocks noGrp="1"/>
          </p:cNvSpPr>
          <p:nvPr/>
        </p:nvSpPr>
        <p:spPr>
          <a:xfrm>
            <a:off x="2152650" y="4533900"/>
            <a:ext cx="7810500" cy="228600"/>
          </a:xfrm>
          <a:prstGeom prst="leftArrow">
            <a:avLst/>
          </a:prstGeom>
          <a:solidFill>
            <a:srgbClr val="E7EFEB"/>
          </a:solidFill>
          <a:ln w="0">
            <a:noFill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C34FF3C-1D36-4BD2-A5D4-4C2EF74F3E33}"/>
              </a:ext>
            </a:extLst>
          </p:cNvPr>
          <p:cNvSpPr>
            <a:spLocks noGrp="1"/>
          </p:cNvSpPr>
          <p:nvPr/>
        </p:nvSpPr>
        <p:spPr>
          <a:xfrm>
            <a:off x="685800" y="5276850"/>
            <a:ext cx="10820400" cy="742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7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7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改进对象：能运行和检查的算法程序</a:t>
            </a:r>
          </a:p>
        </p:txBody>
      </p:sp>
    </p:spTree>
    <p:extLst>
      <p:ext uri="{BB962C8B-B14F-4D97-AF65-F5344CB8AC3E}">
        <p14:creationId xmlns:p14="http://schemas.microsoft.com/office/powerpoint/2010/main" val="10157967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DBBCA3B1-A52B-46D0-807A-3387D183E8FD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三  其他研发对象  Google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3A0F423-B587-409A-A900-1686783250DE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算子加速23%，对应总训练时间减少1%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5EF662A-18C3-4AD3-A433-A68BC3B8871B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1E6A17C-F986-4186-A1E0-9C13A2F00D5E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[6] AlphaEvolve, 2025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780B082-9B32-482D-B3DB-6C647C814216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AE1B45E-84D2-4328-A0EF-A8B54B3273CE}"/>
              </a:ext>
            </a:extLst>
          </p:cNvPr>
          <p:cNvSpPr>
            <a:spLocks noGrp="1"/>
          </p:cNvSpPr>
          <p:nvPr/>
        </p:nvSpPr>
        <p:spPr>
          <a:xfrm>
            <a:off x="685800" y="2200275"/>
            <a:ext cx="4953000" cy="1590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8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8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23%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B934C1D-DB27-46F7-B294-2FCF143D3BEB}"/>
              </a:ext>
            </a:extLst>
          </p:cNvPr>
          <p:cNvSpPr>
            <a:spLocks noGrp="1"/>
          </p:cNvSpPr>
          <p:nvPr/>
        </p:nvSpPr>
        <p:spPr>
          <a:xfrm>
            <a:off x="685800" y="4133850"/>
            <a:ext cx="4953000" cy="1000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所举矩阵乘法kernel的加速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E07FCD8-EC5E-4E82-B0B1-ABF30369459B}"/>
              </a:ext>
            </a:extLst>
          </p:cNvPr>
          <p:cNvSpPr>
            <a:spLocks noGrp="1"/>
          </p:cNvSpPr>
          <p:nvPr/>
        </p:nvSpPr>
        <p:spPr>
          <a:xfrm>
            <a:off x="7029450" y="2200275"/>
            <a:ext cx="4476750" cy="1590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84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84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rPr>
              <a:t>1%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0D79324-D3CA-40D4-AC0E-61B26D5C8605}"/>
              </a:ext>
            </a:extLst>
          </p:cNvPr>
          <p:cNvSpPr>
            <a:spLocks noGrp="1"/>
          </p:cNvSpPr>
          <p:nvPr/>
        </p:nvSpPr>
        <p:spPr>
          <a:xfrm>
            <a:off x="7029450" y="4133850"/>
            <a:ext cx="4476750" cy="1000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Gemini总训练时间减少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9F5E61B-D15E-4B2F-8C3C-16658BDDF118}"/>
              </a:ext>
            </a:extLst>
          </p:cNvPr>
          <p:cNvSpPr>
            <a:spLocks noGrp="1"/>
          </p:cNvSpPr>
          <p:nvPr/>
        </p:nvSpPr>
        <p:spPr>
          <a:xfrm>
            <a:off x="685800" y="53530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44E1C65-7A78-495A-9256-D94011256928}"/>
              </a:ext>
            </a:extLst>
          </p:cNvPr>
          <p:cNvSpPr>
            <a:spLocks noGrp="1"/>
          </p:cNvSpPr>
          <p:nvPr/>
        </p:nvSpPr>
        <p:spPr>
          <a:xfrm>
            <a:off x="685800" y="5705475"/>
            <a:ext cx="108204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局部与整体的分母不同</a:t>
            </a:r>
          </a:p>
        </p:txBody>
      </p:sp>
    </p:spTree>
    <p:extLst>
      <p:ext uri="{BB962C8B-B14F-4D97-AF65-F5344CB8AC3E}">
        <p14:creationId xmlns:p14="http://schemas.microsoft.com/office/powerpoint/2010/main" val="15599247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ECB0366F-7A34-4B67-A01A-1765E45F50CE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三  开放研究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3E647F1-7D45-44DF-9DF3-38F848606BBB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Agent策略与自身代码，也成为改进对象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CA0B68F-AF26-4948-91D3-6AF50DBE634C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02A3ADA-7FAD-4BC0-8069-EDBC54B76773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[7] AgentEvolver, 2025；[8] DGM, 2025；[11] AgentEvolver代码库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F4525DE-AC22-4123-B9A7-943C8549B83C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C08765A-68A4-463C-ABB2-D72ED8E0E2B8}"/>
              </a:ext>
            </a:extLst>
          </p:cNvPr>
          <p:cNvSpPr>
            <a:spLocks noGrp="1"/>
          </p:cNvSpPr>
          <p:nvPr/>
        </p:nvSpPr>
        <p:spPr>
          <a:xfrm>
            <a:off x="685800" y="2219325"/>
            <a:ext cx="5114925" cy="600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7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7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通义 AgentEvolver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9D4774A-A7BE-48F6-BA3E-6B4E35A882D0}"/>
              </a:ext>
            </a:extLst>
          </p:cNvPr>
          <p:cNvSpPr>
            <a:spLocks noGrp="1"/>
          </p:cNvSpPr>
          <p:nvPr/>
        </p:nvSpPr>
        <p:spPr>
          <a:xfrm>
            <a:off x="685800" y="3124200"/>
            <a:ext cx="5019675" cy="1695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生成任务</a:t>
            </a:r>
          </a:p>
          <a:p>
            <a:pPr>
              <a:def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复用经验</a:t>
            </a:r>
          </a:p>
          <a:p>
            <a:pPr>
              <a:def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贡献归因支持策略训练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9C680C7-8ADD-4941-A166-D3A781931F11}"/>
              </a:ext>
            </a:extLst>
          </p:cNvPr>
          <p:cNvSpPr>
            <a:spLocks noGrp="1"/>
          </p:cNvSpPr>
          <p:nvPr/>
        </p:nvSpPr>
        <p:spPr>
          <a:xfrm>
            <a:off x="6629400" y="2219325"/>
            <a:ext cx="4876800" cy="600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7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7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rPr>
              <a:t>Sakana DGM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AC6D863-0463-474E-B730-44A781FD9736}"/>
              </a:ext>
            </a:extLst>
          </p:cNvPr>
          <p:cNvSpPr>
            <a:spLocks noGrp="1"/>
          </p:cNvSpPr>
          <p:nvPr/>
        </p:nvSpPr>
        <p:spPr>
          <a:xfrm>
            <a:off x="6629400" y="3124200"/>
            <a:ext cx="4876800" cy="1695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修改Agent自身代码</a:t>
            </a:r>
          </a:p>
          <a:p>
            <a:pPr>
              <a:def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运行基准检查</a:t>
            </a:r>
          </a:p>
          <a:p>
            <a:pPr>
              <a:def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保留候选谱系继续探索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5CA1F90-EFCD-4E4C-A382-B531E9CE23F6}"/>
              </a:ext>
            </a:extLst>
          </p:cNvPr>
          <p:cNvSpPr>
            <a:spLocks noGrp="1"/>
          </p:cNvSpPr>
          <p:nvPr/>
        </p:nvSpPr>
        <p:spPr>
          <a:xfrm>
            <a:off x="685800" y="5248275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88A84C9-4F43-40B0-ADBC-202F3CE158C8}"/>
              </a:ext>
            </a:extLst>
          </p:cNvPr>
          <p:cNvSpPr>
            <a:spLocks noGrp="1"/>
          </p:cNvSpPr>
          <p:nvPr/>
        </p:nvSpPr>
        <p:spPr>
          <a:xfrm>
            <a:off x="685800" y="5591175"/>
            <a:ext cx="10820400" cy="600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5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5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策略训练与代码自改，需要分别追踪</a:t>
            </a:r>
          </a:p>
        </p:txBody>
      </p:sp>
    </p:spTree>
    <p:extLst>
      <p:ext uri="{BB962C8B-B14F-4D97-AF65-F5344CB8AC3E}">
        <p14:creationId xmlns:p14="http://schemas.microsoft.com/office/powerpoint/2010/main" val="15115741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109BDCFA-54B2-4F20-9C81-9E74A0057943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四  回到RSI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B8F24B0-DC22-4E8C-BCF6-2687BEB0C65C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这些案例改变了研发系统的不同部分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6CE3E7C-E7A4-43F1-99B7-F39670E87DA7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F221BE7-6265-4BEA-8BF7-A0EFB4180065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Chen等, AAR, 2026；[5] Lewi, Codex评测, 2026；[6] AlphaEvolve, 2025；[7] AgentEvolver, 2025；[8] DGM, 2025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0F80C09-4CAD-491D-A993-43FB3508CE0B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21F7B2AF-E3EE-4B40-8154-822BE49823CC}"/>
              </a:ext>
            </a:extLst>
          </p:cNvPr>
          <p:cNvGraphicFramePr/>
          <p:nvPr/>
        </p:nvGraphicFramePr>
        <p:xfrm>
          <a:off x="685800" y="2190750"/>
          <a:ext cx="10820400" cy="3857625"/>
        </p:xfrm>
        <a:graphic>
          <a:graphicData uri="http://schemas.openxmlformats.org/drawingml/2006/table">
            <a:tbl>
              <a:tblPr/>
              <a:tblGrid>
                <a:gridCol w="2571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6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72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7152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67F7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案例</a:t>
                      </a:r>
                    </a:p>
                  </a:txBody>
                  <a:tcPr>
                    <a:lnL w="9525">
                      <a:solidFill>
                        <a:srgbClr val="D5D9D5"/>
                      </a:solidFill>
                      <a:prstDash val="solid"/>
                    </a:lnL>
                    <a:lnR w="9525">
                      <a:solidFill>
                        <a:srgbClr val="D5D9D5"/>
                      </a:solidFill>
                      <a:prstDash val="solid"/>
                    </a:lnR>
                    <a:lnT w="9525">
                      <a:solidFill>
                        <a:srgbClr val="D5D9D5"/>
                      </a:solidFill>
                      <a:prstDash val="solid"/>
                    </a:lnT>
                    <a:lnB w="9525">
                      <a:solidFill>
                        <a:srgbClr val="D5D9D5"/>
                      </a:solidFill>
                      <a:prstDash val="solid"/>
                    </a:lnB>
                    <a:solidFill>
                      <a:srgbClr val="E7E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E35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改动对象</a:t>
                      </a:r>
                    </a:p>
                  </a:txBody>
                  <a:tcPr>
                    <a:lnL w="9525" cap="flat" cmpd="sng" algn="ctr">
                      <a:solidFill>
                        <a:srgbClr val="D5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9D5"/>
                      </a:solidFill>
                      <a:prstDash val="solid"/>
                    </a:lnR>
                    <a:lnT w="9525">
                      <a:solidFill>
                        <a:srgbClr val="D5D9D5"/>
                      </a:solidFill>
                      <a:prstDash val="solid"/>
                    </a:lnT>
                    <a:lnB w="9525">
                      <a:solidFill>
                        <a:srgbClr val="D5D9D5"/>
                      </a:solidFill>
                      <a:prstDash val="solid"/>
                    </a:lnB>
                    <a:solidFill>
                      <a:srgbClr val="E7E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E35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检验依据</a:t>
                      </a:r>
                    </a:p>
                  </a:txBody>
                  <a:tcPr>
                    <a:lnL w="9525" cap="flat" cmpd="sng" algn="ctr">
                      <a:solidFill>
                        <a:srgbClr val="D5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9D5"/>
                      </a:solidFill>
                      <a:prstDash val="solid"/>
                    </a:lnR>
                    <a:lnT w="9525">
                      <a:solidFill>
                        <a:srgbClr val="D5D9D5"/>
                      </a:solidFill>
                      <a:prstDash val="solid"/>
                    </a:lnT>
                    <a:lnB w="9525">
                      <a:solidFill>
                        <a:srgbClr val="D5D9D5"/>
                      </a:solidFill>
                      <a:prstDash val="solid"/>
                    </a:lnB>
                    <a:solidFill>
                      <a:srgbClr val="E7E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1525">
                <a:tc>
                  <a:txBody>
                    <a:bodyPr/>
                    <a:lstStyle/>
                    <a:p>
                      <a:r>
                        <a:rPr sz="2325" b="1">
                          <a:solidFill>
                            <a:srgbClr val="167F7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Anthropic</a:t>
                      </a:r>
                    </a:p>
                  </a:txBody>
                  <a:tcPr>
                    <a:lnL w="9525">
                      <a:solidFill>
                        <a:srgbClr val="D5D9D5"/>
                      </a:solidFill>
                      <a:prstDash val="solid"/>
                    </a:lnL>
                    <a:lnR w="9525">
                      <a:solidFill>
                        <a:srgbClr val="D5D9D5"/>
                      </a:solidFill>
                      <a:prstDash val="solid"/>
                    </a:lnR>
                    <a:lnT w="9525" cap="flat" cmpd="sng" algn="ctr">
                      <a:solidFill>
                        <a:srgbClr val="D5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9D5"/>
                      </a:solidFill>
                      <a:prstDash val="solid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 b="0">
                          <a:solidFill>
                            <a:srgbClr val="1E35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目标模型权重</a:t>
                      </a:r>
                    </a:p>
                  </a:txBody>
                  <a:tcPr>
                    <a:lnL w="9525" cap="flat" cmpd="sng" algn="ctr">
                      <a:solidFill>
                        <a:srgbClr val="D5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9D5"/>
                      </a:solidFill>
                      <a:prstDash val="solid"/>
                    </a:lnR>
                    <a:lnT w="9525" cap="flat" cmpd="sng" algn="ctr">
                      <a:solidFill>
                        <a:srgbClr val="D5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9D5"/>
                      </a:solidFill>
                      <a:prstDash val="solid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E35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训练后的行为与能力</a:t>
                      </a:r>
                    </a:p>
                  </a:txBody>
                  <a:tcPr>
                    <a:lnL w="9525" cap="flat" cmpd="sng" algn="ctr">
                      <a:solidFill>
                        <a:srgbClr val="D5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9D5"/>
                      </a:solidFill>
                      <a:prstDash val="solid"/>
                    </a:lnR>
                    <a:lnT w="9525" cap="flat" cmpd="sng" algn="ctr">
                      <a:solidFill>
                        <a:srgbClr val="D5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9D5"/>
                      </a:solidFill>
                      <a:prstDash val="solid"/>
                    </a:lnB>
                    <a:solidFill>
                      <a:srgbClr val="FA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1525">
                <a:tc>
                  <a:txBody>
                    <a:bodyPr/>
                    <a:lstStyle/>
                    <a:p>
                      <a:r>
                        <a:rPr sz="2325" b="1">
                          <a:solidFill>
                            <a:srgbClr val="167F7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OpenAI</a:t>
                      </a:r>
                    </a:p>
                  </a:txBody>
                  <a:tcPr>
                    <a:lnL w="9525">
                      <a:solidFill>
                        <a:srgbClr val="D5D9D5"/>
                      </a:solidFill>
                      <a:prstDash val="solid"/>
                    </a:lnL>
                    <a:lnR w="9525">
                      <a:solidFill>
                        <a:srgbClr val="D5D9D5"/>
                      </a:solidFill>
                      <a:prstDash val="solid"/>
                    </a:lnR>
                    <a:lnT w="9525" cap="flat" cmpd="sng" algn="ctr">
                      <a:solidFill>
                        <a:srgbClr val="D5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9D5"/>
                      </a:solidFill>
                      <a:prstDash val="solid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 b="0">
                          <a:solidFill>
                            <a:srgbClr val="1E35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流程与记录</a:t>
                      </a:r>
                    </a:p>
                  </a:txBody>
                  <a:tcPr>
                    <a:lnL w="9525" cap="flat" cmpd="sng" algn="ctr">
                      <a:solidFill>
                        <a:srgbClr val="D5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9D5"/>
                      </a:solidFill>
                      <a:prstDash val="solid"/>
                    </a:lnR>
                    <a:lnT w="9525" cap="flat" cmpd="sng" algn="ctr">
                      <a:solidFill>
                        <a:srgbClr val="D5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9D5"/>
                      </a:solidFill>
                      <a:prstDash val="solid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E35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命令结果、研究员判断</a:t>
                      </a:r>
                    </a:p>
                  </a:txBody>
                  <a:tcPr>
                    <a:lnL w="9525" cap="flat" cmpd="sng" algn="ctr">
                      <a:solidFill>
                        <a:srgbClr val="D5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9D5"/>
                      </a:solidFill>
                      <a:prstDash val="solid"/>
                    </a:lnR>
                    <a:lnT w="9525" cap="flat" cmpd="sng" algn="ctr">
                      <a:solidFill>
                        <a:srgbClr val="D5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9D5"/>
                      </a:solidFill>
                      <a:prstDash val="solid"/>
                    </a:lnB>
                    <a:solidFill>
                      <a:srgbClr val="FA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1525">
                <a:tc>
                  <a:txBody>
                    <a:bodyPr/>
                    <a:lstStyle/>
                    <a:p>
                      <a:r>
                        <a:rPr sz="2325" b="1">
                          <a:solidFill>
                            <a:srgbClr val="167F7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Google</a:t>
                      </a:r>
                    </a:p>
                  </a:txBody>
                  <a:tcPr>
                    <a:lnL w="9525">
                      <a:solidFill>
                        <a:srgbClr val="D5D9D5"/>
                      </a:solidFill>
                      <a:prstDash val="solid"/>
                    </a:lnL>
                    <a:lnR w="9525">
                      <a:solidFill>
                        <a:srgbClr val="D5D9D5"/>
                      </a:solidFill>
                      <a:prstDash val="solid"/>
                    </a:lnR>
                    <a:lnT w="9525" cap="flat" cmpd="sng" algn="ctr">
                      <a:solidFill>
                        <a:srgbClr val="D5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9D5"/>
                      </a:solidFill>
                      <a:prstDash val="solid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 b="0">
                          <a:solidFill>
                            <a:srgbClr val="1E35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算法程序</a:t>
                      </a:r>
                    </a:p>
                  </a:txBody>
                  <a:tcPr>
                    <a:lnL w="9525" cap="flat" cmpd="sng" algn="ctr">
                      <a:solidFill>
                        <a:srgbClr val="D5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9D5"/>
                      </a:solidFill>
                      <a:prstDash val="solid"/>
                    </a:lnR>
                    <a:lnT w="9525" cap="flat" cmpd="sng" algn="ctr">
                      <a:solidFill>
                        <a:srgbClr val="D5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9D5"/>
                      </a:solidFill>
                      <a:prstDash val="solid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E35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正确性与性能</a:t>
                      </a:r>
                    </a:p>
                  </a:txBody>
                  <a:tcPr>
                    <a:lnL w="9525" cap="flat" cmpd="sng" algn="ctr">
                      <a:solidFill>
                        <a:srgbClr val="D5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9D5"/>
                      </a:solidFill>
                      <a:prstDash val="solid"/>
                    </a:lnR>
                    <a:lnT w="9525" cap="flat" cmpd="sng" algn="ctr">
                      <a:solidFill>
                        <a:srgbClr val="D5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9D5"/>
                      </a:solidFill>
                      <a:prstDash val="solid"/>
                    </a:lnB>
                    <a:solidFill>
                      <a:srgbClr val="FA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1525">
                <a:tc>
                  <a:txBody>
                    <a:bodyPr/>
                    <a:lstStyle/>
                    <a:p>
                      <a:r>
                        <a:rPr sz="2325" b="1">
                          <a:solidFill>
                            <a:srgbClr val="167F7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开放研究</a:t>
                      </a:r>
                    </a:p>
                  </a:txBody>
                  <a:tcPr>
                    <a:lnL w="9525">
                      <a:solidFill>
                        <a:srgbClr val="D5D9D5"/>
                      </a:solidFill>
                      <a:prstDash val="solid"/>
                    </a:lnL>
                    <a:lnR w="9525">
                      <a:solidFill>
                        <a:srgbClr val="D5D9D5"/>
                      </a:solidFill>
                      <a:prstDash val="solid"/>
                    </a:lnR>
                    <a:lnT w="9525" cap="flat" cmpd="sng" algn="ctr">
                      <a:solidFill>
                        <a:srgbClr val="D5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9D5"/>
                      </a:solidFill>
                      <a:prstDash val="solid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 b="0">
                          <a:solidFill>
                            <a:srgbClr val="1E35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策略或代码</a:t>
                      </a:r>
                    </a:p>
                  </a:txBody>
                  <a:tcPr>
                    <a:lnL w="9525" cap="flat" cmpd="sng" algn="ctr">
                      <a:solidFill>
                        <a:srgbClr val="D5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9D5"/>
                      </a:solidFill>
                      <a:prstDash val="solid"/>
                    </a:lnR>
                    <a:lnT w="9525" cap="flat" cmpd="sng" algn="ctr">
                      <a:solidFill>
                        <a:srgbClr val="D5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9D5"/>
                      </a:solidFill>
                      <a:prstDash val="solid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E35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任务评测、版本表现</a:t>
                      </a:r>
                    </a:p>
                  </a:txBody>
                  <a:tcPr>
                    <a:lnL w="9525" cap="flat" cmpd="sng" algn="ctr">
                      <a:solidFill>
                        <a:srgbClr val="D5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9D5"/>
                      </a:solidFill>
                      <a:prstDash val="solid"/>
                    </a:lnR>
                    <a:lnT w="9525" cap="flat" cmpd="sng" algn="ctr">
                      <a:solidFill>
                        <a:srgbClr val="D5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9D5"/>
                      </a:solidFill>
                      <a:prstDash val="solid"/>
                    </a:lnB>
                    <a:solidFill>
                      <a:srgbClr val="FA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77407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7086A95F-4507-485A-A193-B24B7E86DFFC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四  回到RSI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27A5A64-4BEE-401B-B780-FDD49F61E76D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结果反馈与研发能力递归改进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D7F0D11-C46F-440B-B5B5-A9E15B475CE2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C743976-38DD-43B5-84A0-7A1F42C8750A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Chen等, AAR, 2026；[5] Lewi, Codex评测, 2026；[8] DGM, 2025；[10] Anthropic RSI分析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6F0BED5-8D1F-4538-A161-201EF5A287E4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A1DC8B3-9403-4458-A7BF-4F51496EB828}"/>
              </a:ext>
            </a:extLst>
          </p:cNvPr>
          <p:cNvSpPr>
            <a:spLocks noGrp="1"/>
          </p:cNvSpPr>
          <p:nvPr/>
        </p:nvSpPr>
        <p:spPr>
          <a:xfrm>
            <a:off x="685800" y="2438400"/>
            <a:ext cx="2762250" cy="1257300"/>
          </a:xfrm>
          <a:prstGeom prst="rect">
            <a:avLst/>
          </a:prstGeom>
          <a:solidFill>
            <a:srgbClr val="E7EFEB"/>
          </a:solidFill>
          <a:ln w="0">
            <a:noFill/>
          </a:ln>
        </p:spPr>
        <p:txBody>
          <a:bodyPr lIns="171450" tIns="171450" rIns="171450" bIns="171450"/>
          <a:lstStyle>
            <a:def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研究系统</a:t>
            </a:r>
          </a:p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提出与执行方法</a:t>
            </a:r>
          </a:p>
        </p:txBody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23974BBB-BADA-4AB0-8F50-1D64FBE0C53D}"/>
              </a:ext>
            </a:extLst>
          </p:cNvPr>
          <p:cNvSpPr>
            <a:spLocks noGrp="1"/>
          </p:cNvSpPr>
          <p:nvPr/>
        </p:nvSpPr>
        <p:spPr>
          <a:xfrm>
            <a:off x="3705225" y="2943225"/>
            <a:ext cx="666750" cy="228600"/>
          </a:xfrm>
          <a:prstGeom prst="rightArrow">
            <a:avLst/>
          </a:prstGeom>
          <a:solidFill>
            <a:srgbClr val="167F78"/>
          </a:solidFill>
          <a:ln w="0">
            <a:noFill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F6E2ADD-71E6-4433-B57E-FAF871DF8BDF}"/>
              </a:ext>
            </a:extLst>
          </p:cNvPr>
          <p:cNvSpPr>
            <a:spLocks noGrp="1"/>
          </p:cNvSpPr>
          <p:nvPr/>
        </p:nvSpPr>
        <p:spPr>
          <a:xfrm>
            <a:off x="4638675" y="2438400"/>
            <a:ext cx="2857500" cy="1257300"/>
          </a:xfrm>
          <a:prstGeom prst="rect">
            <a:avLst/>
          </a:prstGeom>
          <a:solidFill>
            <a:srgbClr val="E7EFEB"/>
          </a:solidFill>
          <a:ln w="0">
            <a:noFill/>
          </a:ln>
        </p:spPr>
        <p:txBody>
          <a:bodyPr lIns="171450" tIns="171450" rIns="171450" bIns="171450"/>
          <a:lstStyle>
            <a:def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研发产物</a:t>
            </a:r>
          </a:p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权重、算法或流程</a:t>
            </a:r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0E02E5B0-7D4C-4B28-B41F-BFF9156037D1}"/>
              </a:ext>
            </a:extLst>
          </p:cNvPr>
          <p:cNvSpPr>
            <a:spLocks noGrp="1"/>
          </p:cNvSpPr>
          <p:nvPr/>
        </p:nvSpPr>
        <p:spPr>
          <a:xfrm>
            <a:off x="7762875" y="2943225"/>
            <a:ext cx="666750" cy="228600"/>
          </a:xfrm>
          <a:prstGeom prst="rightArrow">
            <a:avLst/>
          </a:prstGeom>
          <a:solidFill>
            <a:srgbClr val="167F78"/>
          </a:solidFill>
          <a:ln w="0">
            <a:noFill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9F5C529-90CC-4920-A17C-9FE483EA68B5}"/>
              </a:ext>
            </a:extLst>
          </p:cNvPr>
          <p:cNvSpPr>
            <a:spLocks noGrp="1"/>
          </p:cNvSpPr>
          <p:nvPr/>
        </p:nvSpPr>
        <p:spPr>
          <a:xfrm>
            <a:off x="8696325" y="2438400"/>
            <a:ext cx="2809875" cy="1257300"/>
          </a:xfrm>
          <a:prstGeom prst="rect">
            <a:avLst/>
          </a:prstGeom>
          <a:solidFill>
            <a:srgbClr val="E7EFEB"/>
          </a:solidFill>
          <a:ln w="0">
            <a:noFill/>
          </a:ln>
        </p:spPr>
        <p:txBody>
          <a:bodyPr lIns="171450" tIns="171450" rIns="171450" bIns="171450"/>
          <a:lstStyle>
            <a:def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评测与保留</a:t>
            </a:r>
          </a:p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检验局部收益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E251539-5682-485E-A47F-FB372A61C842}"/>
              </a:ext>
            </a:extLst>
          </p:cNvPr>
          <p:cNvSpPr>
            <a:spLocks noGrp="1"/>
          </p:cNvSpPr>
          <p:nvPr/>
        </p:nvSpPr>
        <p:spPr>
          <a:xfrm>
            <a:off x="685800" y="3914775"/>
            <a:ext cx="10820400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02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已有：结果与记录反馈到下一次尝试</a:t>
            </a:r>
          </a:p>
        </p:txBody>
      </p:sp>
      <p:sp>
        <p:nvSpPr>
          <p:cNvPr id="12" name="箭头: 左 11">
            <a:extLst>
              <a:ext uri="{FF2B5EF4-FFF2-40B4-BE49-F238E27FC236}">
                <a16:creationId xmlns:a16="http://schemas.microsoft.com/office/drawing/2014/main" id="{F7F112FD-7944-439F-A026-6F70BCFB8771}"/>
              </a:ext>
            </a:extLst>
          </p:cNvPr>
          <p:cNvSpPr>
            <a:spLocks noGrp="1"/>
          </p:cNvSpPr>
          <p:nvPr/>
        </p:nvSpPr>
        <p:spPr>
          <a:xfrm>
            <a:off x="1571625" y="4524375"/>
            <a:ext cx="9144000" cy="228600"/>
          </a:xfrm>
          <a:prstGeom prst="leftArrow">
            <a:avLst/>
          </a:prstGeom>
          <a:solidFill>
            <a:srgbClr val="E7EFEB"/>
          </a:solidFill>
          <a:ln w="0">
            <a:noFill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DFFB729-9385-4BFB-90C7-AAF320AEA05E}"/>
              </a:ext>
            </a:extLst>
          </p:cNvPr>
          <p:cNvSpPr>
            <a:spLocks noGrp="1"/>
          </p:cNvSpPr>
          <p:nvPr/>
        </p:nvSpPr>
        <p:spPr>
          <a:xfrm>
            <a:off x="685800" y="5000625"/>
            <a:ext cx="10820400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rPr>
              <a:t>待验证：改进持续提高下一轮研发能力</a:t>
            </a:r>
          </a:p>
        </p:txBody>
      </p:sp>
      <p:sp>
        <p:nvSpPr>
          <p:cNvPr id="14" name="箭头: 左 13">
            <a:extLst>
              <a:ext uri="{FF2B5EF4-FFF2-40B4-BE49-F238E27FC236}">
                <a16:creationId xmlns:a16="http://schemas.microsoft.com/office/drawing/2014/main" id="{61BDFC27-3F23-423B-880D-EB90E24FCEE1}"/>
              </a:ext>
            </a:extLst>
          </p:cNvPr>
          <p:cNvSpPr>
            <a:spLocks noGrp="1"/>
          </p:cNvSpPr>
          <p:nvPr/>
        </p:nvSpPr>
        <p:spPr>
          <a:xfrm>
            <a:off x="1571625" y="5600700"/>
            <a:ext cx="9144000" cy="228600"/>
          </a:xfrm>
          <a:prstGeom prst="leftArrow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92E9C97-7D4F-48F0-A817-A9A276DFB8F3}"/>
              </a:ext>
            </a:extLst>
          </p:cNvPr>
          <p:cNvSpPr>
            <a:spLocks noGrp="1"/>
          </p:cNvSpPr>
          <p:nvPr/>
        </p:nvSpPr>
        <p:spPr>
          <a:xfrm>
            <a:off x="685800" y="5934075"/>
            <a:ext cx="108204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rPr>
              <a:t>并持续产生更强的后继系统</a:t>
            </a:r>
          </a:p>
        </p:txBody>
      </p:sp>
    </p:spTree>
    <p:extLst>
      <p:ext uri="{BB962C8B-B14F-4D97-AF65-F5344CB8AC3E}">
        <p14:creationId xmlns:p14="http://schemas.microsoft.com/office/powerpoint/2010/main" val="9949499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000671E8-BED6-4098-B628-29AF896105A5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四  回到RSI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3FBA08C-2BE0-4F3B-BC31-BE1D676D12D2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后继研发还需要怎样的证据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988E6D0-D684-4A54-99F9-07BC0A9FF236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AE00A03-003F-4616-B406-E389E427E2F4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Chen等, AAR, 2026；[8] DGM, 2025；[10] Anthropic RSI分析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772E31B-AA4D-435A-AB07-7B725E8A8717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6F8D17B-2942-4B67-AB9F-CF5B4A35EA6B}"/>
              </a:ext>
            </a:extLst>
          </p:cNvPr>
          <p:cNvSpPr>
            <a:spLocks noGrp="1"/>
          </p:cNvSpPr>
          <p:nvPr/>
        </p:nvSpPr>
        <p:spPr>
          <a:xfrm>
            <a:off x="685800" y="2305050"/>
            <a:ext cx="981075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6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6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71EF13A-EDCE-461E-A9DC-C5FA93A8383A}"/>
              </a:ext>
            </a:extLst>
          </p:cNvPr>
          <p:cNvSpPr>
            <a:spLocks noGrp="1"/>
          </p:cNvSpPr>
          <p:nvPr/>
        </p:nvSpPr>
        <p:spPr>
          <a:xfrm>
            <a:off x="2266950" y="2390775"/>
            <a:ext cx="923925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新版本在未参与搜索的任务上仍然更强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01AF57F-FDA7-43F6-841A-D609BDCD9FC7}"/>
              </a:ext>
            </a:extLst>
          </p:cNvPr>
          <p:cNvSpPr>
            <a:spLocks noGrp="1"/>
          </p:cNvSpPr>
          <p:nvPr/>
        </p:nvSpPr>
        <p:spPr>
          <a:xfrm>
            <a:off x="685800" y="3495675"/>
            <a:ext cx="981075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6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6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9125024-A7CA-4C57-9843-0921D8899D21}"/>
              </a:ext>
            </a:extLst>
          </p:cNvPr>
          <p:cNvSpPr>
            <a:spLocks noGrp="1"/>
          </p:cNvSpPr>
          <p:nvPr/>
        </p:nvSpPr>
        <p:spPr>
          <a:xfrm>
            <a:off x="2266950" y="3581400"/>
            <a:ext cx="923925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改进能让下一轮研究更有效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795FB17-CF00-411C-9974-BE9B0075EFD1}"/>
              </a:ext>
            </a:extLst>
          </p:cNvPr>
          <p:cNvSpPr>
            <a:spLocks noGrp="1"/>
          </p:cNvSpPr>
          <p:nvPr/>
        </p:nvSpPr>
        <p:spPr>
          <a:xfrm>
            <a:off x="685800" y="4686300"/>
            <a:ext cx="981075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6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6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4B5EA2F-15A7-48D9-9AF9-22C3521CC171}"/>
              </a:ext>
            </a:extLst>
          </p:cNvPr>
          <p:cNvSpPr>
            <a:spLocks noGrp="1"/>
          </p:cNvSpPr>
          <p:nvPr/>
        </p:nvSpPr>
        <p:spPr>
          <a:xfrm>
            <a:off x="2266950" y="4772025"/>
            <a:ext cx="923925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多轮之后仍保留收益，代价可接受</a:t>
            </a:r>
          </a:p>
        </p:txBody>
      </p:sp>
    </p:spTree>
    <p:extLst>
      <p:ext uri="{BB962C8B-B14F-4D97-AF65-F5344CB8AC3E}">
        <p14:creationId xmlns:p14="http://schemas.microsoft.com/office/powerpoint/2010/main" val="11740472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864B00DF-3A91-4A1F-B835-8BEAF794D326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四  回到RSI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67800C5-7F91-497E-BDAE-4C7396C8F02A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局部自改进已有证据，后继研发仍需检验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DD720B3-994B-40B8-9133-A2ADAECFFC13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434728B-FE13-41EC-AA83-D29CF25ED40D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Chen等, AAR, 2026；[5] Lewi, Codex评测, 2026；[6] AlphaEvolve, 2025；[7] AgentEvolver, 2025；[8] DGM, 2025；[10] Anthropic RSI分析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F2CB2B9-D90D-48CD-94E7-BEFE22AFBDAB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F896810-F729-4151-A9F6-A24F2603069A}"/>
              </a:ext>
            </a:extLst>
          </p:cNvPr>
          <p:cNvSpPr>
            <a:spLocks noGrp="1"/>
          </p:cNvSpPr>
          <p:nvPr/>
        </p:nvSpPr>
        <p:spPr>
          <a:xfrm>
            <a:off x="685800" y="2324100"/>
            <a:ext cx="108204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6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6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能交付局部改进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DACBB55-23F2-4ED7-8CDB-01DFEA4B0860}"/>
              </a:ext>
            </a:extLst>
          </p:cNvPr>
          <p:cNvSpPr>
            <a:spLocks noGrp="1"/>
          </p:cNvSpPr>
          <p:nvPr/>
        </p:nvSpPr>
        <p:spPr>
          <a:xfrm>
            <a:off x="685800" y="3295650"/>
            <a:ext cx="10820400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权重、算法、策略、代码和研发流程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1ABD52F-5FAA-4E36-BF48-53508F3269C2}"/>
              </a:ext>
            </a:extLst>
          </p:cNvPr>
          <p:cNvSpPr>
            <a:spLocks noGrp="1"/>
          </p:cNvSpPr>
          <p:nvPr/>
        </p:nvSpPr>
        <p:spPr>
          <a:xfrm>
            <a:off x="685800" y="441960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B378070-E173-4D3D-A544-45F34463C3DB}"/>
              </a:ext>
            </a:extLst>
          </p:cNvPr>
          <p:cNvSpPr>
            <a:spLocks noGrp="1"/>
          </p:cNvSpPr>
          <p:nvPr/>
        </p:nvSpPr>
        <p:spPr>
          <a:xfrm>
            <a:off x="685800" y="4933950"/>
            <a:ext cx="1082040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00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rPr>
              <a:t>基础模型后继研发的持续循环，仍需充分检验</a:t>
            </a:r>
          </a:p>
        </p:txBody>
      </p:sp>
    </p:spTree>
    <p:extLst>
      <p:ext uri="{BB962C8B-B14F-4D97-AF65-F5344CB8AC3E}">
        <p14:creationId xmlns:p14="http://schemas.microsoft.com/office/powerpoint/2010/main" val="7657273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4ADA2362-7308-4CD6-9198-F78A51C1CEBD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结束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C34E373-EFC2-4A6F-A11D-0D023626802A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谢谢，欢迎提问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D9969C1-B918-4B05-8BEC-4788070D1CBE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7737627-3A4B-4B67-856C-CC5ECA559410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0C1583C-44AE-4BAF-8FB3-83868115BCE5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3FE99ED-490F-40E3-8CDE-615BEEB7C180}"/>
              </a:ext>
            </a:extLst>
          </p:cNvPr>
          <p:cNvSpPr>
            <a:spLocks noGrp="1"/>
          </p:cNvSpPr>
          <p:nvPr/>
        </p:nvSpPr>
        <p:spPr>
          <a:xfrm>
            <a:off x="685800" y="2409825"/>
            <a:ext cx="10820400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0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Agent改了什么？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BBB46B5-52F1-45D7-8B51-FC0A90C939EE}"/>
              </a:ext>
            </a:extLst>
          </p:cNvPr>
          <p:cNvSpPr>
            <a:spLocks noGrp="1"/>
          </p:cNvSpPr>
          <p:nvPr/>
        </p:nvSpPr>
        <p:spPr>
          <a:xfrm>
            <a:off x="685800" y="3505200"/>
            <a:ext cx="10820400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0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怎么知道改好了？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46C8B82-AB00-4614-B767-F2A57134ABAA}"/>
              </a:ext>
            </a:extLst>
          </p:cNvPr>
          <p:cNvSpPr>
            <a:spLocks noGrp="1"/>
          </p:cNvSpPr>
          <p:nvPr/>
        </p:nvSpPr>
        <p:spPr>
          <a:xfrm>
            <a:off x="685800" y="4600575"/>
            <a:ext cx="10820400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00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rPr>
              <a:t>改进能否帮助下一轮研发？</a:t>
            </a:r>
          </a:p>
        </p:txBody>
      </p:sp>
    </p:spTree>
    <p:extLst>
      <p:ext uri="{BB962C8B-B14F-4D97-AF65-F5344CB8AC3E}">
        <p14:creationId xmlns:p14="http://schemas.microsoft.com/office/powerpoint/2010/main" val="9384416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3D715A85-E166-459C-8E64-F430A3908B83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参考文献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633A5F6-BB1F-4918-AF43-5ACBCDC5B912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参考文献  历史与模型研发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6BCFF70-8F74-42A0-9150-78FA00F6728B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B9B42B7-3F07-45A6-AA5F-AFBF94BFED33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完整链接与来源定位见备注及来源手册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E54549F-A19D-426D-B5A7-C1D4978246CB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609EEFA-7DCE-4F8B-81C3-A0041A8F7AE3}"/>
              </a:ext>
            </a:extLst>
          </p:cNvPr>
          <p:cNvSpPr>
            <a:spLocks noGrp="1"/>
          </p:cNvSpPr>
          <p:nvPr/>
        </p:nvSpPr>
        <p:spPr>
          <a:xfrm>
            <a:off x="685800" y="220980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[1] Good I. J. Speculations Concerning the First Ultraintelligent Machine. Advances in Computers, 1965, 6:31–88.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E54FA90-A5DC-4D6F-A18E-BDDAE40EE7EF}"/>
              </a:ext>
            </a:extLst>
          </p:cNvPr>
          <p:cNvSpPr>
            <a:spLocks noGrp="1"/>
          </p:cNvSpPr>
          <p:nvPr/>
        </p:nvSpPr>
        <p:spPr>
          <a:xfrm>
            <a:off x="685800" y="307657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[2] Schmidhuber J. Gödel Machines: Self-Referential Universal Problem Solvers Making Provably Optimal Self-Improvements. 2003/2004技术报告.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15FF26A-90BD-45B2-A24E-C0980FC2D0E4}"/>
              </a:ext>
            </a:extLst>
          </p:cNvPr>
          <p:cNvSpPr>
            <a:spLocks noGrp="1"/>
          </p:cNvSpPr>
          <p:nvPr/>
        </p:nvSpPr>
        <p:spPr>
          <a:xfrm>
            <a:off x="685800" y="394335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[3] Zoph B, Le Q V. Neural Architecture Search with Reinforcement Learning. arXiv:1611.01578, 2016.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5E82781-CFE2-4292-AA53-7974755D95E2}"/>
              </a:ext>
            </a:extLst>
          </p:cNvPr>
          <p:cNvSpPr>
            <a:spLocks noGrp="1"/>
          </p:cNvSpPr>
          <p:nvPr/>
        </p:nvSpPr>
        <p:spPr>
          <a:xfrm>
            <a:off x="685800" y="481012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[4] Chen Y.-H., Wen J., Kirchner J. H. Automated Researchers Can Mitigate Well-Characterized Alignment Failures. 2026.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5BF8F03-4D25-425A-AC63-1BABCB8F15DB}"/>
              </a:ext>
            </a:extLst>
          </p:cNvPr>
          <p:cNvSpPr>
            <a:spLocks noGrp="1"/>
          </p:cNvSpPr>
          <p:nvPr/>
        </p:nvSpPr>
        <p:spPr>
          <a:xfrm>
            <a:off x="685800" y="567690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[5] Lewi J. Automating repetitive work at OpenAI with Codex. OpenAI Developers, 2026-08-25.</a:t>
            </a:r>
          </a:p>
        </p:txBody>
      </p:sp>
    </p:spTree>
    <p:extLst>
      <p:ext uri="{BB962C8B-B14F-4D97-AF65-F5344CB8AC3E}">
        <p14:creationId xmlns:p14="http://schemas.microsoft.com/office/powerpoint/2010/main" val="17137369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6F18FB71-661B-4B55-B172-FD8F306BD728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参考文献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F4DF31B-B09E-4D68-AACC-3D1003D140F9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参考文献  算法、开放研究与RSI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93AAF42-53E0-4FE9-8198-B05AE454B634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2FE71A3-AE54-41E9-9083-32D4971449C6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完整链接与来源定位见备注及来源手册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2EB7653-9BCD-4345-AA6C-D659CA964CCD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26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7B1D4C2-4906-4272-96C4-5B3B0FE39AE1}"/>
              </a:ext>
            </a:extLst>
          </p:cNvPr>
          <p:cNvSpPr>
            <a:spLocks noGrp="1"/>
          </p:cNvSpPr>
          <p:nvPr/>
        </p:nvSpPr>
        <p:spPr>
          <a:xfrm>
            <a:off x="685800" y="2209800"/>
            <a:ext cx="108204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[6] Google DeepMind. AlphaEvolve: A Gemini-powered coding agent for designing advanced algorithms. 2025.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02D179A-021E-48A2-9CE7-41B59C4C6CA8}"/>
              </a:ext>
            </a:extLst>
          </p:cNvPr>
          <p:cNvSpPr>
            <a:spLocks noGrp="1"/>
          </p:cNvSpPr>
          <p:nvPr/>
        </p:nvSpPr>
        <p:spPr>
          <a:xfrm>
            <a:off x="685800" y="2828925"/>
            <a:ext cx="108204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[7] AgentEvolver: Towards Efficient Self-Evolving Agent System. arXiv:2511.10395, 2025.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8842E30-2B3F-478A-BEF0-D49EFA14CF3C}"/>
              </a:ext>
            </a:extLst>
          </p:cNvPr>
          <p:cNvSpPr>
            <a:spLocks noGrp="1"/>
          </p:cNvSpPr>
          <p:nvPr/>
        </p:nvSpPr>
        <p:spPr>
          <a:xfrm>
            <a:off x="685800" y="3448050"/>
            <a:ext cx="108204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[8] Zhang等. Darwin Gödel Machine: Open-Ended Evolution of Self-Improving Agents. 2025；同团队官方说明.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A35590A-613B-46CB-B655-ABDF02C66608}"/>
              </a:ext>
            </a:extLst>
          </p:cNvPr>
          <p:cNvSpPr>
            <a:spLocks noGrp="1"/>
          </p:cNvSpPr>
          <p:nvPr/>
        </p:nvSpPr>
        <p:spPr>
          <a:xfrm>
            <a:off x="685800" y="4067175"/>
            <a:ext cx="108204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[9] OpenAI. Research acceleration: The view inside OpenAI. 2026.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B3035A9-2612-4CF1-81BF-C3DC5BCC4BA5}"/>
              </a:ext>
            </a:extLst>
          </p:cNvPr>
          <p:cNvSpPr>
            <a:spLocks noGrp="1"/>
          </p:cNvSpPr>
          <p:nvPr/>
        </p:nvSpPr>
        <p:spPr>
          <a:xfrm>
            <a:off x="685800" y="4686300"/>
            <a:ext cx="108204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[10] Anthropic Institute. When AI builds itself. 2026.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DCA2918-C2D3-4679-9A70-EC0878CD9F2B}"/>
              </a:ext>
            </a:extLst>
          </p:cNvPr>
          <p:cNvSpPr>
            <a:spLocks noGrp="1"/>
          </p:cNvSpPr>
          <p:nvPr/>
        </p:nvSpPr>
        <p:spPr>
          <a:xfrm>
            <a:off x="685800" y="5305425"/>
            <a:ext cx="108204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[11] ModelScope. AgentEvolver官方代码仓库. Apache-2.0.</a:t>
            </a:r>
          </a:p>
        </p:txBody>
      </p:sp>
    </p:spTree>
    <p:extLst>
      <p:ext uri="{BB962C8B-B14F-4D97-AF65-F5344CB8AC3E}">
        <p14:creationId xmlns:p14="http://schemas.microsoft.com/office/powerpoint/2010/main" val="15269230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AF133581-E2C4-4192-A7D3-C5DF9243F8A3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答辩备份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24875E6-040E-413F-9CA2-B9113C30C1A8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训练结果怎样避免只在排行榜上好看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DECA124-FF05-43D1-9C35-E4DB09E4295D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3B62AA5-D67F-4311-89BF-D3D7C56729AB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Chen等, AAR, 2026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131E5F1-D410-4B84-A130-69D6D360617F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27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4B4049B-8D43-4F5F-BA34-A69B9E4608E2}"/>
              </a:ext>
            </a:extLst>
          </p:cNvPr>
          <p:cNvSpPr>
            <a:spLocks noGrp="1"/>
          </p:cNvSpPr>
          <p:nvPr/>
        </p:nvSpPr>
        <p:spPr>
          <a:xfrm>
            <a:off x="685800" y="220980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研究Agent能看到爬坡评分，隐藏评测由独立评测器执行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89CB959-B06D-4A16-839D-22FB87179341}"/>
              </a:ext>
            </a:extLst>
          </p:cNvPr>
          <p:cNvSpPr>
            <a:spLocks noGrp="1"/>
          </p:cNvSpPr>
          <p:nvPr/>
        </p:nvSpPr>
        <p:spPr>
          <a:xfrm>
            <a:off x="685800" y="307657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能力门槛：MMLU、GSM8K、IFEval的95%置信区间检查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2F5B8FE-AC02-451A-B556-18B1E0D1D910}"/>
              </a:ext>
            </a:extLst>
          </p:cNvPr>
          <p:cNvSpPr>
            <a:spLocks noGrp="1"/>
          </p:cNvSpPr>
          <p:nvPr/>
        </p:nvSpPr>
        <p:spPr>
          <a:xfrm>
            <a:off x="685800" y="394335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held-out参与选择Petri方法时承担验证集作用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3FFCAA4-B829-49EB-A530-3C64F52F7803}"/>
              </a:ext>
            </a:extLst>
          </p:cNvPr>
          <p:cNvSpPr>
            <a:spLocks noGrp="1"/>
          </p:cNvSpPr>
          <p:nvPr/>
        </p:nvSpPr>
        <p:spPr>
          <a:xfrm>
            <a:off x="685800" y="481012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外部评测与代码监控降低风险，仍需检查取巧和泛化</a:t>
            </a:r>
          </a:p>
        </p:txBody>
      </p:sp>
    </p:spTree>
    <p:extLst>
      <p:ext uri="{BB962C8B-B14F-4D97-AF65-F5344CB8AC3E}">
        <p14:creationId xmlns:p14="http://schemas.microsoft.com/office/powerpoint/2010/main" val="128530864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BE869816-0EF8-41B5-9B98-C10EA41384F1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答辩备份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16278F8-CDA7-4F5C-8599-7F25CD4502C3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KL与改善空间的数学解释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4D349FC-B028-45CA-B7EC-13D353063856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31F8B22-C6D3-426D-A4FB-4790B271221D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Chen等, AAR, 2026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30F6CB0-630E-4AC0-90F6-EB02C3232D8A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28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0120ADC-DB40-449E-A610-DE4238B0636F}"/>
              </a:ext>
            </a:extLst>
          </p:cNvPr>
          <p:cNvSpPr>
            <a:spLocks noGrp="1"/>
          </p:cNvSpPr>
          <p:nvPr/>
        </p:nvSpPr>
        <p:spPr>
          <a:xfrm>
            <a:off x="685800" y="220980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教学选定的KL(pT∥pθ) = Σ pT(y) log[pT(y)/pθ(y)]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9942598-630E-429B-AB0D-CD656E104969}"/>
              </a:ext>
            </a:extLst>
          </p:cNvPr>
          <p:cNvSpPr>
            <a:spLocks noGrp="1"/>
          </p:cNvSpPr>
          <p:nvPr/>
        </p:nvSpPr>
        <p:spPr>
          <a:xfrm>
            <a:off x="685800" y="307657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优化学生参数，使学生输出分布接近教师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244511B-8F69-4C4C-9023-78CC388BDD90}"/>
              </a:ext>
            </a:extLst>
          </p:cNvPr>
          <p:cNvSpPr>
            <a:spLocks noGrp="1"/>
          </p:cNvSpPr>
          <p:nvPr/>
        </p:nvSpPr>
        <p:spPr>
          <a:xfrm>
            <a:off x="685800" y="394335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单基准改善比例 = (得分 − 基线) / (最优 − 基线)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50BBC40-3AEE-40DD-94FC-EB6DF204C859}"/>
              </a:ext>
            </a:extLst>
          </p:cNvPr>
          <p:cNvSpPr>
            <a:spLocks noGrp="1"/>
          </p:cNvSpPr>
          <p:nvPr/>
        </p:nvSpPr>
        <p:spPr>
          <a:xfrm>
            <a:off x="685800" y="481012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多基准汇总使用几何均值，负向指标需按原文转换</a:t>
            </a:r>
          </a:p>
        </p:txBody>
      </p:sp>
    </p:spTree>
    <p:extLst>
      <p:ext uri="{BB962C8B-B14F-4D97-AF65-F5344CB8AC3E}">
        <p14:creationId xmlns:p14="http://schemas.microsoft.com/office/powerpoint/2010/main" val="12963747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1AB98444-D965-447F-A4DA-C943B3D8D00E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答辩备份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FC1FCF6-22D4-4C02-86C4-56A99421A681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前150个方法比较的适用范围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F0249A5-461C-4E1C-B502-8B4356D6E86E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B8D91B7-DFEF-4639-9ACE-DE0891E067B2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Chen等, AAR, 2026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F62929C-5C2D-4AE2-B0CC-E0AFEE721E7A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29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55C4DC8-D042-4F4F-8508-04356CEC75DC}"/>
              </a:ext>
            </a:extLst>
          </p:cNvPr>
          <p:cNvSpPr>
            <a:spLocks noGrp="1"/>
          </p:cNvSpPr>
          <p:nvPr/>
        </p:nvSpPr>
        <p:spPr>
          <a:xfrm>
            <a:off x="685800" y="220980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不受限研究允许探索不同训练配方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0099AE0-0EF5-48A6-BF42-447039B33252}"/>
              </a:ext>
            </a:extLst>
          </p:cNvPr>
          <p:cNvSpPr>
            <a:spLocks noGrp="1"/>
          </p:cNvSpPr>
          <p:nvPr/>
        </p:nvSpPr>
        <p:spPr>
          <a:xfrm>
            <a:off x="685800" y="307657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公开数据SFT与自由数据SFT限制训练方式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69C0D69-71A2-4623-9E99-10B9BF750CCC}"/>
              </a:ext>
            </a:extLst>
          </p:cNvPr>
          <p:cNvSpPr>
            <a:spLocks noGrp="1"/>
          </p:cNvSpPr>
          <p:nvPr/>
        </p:nvSpPr>
        <p:spPr>
          <a:xfrm>
            <a:off x="685800" y="394335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23.3%、6.0%、2.9%对应Fig.20前150个已评分方法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3541CA2-349C-480D-95FD-AB0AA5349600}"/>
              </a:ext>
            </a:extLst>
          </p:cNvPr>
          <p:cNvSpPr>
            <a:spLocks noGrp="1"/>
          </p:cNvSpPr>
          <p:nvPr/>
        </p:nvSpPr>
        <p:spPr>
          <a:xfrm>
            <a:off x="685800" y="481012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每条件一次，仅爬坡评测；不推断单一方法因果贡献</a:t>
            </a:r>
          </a:p>
        </p:txBody>
      </p:sp>
    </p:spTree>
    <p:extLst>
      <p:ext uri="{BB962C8B-B14F-4D97-AF65-F5344CB8AC3E}">
        <p14:creationId xmlns:p14="http://schemas.microsoft.com/office/powerpoint/2010/main" val="113448973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BFECCE9E-9A0C-443B-AF91-A0267FC99AF1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答辩备份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6CBE213-601C-4606-A955-7E4C4B96F915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另一个实验：研究Agent只生成训练数据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A67198A-0F1D-4785-87F2-AF67456AA546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920372D-7265-4D89-9E13-31DE4BD68A35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Chen等, AAR, 2026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B1CFF66-8432-4CA5-BCDA-3DC538A870FA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30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F1F5B19-90E8-45C4-86F0-1871B70CAF50}"/>
              </a:ext>
            </a:extLst>
          </p:cNvPr>
          <p:cNvSpPr>
            <a:spLocks noGrp="1"/>
          </p:cNvSpPr>
          <p:nvPr/>
        </p:nvSpPr>
        <p:spPr>
          <a:xfrm>
            <a:off x="685800" y="220980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研究Agent：Sonnet 5；只能构造训练数据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341BB55-8982-47A8-A0E7-FDB98BC849D0}"/>
              </a:ext>
            </a:extLst>
          </p:cNvPr>
          <p:cNvSpPr>
            <a:spLocks noGrp="1"/>
          </p:cNvSpPr>
          <p:nvPr/>
        </p:nvSpPr>
        <p:spPr>
          <a:xfrm>
            <a:off x="685800" y="307657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目标：Opus 4.8早期检查点，已有对齐SFT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2D18EC3-4D39-4D3E-8C0F-B4421C011312}"/>
              </a:ext>
            </a:extLst>
          </p:cNvPr>
          <p:cNvSpPr>
            <a:spLocks noGrp="1"/>
          </p:cNvSpPr>
          <p:nvPr/>
        </p:nvSpPr>
        <p:spPr>
          <a:xfrm>
            <a:off x="685800" y="394335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产生数据后训练目标模型，再做Petri评测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A60F6C6-F9F6-4F13-8FA8-DCF75B97ABC8}"/>
              </a:ext>
            </a:extLst>
          </p:cNvPr>
          <p:cNvSpPr>
            <a:spLocks noGrp="1"/>
          </p:cNvSpPr>
          <p:nvPr/>
        </p:nvSpPr>
        <p:spPr>
          <a:xfrm>
            <a:off x="685800" y="481012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这个设置与Qwen激活引导实验分开</a:t>
            </a:r>
          </a:p>
        </p:txBody>
      </p:sp>
    </p:spTree>
    <p:extLst>
      <p:ext uri="{BB962C8B-B14F-4D97-AF65-F5344CB8AC3E}">
        <p14:creationId xmlns:p14="http://schemas.microsoft.com/office/powerpoint/2010/main" val="209681763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131908E8-1106-439A-9541-A59F3163864E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答辩备份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12DE8FF-8E73-46CF-9E81-9F319DEB3495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65%与72%究竟衡量什么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E4A125C-F9FD-433F-89C9-EB97FD45420E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0893F3E-B6AA-4146-809A-74B4C076B63B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Chen等, AAR, 2026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2BDB8B0-3676-41D8-A391-C6AC4C7337CD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31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806F2BB-739A-4525-B1D6-4FBCDD3F1E5C}"/>
              </a:ext>
            </a:extLst>
          </p:cNvPr>
          <p:cNvSpPr>
            <a:spLocks noGrp="1"/>
          </p:cNvSpPr>
          <p:nvPr/>
        </p:nvSpPr>
        <p:spPr>
          <a:xfrm>
            <a:off x="685800" y="220980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所设十维Petri审计：覆盖加权的改善空间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DD6730D-7A10-4BD5-AEDC-7375C8656FF2}"/>
              </a:ext>
            </a:extLst>
          </p:cNvPr>
          <p:cNvSpPr>
            <a:spLocks noGrp="1"/>
          </p:cNvSpPr>
          <p:nvPr/>
        </p:nvSpPr>
        <p:spPr>
          <a:xfrm>
            <a:off x="685800" y="307657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公式：改善维度比例 × 改善比例的几何均值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1817772-D989-4C34-A61E-4DE86A222D53}"/>
              </a:ext>
            </a:extLst>
          </p:cNvPr>
          <p:cNvSpPr>
            <a:spLocks noGrp="1"/>
          </p:cNvSpPr>
          <p:nvPr/>
        </p:nvSpPr>
        <p:spPr>
          <a:xfrm>
            <a:off x="685800" y="394335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研究胜出检查点65%，发布版对照72%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D9AE142-6047-444E-9EB3-D5E8141EDAC7}"/>
              </a:ext>
            </a:extLst>
          </p:cNvPr>
          <p:cNvSpPr>
            <a:spLocks noGrp="1"/>
          </p:cNvSpPr>
          <p:nvPr/>
        </p:nvSpPr>
        <p:spPr>
          <a:xfrm>
            <a:off x="685800" y="481012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它衡量设定维度的改善，不能读成总体安全通过率</a:t>
            </a:r>
          </a:p>
        </p:txBody>
      </p:sp>
    </p:spTree>
    <p:extLst>
      <p:ext uri="{BB962C8B-B14F-4D97-AF65-F5344CB8AC3E}">
        <p14:creationId xmlns:p14="http://schemas.microsoft.com/office/powerpoint/2010/main" val="207857447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E2E47DCB-FAC4-4F0D-AEC6-9144AE79476E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答辩备份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2A4A97B-F50C-4F4B-9A64-C116ACD56E2A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3.1个Agent工作日怎样理解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89C1E67-2186-4F17-A468-43C456E12E0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0C53EF3-3530-4BB9-88BD-7902C765A074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[9] OpenAI研究加速, 2026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6F108F8-019D-4F24-B39D-95C9C25EEAC2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32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C26DA58-2FE8-4D98-BF73-0C7F07E064BA}"/>
              </a:ext>
            </a:extLst>
          </p:cNvPr>
          <p:cNvSpPr>
            <a:spLocks noGrp="1"/>
          </p:cNvSpPr>
          <p:nvPr/>
        </p:nvSpPr>
        <p:spPr>
          <a:xfrm>
            <a:off x="685800" y="220980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Agent运行工作日 / 人类工作日 = 3.1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5E790D2-40B1-4AE6-9082-09AE70D05C98}"/>
              </a:ext>
            </a:extLst>
          </p:cNvPr>
          <p:cNvSpPr>
            <a:spLocks noGrp="1"/>
          </p:cNvSpPr>
          <p:nvPr/>
        </p:nvSpPr>
        <p:spPr>
          <a:xfrm>
            <a:off x="685800" y="307657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按8小时折算运行时长，截至2026年8月中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B23BCE9-170A-454A-A11E-303B386E2AD8}"/>
              </a:ext>
            </a:extLst>
          </p:cNvPr>
          <p:cNvSpPr>
            <a:spLocks noGrp="1"/>
          </p:cNvSpPr>
          <p:nvPr/>
        </p:nvSpPr>
        <p:spPr>
          <a:xfrm>
            <a:off x="685800" y="394335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可以说明组织采用规模，不能直接换算产出效率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1B723B7-7282-4C4C-B0F0-3D74C6B50079}"/>
              </a:ext>
            </a:extLst>
          </p:cNvPr>
          <p:cNvSpPr>
            <a:spLocks noGrp="1"/>
          </p:cNvSpPr>
          <p:nvPr/>
        </p:nvSpPr>
        <p:spPr>
          <a:xfrm>
            <a:off x="685800" y="481012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净提效还需质量、人工成本与失败任务等对照</a:t>
            </a:r>
          </a:p>
        </p:txBody>
      </p:sp>
    </p:spTree>
    <p:extLst>
      <p:ext uri="{BB962C8B-B14F-4D97-AF65-F5344CB8AC3E}">
        <p14:creationId xmlns:p14="http://schemas.microsoft.com/office/powerpoint/2010/main" val="172594246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D80BCA5D-3ACB-4D81-972A-00280BC4F1C1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答辩备份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963F167-0183-44AB-8A5F-4507F3251750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代码开放与模型训练开放的区别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9A40273-C1FE-466B-9F5B-24083CBC7284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4170572-FFF0-45B8-95B5-DD53E3E3A5F5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[7] AgentEvolver, 2025；[8] DGM, 2025；[11] AgentEvolver代码库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8E5AD5F-C255-4E63-B32B-285D16F59CAD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33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E8A8812-D60B-4AA1-AF0B-3FE4A7C441CE}"/>
              </a:ext>
            </a:extLst>
          </p:cNvPr>
          <p:cNvSpPr>
            <a:spLocks noGrp="1"/>
          </p:cNvSpPr>
          <p:nvPr/>
        </p:nvSpPr>
        <p:spPr>
          <a:xfrm>
            <a:off x="685800" y="220980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AgentEvolver支持任务生成、经验复用和策略训练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36AF50F-1023-4FF5-A162-F14D63C8A979}"/>
              </a:ext>
            </a:extLst>
          </p:cNvPr>
          <p:cNvSpPr>
            <a:spLocks noGrp="1"/>
          </p:cNvSpPr>
          <p:nvPr/>
        </p:nvSpPr>
        <p:spPr>
          <a:xfrm>
            <a:off x="685800" y="307657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DGM探索修改Agent工具与代码，底层权重需另查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32F4C9B-5911-450B-896C-0BE1D070879E}"/>
              </a:ext>
            </a:extLst>
          </p:cNvPr>
          <p:cNvSpPr>
            <a:spLocks noGrp="1"/>
          </p:cNvSpPr>
          <p:nvPr/>
        </p:nvSpPr>
        <p:spPr>
          <a:xfrm>
            <a:off x="685800" y="394335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框架代码可以开放，训练权重和数据可能另有条件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F856781-A117-49AE-A023-235B1BD5E263}"/>
              </a:ext>
            </a:extLst>
          </p:cNvPr>
          <p:cNvSpPr>
            <a:spLocks noGrp="1"/>
          </p:cNvSpPr>
          <p:nvPr/>
        </p:nvSpPr>
        <p:spPr>
          <a:xfrm>
            <a:off x="685800" y="481012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复现应逐项确认模型、数据、环境和计算预算</a:t>
            </a:r>
          </a:p>
        </p:txBody>
      </p:sp>
    </p:spTree>
    <p:extLst>
      <p:ext uri="{BB962C8B-B14F-4D97-AF65-F5344CB8AC3E}">
        <p14:creationId xmlns:p14="http://schemas.microsoft.com/office/powerpoint/2010/main" val="96032749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B228368C-91AE-43E0-8B84-1AA3A735F29D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答辩备份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3248B74-E950-4A2D-8FF1-89D048356F52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为什么人审不能单独判定RSI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774E55E-F894-4836-BB3E-7F6F35FA6DE8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DF16C71-6CDA-4878-95C0-A287F7F48408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Chen等, AAR, 2026；[5] Lewi, Codex评测, 2026；[8] DGM, 2025；[10] Anthropic RSI分析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3BB5780-AD07-4B92-96F1-8DDDE06D77A6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34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C49B837-257E-44F5-AC30-3CB673C5D3AD}"/>
              </a:ext>
            </a:extLst>
          </p:cNvPr>
          <p:cNvSpPr>
            <a:spLocks noGrp="1"/>
          </p:cNvSpPr>
          <p:nvPr/>
        </p:nvSpPr>
        <p:spPr>
          <a:xfrm>
            <a:off x="685800" y="220980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人工审批说明谁控制目标、执行或发布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6A73A65-E83A-4EE5-A40C-9C83004EECDC}"/>
              </a:ext>
            </a:extLst>
          </p:cNvPr>
          <p:cNvSpPr>
            <a:spLocks noGrp="1"/>
          </p:cNvSpPr>
          <p:nvPr/>
        </p:nvSpPr>
        <p:spPr>
          <a:xfrm>
            <a:off x="685800" y="307657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技术判断要追踪修改对象与能力反馈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A3C3486-13DE-4440-BE34-CE1075002D5F}"/>
              </a:ext>
            </a:extLst>
          </p:cNvPr>
          <p:cNvSpPr>
            <a:spLocks noGrp="1"/>
          </p:cNvSpPr>
          <p:nvPr/>
        </p:nvSpPr>
        <p:spPr>
          <a:xfrm>
            <a:off x="685800" y="394335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有审批的系统仍可能存在局部递归能力改进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370EC4E-FA8E-4CA3-BA1A-8428C43AC5D2}"/>
              </a:ext>
            </a:extLst>
          </p:cNvPr>
          <p:cNvSpPr>
            <a:spLocks noGrp="1"/>
          </p:cNvSpPr>
          <p:nvPr/>
        </p:nvSpPr>
        <p:spPr>
          <a:xfrm>
            <a:off x="685800" y="481012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没有审批也不保证持续后继研发或可靠结果</a:t>
            </a:r>
          </a:p>
        </p:txBody>
      </p:sp>
    </p:spTree>
    <p:extLst>
      <p:ext uri="{BB962C8B-B14F-4D97-AF65-F5344CB8AC3E}">
        <p14:creationId xmlns:p14="http://schemas.microsoft.com/office/powerpoint/2010/main" val="156486784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3895</Words>
  <Application>Microsoft Office PowerPoint</Application>
  <DocSecurity>0</DocSecurity>
  <PresentationFormat>宽屏</PresentationFormat>
  <Paragraphs>596</Paragraphs>
  <Slides>34</Slides>
  <Notes>34</Notes>
  <HiddenSlides>0</HiddenSlides>
  <MMClips>1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37" baseType="lpstr">
      <vt:lpstr>Aptos</vt:lpstr>
      <vt:lpstr>Microsoft YaHei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云海 陈</cp:lastModifiedBy>
  <cp:revision>1</cp:revision>
  <dcterms:created xsi:type="dcterms:W3CDTF">2026-10-14T03:15:40Z</dcterms:created>
  <dcterms:modified xsi:type="dcterms:W3CDTF">2026-10-14T03:16:05Z</dcterms:modified>
</cp:coreProperties>
</file>