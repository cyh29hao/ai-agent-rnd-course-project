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原样公共数据 SFT</c:v>
                </c:pt>
                <c:pt idx="1">
                  <c:v>自由构造数据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主讲第1页，设计预算15秒（未真人计时）。</a:t>
            </a:r>
          </a:p>
          <a:p>
            <a:r>
              <a:t>大家好。我们关注的是智能体在大模型产业研发中的应用。AI已经开始参与研发AI，那么，这些改进能不能一轮一轮继续下去？这是今天想回答的问题。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主讲第2页，设计预算30秒（未真人计时）。</a:t>
            </a:r>
          </a:p>
          <a:p>
            <a:r>
              <a:t>这个问题其实比大模型早得多。1965年，统计学家Good就讨论过：如果机器能够参与设计更好的机器，改进会不会不断继续？当时主要是思想推演，今天则开始出现能检查的研发实例。我们不急着预测什么时候会发生智能爆炸，先把问题落到一项真实任务上：Agent接过了什么工作，交付了什么，又怎样知道它做得更好？</a:t>
            </a:r>
          </a:p>
          <a:p>
            <a:endParaRPr/>
          </a:p>
          <a:p>
            <a:r>
              <a:t>来源：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主讲第3页，设计预算35秒（未真人计时）。</a:t>
            </a:r>
          </a:p>
          <a:p>
            <a:r>
              <a:t>可以先想象研究员面前的一轮实验：有了一个想法，还得写代码、配置训练、读日志，最后判断结果值不值得保留。比如，模型变得更少迎合用户了，会不会同时变得不擅长数学？一次实验失败，下次又该从哪里接着试？这些工作有明确工具，也有需要判断的环节。课程里讲的工具调用、记忆和评测，进入大模型研发以后，就对应这些具体动作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主讲第4页，设计预算40秒（未真人计时）。</a:t>
            </a:r>
          </a:p>
          <a:p>
            <a:r>
              <a:t>自我修改听起来很诱人，但有一个老问题：凭什么保留这次修改？这里有两种思路。Gödel Machine要求先证明修改有益，再允许修改；这个保证很强，但真实研发很难事先把所有后果都证明清楚。另一种思路是产生候选，实际运行，再用评测筛选，神经架构搜索和后面的代码自改研究更接近这条路线。它们体现的是验证方式的差异。今天的案例主要依赖实验，所以评测测了什么、漏了什么，会直接影响结论。</a:t>
            </a:r>
          </a:p>
          <a:p>
            <a:endParaRPr/>
          </a:p>
          <a:p>
            <a:r>
              <a:t>来源：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主讲第5页，设计预算20秒（未真人计时）。</a:t>
            </a:r>
          </a:p>
          <a:p>
            <a:r>
              <a:t>下面按这四步展开：任务怎样交给Agent，方法怎样进入模型，结果怎样用于下一轮，最后再问哪些证据能支持递归自我改进。大家可以一直带着一个问题看：这次到底是哪一部分变好了？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主讲第6页，设计预算25秒（未真人计时）。</a:t>
            </a:r>
          </a:p>
          <a:p>
            <a:r>
              <a:t>我们重点选这两家，因为公开证据互相补充：Anthropic能追到训练方法和模型变化，OpenAI能追到任务、工具和决策记录。再用Google与开放研究补上算法、策略和代码。这样选，方便比较不同研发环节，不是在给公司排座次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主讲第7页，设计预算40秒（未真人计时）。</a:t>
            </a:r>
          </a:p>
          <a:p>
            <a:r>
              <a:t>先看Anthropic Fellows项目的一项公开对齐研究。任务是让模型少迎合错误观点：用户说错了，模型也应该能指出问题。请看图上三个角色。Claude Opus4.8作为研究Agent，想办法、写实现和调用训练工具；Qwen3.5-2B是接受训练的目标模型；评测器检查改善和能力副作用。这里“Agent研发AI”的具体含义，就是它能通过工具改变另一个模型。下面看它怎样把一个想法变成可检查的实验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主讲第8页，设计预算40秒（未真人计时）。</a:t>
            </a:r>
          </a:p>
          <a:p>
            <a:r>
              <a:t>从左往右看，一轮研究先读资料、提出假设，在看到本轮评测结果之前冻结小论文，再提交实现。这样就能对照原来的假设检查结果。基本规则不允许利用评测数据，也禁止从研究Agent或更强模型蒸馏。代码经过监控，训练工具更新目标模型，最后由外部评测打分。典型方法的预算约一张H200、半小时。所以，Agent必须把想法做成可运行的方法，同时遵守资源和数据边界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主讲第9页，设计预算40秒（未真人计时）。</a:t>
            </a:r>
          </a:p>
          <a:p>
            <a:r>
              <a:t>一次尝试结束以后，结果不会随着聊天结束就消失。多个研究Agent并行探索，方法、得分和研究记录进入共享资料。新的会话可以读取这些记录，知道哪些方向试过，再提出下一种方法。所以这里的记忆首先是一套外部工程机制：即使换了会话，研究也能接续。请注意这个回流方向，它把经验带回下一次尝试，却没有因此更新研究Agent的模型权重。下一页我们就看一个真正涉及目标模型变化的方法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主讲第10页，设计预算50秒（未真人计时）。</a:t>
            </a:r>
          </a:p>
          <a:p>
            <a:r>
              <a:t>这项研究在开放权重实验中找到的一条成功路线，是激活引导加自蒸馏。先只看第一步。模型回答问题时，中间会形成内部表示；方法对这些表示施加方向性的干预，让回答更倾向于指出错误，而不是顺着用户说。图上的教师，就是目标模型经过引导后的版本，并不是另外请来的一个更强模型。这个干预作用在模型内部，不是把一条新指令拼到用户提示里。可以把这一步理解为，先临时改变它的回答倾向。此时学生还没有经过训练：去掉这项推理时干预，刚才的变化能不能留下来？这就需要第二步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主讲第11页，设计预算50秒（未真人计时）。</a:t>
            </a:r>
          </a:p>
          <a:p>
            <a:r>
              <a:t>请跟着短片看三个动作。首先，引导后的教师给出输出概率分布；学生也给出自己的分布。然后，训练目标用KL散度衡量两者的差异，并据此调整学生参数。最后，学生不用刚才的临时引导，正常推理，再接受外部评测。把教师和学生分开讲，就是为了看清临时干预与参数训练发生在不同阶段。也就是说，第一步改变教师的输出，第二步才试着把这种行为写进学生权重。短片是教学示意，不是论文的实验录像。分布更接近，只说明训练目标被优化了；学生是否真的少迎合、是否损失能力，仍要看最后的评测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主讲第12页，设计预算40秒（未真人计时）。</a:t>
            </a:r>
          </a:p>
          <a:p>
            <a:r>
              <a:t>在展示真实数字之前，先看这个教学例子。假设基线是50分，训练以后70分，最优是100分。实际多了20分，但原来有50分的改善空间，所以关闭了40%的改善空间。分母是原来还能提高多少，不是测试题的总数，因此这个40%不能读成通过率。如果换了基线，百分数也会随原有改善空间改变。论文还会把多个基准汇总，具体计算放在备份。大家只要先记住这条尺子，下一页的百分数就不会被误读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主讲第13页，设计预算40秒（未真人计时）。</a:t>
            </a:r>
          </a:p>
          <a:p>
            <a:r>
              <a:t>这里选取论文图二十的四种条件中的三种，看前150个已评分方法。公共数据SFT是6.0%，自由构造数据SFT是2.9%，不受限研究方法是23.3%。这是搜索条件的比较，不能把23.3%全算成刚才蒸馏配方的效果。每个条件只有一次运行，相同方法数量也不代表总成本相同。我们看到的是具体任务中的改善；下一部分换一个环节，看Agent怎样协助把评测本身跑清楚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跑完以后，Runme保存的不只是最后一个分数。请从上到下看：目标和计划解释为什么做，命令和输出记录具体发生了什么，解释与取舍说明下一步根据什么继续。这样换一个会话，Codex也能读取旧记录，不必每次重新摸索。这和前面共享实验记录的想法相通：经验被保存下来，后续任务可以复用。到这里改善的是研发流程和外部记忆；我们还没有证据说，Codex自己的模型权重因此改变了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获得23%的加速，对应Gemini总训练时间减少1%。看到两个数字，先分别找分母：左边是一个算子，右边是完整训练。完整训练还有其他大量工作，所以局部加速很明显，整体收益仍可能较小。这个例子说明，Agent产生的算法确实可以改善AI训练的一部分。但不能据此说，整个训练都快了23%，也不能直接跳到Agent已经独立研发出下一代Gemini。</a:t>
            </a:r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主讲第19页，设计预算40秒（未真人计时）。</a:t>
            </a:r>
          </a:p>
          <a:p>
            <a:r>
              <a:t>再看开放研究，改动对象还有两类。通义团队的AgentEvolver通过生成任务、复用经验和轨迹贡献归因，支持Agent策略训练。Sakana的Darwin Gödel Machine则修改Agent自身代码，用基准评价，并保留候选谱系，让不同版本继续探索。一个改策略，一个改代码，不能都笼统说成基础模型权重升级。开放框架让这些方法更容易被检查，但不等于相关数据和权重也全部开放。</a:t>
            </a:r>
          </a:p>
          <a:p>
            <a:endParaRPr/>
          </a:p>
          <a:p>
            <a:r>
              <a:t>来源：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主讲第20页，设计预算40秒（未真人计时）。</a:t>
            </a:r>
          </a:p>
          <a:p>
            <a:r>
              <a:t>现在把案例放回同一张研发地图，大家看每一行到底改了什么：Anthropic改变目标模型的后训练方法和权重，OpenAI改善评测流程与记录，Google优化训练相关算法，开放研究则训练策略或修改Agent代码。它们都进入了AI研发，却不是同一种改进。因此，遇到“AI会自我改进”的说法，先问改的是哪一部分，再问怎样验证。分清对象以后，我们才有条件讨论递归的那个环节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主讲第21页，设计预算45秒（未真人计时）。</a:t>
            </a:r>
          </a:p>
          <a:p>
            <a:r>
              <a:t>请先看图中已有证据的回路：执行之后得到评测和记录，这些结果回到下一次尝试。再看另一条回路：研发得到的变化，能不能提高系统继续做研发的能力？把上一轮更好的程序存下来，和因此获得更强研发能力，需要分别验证。DGM已经展示了限定代码系统中的局部自改进。我们这里强调的证据缺口，指向基础模型后继研发的持续循环：改进能否帮助它不断研发出更强的后继模型？人是否审批是治理安排，不能单凭这一点判断有没有技术上的递归改进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主讲第22页，设计预算35秒（未真人计时）。</a:t>
            </a:r>
          </a:p>
          <a:p>
            <a:r>
              <a:t>怎样补上这些证据？我们可以沿着三件事继续检查。第一，新版本离开参与搜索的题目以后，是否仍然更强？第二，它是否让下一轮研究更有效，而不仅是在同一张排行榜上继续爬分？第三，多轮之后，这种收益能否保留下来，副作用和资源代价是否可接受？这些问题把一次成功与持续进步区分开。目前的公开案例已经回答了其中一些局部问题，但还没有把这条完整链条验证充分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主讲第23页，设计预算20秒（未真人计时）。</a:t>
            </a:r>
          </a:p>
          <a:p>
            <a:r>
              <a:t>回到题目：AI参与研发AI已有实例，限定代码系统的局部自改也有证据。还需要检验的是，这些改进能否持续提高基础模型的后继研发能力。一次成功之后，下一轮研究是否因此更强？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主讲第24页，设计预算5秒（未真人计时）。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App. D.4。全程峰值26.4/18.7/6.0/4.5与固定方法数不同。相同方法数不等于同全部时间、成本。该比较未重跑held-out/Petri。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不要把框架Apache-2.0外推为所有模型、训练数据或基础设施开放。SWE与Polyglot结果是各自基准，不能与Qwen谄媚分数直接排名。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D766A6-9D9B-4A3E-B7A7-F046388A7BC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63813F-A46F-4B3E-813A-C0A8918C47E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F65E28-8458-4031-A5EB-FE46193E5A72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0226B-FF11-45FD-BD22-A5730764F411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86A8-D3F3-4F8C-B4CC-392BA648D53A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149605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E0CE4BD-255C-4A19-AAD8-BA030C8195D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0B22D3-BD07-419B-864D-AA3302AB319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机器设计更好机器：一个早于大模型的问题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601F71-0E43-4840-945E-B5DB8B81F64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E760A6-9165-4A2C-9092-53908871B7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Good, 1965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EFC7B-A790-464A-AB63-411C16858DF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0E107D-BEA3-45D3-B071-B90E9A0CB4D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981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1965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AE3B0F-22AB-4D26-9947-14027C368FC1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I. J. Good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B29067-D4FB-4D2F-8DC9-70FC113CC1E6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267450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如果机器能参与设计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更好的机器，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改进会不会继续？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FC4B8E-A72F-45EC-B440-60E421582665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C0A842-AF20-4B76-9F21-105887328A77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今天可以追问：它接手了哪项任务，交付了什么结果</a:t>
            </a:r>
          </a:p>
        </p:txBody>
      </p:sp>
    </p:spTree>
    <p:extLst>
      <p:ext uri="{BB962C8B-B14F-4D97-AF65-F5344CB8AC3E}">
        <p14:creationId xmlns:p14="http://schemas.microsoft.com/office/powerpoint/2010/main" val="158071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4E9B0F6-653B-4A0B-B491-7ECFEBDF0E7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69740E-04EB-4838-8D96-92CE20D2A05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研发AI，需要反复做实验和评测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8D70A-6C85-402E-9BBA-C5A4D4CE38B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A143D6-5E76-4F94-8813-FF0EED5EA83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CCB0EB-EB7F-49B6-8692-D3F7D98317D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F65A8-271B-468C-911E-D102420AB4E9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CCBCC1-D2A2-450E-82F8-0771592A4813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提出训练方法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BB01500-7788-44BF-8BC9-D4DCDB31C03C}"/>
              </a:ext>
            </a:extLst>
          </p:cNvPr>
          <p:cNvSpPr>
            <a:spLocks noGrp="1"/>
          </p:cNvSpPr>
          <p:nvPr/>
        </p:nvSpPr>
        <p:spPr>
          <a:xfrm>
            <a:off x="30575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2261EE-E319-45F4-BD8E-218D252BE3FC}"/>
              </a:ext>
            </a:extLst>
          </p:cNvPr>
          <p:cNvSpPr>
            <a:spLocks noGrp="1"/>
          </p:cNvSpPr>
          <p:nvPr/>
        </p:nvSpPr>
        <p:spPr>
          <a:xfrm>
            <a:off x="34671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01DC22-4CB1-4D61-8A47-D9AE625221BC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把方法变成代码与训练任务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EBF073B6-0029-40A5-9E1A-16E6A3BC4C73}"/>
              </a:ext>
            </a:extLst>
          </p:cNvPr>
          <p:cNvSpPr>
            <a:spLocks noGrp="1"/>
          </p:cNvSpPr>
          <p:nvPr/>
        </p:nvSpPr>
        <p:spPr>
          <a:xfrm>
            <a:off x="58388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ED99C6-B7F9-4759-821F-C26CEBC11BD6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971C55-B703-4E6E-B199-8B3EEC790739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检查行为改善和能力损失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69D94B7-B953-40AB-B7EF-7D937B137CE7}"/>
              </a:ext>
            </a:extLst>
          </p:cNvPr>
          <p:cNvSpPr>
            <a:spLocks noGrp="1"/>
          </p:cNvSpPr>
          <p:nvPr/>
        </p:nvSpPr>
        <p:spPr>
          <a:xfrm>
            <a:off x="86201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95D9F4-D1BC-4BBA-9594-6204F063CE12}"/>
              </a:ext>
            </a:extLst>
          </p:cNvPr>
          <p:cNvSpPr>
            <a:spLocks noGrp="1"/>
          </p:cNvSpPr>
          <p:nvPr/>
        </p:nvSpPr>
        <p:spPr>
          <a:xfrm>
            <a:off x="90297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65229D-2BF5-468A-9115-8E3F39E89FC9}"/>
              </a:ext>
            </a:extLst>
          </p:cNvPr>
          <p:cNvSpPr>
            <a:spLocks noGrp="1"/>
          </p:cNvSpPr>
          <p:nvPr/>
        </p:nvSpPr>
        <p:spPr>
          <a:xfrm>
            <a:off x="90297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记录失败，决定下一次尝试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C4BD83-B442-4E59-AF82-0B0C317D521E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一次行为改善，可能伴随其他能力下降</a:t>
            </a:r>
          </a:p>
        </p:txBody>
      </p:sp>
    </p:spTree>
    <p:extLst>
      <p:ext uri="{BB962C8B-B14F-4D97-AF65-F5344CB8AC3E}">
        <p14:creationId xmlns:p14="http://schemas.microsoft.com/office/powerpoint/2010/main" val="89431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8BBAD4A-5664-461B-9CE7-CA76D6D0DF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687911-61A4-4286-9D8B-E40DCA111B2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自我修改怎样才值得保留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5D6F6-048E-4CD3-88B5-B789CA13BBA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F42727-051D-492B-A85D-D63ECD67C8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[2] Gödel Machines；[3] NAS, 2016；[8]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2A3A70-A7F1-4F62-B6A1-FBA0234856F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6B9080-0A48-4AB8-85B7-7ACDBEF3095B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证明后修改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45F74-C3D5-4EEF-9F2D-786EEC68447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Gödel Machine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先证明修改有益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1E9EE5-6898-4763-AB59-90D605DFC2CA}"/>
              </a:ext>
            </a:extLst>
          </p:cNvPr>
          <p:cNvSpPr>
            <a:spLocks noGrp="1"/>
          </p:cNvSpPr>
          <p:nvPr/>
        </p:nvSpPr>
        <p:spPr>
          <a:xfrm>
            <a:off x="6572250" y="2200275"/>
            <a:ext cx="49339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评测后保留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92FF2D-8657-432A-90A0-C9E76828DD61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9339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NAS与DGM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搜索候选，再检验结果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0B127-42B6-42D4-8889-1E779582F5BC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D04C34-42CC-4D38-B4A2-F6B02FEE3452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真实研发怎样验证“更好”，贯穿今天的案例</a:t>
            </a:r>
          </a:p>
        </p:txBody>
      </p:sp>
    </p:spTree>
    <p:extLst>
      <p:ext uri="{BB962C8B-B14F-4D97-AF65-F5344CB8AC3E}">
        <p14:creationId xmlns:p14="http://schemas.microsoft.com/office/powerpoint/2010/main" val="120903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5E27082-4DB2-4DDE-BB5F-1C80732748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766C6A-D144-40FE-9BCD-C02C51E697E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沿着研发链条找答案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2BDEAB-FC11-4227-9E3E-C5CED284960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C597BF-EAAC-4977-8BC9-DC9095BCF4D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7EEA11-A187-43FC-8D7D-79A95279B5E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B46907-DC28-4013-8F8E-B1E12253E936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D465CD-A1FE-4EC4-909A-6A94AA8CB685}"/>
              </a:ext>
            </a:extLst>
          </p:cNvPr>
          <p:cNvSpPr>
            <a:spLocks noGrp="1"/>
          </p:cNvSpPr>
          <p:nvPr/>
        </p:nvSpPr>
        <p:spPr>
          <a:xfrm>
            <a:off x="2257425" y="223837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任务怎样交给Agent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B27551-420F-4979-9939-B6FA1EE15384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82EA40-A6E2-437D-B350-BF6F2FD9901A}"/>
              </a:ext>
            </a:extLst>
          </p:cNvPr>
          <p:cNvSpPr>
            <a:spLocks noGrp="1"/>
          </p:cNvSpPr>
          <p:nvPr/>
        </p:nvSpPr>
        <p:spPr>
          <a:xfrm>
            <a:off x="2257425" y="320040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方法怎样进入模型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84E57D-2FE6-4FEE-8CCD-6734DA2A01E1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7E20BF-A132-49AF-B592-B246151279CC}"/>
              </a:ext>
            </a:extLst>
          </p:cNvPr>
          <p:cNvSpPr>
            <a:spLocks noGrp="1"/>
          </p:cNvSpPr>
          <p:nvPr/>
        </p:nvSpPr>
        <p:spPr>
          <a:xfrm>
            <a:off x="2257425" y="416242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结果怎样进入下一轮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6471C4-23EB-44B1-B17D-D6350B26EFBD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FB3E88-7072-4369-886A-7C3F35CADD43}"/>
              </a:ext>
            </a:extLst>
          </p:cNvPr>
          <p:cNvSpPr>
            <a:spLocks noGrp="1"/>
          </p:cNvSpPr>
          <p:nvPr/>
        </p:nvSpPr>
        <p:spPr>
          <a:xfrm>
            <a:off x="2257425" y="512445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哪些证据才能支持RSI</a:t>
            </a:r>
          </a:p>
        </p:txBody>
      </p:sp>
    </p:spTree>
    <p:extLst>
      <p:ext uri="{BB962C8B-B14F-4D97-AF65-F5344CB8AC3E}">
        <p14:creationId xmlns:p14="http://schemas.microsoft.com/office/powerpoint/2010/main" val="66804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96A3F6A-DFF4-48BF-A9D9-EEFBDF5B72D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1C0FCC-D976-4694-8AEE-34B65F44B5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为什么重点看Anthropic与OpenAI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D396B3-C839-4D0E-93FC-2EC4B419CC2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06877E-3452-41E9-ADE0-2CF3A7FB5DB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027ADF-AFA2-4962-B9B1-550F1037110C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5457AE-ADFE-485D-B36A-AE8421897B1B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B7CBA6-CB58-469C-874B-21A9C0AAC5FE}"/>
              </a:ext>
            </a:extLst>
          </p:cNvPr>
          <p:cNvSpPr>
            <a:spLocks noGrp="1"/>
          </p:cNvSpPr>
          <p:nvPr/>
        </p:nvSpPr>
        <p:spPr>
          <a:xfrm>
            <a:off x="4095750" y="22574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方法、目标模型权重与实验评测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B736A8-D8EA-449C-845D-7FB8E344361E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5800D6-BFB8-47A9-9BEF-78438EE1B57E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65149A-6F72-44DB-A511-C0C1D1EC0946}"/>
              </a:ext>
            </a:extLst>
          </p:cNvPr>
          <p:cNvSpPr>
            <a:spLocks noGrp="1"/>
          </p:cNvSpPr>
          <p:nvPr/>
        </p:nvSpPr>
        <p:spPr>
          <a:xfrm>
            <a:off x="4095750" y="34766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研发任务、工具使用与决策记录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6835AE-7B7D-4FC6-8B65-26FA76F7414A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2B9DAB-5B2A-42CC-B757-53425C881AE3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Google与开放研究补充算法、策略和代码的改动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446B0D-1A18-4237-B886-D92DE1846788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按可检查的公开证据选案例</a:t>
            </a:r>
          </a:p>
        </p:txBody>
      </p:sp>
    </p:spTree>
    <p:extLst>
      <p:ext uri="{BB962C8B-B14F-4D97-AF65-F5344CB8AC3E}">
        <p14:creationId xmlns:p14="http://schemas.microsoft.com/office/powerpoint/2010/main" val="130722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D3B0AF-B4C5-4808-9BC4-E5C1E05EE3D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BB652-68FF-4BAD-8AC0-2C7FC83521D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53822-5215-4E7D-9B40-B33C0DF86D3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D360AE-AC35-46AB-9478-BB14AB3FA7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ECBD1-623C-4241-908E-1926CE718F5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AA0275-21E9-4B3D-AB40-5BF50467FD2B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41E4C6C-A345-44C2-9B34-6FA386C4E05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477F8D-ECBB-4D3E-A909-7DAE08EF0D65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B73F517-D2CE-43CC-9C07-EF7553D050F8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C92B8-143E-4C47-8045-142825EBCF4D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6FDCFE-594F-4193-97CF-0FC78CFAC9F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55D32-76BA-465A-A8BB-94D61D9BFA1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105707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91F740C-2EB5-4AF5-9996-7137B4B07E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203922-383B-4EEF-9D26-F660F8BF713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一轮研究需要交付能运行的方法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2355A2-2D91-466E-8EA8-F0CD263886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3494A4-09C9-446A-8C9F-F0AC28581E4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0B5DF7-7FC6-430D-9F99-FF4F2D3F3E5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9A4F8-5AA2-4CB8-8A51-5D38472800C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04A643-2478-4381-923A-9F3E8986D8F0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提出假设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0FFFD2-C312-4818-926A-3A6C461BA1EA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资料与研究方法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31347D-D48D-422A-B106-86E380D917F1}"/>
              </a:ext>
            </a:extLst>
          </p:cNvPr>
          <p:cNvSpPr>
            <a:spLocks noGrp="1"/>
          </p:cNvSpPr>
          <p:nvPr/>
        </p:nvSpPr>
        <p:spPr>
          <a:xfrm>
            <a:off x="348615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4508BF-4491-4DBA-ACAD-EB47D0CB7EBF}"/>
              </a:ext>
            </a:extLst>
          </p:cNvPr>
          <p:cNvSpPr>
            <a:spLocks noGrp="1"/>
          </p:cNvSpPr>
          <p:nvPr/>
        </p:nvSpPr>
        <p:spPr>
          <a:xfrm>
            <a:off x="348615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冻结小论文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425E4C-145E-49FF-902B-ED0AAEE7A765}"/>
              </a:ext>
            </a:extLst>
          </p:cNvPr>
          <p:cNvSpPr>
            <a:spLocks noGrp="1"/>
          </p:cNvSpPr>
          <p:nvPr/>
        </p:nvSpPr>
        <p:spPr>
          <a:xfrm>
            <a:off x="348615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本轮结果尚未公布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32A782-DC64-4893-A50C-8B6C7E2A9C27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7C81EF-40EB-4089-8E74-3F1171CFC275}"/>
              </a:ext>
            </a:extLst>
          </p:cNvPr>
          <p:cNvSpPr>
            <a:spLocks noGrp="1"/>
          </p:cNvSpPr>
          <p:nvPr/>
        </p:nvSpPr>
        <p:spPr>
          <a:xfrm>
            <a:off x="62865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提交实现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65FEF3-7642-4EE2-886F-FEB722A02316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代码监控后训练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00384D-E45B-486B-8871-8D5B2851450B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4193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AFEFD7-0D11-414D-9F3A-49228A9E9C84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24193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DBE970-FC33-4527-BB9D-E234177C2908}"/>
              </a:ext>
            </a:extLst>
          </p:cNvPr>
          <p:cNvSpPr>
            <a:spLocks noGrp="1"/>
          </p:cNvSpPr>
          <p:nvPr/>
        </p:nvSpPr>
        <p:spPr>
          <a:xfrm>
            <a:off x="9086850" y="3762375"/>
            <a:ext cx="24193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反馈结果与副作用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6E8E1D-FBAE-4836-834E-A164FBFB6127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典型方法预算：约1张H200，约30分钟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2F1E35-2EEB-40BC-B668-6B6D822A7CC8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基本规则：禁用评测数据，禁止从研究Agent或更强模型蒸馏</a:t>
            </a:r>
          </a:p>
        </p:txBody>
      </p:sp>
    </p:spTree>
    <p:extLst>
      <p:ext uri="{BB962C8B-B14F-4D97-AF65-F5344CB8AC3E}">
        <p14:creationId xmlns:p14="http://schemas.microsoft.com/office/powerpoint/2010/main" val="20145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C29B399-F700-4996-AFC7-0C90B062B1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453EE1-09AF-4D9C-8D30-909E0DA3B12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下一次尝试，能读到之前的成功与失败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3BD411-332D-4C32-AA84-5F37785842C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D30844-765F-407B-B767-40B61A08C10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941BC5-C451-423E-B26E-CD3950F2EF4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173F2-C940-4CE3-8D7E-160E51F7B393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1242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多个研究Agent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并行探索候选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60CD603-2AB4-43D2-B400-E993D7321A01}"/>
              </a:ext>
            </a:extLst>
          </p:cNvPr>
          <p:cNvSpPr>
            <a:spLocks noGrp="1"/>
          </p:cNvSpPr>
          <p:nvPr/>
        </p:nvSpPr>
        <p:spPr>
          <a:xfrm>
            <a:off x="406717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18F835-A6D4-494A-9A05-4F5CC840560D}"/>
              </a:ext>
            </a:extLst>
          </p:cNvPr>
          <p:cNvSpPr>
            <a:spLocks noGrp="1"/>
          </p:cNvSpPr>
          <p:nvPr/>
        </p:nvSpPr>
        <p:spPr>
          <a:xfrm>
            <a:off x="4962525" y="2609850"/>
            <a:ext cx="3019425" cy="15335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共享记录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方法、评分与失败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01CC2B1-70F4-4A79-A22B-08C3E7F44679}"/>
              </a:ext>
            </a:extLst>
          </p:cNvPr>
          <p:cNvSpPr>
            <a:spLocks noGrp="1"/>
          </p:cNvSpPr>
          <p:nvPr/>
        </p:nvSpPr>
        <p:spPr>
          <a:xfrm>
            <a:off x="823912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94E929-4DA1-4942-B116-9EC96018820E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4003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新会话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读取后继续尝试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36150154-013C-44F9-902F-C151FCFFFFA4}"/>
              </a:ext>
            </a:extLst>
          </p:cNvPr>
          <p:cNvSpPr>
            <a:spLocks noGrp="1"/>
          </p:cNvSpPr>
          <p:nvPr/>
        </p:nvSpPr>
        <p:spPr>
          <a:xfrm>
            <a:off x="2238375" y="4572000"/>
            <a:ext cx="771525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36BE94-D988-4FA0-89C5-D2E8F458F99D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研究能接续：记忆保存在外部记录中</a:t>
            </a:r>
          </a:p>
        </p:txBody>
      </p:sp>
    </p:spTree>
    <p:extLst>
      <p:ext uri="{BB962C8B-B14F-4D97-AF65-F5344CB8AC3E}">
        <p14:creationId xmlns:p14="http://schemas.microsoft.com/office/powerpoint/2010/main" val="58327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29ED05C-ECB2-440E-9122-6FF633E4D90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C756F8-9BC6-4C95-813C-746658BD5CC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4518D8-5CF4-4584-B6EF-8474D6C6E91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F7C82F-EC85-4459-A1D4-6A5C6863CD0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945547-26B0-4BA9-AB8C-5F342D176A6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CC946D-69A9-46B6-9B47-DAC6F42A437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目标：更少迎合错误观点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83FC6F-263A-413E-86D8-1FDDFB8228FC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3143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原内部表示 h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ADEA7F6-E4C0-4054-A6E9-61F06D20E488}"/>
              </a:ext>
            </a:extLst>
          </p:cNvPr>
          <p:cNvSpPr>
            <a:spLocks noGrp="1"/>
          </p:cNvSpPr>
          <p:nvPr/>
        </p:nvSpPr>
        <p:spPr>
          <a:xfrm>
            <a:off x="4095750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42CBAF-EBA2-4AB7-AE69-D16B0D0D3E18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2857500" cy="1200150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方向性干预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h′ = h + αv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6B93CE6-AC23-4775-AC79-1E360005B918}"/>
              </a:ext>
            </a:extLst>
          </p:cNvPr>
          <p:cNvSpPr>
            <a:spLocks noGrp="1"/>
          </p:cNvSpPr>
          <p:nvPr/>
        </p:nvSpPr>
        <p:spPr>
          <a:xfrm>
            <a:off x="8067675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CF467C-C2CF-4AEF-B8F6-6178674BF80B}"/>
              </a:ext>
            </a:extLst>
          </p:cNvPr>
          <p:cNvSpPr>
            <a:spLocks noGrp="1"/>
          </p:cNvSpPr>
          <p:nvPr/>
        </p:nvSpPr>
        <p:spPr>
          <a:xfrm>
            <a:off x="8886825" y="3133725"/>
            <a:ext cx="26193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DAAA4E-FBB0-4245-862E-E79833946E9E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推理时的临时改变，怎样保留下来？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475D42-7865-4DF4-AE64-6D3EF471ECCB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h′公式为一般教学示意，方向与强度取决于具体方法</a:t>
            </a:r>
          </a:p>
        </p:txBody>
      </p:sp>
    </p:spTree>
    <p:extLst>
      <p:ext uri="{BB962C8B-B14F-4D97-AF65-F5344CB8AC3E}">
        <p14:creationId xmlns:p14="http://schemas.microsoft.com/office/powerpoint/2010/main" val="167799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644227A-E99B-4363-9F81-5BD8081D492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6E1D13-3261-4146-A503-3B13A119DE0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蒸馏训练把行为变化写进学生权重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C0E9B2-3AED-4137-A388-D3BBE3C55F7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6580D-545E-41F2-991B-FD359319711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2026；App. D.4；机制教学示意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07C9C9-4110-4CB1-AFC3-E0FB6E71451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0BFD37-7BF7-4223-A29E-FA56105A0FB1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目标模型的引导版本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97499FA-E7E3-4534-8970-66A81239C2E5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4FD808-AE9B-432F-9A94-C92B30F3B2E3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训练前的学生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76D32EE-7B3F-4327-9890-6A9F8119F3FB}"/>
              </a:ext>
            </a:extLst>
          </p:cNvPr>
          <p:cNvSpPr>
            <a:spLocks noGrp="1"/>
          </p:cNvSpPr>
          <p:nvPr/>
        </p:nvSpPr>
        <p:spPr>
          <a:xfrm>
            <a:off x="4191000" y="45815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4D21D0-51F9-49EF-9CC7-D47CC6DD0029}"/>
              </a:ext>
            </a:extLst>
          </p:cNvPr>
          <p:cNvSpPr>
            <a:spLocks noGrp="1"/>
          </p:cNvSpPr>
          <p:nvPr/>
        </p:nvSpPr>
        <p:spPr>
          <a:xfrm>
            <a:off x="5076825" y="2533650"/>
            <a:ext cx="2905125" cy="25717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更新学生权重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607A9C20-3229-4A3D-90BA-E84757004890}"/>
              </a:ext>
            </a:extLst>
          </p:cNvPr>
          <p:cNvSpPr>
            <a:spLocks noGrp="1"/>
          </p:cNvSpPr>
          <p:nvPr/>
        </p:nvSpPr>
        <p:spPr>
          <a:xfrm>
            <a:off x="8248650" y="37052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DF1F9C-0EB6-4A7F-B41D-7075ED6D48F7}"/>
              </a:ext>
            </a:extLst>
          </p:cNvPr>
          <p:cNvSpPr>
            <a:spLocks noGrp="1"/>
          </p:cNvSpPr>
          <p:nvPr/>
        </p:nvSpPr>
        <p:spPr>
          <a:xfrm>
            <a:off x="9210675" y="3162300"/>
            <a:ext cx="2295525" cy="13335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65F46F-34F6-4ACC-AB38-6CE644AF528C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分布差异成为训练信号，参数更新发生在学生模型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4FDE-7A13-4CE0-9D6E-9B79A0F38BF0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KL方向和完整配方由具体方法定义，此图不指定超参数</a:t>
            </a:r>
          </a:p>
        </p:txBody>
      </p:sp>
      <p:pic>
        <p:nvPicPr>
          <p:cNvPr id="16" name="MechanismTeachingVideo">
            <a:hlinkClick action="ppaction://media"/>
            <a:extLst>
              <a:ext uri="{FF2B5EF4-FFF2-40B4-BE49-F238E27FC236}">
                <a16:creationId xmlns:a16="http://schemas.microsoft.com/office/drawing/2014/main" id="{A95F5366-EA2F-19A3-848B-D6F08E4EFA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FC2C53B-6458-4BB8-97D3-359B857F156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FFB5A8-DB0D-4434-A5B5-41782574B88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改善空间：先弄清百分数的分母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C6490D-1757-48B8-A42A-3EFDBF761DF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49EF91-3E94-4527-858A-CFA4CADAD78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C8806F-0403-4510-A876-54F0CC303F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1AF233-A365-4180-A0E4-E7348FA98BCE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101905-B9DD-4A22-A3A4-F6556F1D646A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515F25-DC3C-4331-9BAD-1BAE269D6691}"/>
              </a:ext>
            </a:extLst>
          </p:cNvPr>
          <p:cNvSpPr>
            <a:spLocks noGrp="1"/>
          </p:cNvSpPr>
          <p:nvPr/>
        </p:nvSpPr>
        <p:spPr>
          <a:xfrm>
            <a:off x="4562475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7E95F-0328-40F3-B0D6-D0B82E311347}"/>
              </a:ext>
            </a:extLst>
          </p:cNvPr>
          <p:cNvSpPr>
            <a:spLocks noGrp="1"/>
          </p:cNvSpPr>
          <p:nvPr/>
        </p:nvSpPr>
        <p:spPr>
          <a:xfrm>
            <a:off x="4562475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7C4FF4-BD4B-403E-8AF2-635F66A3F1F8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6F82A7-FAEA-4752-8A85-AF596DB03395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E7DA44-1602-4B63-8C34-E1AC1975F615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59F00F-AB54-4C27-8752-689A0680072F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42862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9CFB37-63C8-44F3-A9D1-6F199868BE94}"/>
              </a:ext>
            </a:extLst>
          </p:cNvPr>
          <p:cNvSpPr>
            <a:spLocks noGrp="1"/>
          </p:cNvSpPr>
          <p:nvPr/>
        </p:nvSpPr>
        <p:spPr>
          <a:xfrm>
            <a:off x="4981575" y="4505325"/>
            <a:ext cx="6524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CD33FA-74B2-45C4-9F55-A49C9D8BF8C1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50、70、100是教学数值，40%不是论文结果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1601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7593404-3D11-4CA6-9C59-48BE0F55B9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4C0453-28EA-4B81-8660-6C552B0532E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同一案例中，不受限方法搜索取得更大改善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95794-ACF8-450C-B4D8-6DF0C4741ED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B81C64-6684-484F-9F42-B71EFEFEDC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B90C9D-190D-4E91-9109-54054082A11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D1ECA2-F7AF-4DF9-B6F4-761A41CCBC6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Qwen3.5-2B谄媚任务：前150个已评分方法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7318C3-C9F6-48D7-882A-B13B07782B56}"/>
              </a:ext>
            </a:extLst>
          </p:cNvPr>
          <p:cNvGraphicFramePr/>
          <p:nvPr/>
        </p:nvGraphicFramePr>
        <p:xfrm>
          <a:off x="685800" y="2667000"/>
          <a:ext cx="7019925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8379029-03DA-42A4-AB75-BD359E12F239}"/>
              </a:ext>
            </a:extLst>
          </p:cNvPr>
          <p:cNvSpPr>
            <a:spLocks noGrp="1"/>
          </p:cNvSpPr>
          <p:nvPr/>
        </p:nvSpPr>
        <p:spPr>
          <a:xfrm>
            <a:off x="8172450" y="2914650"/>
            <a:ext cx="3333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比较搜索条件</a:t>
            </a:r>
          </a:p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允许的方法不同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40BCE1-55F0-4A1F-BE65-BBF02EEA18C9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3333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每条件一次运行</a:t>
            </a:r>
          </a:p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E67389-E9E6-4018-8959-785B58410696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横轴：改善空间关闭比例；选取[4] Fig.20中的三项比较</a:t>
            </a:r>
          </a:p>
        </p:txBody>
      </p:sp>
    </p:spTree>
    <p:extLst>
      <p:ext uri="{BB962C8B-B14F-4D97-AF65-F5344CB8AC3E}">
        <p14:creationId xmlns:p14="http://schemas.microsoft.com/office/powerpoint/2010/main" val="79111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54D8147-38C4-4633-A4F8-067A61A916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0ECF2C-7FE0-498F-B95D-0DC01B8C4EC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A3BED-9CD9-4F58-B3A9-8C3BA1CC94F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A1251B-E608-41DA-A448-62B0702D3FD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31CAD-533A-4D57-980A-BE015FC1106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401FC1-D1A6-4597-8544-BBFD42FACD0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84DA76-4A24-481C-BE3E-FEAA473106C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BE747-6DB5-4A3E-8A80-26028E3C3C31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62309-EE54-40D8-B791-2B66F226A12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36956D-1CA7-47E3-98F3-52767129E73F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F0054-6CE8-439C-8D08-38CF25D90A3C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9122A-85AA-4CFB-BE9C-19345DEABE6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9132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62CFA05-E1B4-4D8F-8F18-FAA66574C34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279D9-2C7C-468F-8081-1E49CEB5FA8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B8B5E-13C6-476B-A3DF-8D7CF060E56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A3185C-1126-4B79-99A0-BDB07A4333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6B7228-6EF9-4179-A2D5-478A12F7EE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6C5CD-7B17-4A22-8547-CC6446DCD5F4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5C4A0F-26FE-4CB2-9E97-ABD7E954575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89F05B-412B-4E49-9CA8-AC5C57A7B41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E4D174-1010-405C-B355-68E4BB57D2CC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38BD5F7-5299-43C5-9865-FD5DA022748F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8E2956-C699-471A-A78F-C5BF8411BDAD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9A3E6EE-D859-4DA1-831F-C587C544036C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498449-12D0-4E13-BACB-F9E7DCED9D4A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20988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FD55F66-8193-4DD7-9E9C-6F950EE8E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1AFD6-216C-4037-B6C7-45692D3A0FA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90CFC-43FF-44E0-852C-E69BD136E05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3485EA-AD78-4DB5-B290-A3E02E777C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DA7E-F0B3-4D0E-87E2-7117DDE6C25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737C7-3EC6-45AE-8281-5638C35CA3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81AEB-4F95-4E05-A902-D4534BF6EAC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825F4-3D8F-4B47-96E6-3A6695F7449B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C425B-F299-4BD0-907E-198AB56EE26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C0B341-0D10-4174-90FE-2F7748EF0955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0887D-4D48-418F-BC63-1B69D57740CD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900A3-FB8B-40C5-AD2C-DC2DDE21DCF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610CF1-3742-4E90-AB49-65DAD2D393D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498E3F-2F17-486D-BC7F-9EBEF3775434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93220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70499B4-1630-4A3A-9643-4D6EBC831A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B7E25F-E6A2-4ED4-80CE-A56B68C0C51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F7F09-86DE-422F-BCE0-15DD2F1455D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0E957-DDE6-4EFB-AAD9-2491505DE2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7AECA-538F-45E3-BE2D-B4E9309AF09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53A8F0-1F93-4270-AB2A-EA8AB816F03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EC60B0F-5B7F-4344-8225-B86F2899270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28EF4-6C6A-47EE-A9CA-982650BFC7F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88BD2BB-E42A-486B-8EDB-EC864ABB5373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4D4C6B-B4F9-4FD0-9428-563968D0AAEE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6A22AAB6-5A2B-4C18-B3B7-29C45926D881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CD9265-B3DB-405D-A71E-35CFC18FA4D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46761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251CE6-42B0-4646-A7F4-7D42EBAB21D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E704DA-613A-4EE6-812D-FFAECB7431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BB5F8-6B0C-4AA5-AEFF-B033BF2571C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758D98-86DB-4D99-955B-A9754343AE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580876-8B0D-4EE1-B2A1-AAE88599924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7A21D-0DF1-47CD-B6B5-B6EAE1D72432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97C4C6-C8B2-47C4-A414-FF8CBE8A5773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0B6D9-3CA0-4CF1-9FF1-73B51DC15056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F1DAC1-02B9-4C31-AE6E-DFDBED9D2400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DE3655-A875-49B2-9686-3A386E8B136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0BB1F-BBC3-4DD1-9844-096E7660FED5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17060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506E1F5-953B-4060-903C-66AC87333CF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8285F4-08DB-403D-A430-D4A157EE20E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B293A7-6AC9-4539-B988-7967DE7A9FC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B9B963-E3B8-4993-A1F1-02C721B1C13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6E903C-AA58-4794-9D85-2EE376859A6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DD2A8D-71EF-4EE0-BC72-4DF8E19AC097}"/>
              </a:ext>
            </a:extLst>
          </p:cNvPr>
          <p:cNvSpPr>
            <a:spLocks noGrp="1"/>
          </p:cNvSpPr>
          <p:nvPr/>
        </p:nvSpPr>
        <p:spPr>
          <a:xfrm>
            <a:off x="685800" y="2219325"/>
            <a:ext cx="51149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0D54CF-0CB0-4C6F-934F-04D24B1870D6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5019675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生成任务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复用经验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贡献归因支持策略训练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C8837B-F9E4-47E4-A011-1B4D0DC35262}"/>
              </a:ext>
            </a:extLst>
          </p:cNvPr>
          <p:cNvSpPr>
            <a:spLocks noGrp="1"/>
          </p:cNvSpPr>
          <p:nvPr/>
        </p:nvSpPr>
        <p:spPr>
          <a:xfrm>
            <a:off x="6629400" y="2219325"/>
            <a:ext cx="48768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5BEFCD-EA26-4D70-B8E5-98365C5094BD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4876800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修改Agent自身代码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运行基准检查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保留候选谱系继续探索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139AB7-4C91-462B-83CD-EED535D1B2D0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3C0310-D04D-4A21-95C2-5346A97D50E1}"/>
              </a:ext>
            </a:extLst>
          </p:cNvPr>
          <p:cNvSpPr>
            <a:spLocks noGrp="1"/>
          </p:cNvSpPr>
          <p:nvPr/>
        </p:nvSpPr>
        <p:spPr>
          <a:xfrm>
            <a:off x="685800" y="5591175"/>
            <a:ext cx="108204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策略训练与代码自改，需要分别追踪</a:t>
            </a:r>
          </a:p>
        </p:txBody>
      </p:sp>
    </p:spTree>
    <p:extLst>
      <p:ext uri="{BB962C8B-B14F-4D97-AF65-F5344CB8AC3E}">
        <p14:creationId xmlns:p14="http://schemas.microsoft.com/office/powerpoint/2010/main" val="1321425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5D486FD-65A2-4EA9-B762-438EAFAD0C2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4E01A1-7170-4DB7-B118-221DAA1C128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A5C42F-9A27-462C-8868-A5D8E642801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289576-57E8-491A-962B-B94296ABE58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7BAD61-B62B-4188-8667-981B034CD75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3E50B7-895E-41B7-87B8-83F21FFC6527}"/>
              </a:ext>
            </a:extLst>
          </p:cNvPr>
          <p:cNvGraphicFramePr/>
          <p:nvPr/>
        </p:nvGraphicFramePr>
        <p:xfrm>
          <a:off x="685800" y="2190750"/>
          <a:ext cx="10820400" cy="385762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改动对象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检验依据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目标模型权重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训练后的行为与能力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流程与记录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命令结果、研究员判断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算法程序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正确性与性能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开放研究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策略或代码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任务评测、版本表现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80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BFB8123-8DB3-4F45-8119-B3DAA81DD75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DB82F9-D90F-4D45-96DA-6D517086F1B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结果反馈与研发能力递归改进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3B91DE-21F1-4A27-BB35-31A807606A6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0FAFD1-0EA7-4AD9-8628-61DF14B1C4E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ECB941-6D6E-4608-80A8-2EA62E0868C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E4EA02-B878-49D8-8F2C-3C6DCDC44469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762250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4E13B15-9BD2-4874-A7E2-10AA801841C8}"/>
              </a:ext>
            </a:extLst>
          </p:cNvPr>
          <p:cNvSpPr>
            <a:spLocks noGrp="1"/>
          </p:cNvSpPr>
          <p:nvPr/>
        </p:nvSpPr>
        <p:spPr>
          <a:xfrm>
            <a:off x="3705225" y="2943225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5C23C6-B1B7-4751-B607-4024993BFAE2}"/>
              </a:ext>
            </a:extLst>
          </p:cNvPr>
          <p:cNvSpPr>
            <a:spLocks noGrp="1"/>
          </p:cNvSpPr>
          <p:nvPr/>
        </p:nvSpPr>
        <p:spPr>
          <a:xfrm>
            <a:off x="4638675" y="2438400"/>
            <a:ext cx="2857500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3C0DEC0-59B2-401D-A6CD-346C465C28FD}"/>
              </a:ext>
            </a:extLst>
          </p:cNvPr>
          <p:cNvSpPr>
            <a:spLocks noGrp="1"/>
          </p:cNvSpPr>
          <p:nvPr/>
        </p:nvSpPr>
        <p:spPr>
          <a:xfrm>
            <a:off x="7762875" y="2943225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DDC3D2-5FCE-45FC-B2CC-3D197044C9C6}"/>
              </a:ext>
            </a:extLst>
          </p:cNvPr>
          <p:cNvSpPr>
            <a:spLocks noGrp="1"/>
          </p:cNvSpPr>
          <p:nvPr/>
        </p:nvSpPr>
        <p:spPr>
          <a:xfrm>
            <a:off x="8696325" y="2438400"/>
            <a:ext cx="2809875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22EA91-631F-468F-9B8F-4130200915D1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108204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已有：结果与记录反馈到下一次尝试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34D2C240-E2AD-40C4-83E5-B8D1FDBC0B3F}"/>
              </a:ext>
            </a:extLst>
          </p:cNvPr>
          <p:cNvSpPr>
            <a:spLocks noGrp="1"/>
          </p:cNvSpPr>
          <p:nvPr/>
        </p:nvSpPr>
        <p:spPr>
          <a:xfrm>
            <a:off x="1571625" y="4524375"/>
            <a:ext cx="91440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147A77-85A1-4E02-927A-079B1B66F4D4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待验证：基础模型后继研发能力持续提高</a:t>
            </a:r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637DEFC1-BFED-404B-A11C-8A69036C5A91}"/>
              </a:ext>
            </a:extLst>
          </p:cNvPr>
          <p:cNvSpPr>
            <a:spLocks noGrp="1"/>
          </p:cNvSpPr>
          <p:nvPr/>
        </p:nvSpPr>
        <p:spPr>
          <a:xfrm>
            <a:off x="1571625" y="5600700"/>
            <a:ext cx="9144000" cy="228600"/>
          </a:xfrm>
          <a:prstGeom prst="leftArrow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BAAB58-E2D8-42A1-9692-4B47799A9F51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并持续产生更强的后继模型</a:t>
            </a:r>
          </a:p>
        </p:txBody>
      </p:sp>
    </p:spTree>
    <p:extLst>
      <p:ext uri="{BB962C8B-B14F-4D97-AF65-F5344CB8AC3E}">
        <p14:creationId xmlns:p14="http://schemas.microsoft.com/office/powerpoint/2010/main" val="1894730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049FD14-A7C9-489F-9C2C-B198C5F5747F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82AB8C-982A-4C59-83EA-F5AE3E6DE46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后继研发还需要怎样的证据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FADEC9-5767-4A48-9962-CF24BD1D79F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7FC0BC-C169-4A94-B3CB-17276020522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D5BA66-2D5F-482A-ABD4-49EB74CADF1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FEA754-874B-4EA0-947F-DF7DCD5615C3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7606AE-06A6-40B0-AC35-C2C5BF6B4603}"/>
              </a:ext>
            </a:extLst>
          </p:cNvPr>
          <p:cNvSpPr>
            <a:spLocks noGrp="1"/>
          </p:cNvSpPr>
          <p:nvPr/>
        </p:nvSpPr>
        <p:spPr>
          <a:xfrm>
            <a:off x="2266950" y="2390775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新版本在未参与搜索的任务上仍然更强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7321DE-F498-459A-AFE0-8934DD84ABD9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A7CFF0-CE57-4ED6-A2A6-732676C6D192}"/>
              </a:ext>
            </a:extLst>
          </p:cNvPr>
          <p:cNvSpPr>
            <a:spLocks noGrp="1"/>
          </p:cNvSpPr>
          <p:nvPr/>
        </p:nvSpPr>
        <p:spPr>
          <a:xfrm>
            <a:off x="2266950" y="3581400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改进能让下一轮研究更有效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D42CD2-0DFE-4F12-943B-510267768AEE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7071CF-1FE9-45F4-9D79-DBAB3B9CD65D}"/>
              </a:ext>
            </a:extLst>
          </p:cNvPr>
          <p:cNvSpPr>
            <a:spLocks noGrp="1"/>
          </p:cNvSpPr>
          <p:nvPr/>
        </p:nvSpPr>
        <p:spPr>
          <a:xfrm>
            <a:off x="2266950" y="4772025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多轮之后仍保留收益，代价可接受</a:t>
            </a:r>
          </a:p>
        </p:txBody>
      </p:sp>
    </p:spTree>
    <p:extLst>
      <p:ext uri="{BB962C8B-B14F-4D97-AF65-F5344CB8AC3E}">
        <p14:creationId xmlns:p14="http://schemas.microsoft.com/office/powerpoint/2010/main" val="1723716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4ADDFC9-873A-4C34-9739-473C0A41AFA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99DFE6-689C-46D2-8539-CB03994B74D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局部自改进已有证据，后继研发仍需检验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C2C20C-09D5-498D-B368-2550E8563D0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56B8E-A423-460B-9E17-A4542CAB4AD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DGM；[10]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13161B-86AA-44A2-BD94-F98A63A0A00C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6BDED1-5915-41F2-866E-79AA02623B0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820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能交付局部改进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D2477-0EC7-4425-8A3E-F3F6D710A117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权重、算法、策略、代码和研发流程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573119-5EF2-4716-BD9E-0F057A6DA3F5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F68FA1-4DB8-4D48-8A22-7FAEA0E46671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08204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基础模型后继研发的持续循环，仍需充分检验</a:t>
            </a:r>
          </a:p>
        </p:txBody>
      </p:sp>
    </p:spTree>
    <p:extLst>
      <p:ext uri="{BB962C8B-B14F-4D97-AF65-F5344CB8AC3E}">
        <p14:creationId xmlns:p14="http://schemas.microsoft.com/office/powerpoint/2010/main" val="1766827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3A0203-CCA8-436C-9B43-56CE5426E5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A658B-D583-40E0-8F5E-BA564627CAD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6AE70F-1920-4CD1-B74F-363411E17F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80A91B-2FB3-4FB4-9A51-DCBE788EE9B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2A3D3-ED00-471F-99F2-41A2698E044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0F3A71-66B4-41C0-8DBE-FBA0E0D111D3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EA2280-2D01-4401-9C7E-36EBB265C2A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5FCC32-3683-4106-9286-B2A271823A4F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52926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42DBCFA-2AB2-4F67-A929-8CAC1F5FC1E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5571B2-8D37-49DF-B5B3-F847F8B3E6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历史与模型研发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71BE20-E7AB-4E62-A71B-99D5AC92065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A91C5C-EEEF-48B9-AE74-21E55CE43BC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16AC5C-36DB-40DC-8A3B-91E6610CC14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D9BF33-AE91-4F9C-BFF3-F5A18AD2AAD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I. J. Speculations Concerning the First Ultraintelligent Machine. Advances in Computers, 1965, 6:31–88.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D29ED-1D08-4EE5-A526-524DB5947501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J. Gödel Machines: Self-Referential Universal Problem Solvers Making Provably Optimal Self-Improvements. 2003/2004技术报告.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A8905B-1567-4144-B0F9-618D2BF0EE5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B, Le Q V. Neural Architecture Search with Reinforcement Learning. arXiv:1611.01578, 2016.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6EAD5F-4993-4D58-A12E-5C4B34A5930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Y.-H., Wen J., Kirchner J. H. Automated Researchers Can Mitigate Well-Characterized Alignment Failures.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D93EAB-D321-4182-9E02-94CD3E6B493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Codex. OpenAI Developers, 2026-08-25.</a:t>
            </a:r>
          </a:p>
        </p:txBody>
      </p:sp>
    </p:spTree>
    <p:extLst>
      <p:ext uri="{BB962C8B-B14F-4D97-AF65-F5344CB8AC3E}">
        <p14:creationId xmlns:p14="http://schemas.microsoft.com/office/powerpoint/2010/main" val="134734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1C499F-8E50-4F14-B210-9D3E0D744A0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B482BA-D2E1-4094-A330-5096332BAB1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算法、开放研究与RSI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F68D9D-BD1A-438B-92E1-1375CD56DA5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99E9F-4D55-4CDF-9D3F-7D149658F10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9ED161-593F-44D2-AC89-A08A995614C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45AC7F-AD10-4629-BFAE-4DD563D8CB1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DeepMind. AlphaEvolve: A Gemini-powered coding agent for designing advanced algorithms. 2025.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89DB4A-EE85-472B-962C-423ED7DDC05E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AgentEvolver: Towards Efficient Self-Evolving Agent System. arXiv:2511.10395,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55B100-F5B1-4B2E-A0CC-7BA2569F5CDB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Zhang等. Darwin Gödel Machine: Open-Ended Evolution of Self-Improving Agents. 2025；同团队官方说明.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3B7449-5B31-4E22-A8A3-06D323A21B3B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OpenAI. Research acceleration: The view inside OpenAI.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C56993-DDC5-4178-912E-035D3F70CBCC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Institute. When AI builds itself. 2026.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3CECB-4A27-4C0F-8D84-5D475F1C6424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ModelScope. AgentEvolver官方代码仓库. Apache-2.0.</a:t>
            </a:r>
          </a:p>
        </p:txBody>
      </p:sp>
    </p:spTree>
    <p:extLst>
      <p:ext uri="{BB962C8B-B14F-4D97-AF65-F5344CB8AC3E}">
        <p14:creationId xmlns:p14="http://schemas.microsoft.com/office/powerpoint/2010/main" val="358105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1697900-4B80-4A7B-9C72-B203707CC2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A29FB5-66E8-44C4-8541-2CE096DF557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前150个方法比较的适用范围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E7AF3A-42B5-42B1-99BE-8389EC20C0C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AE7E88-CEA7-4A45-8B41-C03088DF616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B76A56-6151-4E9F-83DE-960B954775B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9AE4E3-0E90-41EF-A8DF-0AF05E7186D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不受限研究允许探索不同训练配方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5DA887-80B1-4111-8B6B-4AF086D1AEE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公开数据SFT与自由数据SFT限制训练方式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1CC83F-4186-4586-9F0D-74F6E324617C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23.3%、6.0%、2.9%对应Fig.20前150个已评分方法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56C09-BF95-4666-8002-E2363C9DC0D7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每条件一次，仅爬坡评测；不推断单一方法因果贡献</a:t>
            </a: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3849</Words>
  <Application>Microsoft Office PowerPoint</Application>
  <DocSecurity>0</DocSecurity>
  <PresentationFormat>宽屏</PresentationFormat>
  <Paragraphs>596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Aptos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云海 陈</cp:lastModifiedBy>
  <cp:revision>1</cp:revision>
  <dcterms:created xsi:type="dcterms:W3CDTF">2026-10-14T03:20:04Z</dcterms:created>
  <dcterms:modified xsi:type="dcterms:W3CDTF">2026-10-14T03:20:31Z</dcterms:modified>
</cp:coreProperties>
</file>