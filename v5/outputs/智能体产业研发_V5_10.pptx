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ns2="http://schemas.microsoft.com/office/drawing/2012/chart" xmlns:ns3="http://schemas.microsoft.com/office/drawing/2014/chart" xmlns:r="http://schemas.openxmlformats.org/officeDocument/2006/relationships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2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原样公共数据 SFT</c:v>
                </c:pt>
                <c:pt idx="1">
                  <c:v>自由构造数据 SFT</c:v>
                </c:pt>
                <c:pt idx="2">
                  <c:v>SFT + KL 自蒸馏</c:v>
                </c:pt>
                <c:pt idx="3">
                  <c:v>不受限方法搜索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0.06</c:v>
                </c:pt>
                <c:pt idx="1">
                  <c:v>0.029</c:v>
                </c:pt>
                <c:pt idx="2">
                  <c:v>0.165</c:v>
                </c:pt>
                <c:pt idx="3">
                  <c:v>0.233</c:v>
                </c:pt>
              </c:numCache>
            </c:numRef>
          </c:val>
          <c:extLst>
            <c:ext uri="{C3380CC4-5D6E-409C-BE32-E72D297353CC}">
              <ns3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主讲第1页，预算10秒，未真人计时。</ns1:t>
            </ns1:r>
          </ns1:p>
          <ns1:p>
            <ns1:r>
              <ns1:t>我们看Agent怎样参与AI研发，帮助改进模型、工具与Agent自身。</ns1:t>
            </ns1:r>
          </ns1:p>
          <ns1:p>
            <ns1:r>
              <ns1:t>采用用户的课程应用案例视角。不是宣称chatbot已消失，或所有Agent研发都等同RSI；研究对象兼有模型、工具、流程与Agent自身。[10]展示人类与AI研发分工的变化。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主讲第2页，预算30秒，未真人计时。</ns1:t>
            </ns1:r>
          </ns1:p>
          <ns1:p>
            <ns1:r>
              <ns1:t>Agent开始进入越来越多的真实任务。要让它们更可靠，模型能力、工具和行动流程都需要持续改进。这些研发原本主要由人完成。现在，Agent也能写代码、用工具、运行实验，于是我们想问：能不能让Agent在人类引导下，直接参与改进模型与Agent自身？</ns1:t>
            </ns1:r>
          </ns1:p>
          <ns1:p>
            <ns1:r>
              <ns1:t>独立Inspiration页，以应用需求、研发迭代、Agent参与研发的因果图呈现动机，不将所有研发等同RSI。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主讲第3页，预算20秒，未真人计时。</ns1:t>
            </ns1:r>
          </ns1:p>
          <ns1:p>
            <ns1:r>
              <ns1:t>整场沿一条主线：从已有系统出发，Agent参与修改和验证，让它更好。先讲选题与主线，再看Anthropic的模型训练，接着看OpenAI与Google的研发流程和程序优化，最后看Agent自我改进与下一轮研发。</ns1:t>
            </ns1:r>
          </ns1:p>
          <ns1:p>
            <ns1:r>
              <ns1:t>四部分目录与后续页眉逐字对应。保持A01—07、B08—13、C14—18、D19—24分工；千问AgentEvolver属于D，不静默移到C。不是所有案例都训练同一个baseline Agent。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主讲第4页，预算45秒，未真人计时。</ns1:t>
            </ns1:r>
          </ns1:p>
          <ns1:p>
            <ns1:r>
              <ns1:t>RSI是Recursive Self-Improvement，递归自我改进：改进后的系统还能推动下一轮改进。Karpathy今年三月开源的autoresearch提供了一个小入口：Agent改训练代码，让小模型训练五分钟，比较结果，再继续。这是自动研究；要进一步谈RSI，还得看成果能否让研究者自己更会研究。如果成果能回到研究者身上，就有进一步加速研发的潜力。</ns1:t>
            </ns1:r>
          </ns1:p>
          <ns1:p>
            <ns1:r>
              <ns1:t>[12]原版单GPU；五分钟只指训练预算，不含启动和编译。[1]Good1965历史、[14]更早自动研究放入备课，不挤目录。Agent程序层局部RSI可成立，不限定必须训练基础模型权重。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主讲第5页，预算25秒，未真人计时。</ns1:t>
            </ns1:r>
          </ns1:p>
          <ns1:p>
            <ns1:r>
              <ns1:t>这次我们不展开资源竞争，只跟着实际案例看两件事：Agent改了什么，怎样验证改进有效。模型训练、程序优化与Agent代码修改，改变的是不同对象。先分清对象和结果，最后再看它怎样帮助下一轮研发。</ns1:t>
            </ns1:r>
          </ns1:p>
          <ns1:p>
            <ns1:r>
              <ns1:t>按用户要求删减主讲资源门槛与行业宣传评论；详细边界仅保留备课，不作为开场展开。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主讲第6页，预算35秒，未真人计时。</ns1:t>
            </ns1:r>
          </ns1:p>
          <ns1:p>
            <ns1:r>
              <ns1:t>Agent的能力由模型、工具和运行流程共同支撑。所以我们选Anthropic看模型训练，选OpenAI与Google看评测和程序优化，再用开放研究看Agent自身改进。AIDE²也报告了代码层的连续改进。这样，后面每个案例都能接回同一个研发问题。</ns1:t>
            </ns1:r>
          </ns1:p>
          <ns1:p>
            <ns1:r>
              <ns1:t>已有案例[4]—[8]；AIDE²[13]为2026-09-22预印本作者报告。这里只提一句，不展开新基准和数字。主实验固定各循环底模、改harness代码；不是前沿基础模型多代训练。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主讲第7页，预算40秒，未真人计时。</ns1:t>
            </ns1:r>
          </ns1:p>
          <ns1:p>
            <ns1:r>
              <ns1:t>先从Agent的重要基础——模型能力看起。Anthropic Fellows的一项研究要减少模型迎合错误观点。Claude Opus 4.8驱动研究Agent，提出方法和实现；Qwen3.5-2B是被训练的目标模型；评测器检查改善和能力副作用。这里，Agent是研发者，模型是改进对象。下面看它怎样把想法变成训练和评测。</ns1:t>
            </ns1:r>
          </ns1:p>
          <ns1:p>
            <ns1:r>
              <ns1:t>[4]§2—3、App.D.4。保留与B第8页的角色和术语，具体实验规则及机制由B展开。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8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从左往右看，一轮研究需要交付一个真正能运行的方法。研究</a:t>
            </a:r>
            <a:r>
              <a:rPr lang="en-US" altLang="zh-CN"/>
              <a:t>Agent</a:t>
            </a:r>
            <a:r>
              <a:rPr lang="zh-CN" altLang="en-US"/>
              <a:t>先读资料、看已有结果，提出训练假设；在看到本轮结果之前，先冻结</a:t>
            </a:r>
            <a:r>
              <a:rPr lang="en-US" altLang="zh-CN"/>
              <a:t>mini-paper</a:t>
            </a:r>
            <a:r>
              <a:rPr lang="zh-CN" altLang="en-US"/>
              <a:t>，把方法、数据和训练目标写清楚。随后提交实现，检查代码是否和说明一致、是否违反实验规则。系统再运行训练，更新目标模型权重；典型预算约一张</a:t>
            </a:r>
            <a:r>
              <a:rPr lang="en-US" altLang="zh-CN"/>
              <a:t>H200</a:t>
            </a:r>
            <a:r>
              <a:rPr lang="zh-CN" altLang="en-US"/>
              <a:t>、半小时。最后由独立评测器同时检查安全改善和能力退化，所以不是分数提高就够了，还要看有没有明显副作用。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mini-paper</a:t>
            </a:r>
            <a:r>
              <a:rPr lang="zh-CN" altLang="en-US"/>
              <a:t>是训练前冻结的方法记录，不含事后结果；评测对比训练前后表现。基本规则禁止使用评测数据，也禁止从研究</a:t>
            </a:r>
            <a:r>
              <a:rPr lang="en-US" altLang="zh-CN"/>
              <a:t>Agent</a:t>
            </a:r>
            <a:r>
              <a:rPr lang="zh-CN" altLang="en-US"/>
              <a:t>或更强模型蒸馏。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§3.1—3.2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9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一次尝试结束以后，结果不会随着聊天结束就消失。多个研究</a:t>
            </a:r>
            <a:r>
              <a:rPr lang="en-US" altLang="zh-CN"/>
              <a:t>Agent</a:t>
            </a:r>
            <a:r>
              <a:rPr lang="zh-CN" altLang="en-US"/>
              <a:t>可以并行探索不同候选，而文献综述、方法代码、实验得分和失败经验会进入共享记录。新会话开始时，可以重新读取这些持久记录，再决定下一次往哪里试。所以这里的记忆是一套外部工程机制：经验能被后续会话复用，但研究</a:t>
            </a:r>
            <a:r>
              <a:rPr lang="en-US" altLang="zh-CN"/>
              <a:t>Agent</a:t>
            </a:r>
            <a:r>
              <a:rPr lang="zh-CN" altLang="en-US"/>
              <a:t>自己的模型权重并没有因此自动更新。真正被训练的是目标模型，而不是研究</a:t>
            </a:r>
            <a:r>
              <a:rPr lang="en-US" altLang="zh-CN"/>
              <a:t>Agent</a:t>
            </a:r>
            <a:r>
              <a:rPr lang="zh-CN" altLang="en-US"/>
              <a:t>本身。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候选。每轮为新会话，连续性由持久记录承担；不要把读取记录说成研究</a:t>
            </a:r>
            <a:r>
              <a:rPr lang="en-US" altLang="zh-CN"/>
              <a:t>Agent</a:t>
            </a:r>
            <a:r>
              <a:rPr lang="zh-CN" altLang="en-US"/>
              <a:t>参数更新。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10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接下来我们看一条真正成功过的技术路线。第一步不是立刻训练学生，而是先构造一个表现更好的教师。模型回答问题时会形成内部表示，激活引导尝试对隐藏状态施加方向性干预；图上的</a:t>
            </a:r>
            <a:r>
              <a:rPr lang="en-US" altLang="zh-CN"/>
              <a:t>h</a:t>
            </a:r>
            <a:r>
              <a:rPr lang="zh-CN" altLang="en-US"/>
              <a:t>变成</a:t>
            </a:r>
            <a:r>
              <a:rPr lang="en-US" altLang="zh-CN"/>
              <a:t>h′</a:t>
            </a:r>
            <a:r>
              <a:rPr lang="zh-CN" altLang="en-US"/>
              <a:t>只是教学写法。它不是把某道题的答案拼进提示词，而是让内部计算更少迎合用户的错误观点。引导后，目标模型形成一个临时更好的教师版本，但这项变化还没有写进模型权重。下一步的问题就是：怎样把这种临时变化保留下来？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h′</a:t>
            </a:r>
            <a:r>
              <a:rPr lang="zh-CN" altLang="en-US"/>
              <a:t>＝</a:t>
            </a:r>
            <a:r>
              <a:rPr lang="en-US" altLang="zh-CN"/>
              <a:t>h</a:t>
            </a:r>
            <a:r>
              <a:rPr lang="zh-CN" altLang="en-US"/>
              <a:t>＋</a:t>
            </a:r>
            <a:r>
              <a:rPr lang="en-US" altLang="zh-CN"/>
              <a:t>αv</a:t>
            </a:r>
            <a:r>
              <a:rPr lang="zh-CN" altLang="en-US"/>
              <a:t>是机制教学示意；真实方向、层和系数由具体方法定义。教师来自</a:t>
            </a:r>
            <a:r>
              <a:rPr lang="en-US" altLang="zh-CN"/>
              <a:t>Qwen</a:t>
            </a:r>
            <a:r>
              <a:rPr lang="zh-CN" altLang="en-US"/>
              <a:t>目标模型的引导版本，不是</a:t>
            </a:r>
            <a:r>
              <a:rPr lang="en-US" altLang="zh-CN"/>
              <a:t>Claude</a:t>
            </a:r>
            <a:r>
              <a:rPr lang="zh-CN" altLang="en-US"/>
              <a:t>研究</a:t>
            </a:r>
            <a:r>
              <a:rPr lang="en-US" altLang="zh-CN"/>
              <a:t>Agent</a:t>
            </a:r>
            <a:r>
              <a:rPr lang="zh-CN" altLang="en-US"/>
              <a:t>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11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下一步，是把教师带来的行为变化真正写进学生参数。教师和学生面对同一个输入，各自产生回答分布。教师是目标模型的引导版本，提供更少谄媚的训练目标；学生是等待训练的目标模型。训练利用</a:t>
            </a:r>
            <a:r>
              <a:rPr lang="en-US" altLang="zh-CN"/>
              <a:t>KL</a:t>
            </a:r>
            <a:r>
              <a:rPr lang="zh-CN" altLang="en-US"/>
              <a:t>约束，让学生学习教师的输出倾向，所以参数更新发生在学生身上，教师负责提供训练信号。训练结束后，再去掉临时激活引导，让学生正常推理并接受独立评测。短片只是机制教学示意；分布更接近不等于模型必然更安全，最终仍要检查行为改善与能力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候选。教师提供分布，学生接受参数更新。</a:t>
            </a:r>
            <a:r>
              <a:rPr lang="en-US" altLang="zh-CN"/>
              <a:t>KL</a:t>
            </a:r>
            <a:r>
              <a:rPr lang="zh-CN" altLang="en-US"/>
              <a:t>方向与获胜方法的完整配方不由教学图指定。不受限获胜配方采用引导教师后蒸馏；受限</a:t>
            </a:r>
            <a:r>
              <a:rPr lang="en-US" altLang="zh-CN"/>
              <a:t>KL</a:t>
            </a:r>
            <a:r>
              <a:rPr lang="zh-CN" altLang="en-US"/>
              <a:t>搜索条件不允许激活引导，两者不可混同。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主讲第12页，设计预算40秒，未真人计时。</ns1:t>
            </ns1:r>
          </ns1:p>
          <ns1:p>
            <ns1:r>
              <ns1:t>这一页先定义指标。改善空间关闭比例，是训练带来的提升，占“基线到参考最优”原有差距的比例。看这个式子，分子是实际提升，分母是原本还能提高多少。用教学数值代入：基线50，训练后70，参考最优100，分子是20，分母是50，所以补回了40%的原有差距。这个40%不是训练后正确率；论文还会用几何平均数汇总多个安全测试，所以后面的23.3%也不能直接读成通过率。</ns1:t>
            </ns1:r>
          </ns1:p>
          <ns1:p>
            <ns1:r>
              <ns1:t>B部分07候选。50、70、100均为教学数值，不是论文实验结果。单基准公式见[4]§2.2；多基准使用几何平均。</ns1:t>
            </ns1:r>
          </ns1:p>
          <ns1:p>
            <ns1:r>
              <ns1:t>来源：[4] https://alignment.anthropic.com/2026/automated-alignment-researchers/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13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现在看真实结果。这是在同一个谄媚任务、同一个目标模型下，对前</a:t>
            </a:r>
            <a:r>
              <a:rPr lang="en-US" altLang="zh-CN"/>
              <a:t>150</a:t>
            </a:r>
            <a:r>
              <a:rPr lang="zh-CN" altLang="en-US"/>
              <a:t>个已评分方法的比较。原样公共数据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6.0%</a:t>
            </a:r>
            <a:r>
              <a:rPr lang="zh-CN" altLang="en-US"/>
              <a:t>，自由构造数据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2.9%</a:t>
            </a:r>
            <a:r>
              <a:rPr lang="zh-CN" altLang="en-US"/>
              <a:t>；允许</a:t>
            </a:r>
            <a:r>
              <a:rPr lang="en-US" altLang="zh-CN"/>
              <a:t>SFT</a:t>
            </a:r>
            <a:r>
              <a:rPr lang="zh-CN" altLang="en-US"/>
              <a:t>加</a:t>
            </a:r>
            <a:r>
              <a:rPr lang="en-US" altLang="zh-CN"/>
              <a:t>KL</a:t>
            </a:r>
            <a:r>
              <a:rPr lang="zh-CN" altLang="en-US"/>
              <a:t>自蒸馏后达到</a:t>
            </a:r>
            <a:r>
              <a:rPr lang="en-US" altLang="zh-CN"/>
              <a:t>16.5%</a:t>
            </a:r>
            <a:r>
              <a:rPr lang="zh-CN" altLang="en-US"/>
              <a:t>，进一步放开方法空间则达到</a:t>
            </a:r>
            <a:r>
              <a:rPr lang="en-US" altLang="zh-CN"/>
              <a:t>23.3%</a:t>
            </a:r>
            <a:r>
              <a:rPr lang="zh-CN" altLang="en-US"/>
              <a:t>。所以这张图比较的是不同方法搜索条件：在这个案例里，训练目标和机制比单纯增加数据自由度更关键。每个条件只有一次搜索运行，这些结果也没有重跑</a:t>
            </a:r>
            <a:r>
              <a:rPr lang="en-US" altLang="zh-CN"/>
              <a:t>held-out</a:t>
            </a:r>
            <a:r>
              <a:rPr lang="zh-CN" altLang="en-US"/>
              <a:t>或</a:t>
            </a:r>
            <a:r>
              <a:rPr lang="en-US" altLang="zh-CN"/>
              <a:t>Petri</a:t>
            </a:r>
            <a:r>
              <a:rPr lang="zh-CN" altLang="en-US"/>
              <a:t>，因此不能当作普遍规律。下一部分换到评测工作流。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候选。四项均为</a:t>
            </a:r>
            <a:r>
              <a:rPr lang="en-US" altLang="zh-CN"/>
              <a:t>[4] Fig.20</a:t>
            </a:r>
            <a:r>
              <a:rPr lang="zh-CN" altLang="en-US"/>
              <a:t>在共同前</a:t>
            </a:r>
            <a:r>
              <a:rPr lang="en-US" altLang="zh-CN"/>
              <a:t>150</a:t>
            </a:r>
            <a:r>
              <a:rPr lang="zh-CN" altLang="en-US"/>
              <a:t>个已评分方法处的标注。</a:t>
            </a:r>
            <a:r>
              <a:rPr lang="en-US" altLang="zh-CN"/>
              <a:t>16.5%</a:t>
            </a:r>
            <a:r>
              <a:rPr lang="zh-CN" altLang="en-US"/>
              <a:t>不是</a:t>
            </a:r>
            <a:r>
              <a:rPr lang="en-US" altLang="zh-CN"/>
              <a:t>KL</a:t>
            </a:r>
            <a:r>
              <a:rPr lang="zh-CN" altLang="en-US"/>
              <a:t>条件全程峰值</a:t>
            </a:r>
            <a:r>
              <a:rPr lang="en-US" altLang="zh-CN"/>
              <a:t>18.7%</a:t>
            </a:r>
            <a:r>
              <a:rPr lang="zh-CN" altLang="en-US"/>
              <a:t>；</a:t>
            </a:r>
            <a:r>
              <a:rPr lang="en-US" altLang="zh-CN"/>
              <a:t>23.3%</a:t>
            </a:r>
            <a:r>
              <a:rPr lang="zh-CN" altLang="en-US"/>
              <a:t>不是通过率、单一配方贡献或最终完整运行峰值。单任务、单模型、每条件一次运行，仅比较爬坡评测套件。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主讲第14页，设计预算35秒（未真人计时）。</a:t>
            </a:r>
          </a:p>
          <a:p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主讲第15页，设计预算40秒（未真人计时）。</a:t>
            </a:r>
          </a:p>
          <a:p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主讲第16页，设计预算40秒（未真人计时）。</a:t>
            </a:r>
          </a:p>
          <a:p>
            <a:r>
              <a:t>Runme把命令放在笔记里执行，输出也能跟着保存。请从上到下看：目标和计划说明为什么做，命令和输出记录具体发生了什么，解释与取舍交代下一步怎么选。换一个会话，Codex就能读取这些记录，接着处理任务。它和前面的共享实验记录有一个共同点：上次怎么做、哪里失败、为什么这样决定，都能留给下一次。这里的记忆就保存在这些可读取的记录中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主讲第17页，设计预算40秒（未真人计时）。</a:t>
            </a:r>
          </a:p>
          <a:p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主讲第18页，设计预算40秒（未真人计时）。</a:t>
            </a:r>
          </a:p>
          <a:p>
            <a:r>
              <a:t>这个案例报告，一个矩阵乘法kernel加速了23%，对应Gemini总训练时间减少1%。左边说的是一个算子，右边说的是完整训练。训练还有其他大量工作，所以一个环节快了很多，整段训练的收益仍可能比较小。23%落在这个算子上，1%才对应总训练时间。这个例子让我们看到，Agent找到的一项程序改动，怎样实际进入大模型训练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主讲第19页，设计预算40秒，未真人计时。</a:t>
            </a:r>
          </a:p>
          <a:p>
            <a:r>
              <a:t>前面改的是模型和训练程序。开放研究还把Agent自身作为改进对象。左边的AgentEvolver会生成任务、复用经验，再把行动的贡献用于奖励，训练Agent的策略。右边的DGM会改自己的工具和流程代码，比如增加补丁检查；运行评测后，把不同版本存进档案，供后续继续探索。这里要分清，训练策略与修改代码，是两种不同的改进。</a:t>
            </a:r>
          </a:p>
          <a:p>
            <a:r>
              <a:t>D部分06修订。采用曹天卓来稿区分改策略与改代码的讲法；档案不是只保留当前最高分版本。AgentEvolver v1 §3—5；DGM v1 §3、官方Introduction。基准分母与具体例子见10_D部分答辩备课。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主讲第20页，设计预算40秒，未真人计时。</a:t>
            </a:r>
          </a:p>
          <a:p>
            <a:r>
              <a:t>把前面的案例放在一起看，先问它改了哪个对象。Anthropic训练目标模型，OpenAI这个案例改进评测流程、留下研究记录，Google优化训练程序。刚才的开放研究，则训练Agent策略或修改自身代码。这些结果分别体现在模型行为、任务完成情况和程序性能上。下一步就要问：这轮留下的成果，会怎样进入下一轮研究？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主讲第21页，设计预算45秒，未真人计时。</a:t>
            </a:r>
          </a:p>
          <a:p>
            <a:r>
              <a:t>上一轮的成果，有两种接法。第一种是把实验记录留下来，下次读取成功和失败，接着提出方法。前面的共享记录和Runme就是这样。第二种更进一步：DGM改了Agent自身，后续还能从这些版本继续探索。图中两条返回的箭头，分别表示带回记录和带回修改后的Agent。如果要把这个思路推广到基础模型研发，还要看它能否持续做出更强的后继模型。</a:t>
            </a:r>
          </a:p>
          <a:p>
            <a:r>
              <a:t>下方回流特指DGM在Agent代码层的迭代，不表示AAR把Qwen替换成Opus研究Agent。最后一问讨论基础模型的持续后继研发。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主讲第22页，设计预算35秒，未真人计时。</a:t>
            </a:r>
          </a:p>
          <a:p>
            <a:r>
              <a:t>怎样判断它下一轮真的研究得更好了？可以让原版和改进版，在同样预算下研究同一组新任务。先看找到的方法是否更好，再换任务、连续观察几轮，同时记录失败和人工帮助。这样有助于判断，它有没有只适应刚才那批题，是否提高研发效率，以及会不会退步或钻测试空子。这是我们提出的比较思路，本组没有做这项实验。</a:t>
            </a:r>
          </a:p>
          <a:p>
            <a:r>
              <a:t>本页是本报告提出的后续比较思路，不是已执行实验，也不要求本组新增实践。预算宜记录时间、计算/调用成本和人工帮助；新任务用于检查迁移，多轮结果包括失败与代价。有限测试有助判断，不能保证普遍持续改进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主讲第23页，设计预算25秒，未真人计时。</a:t>
            </a:r>
          </a:p>
          <a:p>
            <a:r>
              <a:t>所以，回到开头的问题，我们已经看到特定任务里的局部自我改进：Agent能帮助改模型，也能修改自身代码并继续探索。对于今天关注的大模型研发，下一步要检验的是，这些改进能否持续提高下一轮研究的能力，产出更强的基础模型。这就是我们对“距离递归自我改进还有多远”的回答：已有具体进展，持续的后继研发还需要跨轮次检验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主讲第24页，设计预算5秒，未真人计时。</a:t>
            </a:r>
          </a:p>
          <a:p>
            <a:r>
              <a:t>谢谢大家，欢迎提问。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新增[12]Karpathy autoresearch，2026年3月；[13]Srikanth等AIDE²，2026-09-22；[14]Lu等The AI Scientist，2024-08-12；[15]Cunningham等The Economics of RSI，2026-09-14。原[1]—[11]保留。完整书目信息和链接见04_来源与答辩.md。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新增[12]Karpathy autoresearch，2026年3月；[13]Srikanth等AIDE²，2026-09-22；[14]Lu等The AI Scientist，2024-08-12；[15]Cunningham等The Economics of RSI，2026-09-14。原[1]—[11]保留。完整书目信息和链接见04_来源与答辩.md。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Fig.20</a:t>
            </a:r>
            <a:r>
              <a:rPr lang="zh-CN" altLang="en-US"/>
              <a:t>四条件共同前</a:t>
            </a:r>
            <a:r>
              <a:rPr lang="en-US" altLang="zh-CN"/>
              <a:t>150</a:t>
            </a:r>
            <a:r>
              <a:rPr lang="zh-CN" altLang="en-US"/>
              <a:t>个方法：</a:t>
            </a:r>
            <a:r>
              <a:rPr lang="en-US" altLang="zh-CN"/>
              <a:t>6.0%</a:t>
            </a:r>
            <a:r>
              <a:rPr lang="zh-CN" altLang="en-US"/>
              <a:t>、</a:t>
            </a:r>
            <a:r>
              <a:rPr lang="en-US" altLang="zh-CN"/>
              <a:t>2.9%</a:t>
            </a:r>
            <a:r>
              <a:rPr lang="zh-CN" altLang="en-US"/>
              <a:t>、</a:t>
            </a:r>
            <a:r>
              <a:rPr lang="en-US" altLang="zh-CN"/>
              <a:t>16.5%</a:t>
            </a:r>
            <a:r>
              <a:rPr lang="zh-CN" altLang="en-US"/>
              <a:t>、</a:t>
            </a:r>
            <a:r>
              <a:rPr lang="en-US" altLang="zh-CN"/>
              <a:t>23.3%</a:t>
            </a:r>
            <a:r>
              <a:rPr lang="zh-CN" altLang="en-US"/>
              <a:t>。</a:t>
            </a:r>
            <a:r>
              <a:rPr lang="en-US" altLang="zh-CN"/>
              <a:t>16.5%</a:t>
            </a:r>
            <a:r>
              <a:rPr lang="zh-CN" altLang="en-US"/>
              <a:t>不要与</a:t>
            </a:r>
            <a:r>
              <a:rPr lang="en-US" altLang="zh-CN"/>
              <a:t>KL</a:t>
            </a:r>
            <a:r>
              <a:rPr lang="zh-CN" altLang="en-US"/>
              <a:t>完整运行峰值</a:t>
            </a:r>
            <a:r>
              <a:rPr lang="en-US" altLang="zh-CN"/>
              <a:t>18.7%</a:t>
            </a:r>
            <a:r>
              <a:rPr lang="zh-CN" altLang="en-US"/>
              <a:t>混用。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开放框架、策略训练与代码自改要分别追踪。AgentEvolver训练更新策略参数；DGM此实验固定底层模型，修改代码和工具。DGM官方20%→50%对应论文SWE-bench 200题子集；Polyglot 14.2%→30.7%为完整复评，勿混50题搜索子集或pass@2榜单。见DGM v1 §4.2与组长D答辩备课。</a:t>
            </a:r>
          </a:p>
          <a:p>
            <a:r>
              <a:t>https://arxiv.org/html/2505.22954v1</a:t>
            </a:r>
          </a:p>
          <a:p>
            <a:r>
              <a:t>https://arxiv.org/html/2511.10395v1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5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F9F53-1D9F-4F83-B1FF-4F6F423B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rPr>
              <a:t>主题一 · 行业应用案例研究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89A9-DA34-429D-9FBF-2B508017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智能体在AI研发中的应用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1DC15-85D3-4A74-9CDA-4026FBE9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rPr>
              <a:t>让Agent参与改进模型与自身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264CA-D215-449F-B94F-B3315CAE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张程翔  赵金城  曹天卓</a:t>
            </a:r>
          </a:p>
        </p:txBody>
      </p:sp>
    </p:spTree>
    <p:extLst>
      <p:ext uri="{BB962C8B-B14F-4D97-AF65-F5344CB8AC3E}">
        <p14:creationId xmlns:p14="http://schemas.microsoft.com/office/powerpoint/2010/main" val="1001490531"/>
      </p:ext>
    </p:extLst>
  </p:cSld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8" name="">
            <ns1:extLst>
              <ns1:ext uri="{FF2B5EF4-FFF2-40B4-BE49-F238E27FC236}">
                <ns2:creationId id="{0498C57F-5A65-4DE0-B513-5754DCB29AA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FFF690D1-78A1-492A-A26F-90CB2939A03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Inspiration：让Agent参与研发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CA217F18-814A-4CB0-BDFE-0AEF276ADB5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EE6D3B77-8688-4696-9D99-00A9299A3E7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[10] Anthropic Institute；应用需求到研发参与为本报告的讲述思路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2831F2D2-E5DB-43E3-AAD9-BDB236FC3912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02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B3582441-1E7A-42B6-B13E-7FD340E64E9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76550"/>
            <ns1:ext cx="3048000" cy="14287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7" name="">
            <ns1:extLst>
              <ns1:ext uri="{FF2B5EF4-FFF2-40B4-BE49-F238E27FC236}">
                <ns2:creationId id="{C8B5F4D8-E152-4FCC-9EF3-3CA825D1E1EF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133725"/>
            <ns1:ext cx="2667000" cy="5048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应用更深入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EB805D0-9838-4CBA-9D02-289A32A91C14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781425"/>
            <ns1:ext cx="26670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需要更可靠的Agent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8086BAC3-0CCB-42AB-819D-FEC9378BFEAD}"/>
              </ns1:ext>
            </ns1:extLst>
          </ns0:cNvPr>
          <ns0:cNvSpPr>
            <ns1:spLocks noGrp="1"/>
          </ns0:cNvSpPr>
          <ns0:nvPr/>
        </ns0:nvSpPr>
        <ns0:spPr>
          <ns1:xfrm>
            <ns1:off x="3952875" y="3429000"/>
            <ns1:ext cx="409575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">
            <ns1:extLst>
              <ns1:ext uri="{FF2B5EF4-FFF2-40B4-BE49-F238E27FC236}">
                <ns2:creationId id="{E9471C16-4EE2-4182-9A55-22AF46FCEC01}"/>
              </ns1:ext>
            </ns1:extLst>
          </ns0:cNvPr>
          <ns0:cNvSpPr>
            <ns1:spLocks noGrp="1"/>
          </ns0:cNvSpPr>
          <ns0:nvPr/>
        </ns0:nvSpPr>
        <ns0:spPr>
          <ns1:xfrm>
            <ns1:off x="4572000" y="2876550"/>
            <ns1:ext cx="3048000" cy="14287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1" name="">
            <ns1:extLst>
              <ns1:ext uri="{FF2B5EF4-FFF2-40B4-BE49-F238E27FC236}">
                <ns2:creationId id="{C70CB3B8-CAB0-4BE5-BD9C-CC10991348ED}"/>
              </ns1:ext>
            </ns1:extLst>
          </ns0:cNvPr>
          <ns0:cNvSpPr>
            <ns1:spLocks noGrp="1"/>
          </ns0:cNvSpPr>
          <ns0:nvPr/>
        </ns0:nvSpPr>
        <ns0:spPr>
          <ns1:xfrm>
            <ns1:off x="4762500" y="3133725"/>
            <ns1:ext cx="2667000" cy="5048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研发需迭代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4D46E559-4279-4292-814E-9E86694C14AA}"/>
              </ns1:ext>
            </ns1:extLst>
          </ns0:cNvPr>
          <ns0:cNvSpPr>
            <ns1:spLocks noGrp="1"/>
          </ns0:cNvSpPr>
          <ns0:nvPr/>
        </ns0:nvSpPr>
        <ns0:spPr>
          <ns1:xfrm>
            <ns1:off x="4762500" y="3781425"/>
            <ns1:ext cx="26670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模型 · 工具 · 行动流程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DDC7BBA0-B53F-4DA6-A5ED-51B7CF897347}"/>
              </ns1:ext>
            </ns1:extLst>
          </ns0:cNvPr>
          <ns0:cNvSpPr>
            <ns1:spLocks noGrp="1"/>
          </ns0:cNvSpPr>
          <ns0:nvPr/>
        </ns0:nvSpPr>
        <ns0:spPr>
          <ns1:xfrm>
            <ns1:off x="7839075" y="3429000"/>
            <ns1:ext cx="409575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4" name="">
            <ns1:extLst>
              <ns1:ext uri="{FF2B5EF4-FFF2-40B4-BE49-F238E27FC236}">
                <ns2:creationId id="{26016DC4-149C-4660-A3D1-084772723618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2876550"/>
            <ns1:ext cx="3048000" cy="14287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5" name="">
            <ns1:extLst>
              <ns1:ext uri="{FF2B5EF4-FFF2-40B4-BE49-F238E27FC236}">
                <ns2:creationId id="{009D6A27-6313-48F4-92D5-DCA9651F9D31}"/>
              </ns1:ext>
            </ns1:extLst>
          </ns0:cNvPr>
          <ns0:cNvSpPr>
            <ns1:spLocks noGrp="1"/>
          </ns0:cNvSpPr>
          <ns0:nvPr/>
        </ns0:nvSpPr>
        <ns0:spPr>
          <ns1:xfrm>
            <ns1:off x="8648700" y="3133725"/>
            <ns1:ext cx="2667000" cy="5048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Agent参与研发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2E44F8B6-4962-45D8-BBD5-7868EB7E56EF}"/>
              </ns1:ext>
            </ns1:extLst>
          </ns0:cNvPr>
          <ns0:cNvSpPr>
            <ns1:spLocks noGrp="1"/>
          </ns0:cNvSpPr>
          <ns0:nvPr/>
        </ns0:nvSpPr>
        <ns0:spPr>
          <ns1:xfrm>
            <ns1:off x="8648700" y="3781425"/>
            <ns1:ext cx="26670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提出修改 · 运行验证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E73AB8BE-A3BB-4424-A605-8BB4EADAD71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219700"/>
            <ns1:ext cx="10820400" cy="628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人类设定目标与审核，Agent承担部分研发工作</ns1:t>
            </ns1:r>
          </ns1:p>
        </ns0:txBody>
      </ns0:sp>
    </ns0:spTree>
    <ns0:extLst>
      <ns0:ext uri="{BB962C8B-B14F-4D97-AF65-F5344CB8AC3E}">
        <ns3:creationId val="779896786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7" name="">
            <ns1:extLst>
              <ns1:ext uri="{FF2B5EF4-FFF2-40B4-BE49-F238E27FC236}">
                <ns2:creationId id="{D9446C5C-D79E-4808-AA50-C319531D311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97B6B110-D793-47D3-8992-24FB7E575DD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从已有系统出发，沿四部分看它怎样变好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BF68B3C-7947-4FF9-91FF-F3BC9A739CC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1138E692-5DC1-4522-9B31-BFE3F35C146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主线：从已有系统出发，由Agent提出修改、运行验证，再判断保留什么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02AD851-6EF7-4CBD-B29C-E5F5473D740D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03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6C25C1E7-BF38-41A7-8654-4649C3B0CEF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24075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7C7C570A-234B-43FB-B89A-AA7C6CD44A7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581275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为什么选这个行业，怎样理解RSI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E03CC20-BDEA-4EF5-A22F-8ED3D6AD0B0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0990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0563CD92-595D-4251-A819-C445E462C0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124200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二  Anthropic：模型训练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FCAF7260-D93B-4A5C-A65D-FEA96C4104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81400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Agent怎样提出并验证模型训练方法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2DE622B4-70DD-40AA-BB28-4AD01382D67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1002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8911DE93-4D35-4DB5-BB60-B5B53C1721C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124325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81D35564-0A96-4A1F-A0DC-4F4A4573386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81525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工具怎样执行评测，程序怎样优化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33716B90-05F2-44ED-8CD6-7C8E493012D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0101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5" name="">
            <ns1:extLst>
              <ns1:ext uri="{FF2B5EF4-FFF2-40B4-BE49-F238E27FC236}">
                <ns2:creationId id="{4A69B15D-A8AF-4B29-A37D-DD58B8509F6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24450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FCC78D83-F69C-4D69-A26B-8206B133E83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581650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Agent怎样改进自身，成果怎样进入下一轮</ns1:t>
            </ns1:r>
          </ns1:p>
        </ns0:txBody>
      </ns0:sp>
    </ns0:spTree>
    <ns0:extLst>
      <ns0:ext uri="{BB962C8B-B14F-4D97-AF65-F5344CB8AC3E}">
        <ns3:creationId val="2093649873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6" name="">
            <ns1:extLst>
              <ns1:ext uri="{FF2B5EF4-FFF2-40B4-BE49-F238E27FC236}">
                <ns2:creationId id="{93390CD1-028C-499F-9021-2516AA48B7E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E0E8D5E5-7D12-429B-AE45-F7729E668C1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从自动研究，走向递归自我改进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F17F82E2-F79A-45FD-999C-C9EDA179C9F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251E0D18-4DA8-498F-A9E7-BBF4556151A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[1][10][12]；Karpathy，2026年3月；5分钟仅为训练预算，不含启动与编译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2865EAE9-C4D6-40CF-AC09-3EE59B56C00D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04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EECB1978-00EA-4984-A8FF-669D9ADB1D4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05025"/>
            <ns1:ext cx="108204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RSI · Recursive Self-Improvement · 递归自我改进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451EF89C-98C7-4630-AE41-CFB538B3D06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943225"/>
            <ns1:ext cx="2390775" cy="137160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8" name="">
            <ns1:extLst>
              <ns1:ext uri="{FF2B5EF4-FFF2-40B4-BE49-F238E27FC236}">
                <ns2:creationId id="{BEF539EA-F271-4344-9FA3-6629301604F0}"/>
              </ns1:ext>
            </ns1:extLst>
          </ns0:cNvPr>
          <ns0:cNvSpPr>
            <ns1:spLocks noGrp="1"/>
          </ns0:cNvSpPr>
          <ns0:nvPr/>
        </ns0:nvSpPr>
        <ns0:spPr>
          <ns1:xfrm>
            <ns1:off x="847725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改训练代码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0B8C205B-668A-445C-8716-AAFCDCD7B1FF}"/>
              </ns1:ext>
            </ns1:extLst>
          </ns0:cNvPr>
          <ns0:cNvSpPr>
            <ns1:spLocks noGrp="1"/>
          </ns0:cNvSpPr>
          <ns0:nvPr/>
        </ns0:nvSpPr>
        <ns0:spPr>
          <ns1:xfrm>
            <ns1:off x="847725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提出一次修改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5BFC3788-F007-436F-A31D-2BFC5BC3324E}"/>
              </ns1:ext>
            </ns1:extLst>
          </ns0:cNvPr>
          <ns0:cNvSpPr>
            <ns1:spLocks noGrp="1"/>
          </ns0:cNvSpPr>
          <ns0:nvPr/>
        </ns0:nvSpPr>
        <ns0:spPr>
          <ns1:xfrm>
            <ns1:off x="3162300" y="3476625"/>
            <ns1:ext cx="2667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1" name="">
            <ns1:extLst>
              <ns1:ext uri="{FF2B5EF4-FFF2-40B4-BE49-F238E27FC236}">
                <ns2:creationId id="{75BE5BD7-7C9B-4417-BD25-58DF1F603A17}"/>
              </ns1:ext>
            </ns1:extLst>
          </ns0:cNvPr>
          <ns0:cNvSpPr>
            <ns1:spLocks noGrp="1"/>
          </ns0:cNvSpPr>
          <ns0:nvPr/>
        </ns0:nvSpPr>
        <ns0:spPr>
          <ns1:xfrm>
            <ns1:off x="3495675" y="2943225"/>
            <ns1:ext cx="2390775" cy="137160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84A0D31E-7328-4252-9920-940602E734B1}"/>
              </ns1:ext>
            </ns1:extLst>
          </ns0:cNvPr>
          <ns0:cNvSpPr>
            <ns1:spLocks noGrp="1"/>
          </ns0:cNvSpPr>
          <ns0:nvPr/>
        </ns0:nvSpPr>
        <ns0:spPr>
          <ns1:xfrm>
            <ns1:off x="3657600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训练5分钟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29D927B-88A8-4545-BE46-41A5178AB67F}"/>
              </ns1:ext>
            </ns1:extLst>
          </ns0:cNvPr>
          <ns0:cNvSpPr>
            <ns1:spLocks noGrp="1"/>
          </ns0:cNvSpPr>
          <ns0:nvPr/>
        </ns0:nvSpPr>
        <ns0:spPr>
          <ns1:xfrm>
            <ns1:off x="3657600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小模型实际训练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75CAFC29-DEDC-4D36-95AF-98E437FB45BC}"/>
              </ns1:ext>
            </ns1:extLst>
          </ns0:cNvPr>
          <ns0:cNvSpPr>
            <ns1:spLocks noGrp="1"/>
          </ns0:cNvSpPr>
          <ns0:nvPr/>
        </ns0:nvSpPr>
        <ns0:spPr>
          <ns1:xfrm>
            <ns1:off x="5972175" y="3476625"/>
            <ns1:ext cx="2667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5" name="">
            <ns1:extLst>
              <ns1:ext uri="{FF2B5EF4-FFF2-40B4-BE49-F238E27FC236}">
                <ns2:creationId id="{15AE480E-6FFB-4481-9B0A-1ABCA10B9638}"/>
              </ns1:ext>
            </ns1:extLst>
          </ns0:cNvPr>
          <ns0:cNvSpPr>
            <ns1:spLocks noGrp="1"/>
          </ns0:cNvSpPr>
          <ns0:nvPr/>
        </ns0:nvSpPr>
        <ns0:spPr>
          <ns1:xfrm>
            <ns1:off x="6305550" y="2943225"/>
            <ns1:ext cx="2390775" cy="137160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6" name="">
            <ns1:extLst>
              <ns1:ext uri="{FF2B5EF4-FFF2-40B4-BE49-F238E27FC236}">
                <ns2:creationId id="{6966E2F2-7821-4E12-8C3F-54B87F799AE2}"/>
              </ns1:ext>
            </ns1:extLst>
          </ns0:cNvPr>
          <ns0:cNvSpPr>
            <ns1:spLocks noGrp="1"/>
          </ns0:cNvSpPr>
          <ns0:nvPr/>
        </ns0:nvSpPr>
        <ns0:spPr>
          <ns1:xfrm>
            <ns1:off x="6467475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比较验证指标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0DD55EF2-F24A-4D79-8575-8669B51CDB4F}"/>
              </ns1:ext>
            </ns1:extLst>
          </ns0:cNvPr>
          <ns0:cNvSpPr>
            <ns1:spLocks noGrp="1"/>
          </ns0:cNvSpPr>
          <ns0:nvPr/>
        </ns0:nvSpPr>
        <ns0:spPr>
          <ns1:xfrm>
            <ns1:off x="6467475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检查这次结果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E4562FD3-DE2B-4E88-A0C1-73163E8E9D40}"/>
              </ns1:ext>
            </ns1:extLst>
          </ns0:cNvPr>
          <ns0:cNvSpPr>
            <ns1:spLocks noGrp="1"/>
          </ns0:cNvSpPr>
          <ns0:nvPr/>
        </ns0:nvSpPr>
        <ns0:spPr>
          <ns1:xfrm>
            <ns1:off x="8782050" y="3476625"/>
            <ns1:ext cx="2667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9" name="">
            <ns1:extLst>
              <ns1:ext uri="{FF2B5EF4-FFF2-40B4-BE49-F238E27FC236}">
                <ns2:creationId id="{EDDE95D8-9FA4-4FAF-AF9F-E727CF22C07D}"/>
              </ns1:ext>
            </ns1:extLst>
          </ns0:cNvPr>
          <ns0:cNvSpPr>
            <ns1:spLocks noGrp="1"/>
          </ns0:cNvSpPr>
          <ns0:nvPr/>
        </ns0:nvSpPr>
        <ns0:spPr>
          <ns1:xfrm>
            <ns1:off x="9115425" y="2943225"/>
            <ns1:ext cx="2390775" cy="1371600"/>
          </ns1:xfrm>
          <ns1:prstGeom prst="rect">
            <ns1:avLst/>
          </ns1:prstGeom>
          <ns1:solidFill>
            <ns1:srgbClr val="F0E7DE"/>
          </ns1:solidFill>
          <ns1:ln w="0">
            <ns1:noFill/>
          </ns1:ln>
        </ns0:spPr>
      </ns0:sp>
      <ns0:sp>
        <ns0:nvSpPr>
          <ns0:cNvPr id="20" name="">
            <ns1:extLst>
              <ns1:ext uri="{FF2B5EF4-FFF2-40B4-BE49-F238E27FC236}">
                <ns2:creationId id="{93880F9C-5AE7-4ED5-AA80-ABD263D4E9D3}"/>
              </ns1:ext>
            </ns1:extLst>
          </ns0:cNvPr>
          <ns0:cNvSpPr>
            <ns1:spLocks noGrp="1"/>
          </ns0:cNvSpPr>
          <ns0:nvPr/>
        </ns0:nvSpPr>
        <ns0:spPr>
          <ns1:xfrm>
            <ns1:off x="9277350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保留或丢弃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25381F9C-635D-48DC-B609-C5D56A0CD46F}"/>
              </ns1:ext>
            </ns1:extLst>
          </ns0:cNvPr>
          <ns0:cNvSpPr>
            <ns1:spLocks noGrp="1"/>
          </ns0:cNvSpPr>
          <ns0:nvPr/>
        </ns0:nvSpPr>
        <ns0:spPr>
          <ns1:xfrm>
            <ns1:off x="9277350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决定下一次尝试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5FD9D588-D277-4279-AEEF-5A38B887EAA4}"/>
              </ns1:ext>
            </ns1:extLst>
          </ns0:cNvPr>
          <ns0:cNvSpPr>
            <ns1:spLocks noGrp="1"/>
          </ns0:cNvSpPr>
          <ns0:nvPr/>
        </ns0:nvSpPr>
        <ns0:spPr>
          <ns1:xfrm>
            <ns1:off x="2114550" y="4714875"/>
            <ns1:ext cx="7972425" cy="228600"/>
          </ns1:xfrm>
          <ns1:prstGeom prst="lef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23" name="">
            <ns1:extLst>
              <ns1:ext uri="{FF2B5EF4-FFF2-40B4-BE49-F238E27FC236}">
                <ns2:creationId id="{0C0EC1FD-EF46-4B3F-AD87-193034515F29}"/>
              </ns1:ext>
            </ns1:extLst>
          </ns0:cNvPr>
          <ns0:cNvSpPr>
            <ns1:spLocks noGrp="1"/>
          </ns0:cNvSpPr>
          <ns0:nvPr/>
        </ns0:nvSpPr>
        <ns0:spPr>
          <ns1:xfrm>
            <ns1:off x="3619500" y="5095875"/>
            <ns1:ext cx="666750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autoresearch：实验自动继续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03C452AC-E92E-4E56-ABED-D396F58E3DA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5911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25" name="">
            <ns1:extLst>
              <ns1:ext uri="{FF2B5EF4-FFF2-40B4-BE49-F238E27FC236}">
                <ns2:creationId id="{8C1052EF-1332-4569-9A5F-0AE94E611ED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857875"/>
            <ns1:ext cx="10820400" cy="4857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RSI进一步看：成果能否提高下一轮研发能力</ns1:t>
            </ns1:r>
          </ns1:p>
        </ns0:txBody>
      </ns0:sp>
    </ns0:spTree>
    <ns0:extLst>
      <ns0:ext uri="{BB962C8B-B14F-4D97-AF65-F5344CB8AC3E}">
        <ns3:creationId val="1571182621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71B0BD78-EBBA-4ABF-97FE-37D23180E1D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B187C6EC-112B-459A-B636-79F3D9A969C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跟着案例，只抓两个问题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C56B12E7-2E7D-4802-99BA-08379102B99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36954095-8EC2-45F2-A401-85A28D627B3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问题贯穿后续案例；不把不同改进对象归成同一种训练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FB01D42F-2AC5-4962-A11B-36221316CA48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05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78BE861-A913-4D5A-B2CE-EEFAAE37B4D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590800"/>
            <ns1:ext cx="1082040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改了什么？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3B5445D8-9D2D-421C-A6D5-78235DAFF51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324225"/>
            <ns1:ext cx="108204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模型、研发程序，还是Agent自身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1571114-CC9D-4465-860F-A702A9A94A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12432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37B66DF3-F98D-4672-8E36-076C5C013BA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43425"/>
            <ns1:ext cx="1082040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怎么知道更好？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1E9B030-9BA3-4A79-94A6-83646DC4291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276850"/>
            <ns1:ext cx="108204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看实际任务、评测结果与代价</ns1:t>
            </ns1:r>
          </ns1:p>
        </ns0:txBody>
      </ns0:sp>
    </ns0:spTree>
    <ns0:extLst>
      <ns0:ext uri="{BB962C8B-B14F-4D97-AF65-F5344CB8AC3E}">
        <ns3:creationId val="1529251059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6" name="">
            <ns1:extLst>
              <ns1:ext uri="{FF2B5EF4-FFF2-40B4-BE49-F238E27FC236}">
                <ns2:creationId id="{F6523B75-1B7C-4085-9F14-D818C81BDE6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9C757CF0-F9BD-4E76-A9C9-7766681B49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从自动实验，追到下一轮研发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DFCDE8F4-089A-4593-B1B1-A6D7F1B4A89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6BCEFD95-5867-4529-850E-E26B1E97FA1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[4]—[8] 现有案例；[13] AIDE²，2026-09预印本；其结果为作者报告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A3FEA584-1D06-4EE5-A3B6-8578382A4D5F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06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B47EE7EA-C2C0-467A-8B19-DD3304CBBF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90750"/>
            <ns1:ext cx="36576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Anthropic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2C810B3-549A-4F45-B5C3-BA74FCA033E0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2238375"/>
            <ns1:ext cx="68389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训练方法怎样进入目标模型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57A81D30-F7C4-40D3-A48A-BF672AF5B48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1942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46594BA9-26AC-48EC-A566-A0EF0AB9A3E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67075"/>
            <ns1:ext cx="36576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OpenAI · Google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1D5B2A47-DA15-48E8-B2F1-31FACF9CEFE2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3314700"/>
            <ns1:ext cx="68389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评测流程与训练程序怎样改进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C881D079-20E9-4465-AEC7-45821FD45C9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95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7E1DF692-59FC-4DB6-B48F-E65C053669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43400"/>
            <ns1:ext cx="36576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开放研究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031862E0-DC49-4CC0-B638-854545737481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4391025"/>
            <ns1:ext cx="68389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Agent怎样改变自身，再继续研究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47919CED-A042-49AE-9F7C-E3C6528C734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495925"/>
            <ns1:ext cx="108204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AIDE²：研究Agent代码层的连续改进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35EEADD0-319B-4466-8824-C00081064A6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000750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沿研发链条看：改了什么，怎样验证，怎样进入下一轮？</ns1:t>
            </ns1:r>
          </ns1:p>
        </ns0:txBody>
      </ns0:sp>
    </ns0:spTree>
    <ns0:extLst>
      <ns0:ext uri="{BB962C8B-B14F-4D97-AF65-F5344CB8AC3E}">
        <ns3:creationId val="1673404351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矩形 12">
            <ns1:extLst>
              <ns1:ext uri="{FF2B5EF4-FFF2-40B4-BE49-F238E27FC236}">
                <ns2:creationId id="{16D3B0AF-B4C5-4808-9BC4-E5C1E05EE3D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529BB652-68FF-4BAD-8AC0-2C7FC83521D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任务：让模型少迎合错误观点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01D53822-5215-4E7D-9B40-B33C0DF86D3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DFD360AE-AC35-46AB-9478-BB14AB3FA7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Chen等, AAR, 2026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442ECBD1-623C-4241-908E-1926CE718F5B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07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82AA0275-21E9-4B3D-AB40-5BF50467FD2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657475"/>
            <ns1:ext cx="3048000" cy="14573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研究Agent</ns1:t>
            </ns1:r>
          </ns1:p>
          <ns1:p>
            <ns1: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Claude Opus 4.8</ns1:t>
            </ns1:r>
          </ns1:p>
          <ns1:p>
            <ns1: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提出并实施方法</ns1:t>
            </ns1:r>
          </ns1:p>
        </ns0:txBody>
      </ns0:sp>
      <ns0:sp>
        <ns0:nvSpPr>
          <ns0:cNvPr id="7" name="箭头: 右 6">
            <ns1:extLst>
              <ns1:ext uri="{FF2B5EF4-FFF2-40B4-BE49-F238E27FC236}">
                <ns2:creationId id="{C41E4C6C-A345-44C2-9B34-6FA386C4E059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267075"/>
            <ns1:ext cx="6096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8" name="矩形 7">
            <ns1:extLst>
              <ns1:ext uri="{FF2B5EF4-FFF2-40B4-BE49-F238E27FC236}">
                <ns2:creationId id="{07477F8D-ECBB-4D3E-A909-7DAE08EF0D65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2657475"/>
            <ns1:ext cx="2952750" cy="1457325"/>
          </ns1:xfrm>
          <ns1:prstGeom prst="rect">
            <ns1:avLst/>
          </ns1:prstGeom>
          <ns1:solidFill>
            <ns1:srgbClr val="EFE5DA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Qwen3.5-2B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接受后训练</ns1:t>
            </ns1:r>
          </ns1:p>
        </ns0:txBody>
      </ns0:sp>
      <ns0:sp>
        <ns0:nvSpPr>
          <ns0:cNvPr id="9" name="箭头: 右 8">
            <ns1:extLst>
              <ns1:ext uri="{FF2B5EF4-FFF2-40B4-BE49-F238E27FC236}">
                <ns2:creationId id="{9B73F517-D2CE-43CC-9C07-EF7553D050F8}"/>
              </ns1:ext>
            </ns1:extLst>
          </ns0:cNvPr>
          <ns0:cNvSpPr>
            <ns1:spLocks noGrp="1"/>
          </ns0:cNvSpPr>
          <ns0:nvPr/>
        </ns0:nvSpPr>
        <ns0:spPr>
          <ns1:xfrm>
            <ns1:off x="8153400" y="3267075"/>
            <ns1:ext cx="6096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210C92B8-143E-4C47-8045-142825EBCF4D}"/>
              </ns1:ext>
            </ns1:extLst>
          </ns0:cNvPr>
          <ns0:cNvSpPr>
            <ns1:spLocks noGrp="1"/>
          </ns0:cNvSpPr>
          <ns0:nvPr/>
        </ns0:nvSpPr>
        <ns0:spPr>
          <ns1:xfrm>
            <ns1:off x="9086850" y="2657475"/>
            <ns1:ext cx="2419350" cy="14573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评测器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行为与能力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BB6FDCFE-594F-4193-97CF-0FC78CFAC9F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14550"/>
            <ns1:ext cx="108204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任务：减少顺着用户错误观点说的行为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19255D32-76BA-465A-A8BB-94D61D9BFA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000625"/>
            <ns1:ext cx="10820400" cy="895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7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研究者、被训练模型、评测器承担不同角色</ns1:t>
            </ns1:r>
          </ns1:p>
        </ns0:txBody>
      </ns0:sp>
    </ns0:spTree>
    <ns0:extLst>
      <ns0:ext uri="{BB962C8B-B14F-4D97-AF65-F5344CB8AC3E}">
        <ns3:creationId val="1057078441"/>
      </ns0:ext>
    </ns0:extLst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文本框 20">
            <ns1:extLst>
              <ns1:ext uri="{FF2B5EF4-FFF2-40B4-BE49-F238E27FC236}">
                <ns2:creationId id="{49047ED0-867C-0DE0-F907-956B185C6194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8C43CC03-C30E-3F88-D5A1-1BD8D72AD386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一轮研究要交付可审查、可训练、可评测的方法</ns1:t>
            </ns1:r>
          </ns1:p>
        </ns0:txBody>
      </ns0:sp>
      <ns0:sp>
        <ns0:nvSpPr>
          <ns0:cNvPr id="23" name="矩形 22">
            <ns1:extLst>
              <ns1:ext uri="{FF2B5EF4-FFF2-40B4-BE49-F238E27FC236}">
                <ns2:creationId id="{10CFA824-ADE9-8096-E20F-B5FE85A5BE15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4" name="文本框 23">
            <ns1:extLst>
              <ns1:ext uri="{FF2B5EF4-FFF2-40B4-BE49-F238E27FC236}">
                <ns2:creationId id="{209DF44B-BE10-F2E3-93DE-0982720DFB8B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、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§3.1—3.2</ns1:t>
            </ns1:r>
            <ns1:endParaRPr lang="zh-CN" altLang="en-US" sz="12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5" name="文本框 24">
            <ns1:extLst>
              <ns1:ext uri="{FF2B5EF4-FFF2-40B4-BE49-F238E27FC236}">
                <ns2:creationId id="{C135AFAF-7F69-1FA8-9FE5-A49097034EAC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8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矩形: 圆角 25">
            <ns1:extLst>
              <ns1:ext uri="{FF2B5EF4-FFF2-40B4-BE49-F238E27FC236}">
                <ns2:creationId id="{9AA1A67E-CD2A-93EA-7808-DFCF584ECE79}"/>
              </ns1:ext>
            </ns1:extLst>
          </ns0:cNvPr>
          <ns0:cNvSpPr/>
          <ns0:nvPr/>
        </ns0:nvSpPr>
        <ns0:spPr>
          <ns1:xfrm>
            <ns1:off x="68580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7" name="文本框 26">
            <ns1:extLst>
              <ns1:ext uri="{FF2B5EF4-FFF2-40B4-BE49-F238E27FC236}">
                <ns2:creationId id="{5F51F84D-7886-4528-51E3-34B7988EFE18}"/>
              </ns1:ext>
            </ns1:extLst>
          </ns0:cNvPr>
          <ns0:cNvSpPr txBox="1"/>
          <ns0:nvPr/>
        </ns0:nvSpPr>
        <ns0:spPr>
          <ns1:xfrm>
            <ns1:off x="83820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01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文本框 27">
            <ns1:extLst>
              <ns1:ext uri="{FF2B5EF4-FFF2-40B4-BE49-F238E27FC236}">
                <ns2:creationId id="{A8D00388-EC0F-6D8C-8165-CC3C77E17478}"/>
              </ns1:ext>
            </ns1:extLst>
          </ns0:cNvPr>
          <ns0:cNvSpPr txBox="1"/>
          <ns0:nvPr/>
        </ns0:nvSpPr>
        <ns0:spPr>
          <ns1:xfrm>
            <ns1:off x="83820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提出假设</ns1:t>
            </ns1:r>
          </ns1:p>
        </ns0:txBody>
      </ns0:sp>
      <ns0:sp>
        <ns0:nvSpPr>
          <ns0:cNvPr id="29" name="文本框 28">
            <ns1:extLst>
              <ns1:ext uri="{FF2B5EF4-FFF2-40B4-BE49-F238E27FC236}">
                <ns2:creationId id="{12A4F636-9769-FCA7-2CA1-7427CF8E38C3}"/>
              </ns1:ext>
            </ns1:extLst>
          </ns0:cNvPr>
          <ns0:cNvSpPr txBox="1"/>
          <ns0:nvPr/>
        </ns0:nvSpPr>
        <ns0:spPr>
          <ns1:xfrm>
            <ns1:off x="83820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资料、文献与
已有结果</ns1:t>
            </ns1:r>
          </ns1:p>
        </ns0:txBody>
      </ns0:sp>
      <ns0:cxnSp>
        <ns0:nvCxnSpPr>
          <ns0:cNvPr id="30" name="直接连接符 29">
            <ns1:extLst>
              <ns1:ext uri="{FF2B5EF4-FFF2-40B4-BE49-F238E27FC236}">
                <ns2:creationId id="{0A9449F1-8C40-3076-9F0C-616AF33F3042}"/>
              </ns1:ext>
            </ns1:extLst>
          </ns0:cNvPr>
          <ns0:cNvCxnSpPr/>
          <ns0:nvPr/>
        </ns0:nvCxnSpPr>
        <ns0:spPr>
          <ns1:xfrm>
            <ns1:off x="267970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1" name="矩形: 圆角 30">
            <ns1:extLst>
              <ns1:ext uri="{FF2B5EF4-FFF2-40B4-BE49-F238E27FC236}">
                <ns2:creationId id="{B784B2D6-99EC-F4C7-840B-0A78D52B1960}"/>
              </ns1:ext>
            </ns1:extLst>
          </ns0:cNvPr>
          <ns0:cNvSpPr/>
          <ns0:nvPr/>
        </ns0:nvSpPr>
        <ns0:spPr>
          <ns1:xfrm>
            <ns1:off x="290195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2" name="文本框 31">
            <ns1:extLst>
              <ns1:ext uri="{FF2B5EF4-FFF2-40B4-BE49-F238E27FC236}">
                <ns2:creationId id="{21A54C3B-9A70-B05E-1F6C-DB69A98887B1}"/>
              </ns1:ext>
            </ns1:extLst>
          </ns0:cNvPr>
          <ns0:cNvSpPr txBox="1"/>
          <ns0:nvPr/>
        </ns0:nvSpPr>
        <ns0:spPr>
          <ns1:xfrm>
            <ns1:off x="305435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02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3" name="文本框 32">
            <ns1:extLst>
              <ns1:ext uri="{FF2B5EF4-FFF2-40B4-BE49-F238E27FC236}">
                <ns2:creationId id="{0D3E8F31-E7BD-0D09-6558-C0DDD90DAA00}"/>
              </ns1:ext>
            </ns1:extLst>
          </ns0:cNvPr>
          <ns0:cNvSpPr txBox="1"/>
          <ns0:nvPr/>
        </ns0:nvSpPr>
        <ns0:spPr>
          <ns1:xfrm>
            <ns1:off x="3054350" y="2895600"/>
            <ns1:ext cx="16383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冻结</ns1:t>
            </ns1:r>
            <ns1:r>
              <ns1:rPr lang="en-US" altLang="zh-CN" sz="16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mini-paper</ns1:t>
            </ns1:r>
            <ns1:endParaRPr lang="zh-CN" altLang="en-US" sz="1650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4" name="文本框 33">
            <ns1:extLst>
              <ns1:ext uri="{FF2B5EF4-FFF2-40B4-BE49-F238E27FC236}">
                <ns2:creationId id="{A85CCB51-FB8B-5474-4ECA-2039B138B75D}"/>
              </ns1:ext>
            </ns1:extLst>
          </ns0:cNvPr>
          <ns0:cNvSpPr txBox="1"/>
          <ns0:nvPr/>
        </ns0:nvSpPr>
        <ns0:spPr>
          <ns1:xfrm>
            <ns1:off x="305435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训练前写明方法、
数据与损失</ns1:t>
            </ns1:r>
          </ns1:p>
        </ns0:txBody>
      </ns0:sp>
      <ns0:cxnSp>
        <ns0:nvCxnSpPr>
          <ns0:cNvPr id="35" name="直接连接符 34">
            <ns1:extLst>
              <ns1:ext uri="{FF2B5EF4-FFF2-40B4-BE49-F238E27FC236}">
                <ns2:creationId id="{BDC6917F-9F04-A9E6-C4DD-34717C23A8FF}"/>
              </ns1:ext>
            </ns1:extLst>
          </ns0:cNvPr>
          <ns0:cNvCxnSpPr/>
          <ns0:nvPr/>
        </ns0:nvCxnSpPr>
        <ns0:spPr>
          <ns1:xfrm>
            <ns1:off x="489585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6" name="矩形: 圆角 35">
            <ns1:extLst>
              <ns1:ext uri="{FF2B5EF4-FFF2-40B4-BE49-F238E27FC236}">
                <ns2:creationId id="{7DCBCD0C-1D3F-DE43-E75F-941B4F6E109F}"/>
              </ns1:ext>
            </ns1:extLst>
          </ns0:cNvPr>
          <ns0:cNvSpPr/>
          <ns0:nvPr/>
        </ns0:nvSpPr>
        <ns0:spPr>
          <ns1:xfrm>
            <ns1:off x="511810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7" name="文本框 36">
            <ns1:extLst>
              <ns1:ext uri="{FF2B5EF4-FFF2-40B4-BE49-F238E27FC236}">
                <ns2:creationId id="{62164D90-CBB7-334E-BA67-7DE8727709ED}"/>
              </ns1:ext>
            </ns1:extLst>
          </ns0:cNvPr>
          <ns0:cNvSpPr txBox="1"/>
          <ns0:nvPr/>
        </ns0:nvSpPr>
        <ns0:spPr>
          <ns1:xfrm>
            <ns1:off x="527050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03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8" name="文本框 37">
            <ns1:extLst>
              <ns1:ext uri="{FF2B5EF4-FFF2-40B4-BE49-F238E27FC236}">
                <ns2:creationId id="{2B8E0876-6355-33EE-5E45-7FBEFC7B1A84}"/>
              </ns1:ext>
            </ns1:extLst>
          </ns0:cNvPr>
          <ns0:cNvSpPr txBox="1"/>
          <ns0:nvPr/>
        </ns0:nvSpPr>
        <ns0:spPr>
          <ns1:xfrm>
            <ns1:off x="527050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提交实现</ns1:t>
            </ns1:r>
          </ns1:p>
        </ns0:txBody>
      </ns0:sp>
      <ns0:sp>
        <ns0:nvSpPr>
          <ns0:cNvPr id="39" name="文本框 38">
            <ns1:extLst>
              <ns1:ext uri="{FF2B5EF4-FFF2-40B4-BE49-F238E27FC236}">
                <ns2:creationId id="{DBD5CFBB-E203-F130-0270-D92893FB3EAD}"/>
              </ns1:ext>
            </ns1:extLst>
          </ns0:cNvPr>
          <ns0:cNvSpPr txBox="1"/>
          <ns0:nvPr/>
        </ns0:nvSpPr>
        <ns0:spPr>
          <ns1:xfrm>
            <ns1:off x="527050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代码与说明一致；
通过规则检查</ns1:t>
            </ns1:r>
          </ns1:p>
        </ns0:txBody>
      </ns0:sp>
      <ns0:cxnSp>
        <ns0:nvCxnSpPr>
          <ns0:cNvPr id="40" name="直接连接符 39">
            <ns1:extLst>
              <ns1:ext uri="{FF2B5EF4-FFF2-40B4-BE49-F238E27FC236}">
                <ns2:creationId id="{8FBEC8C7-8A78-2852-D597-DB6ED4F280CA}"/>
              </ns1:ext>
            </ns1:extLst>
          </ns0:cNvPr>
          <ns0:cNvCxnSpPr/>
          <ns0:nvPr/>
        </ns0:nvCxnSpPr>
        <ns0:spPr>
          <ns1:xfrm>
            <ns1:off x="711200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41" name="矩形: 圆角 40">
            <ns1:extLst>
              <ns1:ext uri="{FF2B5EF4-FFF2-40B4-BE49-F238E27FC236}">
                <ns2:creationId id="{4ABF044A-924C-1D1D-A8A8-ED2DC34382E5}"/>
              </ns1:ext>
            </ns1:extLst>
          </ns0:cNvPr>
          <ns0:cNvSpPr/>
          <ns0:nvPr/>
        </ns0:nvSpPr>
        <ns0:spPr>
          <ns1:xfrm>
            <ns1:off x="733425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2" name="文本框 41">
            <ns1:extLst>
              <ns1:ext uri="{FF2B5EF4-FFF2-40B4-BE49-F238E27FC236}">
                <ns2:creationId id="{6AF147FC-4B6F-DFBB-2EA2-7DB14B027392}"/>
              </ns1:ext>
            </ns1:extLst>
          </ns0:cNvPr>
          <ns0:cNvSpPr txBox="1"/>
          <ns0:nvPr/>
        </ns0:nvSpPr>
        <ns0:spPr>
          <ns1:xfrm>
            <ns1:off x="748665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04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3" name="文本框 42">
            <ns1:extLst>
              <ns1:ext uri="{FF2B5EF4-FFF2-40B4-BE49-F238E27FC236}">
                <ns2:creationId id="{C9C199E9-C52D-D170-A204-8595F527C356}"/>
              </ns1:ext>
            </ns1:extLst>
          </ns0:cNvPr>
          <ns0:cNvSpPr txBox="1"/>
          <ns0:nvPr/>
        </ns0:nvSpPr>
        <ns0:spPr>
          <ns1:xfrm>
            <ns1:off x="748665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训练目标模型</ns1:t>
            </ns1:r>
          </ns1:p>
        </ns0:txBody>
      </ns0:sp>
      <ns0:sp>
        <ns0:nvSpPr>
          <ns0:cNvPr id="44" name="文本框 43">
            <ns1:extLst>
              <ns1:ext uri="{FF2B5EF4-FFF2-40B4-BE49-F238E27FC236}">
                <ns2:creationId id="{5A1D54B7-898D-A452-72F2-DBC3AE251E8C}"/>
              </ns1:ext>
            </ns1:extLst>
          </ns0:cNvPr>
          <ns0:cNvSpPr txBox="1"/>
          <ns0:nvPr/>
        </ns0:nvSpPr>
        <ns0:spPr>
          <ns1:xfrm>
            <ns1:off x="7486650" y="3695700"/>
            <ns1:ext cx="1638300" cy="66941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产出更新权重；
约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张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H200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、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30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分钟</ns1:t>
            </ns1:r>
          </ns1:p>
        </ns0:txBody>
      </ns0:sp>
      <ns0:cxnSp>
        <ns0:nvCxnSpPr>
          <ns0:cNvPr id="45" name="直接连接符 44">
            <ns1:extLst>
              <ns1:ext uri="{FF2B5EF4-FFF2-40B4-BE49-F238E27FC236}">
                <ns2:creationId id="{0CC69764-5AD0-D276-FCDE-8E19D6C98410}"/>
              </ns1:ext>
            </ns1:extLst>
          </ns0:cNvPr>
          <ns0:cNvCxnSpPr/>
          <ns0:nvPr/>
        </ns0:nvCxnSpPr>
        <ns0:spPr>
          <ns1:xfrm>
            <ns1:off x="932815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46" name="矩形: 圆角 45">
            <ns1:extLst>
              <ns1:ext uri="{FF2B5EF4-FFF2-40B4-BE49-F238E27FC236}">
                <ns2:creationId id="{03FF6AC9-E75B-0A85-547A-6D9C882C885E}"/>
              </ns1:ext>
            </ns1:extLst>
          </ns0:cNvPr>
          <ns0:cNvSpPr/>
          <ns0:nvPr/>
        </ns0:nvSpPr>
        <ns0:spPr>
          <ns1:xfrm>
            <ns1:off x="955040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7" name="文本框 46">
            <ns1:extLst>
              <ns1:ext uri="{FF2B5EF4-FFF2-40B4-BE49-F238E27FC236}">
                <ns2:creationId id="{91F56742-5D99-9681-C4D5-C0C3460050FA}"/>
              </ns1:ext>
            </ns1:extLst>
          </ns0:cNvPr>
          <ns0:cNvSpPr txBox="1"/>
          <ns0:nvPr/>
        </ns0:nvSpPr>
        <ns0:spPr>
          <ns1:xfrm>
            <ns1:off x="970280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05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8" name="文本框 47">
            <ns1:extLst>
              <ns1:ext uri="{FF2B5EF4-FFF2-40B4-BE49-F238E27FC236}">
                <ns2:creationId id="{82210BCC-24EB-C37C-B66B-3013AE373F38}"/>
              </ns1:ext>
            </ns1:extLst>
          </ns0:cNvPr>
          <ns0:cNvSpPr txBox="1"/>
          <ns0:nvPr/>
        </ns0:nvSpPr>
        <ns0:spPr>
          <ns1:xfrm>
            <ns1:off x="970280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独立评测</ns1:t>
            </ns1:r>
          </ns1:p>
        </ns0:txBody>
      </ns0:sp>
      <ns0:sp>
        <ns0:nvSpPr>
          <ns0:cNvPr id="49" name="文本框 48">
            <ns1:extLst>
              <ns1:ext uri="{FF2B5EF4-FFF2-40B4-BE49-F238E27FC236}">
                <ns2:creationId id="{76C8AFE2-7D56-F355-801A-13C80E36B6ED}"/>
              </ns1:ext>
            </ns1:extLst>
          </ns0:cNvPr>
          <ns0:cNvSpPr txBox="1"/>
          <ns0:nvPr/>
        </ns0:nvSpPr>
        <ns0:spPr>
          <ns1:xfrm>
            <ns1:off x="970280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安全改善与
能力退化</ns1:t>
            </ns1:r>
          </ns1:p>
        </ns0:txBody>
      </ns0:sp>
      <ns0:sp>
        <ns0:nvSpPr>
          <ns0:cNvPr id="50" name="文本框 49">
            <ns1:extLst>
              <ns1:ext uri="{FF2B5EF4-FFF2-40B4-BE49-F238E27FC236}">
                <ns2:creationId id="{E2F21929-BDA3-FB3D-6B10-0127AB8BA18B}"/>
              </ns1:ext>
            </ns1:extLst>
          </ns0:cNvPr>
          <ns0:cNvSpPr txBox="1"/>
          <ns0:nvPr/>
        </ns0:nvSpPr>
        <ns0:spPr>
          <ns1:xfrm>
            <ns1:off x="685800" y="5041900"/>
            <ns1:ext cx="108204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基本规则：禁用评测数据；禁止从研究</ns1:t>
            </ns1:r>
            <ns1:r>
              <ns1:rPr lang="en-US" altLang="zh-CN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</ns1:t>
            </ns1:r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或更强模型蒸馏</ns1:t>
            </ns1:r>
          </ns1:p>
        </ns0:txBody>
      </ns0:sp>
      <ns0:sp>
        <ns0:nvSpPr>
          <ns0:cNvPr id="51" name="文本框 50">
            <ns1:extLst>
              <ns1:ext uri="{FF2B5EF4-FFF2-40B4-BE49-F238E27FC236}">
                <ns2:creationId id="{535CAAF8-B2F7-2029-728D-0D393C6D7A7F}"/>
              </ns1:ext>
            </ns1:extLst>
          </ns0:cNvPr>
          <ns0:cNvSpPr txBox="1"/>
          <ns0:nvPr/>
        </ns0:nvSpPr>
        <ns0:spPr>
          <ns1:xfrm>
            <ns1:off x="685800" y="5562600"/>
            <ns1:ext cx="108204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筛选原则：安全改善不能以明显能力退化为代价</ns1:t>
            </ns1:r>
          </ns1:p>
        </ns0:txBody>
      </ns0:sp>
    </ns0:spTree>
    <ns0:extLst>
      <ns0:ext uri="{BB962C8B-B14F-4D97-AF65-F5344CB8AC3E}">
        <ns4:creationId val="2014523412"/>
      </ns0:ext>
    </ns0:extLst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4" name="文本框 13">
            <ns1:extLst>
              <ns1:ext uri="{FF2B5EF4-FFF2-40B4-BE49-F238E27FC236}">
                <ns2:creationId id="{02E0F34C-DE69-A9E1-FF0F-D4E7AFFC9921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5" name="文本框 14">
            <ns1:extLst>
              <ns1:ext uri="{FF2B5EF4-FFF2-40B4-BE49-F238E27FC236}">
                <ns2:creationId id="{07CC362D-D4A7-8DE2-42F3-79C30F5E4582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2322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4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下一次尝试，能接着读到之前的成功与失败</ns1:t>
            </ns1:r>
          </ns1:p>
        </ns0:txBody>
      </ns0:sp>
      <ns0:sp>
        <ns0:nvSpPr>
          <ns0:cNvPr id="16" name="矩形 15">
            <ns1:extLst>
              <ns1:ext uri="{FF2B5EF4-FFF2-40B4-BE49-F238E27FC236}">
                <ns2:creationId id="{9142CCC2-A979-5019-7165-222740EF0BF6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7" name="文本框 16">
            <ns1:extLst>
              <ns1:ext uri="{FF2B5EF4-FFF2-40B4-BE49-F238E27FC236}">
                <ns2:creationId id="{20DE34FC-EB68-B8B9-AB38-1E575E8D0F07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、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§3.1</ns1:t>
            </ns1:r>
            <ns1:endParaRPr lang="zh-CN" altLang="en-US" sz="12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EAF33A12-8B06-FA38-C3F6-63126D6C5DE5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9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9" name="矩形: 圆角 18">
            <ns1:extLst>
              <ns1:ext uri="{FF2B5EF4-FFF2-40B4-BE49-F238E27FC236}">
                <ns2:creationId id="{C1E201CF-70DA-2BFC-38B3-B66BD3ECE137}"/>
              </ns1:ext>
            </ns1:extLst>
          </ns0:cNvPr>
          <ns0:cNvSpPr/>
          <ns0:nvPr/>
        </ns0:nvSpPr>
        <ns0:spPr>
          <ns1:xfrm>
            <ns1:off x="685800" y="2489200"/>
            <ns1:ext cx="3073400" cy="21082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0" name="文本框 19">
            <ns1:extLst>
              <ns1:ext uri="{FF2B5EF4-FFF2-40B4-BE49-F238E27FC236}">
                <ns2:creationId id="{17B5CDBB-D763-0BDC-29DF-F4124D4D2F91}"/>
              </ns1:ext>
            </ns1:extLst>
          </ns0:cNvPr>
          <ns0:cNvSpPr txBox="1"/>
          <ns0:nvPr/>
        </ns0:nvSpPr>
        <ns0:spPr>
          <ns1:xfrm>
            <ns1:off x="914400" y="2755900"/>
            <ns1:ext cx="2616200" cy="61555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多个研究</ns1:t>
            </ns1:r>
            <ns1:r>
              <ns1:rPr lang="en-US" altLang="zh-CN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
</ns1:t>
            </ns1:r>
            <ns1:r>
              <ns1:rPr lang="zh-CN" altLang="en-US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并行探索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E922CDD3-7D54-BA56-B4C6-1EAE54C58A92}"/>
              </ns1:ext>
            </ns1:extLst>
          </ns0:cNvPr>
          <ns0:cNvSpPr txBox="1"/>
          <ns0:nvPr/>
        </ns0:nvSpPr>
        <ns0:spPr>
          <ns1:xfrm>
            <ns1:off x="914400" y="3657600"/>
            <ns1:ext cx="26162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提出候选方法
分别提交训练与评测</ns1:t>
            </ns1:r>
          </ns1:p>
        </ns0:txBody>
      </ns0:sp>
      <ns0:cxnSp>
        <ns0:nvCxnSpPr>
          <ns0:cNvPr id="22" name="直接连接符 21">
            <ns1:extLst>
              <ns1:ext uri="{FF2B5EF4-FFF2-40B4-BE49-F238E27FC236}">
                <ns2:creationId id="{E20504A1-96D2-1787-5D82-8D2FEC96F06D}"/>
              </ns1:ext>
            </ns1:extLst>
          </ns0:cNvPr>
          <ns0:cNvCxnSpPr/>
          <ns0:nvPr/>
        </ns0:nvCxnSpPr>
        <ns0:spPr>
          <ns1:xfrm>
            <ns1:off x="3873500" y="3530600"/>
            <ns1:ext cx="5334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3" name="矩形: 圆角 22">
            <ns1:extLst>
              <ns1:ext uri="{FF2B5EF4-FFF2-40B4-BE49-F238E27FC236}">
                <ns2:creationId id="{B7A7D321-D896-9C2D-E94D-1B5B8C719BAA}"/>
              </ns1:ext>
            </ns1:extLst>
          </ns0:cNvPr>
          <ns0:cNvSpPr/>
          <ns0:nvPr/>
        </ns0:nvSpPr>
        <ns0:spPr>
          <ns1:xfrm>
            <ns1:off x="4559300" y="2489200"/>
            <ns1:ext cx="3073400" cy="21082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4" name="文本框 23">
            <ns1:extLst>
              <ns1:ext uri="{FF2B5EF4-FFF2-40B4-BE49-F238E27FC236}">
                <ns2:creationId id="{71C85B37-AA33-1AC8-6CF8-B91E1CFA8DB2}"/>
              </ns1:ext>
            </ns1:extLst>
          </ns0:cNvPr>
          <ns0:cNvSpPr txBox="1"/>
          <ns0:nvPr/>
        </ns0:nvSpPr>
        <ns0:spPr>
          <ns1:xfrm>
            <ns1:off x="4787900" y="2755900"/>
            <ns1:ext cx="2616200" cy="30777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0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共享记录持续累积</ns1:t>
            </ns1:r>
          </ns1:p>
        </ns0:txBody>
      </ns0:sp>
      <ns0:sp>
        <ns0:nvSpPr>
          <ns0:cNvPr id="25" name="文本框 24">
            <ns1:extLst>
              <ns1:ext uri="{FF2B5EF4-FFF2-40B4-BE49-F238E27FC236}">
                <ns2:creationId id="{55F5DA3C-0F79-57BF-362E-079E5005B673}"/>
              </ns1:ext>
            </ns1:extLst>
          </ns0:cNvPr>
          <ns0:cNvSpPr txBox="1"/>
          <ns0:nvPr/>
        </ns0:nvSpPr>
        <ns0:spPr>
          <ns1:xfrm>
            <ns1:off x="4787900" y="3657600"/>
            <ns1:ext cx="26162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文献综述、方法代码
实验得分、失败经验</ns1:t>
            </ns1:r>
          </ns1:p>
        </ns0:txBody>
      </ns0:sp>
      <ns0:cxnSp>
        <ns0:nvCxnSpPr>
          <ns0:cNvPr id="26" name="直接连接符 25">
            <ns1:extLst>
              <ns1:ext uri="{FF2B5EF4-FFF2-40B4-BE49-F238E27FC236}">
                <ns2:creationId id="{506935E8-E153-07F0-2DB1-21B377D9E0C9}"/>
              </ns1:ext>
            </ns1:extLst>
          </ns0:cNvPr>
          <ns0:cNvCxnSpPr/>
          <ns0:nvPr/>
        </ns0:nvCxnSpPr>
        <ns0:spPr>
          <ns1:xfrm>
            <ns1:off x="7747000" y="3530600"/>
            <ns1:ext cx="5334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7" name="矩形: 圆角 26">
            <ns1:extLst>
              <ns1:ext uri="{FF2B5EF4-FFF2-40B4-BE49-F238E27FC236}">
                <ns2:creationId id="{688516CF-D10C-8FB0-D163-1C7D204CB74C}"/>
              </ns1:ext>
            </ns1:extLst>
          </ns0:cNvPr>
          <ns0:cNvSpPr/>
          <ns0:nvPr/>
        </ns0:nvSpPr>
        <ns0:spPr>
          <ns1:xfrm>
            <ns1:off x="8432800" y="2489200"/>
            <ns1:ext cx="3073400" cy="21082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文本框 27">
            <ns1:extLst>
              <ns1:ext uri="{FF2B5EF4-FFF2-40B4-BE49-F238E27FC236}">
                <ns2:creationId id="{AF223613-E1E6-A5D2-CFEE-064E839E47BE}"/>
              </ns1:ext>
            </ns1:extLst>
          </ns0:cNvPr>
          <ns0:cNvSpPr txBox="1"/>
          <ns0:nvPr/>
        </ns0:nvSpPr>
        <ns0:spPr>
          <ns1:xfrm>
            <ns1:off x="8661400" y="2755900"/>
            <ns1:ext cx="2616200" cy="30777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新会话读取后继续研究</ns1:t>
            </ns1:r>
          </ns1:p>
        </ns0:txBody>
      </ns0:sp>
      <ns0:sp>
        <ns0:nvSpPr>
          <ns0:cNvPr id="29" name="文本框 28">
            <ns1:extLst>
              <ns1:ext uri="{FF2B5EF4-FFF2-40B4-BE49-F238E27FC236}">
                <ns2:creationId id="{DBD946D6-AB04-D0A9-5DC8-3731DD4DC91D}"/>
              </ns1:ext>
            </ns1:extLst>
          </ns0:cNvPr>
          <ns0:cNvSpPr txBox="1"/>
          <ns0:nvPr/>
        </ns0:nvSpPr>
        <ns0:spPr>
          <ns1:xfrm>
            <ns1:off x="8661400" y="3657600"/>
            <ns1:ext cx="26162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读取持久记录继续尝试
</ns1:t>
            </ns1:r>
            <ns1:r>
              <ns1:rPr lang="en-US" altLang="zh-CN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</ns1:t>
            </ns1:r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权重不因此更新</ns1:t>
            </ns1:r>
          </ns1:p>
        </ns0:txBody>
      </ns0:sp>
      <ns0:cxnSp>
        <ns0:nvCxnSpPr>
          <ns0:cNvPr id="30" name="直接连接符 29">
            <ns1:extLst>
              <ns1:ext uri="{FF2B5EF4-FFF2-40B4-BE49-F238E27FC236}">
                <ns2:creationId id="{B4327800-6455-5D8C-4DCD-3530307EFF0D}"/>
              </ns1:ext>
            </ns1:extLst>
          </ns0:cNvPr>
          <ns0:cNvCxnSpPr/>
          <ns0:nvPr/>
        </ns0:nvCxnSpPr>
        <ns0:spPr>
          <ns1:xfrm flipH="1">
            <ns1:off x="2514600" y="4940300"/>
            <ns1:ext cx="7137400" cy="0"/>
          </ns1:xfrm>
          <ns1:prstGeom prst="line">
            <ns1:avLst/>
          </ns1:prstGeom>
          <ns1:ln w="889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1" name="文本框 30">
            <ns1:extLst>
              <ns1:ext uri="{FF2B5EF4-FFF2-40B4-BE49-F238E27FC236}">
                <ns2:creationId id="{3AF62E2F-F9AB-C6B1-70EB-EDBA0E05FE78}"/>
              </ns1:ext>
            </ns1:extLst>
          </ns0:cNvPr>
          <ns0:cNvSpPr txBox="1"/>
          <ns0:nvPr/>
        </ns0:nvSpPr>
        <ns0:spPr>
          <ns1:xfrm>
            <ns1:off x="685800" y="5372100"/>
            <ns1:ext cx="10820400" cy="3231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1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研究能接续：经验保存在外部记录里，而不是自动写回研究</ns1:t>
            </ns1:r>
            <ns1:r>
              <ns1:rPr lang="en-US" altLang="zh-CN" sz="21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</ns1:t>
            </ns1:r>
            <ns1:r>
              <ns1:rPr lang="zh-CN" altLang="en-US" sz="21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参数</ns1:t>
            </ns1:r>
          </ns1:p>
        </ns0:txBody>
      </ns0:sp>
    </ns0:spTree>
    <ns0:extLst>
      <ns0:ext uri="{BB962C8B-B14F-4D97-AF65-F5344CB8AC3E}">
        <ns4:creationId val="583278539"/>
      </ns0:ext>
    </ns0:extLst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" name="文本框 14">
            <ns1:extLst>
              <ns1:ext uri="{FF2B5EF4-FFF2-40B4-BE49-F238E27FC236}">
                <ns2:creationId id="{CB792AAA-F4BE-85F0-1BEF-DB01EFE9A57B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6" name="文本框 15">
            <ns1:extLst>
              <ns1:ext uri="{FF2B5EF4-FFF2-40B4-BE49-F238E27FC236}">
                <ns2:creationId id="{51A0DA0B-09D4-9C9D-E3EA-11A3E9F16C06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0783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先用激活引导，构造一个更少谄媚的教师</ns1:t>
            </ns1:r>
          </ns1:p>
        </ns0:txBody>
      </ns0:sp>
      <ns0:sp>
        <ns0:nvSpPr>
          <ns0:cNvPr id="17" name="矩形 16">
            <ns1:extLst>
              <ns1:ext uri="{FF2B5EF4-FFF2-40B4-BE49-F238E27FC236}">
                <ns2:creationId id="{C0FE1709-1326-6781-7932-6D39011F8DDE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8" name="文本框 17">
            <ns1:extLst>
              <ns1:ext uri="{FF2B5EF4-FFF2-40B4-BE49-F238E27FC236}">
                <ns2:creationId id="{F972D23A-9DA2-ADB2-CBEF-1C30B9433B26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；机制教学示意</ns1:t>
            </ns1:r>
          </ns1:p>
        </ns0:txBody>
      </ns0:sp>
      <ns0:sp>
        <ns0:nvSpPr>
          <ns0:cNvPr id="19" name="文本框 18">
            <ns1:extLst>
              <ns1:ext uri="{FF2B5EF4-FFF2-40B4-BE49-F238E27FC236}">
                <ns2:creationId id="{F4963121-56D0-B15D-A24F-46CF56C10872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10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0" name="文本框 19">
            <ns1:extLst>
              <ns1:ext uri="{FF2B5EF4-FFF2-40B4-BE49-F238E27FC236}">
                <ns2:creationId id="{D5488EA2-35EE-9A0F-1591-D7394CA9741C}"/>
              </ns1:ext>
            </ns1:extLst>
          </ns0:cNvPr>
          <ns0:cNvSpPr txBox="1"/>
          <ns0:nvPr/>
        </ns0:nvSpPr>
        <ns0:spPr>
          <ns1:xfrm>
            <ns1:off x="685800" y="2082800"/>
            <ns1:ext cx="108204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目标：让模型更少迎合用户的错误观点</ns1:t>
            </ns1:r>
          </ns1:p>
        </ns0:txBody>
      </ns0:sp>
      <ns0:sp>
        <ns0:nvSpPr>
          <ns0:cNvPr id="21" name="矩形: 圆角 20">
            <ns1:extLst>
              <ns1:ext uri="{FF2B5EF4-FFF2-40B4-BE49-F238E27FC236}">
                <ns2:creationId id="{9ACF970E-FBFB-2467-DE06-03517A20475C}"/>
              </ns1:ext>
            </ns1:extLst>
          </ns0:cNvPr>
          <ns0:cNvSpPr/>
          <ns0:nvPr/>
        </ns0:nvSpPr>
        <ns0:spPr>
          <ns1:xfrm>
            <ns1:off x="685800" y="2743200"/>
            <ns1:ext cx="2489200" cy="2146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B6F81E2F-5777-1852-4620-279668F673FE}"/>
              </ns1:ext>
            </ns1:extLst>
          </ns0:cNvPr>
          <ns0:cNvSpPr txBox="1"/>
          <ns0:nvPr/>
        </ns0:nvSpPr>
        <ns0:spPr>
          <ns1:xfrm>
            <ns1:off x="86360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  </ns1:t>
            </ns1:r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原目标模型</ns1:t>
            </ns1:r>
          </ns1:p>
        </ns0:txBody>
      </ns0:sp>
      <ns0:sp>
        <ns0:nvSpPr>
          <ns0:cNvPr id="23" name="文本框 22">
            <ns1:extLst>
              <ns1:ext uri="{FF2B5EF4-FFF2-40B4-BE49-F238E27FC236}">
                <ns2:creationId id="{F9299B1B-DF37-DC8D-E597-56C49480FB73}"/>
              </ns1:ext>
            </ns1:extLst>
          </ns0:cNvPr>
          <ns0:cNvSpPr txBox="1"/>
          <ns0:nvPr/>
        </ns0:nvSpPr>
        <ns0:spPr>
          <ns1:xfrm>
            <ns1:off x="86360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Qwen3.5-2B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正常前向
内部表示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24" name="直接连接符 23">
            <ns1:extLst>
              <ns1:ext uri="{FF2B5EF4-FFF2-40B4-BE49-F238E27FC236}">
                <ns2:creationId id="{37DFE7A3-DC8E-78CD-B8E9-FC4DCE828D4C}"/>
              </ns1:ext>
            </ns1:extLst>
          </ns0:cNvPr>
          <ns0:cNvCxnSpPr/>
          <ns0:nvPr/>
        </ns0:nvCxnSpPr>
        <ns0:spPr>
          <ns1:xfrm>
            <ns1:off x="3225800" y="3810000"/>
            <ns1:ext cx="18415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5" name="矩形: 圆角 24">
            <ns1:extLst>
              <ns1:ext uri="{FF2B5EF4-FFF2-40B4-BE49-F238E27FC236}">
                <ns2:creationId id="{B2F0519E-354A-2D38-F75E-D482FCB311FC}"/>
              </ns1:ext>
            </ns1:extLst>
          </ns0:cNvPr>
          <ns0:cNvSpPr/>
          <ns0:nvPr/>
        </ns0:nvSpPr>
        <ns0:spPr>
          <ns1:xfrm>
            <ns1:off x="3460750" y="2743200"/>
            <ns1:ext cx="2489200" cy="2146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2FE153DD-17F3-FD49-57F6-ABAA1C65264E}"/>
              </ns1:ext>
            </ns1:extLst>
          </ns0:cNvPr>
          <ns0:cNvSpPr txBox="1"/>
          <ns0:nvPr/>
        </ns0:nvSpPr>
        <ns0:spPr>
          <ns1:xfrm>
            <ns1:off x="363855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2  </ns1:t>
            </ns1:r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方向性干预</ns1:t>
            </ns1:r>
          </ns1:p>
        </ns0:txBody>
      </ns0:sp>
      <ns0:sp>
        <ns0:nvSpPr>
          <ns0:cNvPr id="27" name="文本框 26">
            <ns1:extLst>
              <ns1:ext uri="{FF2B5EF4-FFF2-40B4-BE49-F238E27FC236}">
                <ns2:creationId id="{C1D4A5F3-349D-710F-0940-DFEF7786626C}"/>
              </ns1:ext>
            </ns1:extLst>
          </ns0:cNvPr>
          <ns0:cNvSpPr txBox="1"/>
          <ns0:nvPr/>
        </ns0:nvSpPr>
        <ns0:spPr>
          <ns1:xfrm>
            <ns1:off x="363855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作用于隐藏状态
教学示意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h′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＝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＋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αv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28" name="直接连接符 27">
            <ns1:extLst>
              <ns1:ext uri="{FF2B5EF4-FFF2-40B4-BE49-F238E27FC236}">
                <ns2:creationId id="{A342F0CF-C9A8-5F90-B8CC-9A39D4EC62FE}"/>
              </ns1:ext>
            </ns1:extLst>
          </ns0:cNvPr>
          <ns0:cNvCxnSpPr/>
          <ns0:nvPr/>
        </ns0:nvCxnSpPr>
        <ns0:spPr>
          <ns1:xfrm>
            <ns1:off x="6000750" y="3810000"/>
            <ns1:ext cx="18415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9" name="矩形: 圆角 28">
            <ns1:extLst>
              <ns1:ext uri="{FF2B5EF4-FFF2-40B4-BE49-F238E27FC236}">
                <ns2:creationId id="{9713F0C5-A3C4-990F-E73B-4EE0BD9F5B95}"/>
              </ns1:ext>
            </ns1:extLst>
          </ns0:cNvPr>
          <ns0:cNvSpPr/>
          <ns0:nvPr/>
        </ns0:nvSpPr>
        <ns0:spPr>
          <ns1:xfrm>
            <ns1:off x="6235700" y="2743200"/>
            <ns1:ext cx="2489200" cy="2146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0" name="文本框 29">
            <ns1:extLst>
              <ns1:ext uri="{FF2B5EF4-FFF2-40B4-BE49-F238E27FC236}">
                <ns2:creationId id="{ACA21ED3-62D7-AFC2-D30C-75A61F82011A}"/>
              </ns1:ext>
            </ns1:extLst>
          </ns0:cNvPr>
          <ns0:cNvSpPr txBox="1"/>
          <ns0:nvPr/>
        </ns0:nvSpPr>
        <ns0:spPr>
          <ns1:xfrm>
            <ns1:off x="641350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3  </ns1:t>
            </ns1:r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引导后的教师</ns1:t>
            </ns1:r>
          </ns1:p>
        </ns0:txBody>
      </ns0:sp>
      <ns0:sp>
        <ns0:nvSpPr>
          <ns0:cNvPr id="31" name="文本框 30">
            <ns1:extLst>
              <ns1:ext uri="{FF2B5EF4-FFF2-40B4-BE49-F238E27FC236}">
                <ns2:creationId id="{BD8FF24F-4AB6-F515-BED8-A38EEB035B92}"/>
              </ns1:ext>
            </ns1:extLst>
          </ns0:cNvPr>
          <ns0:cNvSpPr txBox="1"/>
          <ns0:nvPr/>
        </ns0:nvSpPr>
        <ns0:spPr>
          <ns1:xfrm>
            <ns1:off x="641350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目标模型的引导版本
更少倾向附和错误观点</ns1:t>
            </ns1:r>
          </ns1:p>
        </ns0:txBody>
      </ns0:sp>
      <ns0:cxnSp>
        <ns0:nvCxnSpPr>
          <ns0:cNvPr id="32" name="直接连接符 31">
            <ns1:extLst>
              <ns1:ext uri="{FF2B5EF4-FFF2-40B4-BE49-F238E27FC236}">
                <ns2:creationId id="{97A2E9FE-9FE2-95CD-57D7-9B16876CDE82}"/>
              </ns1:ext>
            </ns1:extLst>
          </ns0:cNvPr>
          <ns0:cNvCxnSpPr/>
          <ns0:nvPr/>
        </ns0:nvCxnSpPr>
        <ns0:spPr>
          <ns1:xfrm>
            <ns1:off x="8775700" y="3810000"/>
            <ns1:ext cx="18415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3" name="矩形: 圆角 32">
            <ns1:extLst>
              <ns1:ext uri="{FF2B5EF4-FFF2-40B4-BE49-F238E27FC236}">
                <ns2:creationId id="{D52F20DA-3E90-B5DF-502A-C65F0AA103C9}"/>
              </ns1:ext>
            </ns1:extLst>
          </ns0:cNvPr>
          <ns0:cNvSpPr/>
          <ns0:nvPr/>
        </ns0:nvSpPr>
        <ns0:spPr>
          <ns1:xfrm>
            <ns1:off x="9010650" y="2743200"/>
            <ns1:ext cx="2489200" cy="2146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4" name="文本框 33">
            <ns1:extLst>
              <ns1:ext uri="{FF2B5EF4-FFF2-40B4-BE49-F238E27FC236}">
                <ns2:creationId id="{74A0CFF2-5F59-CA4D-DAC0-192581555D24}"/>
              </ns1:ext>
            </ns1:extLst>
          </ns0:cNvPr>
          <ns0:cNvSpPr txBox="1"/>
          <ns0:nvPr/>
        </ns0:nvSpPr>
        <ns0:spPr>
          <ns1:xfrm>
            <ns1:off x="918845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4  </ns1:t>
            </ns1:r>
            <ns1:r>
              <ns1:rPr lang="zh-CN" altLang="en-US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待解决问题</ns1:t>
            </ns1:r>
          </ns1:p>
        </ns0:txBody>
      </ns0:sp>
      <ns0:sp>
        <ns0:nvSpPr>
          <ns0:cNvPr id="35" name="文本框 34">
            <ns1:extLst>
              <ns1:ext uri="{FF2B5EF4-FFF2-40B4-BE49-F238E27FC236}">
                <ns2:creationId id="{055A2E06-7C4B-41B7-AD09-126485B6B8E5}"/>
              </ns1:ext>
            </ns1:extLst>
          </ns0:cNvPr>
          <ns0:cNvSpPr txBox="1"/>
          <ns0:nvPr/>
        </ns0:nvSpPr>
        <ns0:spPr>
          <ns1:xfrm>
            <ns1:off x="918845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推理时的临时变化
怎样保留到正常推理？</ns1:t>
            </ns1:r>
          </ns1:p>
        </ns0:txBody>
      </ns0:sp>
      <ns0:sp>
        <ns0:nvSpPr>
          <ns0:cNvPr id="36" name="文本框 35">
            <ns1:extLst>
              <ns1:ext uri="{FF2B5EF4-FFF2-40B4-BE49-F238E27FC236}">
                <ns2:creationId id="{1C384D16-62E7-F38A-2539-DCC865A5E1FA}"/>
              </ns1:ext>
            </ns1:extLst>
          </ns0:cNvPr>
          <ns0:cNvSpPr txBox="1"/>
          <ns0:nvPr/>
        </ns0:nvSpPr>
        <ns0:spPr>
          <ns1:xfrm>
            <ns1:off x="685800" y="5207000"/>
            <ns1:ext cx="108204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教师来自</ns1:t>
            </ns1:r>
            <ns1:r>
              <ns1:rPr lang="en-US" altLang="zh-CN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目标模型的引导版本，不是</ns1:t>
            </ns1:r>
            <ns1:r>
              <ns1:rPr lang="en-US" altLang="zh-CN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Claude Opus 4.8</ns1:t>
            </ns1:r>
            <ns1:endParaRPr lang="zh-CN" altLang="en-US" sz="165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7" name="文本框 36">
            <ns1:extLst>
              <ns1:ext uri="{FF2B5EF4-FFF2-40B4-BE49-F238E27FC236}">
                <ns2:creationId id="{4C54370A-F5D4-6AEA-5B96-9DD9D2CDE280}"/>
              </ns1:ext>
            </ns1:extLst>
          </ns0:cNvPr>
          <ns0:cNvSpPr txBox="1"/>
          <ns0:nvPr/>
        </ns0:nvSpPr>
        <ns0:spPr>
          <ns1:xfrm>
            <ns1:off x="685800" y="5702300"/>
            <ns1:ext cx="10820400" cy="23852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激活引导改变内部表示，不是把某题正确答案拼进提示词</ns1:t>
            </ns1:r>
          </ns1:p>
        </ns0:txBody>
      </ns0:sp>
    </ns0:spTree>
    <ns0:extLst>
      <ns0:ext uri="{BB962C8B-B14F-4D97-AF65-F5344CB8AC3E}">
        <ns4:creationId val="1677997436"/>
      </ns0:ext>
    </ns0:extLst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openxmlformats.org/officeDocument/2006/relationships" xmlns:ns5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" name="文本框 16">
            <ns1:extLst>
              <ns1:ext uri="{FF2B5EF4-FFF2-40B4-BE49-F238E27FC236}">
                <ns2:creationId id="{837DF8FF-3243-EBE0-C81E-E4251BD851C1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033E9163-E1F9-EAF9-BF46-FF8703CC79A5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0783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再用</ns1:t>
            </ns1:r>
            <ns1:r>
              <ns1:rPr lang="en-US" altLang="zh-CN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蒸馏，把教师行为写进学生权重</ns1:t>
            </ns1:r>
          </ns1:p>
        </ns0:txBody>
      </ns0:sp>
      <ns0:sp>
        <ns0:nvSpPr>
          <ns0:cNvPr id="19" name="矩形 18">
            <ns1:extLst>
              <ns1:ext uri="{FF2B5EF4-FFF2-40B4-BE49-F238E27FC236}">
                <ns2:creationId id="{CEFD6FD6-7CFA-9574-55C4-B41297EF05E5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0" name="文本框 19">
            <ns1:extLst>
              <ns1:ext uri="{FF2B5EF4-FFF2-40B4-BE49-F238E27FC236}">
                <ns2:creationId id="{4522AB13-6037-E7DA-83EE-2A06273D9E0E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；机制教学示意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5C674175-66B1-F95D-1841-615B7CD4E68D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11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61C9019E-68F5-4C9A-ECBE-6FBE658F710B}"/>
              </ns1:ext>
            </ns1:extLst>
          </ns0:cNvPr>
          <ns0:cNvSpPr txBox="1"/>
          <ns0:nvPr/>
        </ns0:nvSpPr>
        <ns0:spPr>
          <ns1:xfrm>
            <ns1:off x="4749800" y="1993900"/>
            <ns1:ext cx="2692400" cy="292388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同一个输入</ns1:t>
            </ns1:r>
          </ns1:p>
        </ns0:txBody>
      </ns0:sp>
      <ns0:cxnSp>
        <ns0:nvCxnSpPr>
          <ns0:cNvPr id="23" name="直接连接符 22">
            <ns1:extLst>
              <ns1:ext uri="{FF2B5EF4-FFF2-40B4-BE49-F238E27FC236}">
                <ns2:creationId id="{C7EF486F-13A5-5D64-AB7B-F19AB50DF671}"/>
              </ns1:ext>
            </ns1:extLst>
          </ns0:cNvPr>
          <ns0:cNvCxnSpPr/>
          <ns0:nvPr/>
        </ns0:nvCxnSpPr>
        <ns0:spPr>
          <ns1:xfrm flipH="1">
            <ns1:off x="2730500" y="2438400"/>
            <ns1:ext cx="3365500" cy="368300"/>
          </ns1:xfrm>
          <ns1:prstGeom prst="line">
            <ns1:avLst/>
          </ns1:prstGeom>
          <ns1:ln w="254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4" name="直接连接符 23">
            <ns1:extLst>
              <ns1:ext uri="{FF2B5EF4-FFF2-40B4-BE49-F238E27FC236}">
                <ns2:creationId id="{E982D847-5B41-09ED-D329-3C74E9C10DCE}"/>
              </ns1:ext>
            </ns1:extLst>
          </ns0:cNvPr>
          <ns0:cNvCxnSpPr/>
          <ns0:nvPr/>
        </ns0:nvCxnSpPr>
        <ns0:spPr>
          <ns1:xfrm>
            <ns1:off x="6096000" y="2438400"/>
            <ns1:ext cx="3365500" cy="368300"/>
          </ns1:xfrm>
          <ns1:prstGeom prst="line">
            <ns1:avLst/>
          </ns1:prstGeom>
          <ns1:ln w="254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5" name="矩形: 圆角 24">
            <ns1:extLst>
              <ns1:ext uri="{FF2B5EF4-FFF2-40B4-BE49-F238E27FC236}">
                <ns2:creationId id="{DA3A6032-5392-77BF-0A01-57D71CBCB752}"/>
              </ns1:ext>
            </ns1:extLst>
          </ns0:cNvPr>
          <ns0:cNvSpPr/>
          <ns0:nvPr/>
        </ns0:nvSpPr>
        <ns0:spPr>
          <ns1:xfrm>
            <ns1:off x="914400" y="2819400"/>
            <ns1:ext cx="3632200" cy="1257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007FC04C-F02B-D29A-44D6-3792EE167C28}"/>
              </ns1:ext>
            </ns1:extLst>
          </ns0:cNvPr>
          <ns0:cNvSpPr txBox="1"/>
          <ns0:nvPr/>
        </ns0:nvSpPr>
        <ns0:spPr>
          <ns1:xfrm>
            <ns1:off x="1117600" y="2997200"/>
            <ns1:ext cx="3225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教师 </ns1:t>
            </ns1:r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Teacher</ns1:t>
            </ns1:r>
            <ns1:endParaRPr lang="zh-CN" altLang="en-US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7" name="文本框 26">
            <ns1:extLst>
              <ns1:ext uri="{FF2B5EF4-FFF2-40B4-BE49-F238E27FC236}">
                <ns2:creationId id="{3DFA7252-3C11-2A67-E9E7-8683A92E583B}"/>
              </ns1:ext>
            </ns1:extLst>
          </ns0:cNvPr>
          <ns0:cNvSpPr txBox="1"/>
          <ns0:nvPr/>
        </ns0:nvSpPr>
        <ns0:spPr>
          <ns1:xfrm>
            <ns1:off x="1117600" y="3441700"/>
            <ns1:ext cx="32258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引导后的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｜冻结权重
产生分布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pT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矩形: 圆角 27">
            <ns1:extLst>
              <ns1:ext uri="{FF2B5EF4-FFF2-40B4-BE49-F238E27FC236}">
                <ns2:creationId id="{0D62C0AA-CF73-1D7E-750A-5362D638832C}"/>
              </ns1:ext>
            </ns1:extLst>
          </ns0:cNvPr>
          <ns0:cNvSpPr/>
          <ns0:nvPr/>
        </ns0:nvSpPr>
        <ns0:spPr>
          <ns1:xfrm>
            <ns1:off x="7645400" y="2819400"/>
            <ns1:ext cx="3632200" cy="1257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9" name="文本框 28">
            <ns1:extLst>
              <ns1:ext uri="{FF2B5EF4-FFF2-40B4-BE49-F238E27FC236}">
                <ns2:creationId id="{F3151B8B-9156-CCA1-61E5-89EDDCF3E0F0}"/>
              </ns1:ext>
            </ns1:extLst>
          </ns0:cNvPr>
          <ns0:cNvSpPr txBox="1"/>
          <ns0:nvPr/>
        </ns0:nvSpPr>
        <ns0:spPr>
          <ns1:xfrm>
            <ns1:off x="7848600" y="2997200"/>
            <ns1:ext cx="3225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学生 </ns1:t>
            </ns1:r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Student</ns1:t>
            </ns1:r>
            <ns1:endParaRPr lang="zh-CN" altLang="en-US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0" name="文本框 29">
            <ns1:extLst>
              <ns1:ext uri="{FF2B5EF4-FFF2-40B4-BE49-F238E27FC236}">
                <ns2:creationId id="{510E5356-FE50-F215-4822-9E0957C63567}"/>
              </ns1:ext>
            </ns1:extLst>
          </ns0:cNvPr>
          <ns0:cNvSpPr txBox="1"/>
          <ns0:nvPr/>
        </ns0:nvSpPr>
        <ns0:spPr>
          <ns1:xfrm>
            <ns1:off x="7848600" y="3441700"/>
            <ns1:ext cx="32258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待训练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｜参数可更新
产生分布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pθ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1" name="直接连接符 30">
            <ns1:extLst>
              <ns1:ext uri="{FF2B5EF4-FFF2-40B4-BE49-F238E27FC236}">
                <ns2:creationId id="{F2780B45-DAAE-0CBD-AC9D-1259D0DB72B2}"/>
              </ns1:ext>
            </ns1:extLst>
          </ns0:cNvPr>
          <ns0:cNvCxnSpPr/>
          <ns0:nvPr/>
        </ns0:nvCxnSpPr>
        <ns0:spPr>
          <ns1:xfrm>
            <ns1:off x="3632200" y="4089400"/>
            <ns1:ext cx="1612900" cy="3302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2" name="直接连接符 31">
            <ns1:extLst>
              <ns1:ext uri="{FF2B5EF4-FFF2-40B4-BE49-F238E27FC236}">
                <ns2:creationId id="{BF33E41C-EC21-6161-A4FB-75F2FAD31EE8}"/>
              </ns1:ext>
            </ns1:extLst>
          </ns0:cNvPr>
          <ns0:cNvCxnSpPr/>
          <ns0:nvPr/>
        </ns0:nvCxnSpPr>
        <ns0:spPr>
          <ns1:xfrm flipH="1">
            <ns1:off x="6946900" y="4089400"/>
            <ns1:ext cx="1612900" cy="3302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3" name="矩形: 圆角 32">
            <ns1:extLst>
              <ns1:ext uri="{FF2B5EF4-FFF2-40B4-BE49-F238E27FC236}">
                <ns2:creationId id="{FD944791-4757-6B31-F56D-DD837F42B97C}"/>
              </ns1:ext>
            </ns1:extLst>
          </ns0:cNvPr>
          <ns0:cNvSpPr/>
          <ns0:nvPr/>
        </ns0:nvSpPr>
        <ns0:spPr>
          <ns1:xfrm>
            <ns1:off x="4483100" y="4343400"/>
            <ns1:ext cx="3225800" cy="8382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en-US" altLang="zh-CN" sz="16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16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分布约束
让学生学习教师的输出倾向</ns1:t>
            </ns1:r>
          </ns1:p>
        </ns0:txBody>
      </ns0:sp>
      <ns0:cxnSp>
        <ns0:nvCxnSpPr>
          <ns0:cNvPr id="34" name="直接连接符 33">
            <ns1:extLst>
              <ns1:ext uri="{FF2B5EF4-FFF2-40B4-BE49-F238E27FC236}">
                <ns2:creationId id="{92BB6F8F-639F-A0E7-E983-C6F10012A28B}"/>
              </ns1:ext>
            </ns1:extLst>
          </ns0:cNvPr>
          <ns0:cNvCxnSpPr/>
          <ns0:nvPr/>
        </ns0:nvCxnSpPr>
        <ns0:spPr>
          <ns1:xfrm>
            <ns1:off x="6096000" y="5194300"/>
            <ns1:ext cx="0" cy="2794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5" name="矩形: 圆角 34">
            <ns1:extLst>
              <ns1:ext uri="{FF2B5EF4-FFF2-40B4-BE49-F238E27FC236}">
                <ns2:creationId id="{A9E817B0-4B62-F87C-403A-C0A6B9C4C6BF}"/>
              </ns1:ext>
            </ns1:extLst>
          </ns0:cNvPr>
          <ns0:cNvSpPr/>
          <ns0:nvPr/>
        </ns0:nvSpPr>
        <ns0:spPr>
          <ns1:xfrm>
            <ns1:off x="4546600" y="5473700"/>
            <ns1:ext cx="3098800" cy="495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zh-CN" altLang="en-US" sz="17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仅更新学生参数</ns1:t>
            </ns1:r>
          </ns1:p>
        </ns0:txBody>
      </ns0:sp>
      <ns0:cxnSp>
        <ns0:nvCxnSpPr>
          <ns0:cNvPr id="36" name="直接连接符 35">
            <ns1:extLst>
              <ns1:ext uri="{FF2B5EF4-FFF2-40B4-BE49-F238E27FC236}">
                <ns2:creationId id="{8DCD49F7-75B0-8BEE-BA92-C3B41FCEC5A4}"/>
              </ns1:ext>
            </ns1:extLst>
          </ns0:cNvPr>
          <ns0:cNvCxnSpPr/>
          <ns0:nvPr/>
        </ns0:nvCxnSpPr>
        <ns0:spPr>
          <ns1:xfrm>
            <ns1:off x="7670800" y="5715000"/>
            <ns1:ext cx="6477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7" name="矩形: 圆角 36">
            <ns1:extLst>
              <ns1:ext uri="{FF2B5EF4-FFF2-40B4-BE49-F238E27FC236}">
                <ns2:creationId id="{D57B7726-0C30-7968-CF34-A5712777027A}"/>
              </ns1:ext>
            </ns1:extLst>
          </ns0:cNvPr>
          <ns0:cNvSpPr/>
          <ns0:nvPr/>
        </ns0:nvSpPr>
        <ns0:spPr>
          <ns1:xfrm>
            <ns1:off x="8432800" y="5334000"/>
            <ns1:ext cx="2844800" cy="7620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zh-CN" altLang="en-US" sz="15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移除引导｜正常推理
独立评测</ns1:t>
            </ns1:r>
          </ns1:p>
        </ns0:txBody>
      </ns0:sp>
      <ns0:sp>
        <ns0:nvSpPr>
          <ns0:cNvPr id="38" name="文本框 37">
            <ns1:extLst>
              <ns1:ext uri="{FF2B5EF4-FFF2-40B4-BE49-F238E27FC236}">
                <ns2:creationId id="{08E2629E-51C3-A6A4-52F4-A690D878A9E9}"/>
              </ns1:ext>
            </ns1:extLst>
          </ns0:cNvPr>
          <ns0:cNvSpPr txBox="1"/>
          <ns0:nvPr/>
        </ns0:nvSpPr>
        <ns0:spPr>
          <ns1:xfrm>
            <ns1:off x="685800" y="6108700"/>
            <ns1:ext cx="65405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参数更新发生在学生模型；教师提供训练目标</ns1:t>
            </ns1:r>
          </ns1:p>
        </ns0:txBody>
      </ns0:sp>
      <ns0:sp>
        <ns0:nvSpPr>
          <ns0:cNvPr id="39" name="文本框 38">
            <ns1:extLst>
              <ns1:ext uri="{FF2B5EF4-FFF2-40B4-BE49-F238E27FC236}">
                <ns2:creationId id="{47E90DDE-F3D9-9260-0A55-2851D19D44DF}"/>
              </ns1:ext>
            </ns1:extLst>
          </ns0:cNvPr>
          <ns0:cNvSpPr txBox="1"/>
          <ns0:nvPr/>
        </ns0:nvSpPr>
        <ns0:spPr>
          <ns1:xfrm>
            <ns1:off x="7391400" y="6108700"/>
            <ns1:ext cx="41148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方向与完整配方由具体方法定义</ns1:t>
            </ns1:r>
          </ns1:p>
        </ns0:txBody>
      </ns0:sp>
      <ns0:pic>
        <ns0:nvPicPr>
          <ns0:cNvPr id="40" name="MechanismTeachingVideo_B07">
            <ns1:hlinkClick action="ppaction://media"/>
            <ns1:extLst>
              <ns1:ext uri="{FF2B5EF4-FFF2-40B4-BE49-F238E27FC236}">
                <ns2:creationId id="{AECB4570-ACE4-F204-5428-7C8FCFFB9CB6}"/>
              </ns1:ext>
            </ns1:extLst>
          </ns0:cNvPr>
          <ns0:cNvPicPr>
            <ns1:picLocks noChangeAspect="1"/>
          </ns0:cNvPicPr>
          <ns0:nvPr>
            <ns1:videoFile ns4:link="rId2"/>
            <ns0:extLst>
              <ns0:ext uri="{DAA4B4D4-6D71-4841-9C94-3DE7FCFB9230}">
                <ns5:media ns4:embed="rId1"/>
              </ns0:ext>
            </ns0:extLst>
          </ns0:nvPr>
        </ns0:nvPicPr>
        <ns0:blipFill>
          <ns1:blip ns4:embed="rId5"/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</ns0:spTree>
    <ns0:extLst>
      <ns0:ext uri="{BB962C8B-B14F-4D97-AF65-F5344CB8AC3E}">
        <ns5:creationId val="110738304"/>
      </ns0:ext>
    </ns0:extLst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" presetClass="mediacall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cmd type="call" cmd="playFrom(0.0)">
                                      <ns0:cBhvr>
                                        <ns0:cTn id="6" dur="18000" fill="hold"/>
                                        <ns0:tgtEl>
                                          <ns0:spTgt spid="40"/>
                                        </ns0:tgtEl>
                                      </ns0:cBhvr>
                                    </ns0:cmd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  <ns0:video>
              <ns0:cMediaNode vol="80000">
                <ns0:cTn id="7" fill="hold" display="0">
                  <ns0:stCondLst>
                    <ns0:cond delay="indefinite"/>
                  </ns0:stCondLst>
                </ns0:cTn>
                <ns0:tgtEl>
                  <ns0:spTgt spid="40"/>
                </ns0:tgtEl>
              </ns0:cMediaNode>
            </ns0:video>
            <ns0:seq concurrent="1" nextAc="seek">
              <ns0:cTn id="8" restart="whenNotActive" fill="hold" evtFilter="cancelBubble" nodeType="interactiveSeq">
                <ns0:stCondLst>
                  <ns0:cond evt="onClick" delay="0">
                    <ns0:tgtEl>
                      <ns0:spTgt spid="40"/>
                    </ns0:tgtEl>
                  </ns0:cond>
                </ns0:stCondLst>
                <ns0:endSync evt="end" delay="0">
                  <ns0:rtn val="all"/>
                </ns0:endSync>
                <ns0:childTnLst>
                  <ns0:par>
                    <ns0:cTn id="9" fill="hold">
                      <ns0:stCondLst>
                        <ns0:cond delay="0"/>
                      </ns0:stCondLst>
                      <ns0:childTnLst>
                        <ns0:par>
                          <ns0:cTn id="1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1" presetID="2" presetClass="mediacall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cmd type="call" cmd="togglePause">
                                      <ns0:cBhvr>
                                        <ns0:cTn id="12" dur="1" fill="hold"/>
                                        <ns0:tgtEl>
                                          <ns0:spTgt spid="40"/>
                                        </ns0:tgtEl>
                                      </ns0:cBhvr>
                                    </ns0:cmd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nextCondLst>
                <ns0:cond evt="onClick" delay="0">
                  <ns0:tgtEl>
                    <ns0:spTgt spid="40"/>
                  </ns0:tgtEl>
                </ns0:cond>
              </ns0:nextCondLst>
            </ns0:seq>
          </ns0:childTnLst>
        </ns0:cTn>
      </ns0:par>
    </ns0:tn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" name="文本框 16">
            <ns1:extLst>
              <ns1:ext uri="{FF2B5EF4-FFF2-40B4-BE49-F238E27FC236}">
                <ns2:creationId id="{F80B0E7D-39E0-9F0C-41B7-AA34BFA1C9AE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5DE4FB7D-1CF3-4E9C-DB11-1762B8CA2A8D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2322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4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改善空间：先弄清百分数的分母</ns1:t>
            </ns1:r>
          </ns1:p>
        </ns0:txBody>
      </ns0:sp>
      <ns0:sp>
        <ns0:nvSpPr>
          <ns0:cNvPr id="19" name="矩形 18">
            <ns1:extLst>
              <ns1:ext uri="{FF2B5EF4-FFF2-40B4-BE49-F238E27FC236}">
                <ns2:creationId id="{D91633B8-3DF9-DAC0-5DE2-670A509BBA3C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0" name="文本框 19">
            <ns1:extLst>
              <ns1:ext uri="{FF2B5EF4-FFF2-40B4-BE49-F238E27FC236}">
                <ns2:creationId id="{68828E14-E70A-3ECE-6011-17C28F8BCDD4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§2.2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；定义与教学数值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239C1FBE-74A3-0843-7585-0469C64AEA55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12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矩形: 圆角 21">
            <ns1:extLst>
              <ns1:ext uri="{FF2B5EF4-FFF2-40B4-BE49-F238E27FC236}">
                <ns2:creationId id="{A7DCEBE3-456C-23C0-1E84-D97E36B7550F}"/>
              </ns1:ext>
            </ns1:extLst>
          </ns0:cNvPr>
          <ns0:cNvSpPr/>
          <ns0:nvPr/>
        </ns0:nvSpPr>
        <ns0:spPr>
          <ns1:xfrm>
            <ns1:off x="685800" y="1943100"/>
            <ns1:ext cx="10820400" cy="14986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3" name="文本框 22">
            <ns1:extLst>
              <ns1:ext uri="{FF2B5EF4-FFF2-40B4-BE49-F238E27FC236}">
                <ns2:creationId id="{BD6DF597-6263-79E5-C6E5-BA395FFA3D5F}"/>
              </ns1:ext>
            </ns1:extLst>
          </ns0:cNvPr>
          <ns0:cNvSpPr txBox="1"/>
          <ns0:nvPr/>
        </ns0:nvSpPr>
        <ns0:spPr>
          <ns1:xfrm>
            <ns1:off x="914400" y="2159000"/>
            <ns1:ext cx="939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定义</ns1:t>
            </ns1:r>
          </ns1:p>
        </ns0:txBody>
      </ns0:sp>
      <ns0:sp>
        <ns0:nvSpPr>
          <ns0:cNvPr id="24" name="文本框 23">
            <ns1:extLst>
              <ns1:ext uri="{FF2B5EF4-FFF2-40B4-BE49-F238E27FC236}">
                <ns2:creationId id="{BE801258-D0B8-290D-32F7-B1432B89CC97}"/>
              </ns1:ext>
            </ns1:extLst>
          </ns0:cNvPr>
          <ns0:cNvSpPr txBox="1"/>
          <ns0:nvPr/>
        </ns0:nvSpPr>
        <ns0:spPr>
          <ns1:xfrm>
            <ns1:off x="1905000" y="2133600"/>
            <ns1:ext cx="93726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改善空间关闭比例：训练带来的提升，占“基线到参考最优”原有差距的比例。</ns1:t>
            </ns1:r>
          </ns1:p>
        </ns0:txBody>
      </ns0:sp>
      <ns0:sp>
        <ns0:nvSpPr>
          <ns0:cNvPr id="25" name="文本框 24">
            <ns1:extLst>
              <ns1:ext uri="{FF2B5EF4-FFF2-40B4-BE49-F238E27FC236}">
                <ns2:creationId id="{B80EA75C-24E4-4325-5424-10AC64DB4266}"/>
              </ns1:ext>
            </ns1:extLst>
          </ns0:cNvPr>
          <ns0:cNvSpPr txBox="1"/>
          <ns0:nvPr/>
        </ns0:nvSpPr>
        <ns0:spPr>
          <ns1:xfrm>
            <ns1:off x="914400" y="2705100"/>
            <ns1:ext cx="10363200" cy="33855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(</ns1:t>
            </ns1:r>
            <ns1:r>
              <ns1:rPr lang="zh-CN" altLang="en-US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训练后得分 − 基线得分</ns1:t>
            </ns1:r>
            <ns1:r>
              <ns1:rPr lang="en-US" altLang="zh-CN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) ÷ (</ns1:t>
            </ns1:r>
            <ns1:r>
              <ns1:rPr lang="zh-CN" altLang="en-US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参考最优得分 − 基线得分</ns1:t>
            </ns1:r>
            <ns1:r>
              <ns1:rPr lang="en-US" altLang="zh-CN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)</ns1:t>
            </ns1:r>
            <ns1:endParaRPr lang="zh-CN" altLang="en-US" sz="22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D09D0551-6097-392C-B54C-8C7C6199CA5D}"/>
              </ns1:ext>
            </ns1:extLst>
          </ns0:cNvPr>
          <ns0:cNvSpPr txBox="1"/>
          <ns0:nvPr/>
        </ns0:nvSpPr>
        <ns0:spPr>
          <ns1:xfrm>
            <ns1:off x="685800" y="3708400"/>
            <ns1:ext cx="31750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一个小例子</ns1:t>
            </ns1:r>
          </ns1:p>
        </ns0:txBody>
      </ns0:sp>
      <ns0:sp>
        <ns0:nvSpPr>
          <ns0:cNvPr id="27" name="矩形: 圆角 26">
            <ns1:extLst>
              <ns1:ext uri="{FF2B5EF4-FFF2-40B4-BE49-F238E27FC236}">
                <ns2:creationId id="{54F9CC0B-78DA-F1B4-DF03-AACF7BDFAB09}"/>
              </ns1:ext>
            </ns1:extLst>
          </ns0:cNvPr>
          <ns0:cNvSpPr/>
          <ns0:nvPr/>
        </ns0:nvSpPr>
        <ns0:spPr>
          <ns1:xfrm>
            <ns1:off x="685800" y="4165600"/>
            <ns1:ext cx="1676400" cy="1143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文本框 27">
            <ns1:extLst>
              <ns1:ext uri="{FF2B5EF4-FFF2-40B4-BE49-F238E27FC236}">
                <ns2:creationId id="{8D11B60E-4086-85F4-61F1-75B81A39CCA4}"/>
              </ns1:ext>
            </ns1:extLst>
          </ns0:cNvPr>
          <ns0:cNvSpPr txBox="1"/>
          <ns0:nvPr/>
        </ns0:nvSpPr>
        <ns0:spPr>
          <ns1:xfrm>
            <ns1:off x="838200" y="4330700"/>
            <ns1:ext cx="13716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基线</ns1:t>
            </ns1:r>
          </ns1:p>
        </ns0:txBody>
      </ns0:sp>
      <ns0:sp>
        <ns0:nvSpPr>
          <ns0:cNvPr id="29" name="文本框 28">
            <ns1:extLst>
              <ns1:ext uri="{FF2B5EF4-FFF2-40B4-BE49-F238E27FC236}">
                <ns2:creationId id="{D338994E-A939-D443-48C2-1B6B0510B69D}"/>
              </ns1:ext>
            </ns1:extLst>
          </ns0:cNvPr>
          <ns0:cNvSpPr txBox="1"/>
          <ns0:nvPr/>
        </ns0:nvSpPr>
        <ns0:spPr>
          <ns1:xfrm>
            <ns1:off x="838200" y="4648200"/>
            <ns1:ext cx="13716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50</ns1:t>
            </ns1:r>
            <ns1:endParaRPr lang="zh-CN" altLang="en-US" sz="2900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0" name="直接连接符 29">
            <ns1:extLst>
              <ns1:ext uri="{FF2B5EF4-FFF2-40B4-BE49-F238E27FC236}">
                <ns2:creationId id="{5777971C-7E18-C99D-E66D-96A19F534AAC}"/>
              </ns1:ext>
            </ns1:extLst>
          </ns0:cNvPr>
          <ns0:cNvCxnSpPr/>
          <ns0:nvPr/>
        </ns0:nvCxnSpPr>
        <ns0:spPr>
          <ns1:xfrm>
            <ns1:off x="2413000" y="4737100"/>
            <ns1:ext cx="22860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1" name="矩形: 圆角 30">
            <ns1:extLst>
              <ns1:ext uri="{FF2B5EF4-FFF2-40B4-BE49-F238E27FC236}">
                <ns2:creationId id="{02EE8B3D-6C03-1E6A-0A6C-97616D1A1F88}"/>
              </ns1:ext>
            </ns1:extLst>
          </ns0:cNvPr>
          <ns0:cNvSpPr/>
          <ns0:nvPr/>
        </ns0:nvSpPr>
        <ns0:spPr>
          <ns1:xfrm>
            <ns1:off x="2692400" y="4165600"/>
            <ns1:ext cx="1676400" cy="11430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2" name="文本框 31">
            <ns1:extLst>
              <ns1:ext uri="{FF2B5EF4-FFF2-40B4-BE49-F238E27FC236}">
                <ns2:creationId id="{D557E08F-D9FE-9CED-9C83-AC35F5D56892}"/>
              </ns1:ext>
            </ns1:extLst>
          </ns0:cNvPr>
          <ns0:cNvSpPr txBox="1"/>
          <ns0:nvPr/>
        </ns0:nvSpPr>
        <ns0:spPr>
          <ns1:xfrm>
            <ns1:off x="2844800" y="4330700"/>
            <ns1:ext cx="13716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训练后</ns1:t>
            </ns1:r>
          </ns1:p>
        </ns0:txBody>
      </ns0:sp>
      <ns0:sp>
        <ns0:nvSpPr>
          <ns0:cNvPr id="33" name="文本框 32">
            <ns1:extLst>
              <ns1:ext uri="{FF2B5EF4-FFF2-40B4-BE49-F238E27FC236}">
                <ns2:creationId id="{38D410CB-0FB1-6EB7-FA20-F88139793C0D}"/>
              </ns1:ext>
            </ns1:extLst>
          </ns0:cNvPr>
          <ns0:cNvSpPr txBox="1"/>
          <ns0:nvPr/>
        </ns0:nvSpPr>
        <ns0:spPr>
          <ns1:xfrm>
            <ns1:off x="2844800" y="4648200"/>
            <ns1:ext cx="13716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9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70</ns1:t>
            </ns1:r>
            <ns1:endParaRPr lang="zh-CN" altLang="en-US" sz="29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4" name="直接连接符 33">
            <ns1:extLst>
              <ns1:ext uri="{FF2B5EF4-FFF2-40B4-BE49-F238E27FC236}">
                <ns2:creationId id="{A281B32D-5CA1-4108-1AD1-C08C6D40EFD9}"/>
              </ns1:ext>
            </ns1:extLst>
          </ns0:cNvPr>
          <ns0:cNvCxnSpPr/>
          <ns0:nvPr/>
        </ns0:nvCxnSpPr>
        <ns0:spPr>
          <ns1:xfrm>
            <ns1:off x="4419600" y="4737100"/>
            <ns1:ext cx="22860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5" name="矩形: 圆角 34">
            <ns1:extLst>
              <ns1:ext uri="{FF2B5EF4-FFF2-40B4-BE49-F238E27FC236}">
                <ns2:creationId id="{D16C13F5-0D5E-6811-7270-D3016EA46EB3}"/>
              </ns1:ext>
            </ns1:extLst>
          </ns0:cNvPr>
          <ns0:cNvSpPr/>
          <ns0:nvPr/>
        </ns0:nvSpPr>
        <ns0:spPr>
          <ns1:xfrm>
            <ns1:off x="4699000" y="4165600"/>
            <ns1:ext cx="1676400" cy="1143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6" name="文本框 35">
            <ns1:extLst>
              <ns1:ext uri="{FF2B5EF4-FFF2-40B4-BE49-F238E27FC236}">
                <ns2:creationId id="{0E11E4A1-2EE3-7CF4-09A9-1CDAD6D6F6C9}"/>
              </ns1:ext>
            </ns1:extLst>
          </ns0:cNvPr>
          <ns0:cNvSpPr txBox="1"/>
          <ns0:nvPr/>
        </ns0:nvSpPr>
        <ns0:spPr>
          <ns1:xfrm>
            <ns1:off x="4851400" y="4330700"/>
            <ns1:ext cx="13716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参考最优</ns1:t>
            </ns1:r>
          </ns1:p>
        </ns0:txBody>
      </ns0:sp>
      <ns0:sp>
        <ns0:nvSpPr>
          <ns0:cNvPr id="37" name="文本框 36">
            <ns1:extLst>
              <ns1:ext uri="{FF2B5EF4-FFF2-40B4-BE49-F238E27FC236}">
                <ns2:creationId id="{7C745A27-E58F-9F29-C883-33A82E6EAD67}"/>
              </ns1:ext>
            </ns1:extLst>
          </ns0:cNvPr>
          <ns0:cNvSpPr txBox="1"/>
          <ns0:nvPr/>
        </ns0:nvSpPr>
        <ns0:spPr>
          <ns1:xfrm>
            <ns1:off x="4851400" y="4648200"/>
            <ns1:ext cx="13716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100</ns1:t>
            </ns1:r>
            <ns1:endParaRPr lang="zh-CN" altLang="en-US" sz="2900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8" name="矩形: 圆角 37">
            <ns1:extLst>
              <ns1:ext uri="{FF2B5EF4-FFF2-40B4-BE49-F238E27FC236}">
                <ns2:creationId id="{154CDCB9-588B-FEB7-3214-4F7CBFAA1262}"/>
              </ns1:ext>
            </ns1:extLst>
          </ns0:cNvPr>
          <ns0:cNvSpPr/>
          <ns0:nvPr/>
        </ns0:nvSpPr>
        <ns0:spPr>
          <ns1:xfrm>
            <ns1:off x="7289800" y="3924300"/>
            <ns1:ext cx="4216400" cy="1384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9" name="文本框 38">
            <ns1:extLst>
              <ns1:ext uri="{FF2B5EF4-FFF2-40B4-BE49-F238E27FC236}">
                <ns2:creationId id="{8E43188C-BBB7-015F-B834-415529FFD536}"/>
              </ns1:ext>
            </ns1:extLst>
          </ns0:cNvPr>
          <ns0:cNvSpPr txBox="1"/>
          <ns0:nvPr/>
        </ns0:nvSpPr>
        <ns0:spPr>
          <ns1:xfrm>
            <ns1:off x="7543800" y="4114800"/>
            <ns1:ext cx="3708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代入定义</ns1:t>
            </ns1:r>
          </ns1:p>
        </ns0:txBody>
      </ns0:sp>
      <ns0:sp>
        <ns0:nvSpPr>
          <ns0:cNvPr id="40" name="文本框 39">
            <ns1:extLst>
              <ns1:ext uri="{FF2B5EF4-FFF2-40B4-BE49-F238E27FC236}">
                <ns2:creationId id="{48E8548D-4BB9-5CC3-460E-1909F5902AEE}"/>
              </ns1:ext>
            </ns1:extLst>
          </ns0:cNvPr>
          <ns0:cNvSpPr txBox="1"/>
          <ns0:nvPr/>
        </ns0:nvSpPr>
        <ns0:spPr>
          <ns1:xfrm>
            <ns1:off x="7543800" y="4495800"/>
            <ns1:ext cx="37084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(70 − 50) ÷ (100 − 50)</ns1:t>
            </ns1:r>
            <ns1:endParaRPr lang="zh-CN" altLang="en-US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1" name="文本框 40">
            <ns1:extLst>
              <ns1:ext uri="{FF2B5EF4-FFF2-40B4-BE49-F238E27FC236}">
                <ns2:creationId id="{6822BD32-09E4-3768-ED36-41BE391EABD3}"/>
              </ns1:ext>
            </ns1:extLst>
          </ns0:cNvPr>
          <ns0:cNvSpPr txBox="1"/>
          <ns0:nvPr/>
        </ns0:nvSpPr>
        <ns0:spPr>
          <ns1:xfrm>
            <ns1:off x="7543800" y="4851400"/>
            <ns1:ext cx="3708400" cy="3693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4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= 40%</ns1:t>
            </ns1:r>
            <ns1:endParaRPr lang="zh-CN" altLang="en-US" sz="24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2" name="文本框 41">
            <ns1:extLst>
              <ns1:ext uri="{FF2B5EF4-FFF2-40B4-BE49-F238E27FC236}">
                <ns2:creationId id="{012F2D66-9C5E-BE63-C4F9-4CA013D280DF}"/>
              </ns1:ext>
            </ns1:extLst>
          </ns0:cNvPr>
          <ns0:cNvSpPr txBox="1"/>
          <ns0:nvPr/>
        </ns0:nvSpPr>
        <ns0:spPr>
          <ns1:xfrm>
            <ns1:off x="685800" y="5588000"/>
            <ns1:ext cx="10820400" cy="23852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直观理解：原本还差</ns1:t>
            </ns1:r>
            <ns1:r>
              <ns1:rPr lang="en-US" altLang="zh-CN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50</ns1:t>
            </ns1:r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分，现在补回</ns1:t>
            </ns1:r>
            <ns1:r>
              <ns1:rPr lang="en-US" altLang="zh-CN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20</ns1:t>
            </ns1:r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分，因此关闭了</ns1:t>
            </ns1:r>
            <ns1:r>
              <ns1:rPr lang="en-US" altLang="zh-CN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40%</ns1:t>
            </ns1:r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的原有改善空间。</ns1:t>
            </ns1:r>
          </ns1:p>
        </ns0:txBody>
      </ns0:sp>
      <ns0:sp>
        <ns0:nvSpPr>
          <ns0:cNvPr id="43" name="文本框 42">
            <ns1:extLst>
              <ns1:ext uri="{FF2B5EF4-FFF2-40B4-BE49-F238E27FC236}">
                <ns2:creationId id="{C58BD702-D287-192A-F5D1-6B9149BC0716}"/>
              </ns1:ext>
            </ns1:extLst>
          </ns0:cNvPr>
          <ns0:cNvSpPr txBox="1"/>
          <ns0:nvPr/>
        </ns0:nvSpPr>
        <ns0:spPr>
          <ns1:xfrm>
            <ns1:off x="685800" y="60198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注意：</ns1:t>
            </ns1:r>
            <ns1:r>
              <ns1:rPr lang="en-US" altLang="zh-CN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40%</ns1:t>
            </ns1:r>
            <ns1:r>
              <ns1:rPr lang="zh-CN" altLang="en-US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不是训练后正确率；多个安全测试还要用几何平均数汇总。</ns1:t>
            </ns1:r>
          </ns1:p>
        </ns0:txBody>
      </ns0:sp>
    </ns0:spTree>
    <ns0:extLst>
      <ns0:ext uri="{BB962C8B-B14F-4D97-AF65-F5344CB8AC3E}">
        <ns4:creationId val="160178646"/>
      </ns0:ext>
    </ns0:extLst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drawingml/2006/chart" xmlns:ns5="http://schemas.openxmlformats.org/officeDocument/2006/relationships" xmlns:ns6="http://schemas.microsoft.com/office/drawing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7" name="Chart">
            <ns1:extLst>
              <ns1:ext uri="{FF2B5EF4-FFF2-40B4-BE49-F238E27FC236}">
                <ns2:creationId id="{2B7318C3-C9F6-48D7-882A-B13B07782B56}"/>
              </ns1:ext>
            </ns1:extLst>
          </ns0:cNvPr>
          <ns0:cNvGraphicFramePr/>
          <ns0:nvPr>
            <ns0:extLst>
              <ns0:ext uri="{D42A27DB-BD31-4B8C-83A1-F6EECF244321}">
                <ns3:modId val="3449386588"/>
              </ns0:ext>
            </ns0:extLst>
          </ns0:nvPr>
        </ns0:nvGraphicFramePr>
        <ns0:xfrm>
          <ns1:off x="685799" y="2514600"/>
          <ns1:ext cx="7493000" cy="3213100"/>
        </ns0:xfrm>
        <ns1:graphic>
          <ns1:graphicData uri="http://schemas.openxmlformats.org/drawingml/2006/chart">
            <ns4:chart ns5:id="rId3"/>
          </ns1:graphicData>
        </ns1:graphic>
      </ns0:graphicFrame>
      <ns0:sp>
        <ns0:nvSpPr>
          <ns0:cNvPr id="12" name="文本框 11">
            <ns1:extLst>
              <ns1:ext uri="{FF2B5EF4-FFF2-40B4-BE49-F238E27FC236}">
                <ns2:creationId id="{E0A5B4E4-D3EB-8B32-9734-CED5C617EB38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3" name="文本框 12">
            <ns1:extLst>
              <ns1:ext uri="{FF2B5EF4-FFF2-40B4-BE49-F238E27FC236}">
                <ns2:creationId id="{7F4DE3A7-E515-98FE-6F16-7BFA0F1AFB26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47705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1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同一案例中，训练目标比增加数据自由度更关键</ns1:t>
            </ns1:r>
          </ns1:p>
        </ns0:txBody>
      </ns0:sp>
      <ns0:sp>
        <ns0:nvSpPr>
          <ns0:cNvPr id="14" name="矩形 13">
            <ns1:extLst>
              <ns1:ext uri="{FF2B5EF4-FFF2-40B4-BE49-F238E27FC236}">
                <ns2:creationId id="{745CBAC2-D992-F8EC-649B-4905325507A2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6:hiddenLine w="19050">
                <ns1:solidFill>
                  <ns1:schemeClr val="accent1">
                    <ns1:shade val="15000"/>
                  </ns1:schemeClr>
                </ns1:solidFill>
                <ns1:prstDash val="solid"/>
              </ns6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5" name="文本框 14">
            <ns1:extLst>
              <ns1:ext uri="{FF2B5EF4-FFF2-40B4-BE49-F238E27FC236}">
                <ns2:creationId id="{C7CCB85E-68EA-5A7D-D65C-91ABF172D2CD}"/>
              </ns1:ext>
            </ns1:extLst>
          </ns0:cNvPr>
          <ns0:cNvSpPr txBox="1"/>
          <ns0:nvPr/>
        </ns0:nvSpPr>
        <ns0:spPr>
          <ns1:xfrm>
            <ns1:off x="685800" y="2019300"/>
            <ns1:ext cx="10820400" cy="24622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Qwen3.5-2B</ns1:t>
            </ns1:r>
            <ns1:r>
              <ns1:rPr lang="zh-CN" altLang="en-US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谄媚任务｜前</ns1:t>
            </ns1:r>
            <ns1:r>
              <ns1:rPr lang="en-US" altLang="zh-CN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150</ns1:t>
            </ns1:r>
            <ns1:r>
              <ns1:rPr lang="zh-CN" altLang="en-US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个已评分方法</ns1:t>
            </ns1:r>
          </ns1:p>
        </ns0:txBody>
      </ns0:sp>
      <ns0:sp>
        <ns0:nvSpPr>
          <ns0:cNvPr id="16" name="文本框 15">
            <ns1:extLst>
              <ns1:ext uri="{FF2B5EF4-FFF2-40B4-BE49-F238E27FC236}">
                <ns2:creationId id="{A908D9C4-19A4-6ACE-87FF-E88EB170A1C0}"/>
              </ns1:ext>
            </ns1:extLst>
          </ns0:cNvPr>
          <ns0:cNvSpPr txBox="1"/>
          <ns0:nvPr/>
        </ns0:nvSpPr>
        <ns0:spPr>
          <ns1:xfrm>
            <ns1:off x="8496300" y="2603500"/>
            <ns1:ext cx="3009900" cy="292388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9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比较的是搜索条件</ns1:t>
            </ns1:r>
          </ns1:p>
        </ns0:txBody>
      </ns0:sp>
      <ns0:sp>
        <ns0:nvSpPr>
          <ns0:cNvPr id="17" name="文本框 16">
            <ns1:extLst>
              <ns1:ext uri="{FF2B5EF4-FFF2-40B4-BE49-F238E27FC236}">
                <ns2:creationId id="{E341B2BE-58F6-E679-EFD9-9002A804A9D6}"/>
              </ns1:ext>
            </ns1:extLst>
          </ns0:cNvPr>
          <ns0:cNvSpPr txBox="1"/>
          <ns0:nvPr/>
        </ns0:nvSpPr>
        <ns0:spPr>
          <ns1:xfrm>
            <ns1:off x="8496300" y="3124200"/>
            <ns1:ext cx="3009900" cy="47705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5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允许的方法不同
不是同一模型逐步加模块</ns1:t>
            </ns1:r>
          </ns1:p>
        </ns0:txBody>
      </ns0:sp>
      <ns0:sp>
        <ns0:nvSpPr>
          <ns0:cNvPr id="18" name="文本框 17">
            <ns1:extLst>
              <ns1:ext uri="{FF2B5EF4-FFF2-40B4-BE49-F238E27FC236}">
                <ns2:creationId id="{2DD7DC09-F6E3-D218-2E6A-0DA688772464}"/>
              </ns1:ext>
            </ns1:extLst>
          </ns0:cNvPr>
          <ns0:cNvSpPr txBox="1"/>
          <ns0:nvPr/>
        </ns0:nvSpPr>
        <ns0:spPr>
          <ns1:xfrm>
            <ns1:off x="8496300" y="4127500"/>
            <ns1:ext cx="30099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限定范围</ns1:t>
            </ns1:r>
          </ns1:p>
        </ns0:txBody>
      </ns0:sp>
      <ns0:sp>
        <ns0:nvSpPr>
          <ns0:cNvPr id="19" name="文本框 18">
            <ns1:extLst>
              <ns1:ext uri="{FF2B5EF4-FFF2-40B4-BE49-F238E27FC236}">
                <ns2:creationId id="{37D22E9A-B8BE-D6B4-E6C1-0B41EA0C7967}"/>
              </ns1:ext>
            </ns1:extLst>
          </ns0:cNvPr>
          <ns0:cNvSpPr txBox="1"/>
          <ns0:nvPr/>
        </ns0:nvSpPr>
        <ns0:spPr>
          <ns1:xfrm>
            <ns1:off x="8496300" y="4610100"/>
            <ns1:ext cx="3009900" cy="66941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单个任务、单个目标模型
每条件一次搜索运行
未重跑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held-out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或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Petri</ns1:t>
            </ns1:r>
            <ns1:endParaRPr lang="zh-CN" altLang="en-US" sz="14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0" name="文本框 19">
            <ns1:extLst>
              <ns1:ext uri="{FF2B5EF4-FFF2-40B4-BE49-F238E27FC236}">
                <ns2:creationId id="{38EA0547-B914-BA05-4ACA-D65285D0D571}"/>
              </ns1:ext>
            </ns1:extLst>
          </ns0:cNvPr>
          <ns0:cNvSpPr txBox="1"/>
          <ns0:nvPr/>
        </ns0:nvSpPr>
        <ns0:spPr>
          <ns1:xfrm>
            <ns1:off x="685800" y="5880100"/>
            <ns1:ext cx="74930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横轴：安全改善空间关闭比例（</ns1:t>
            </ns1:r>
            <ns1:r>
              <ns1:rPr lang="en-US" altLang="zh-CN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%</ns1:t>
            </ns1:r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）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F0F3DC5D-70C0-2662-3E09-791E7B0DD5AC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Fig.20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endParaRPr lang="zh-CN" altLang="en-US" sz="12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083BF6B1-84E6-3DFC-4B95-2337CDB85490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13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</ns0:spTree>
    <ns0:extLst>
      <ns0:ext uri="{BB962C8B-B14F-4D97-AF65-F5344CB8AC3E}">
        <ns3:creationId val="791118400"/>
      </ns0:ext>
    </ns0:extLst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矩形 12">
            <ns1:extLst>
              <ns1:ext uri="{FF2B5EF4-FFF2-40B4-BE49-F238E27FC236}">
                <ns2:creationId id="{254D8147-38C4-4633-A4F8-067A61A9162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840ECF2C-7FE0-498F-B95D-0DC01B8C4EC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另一项任务：把发布前评测跑清楚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52EA3BED-9CD9-4F58-B3A9-8C3BA1CC94F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8FA1251B-E608-41DA-A448-62B0702D3FD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[5] Lewi, Codex评测, 2026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00831CAD-533A-4D57-980A-BE015FC11069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14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F9401FC1-D1A6-4597-8544-BBFD42FACD0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71700"/>
            <ns1:ext cx="10820400" cy="8286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发布前，怎样检查模型是否达到要求？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D284DA76-4A24-481C-BE3E-FEAA473106C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333750"/>
            <ns1:ext cx="30289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研究员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0CCBE747-6DB5-4A3E-8A80-26028E3C3C31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3333750"/>
            <ns1:ext cx="74104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确定本次评测目标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74A62309-EE54-40D8-B791-2B66F226A12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23862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8E36956D-1CA7-47E3-98F3-52767129E73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33900"/>
            <ns1:ext cx="30289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Codex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954F0054-6CE8-439C-8D08-38CF25D90A3C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4533900"/>
            <ns1:ext cx="74104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找工具、写命令、检查结果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5689122A-85AA-4CFB-BE9C-19345DEABE6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4387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</ns0:spTree>
    <ns0:extLst>
      <ns0:ext uri="{BB962C8B-B14F-4D97-AF65-F5344CB8AC3E}">
        <ns3:creationId val="291328879"/>
      </ns0:ext>
    </ns0:extLst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4" name="矩形 13">
            <ns1:extLst>
              <ns1:ext uri="{FF2B5EF4-FFF2-40B4-BE49-F238E27FC236}">
                <ns2:creationId id="{162CFA05-E1B4-4D8F-8F18-FAA66574C34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A45279D9-2C7C-468F-8081-1E49CEB5FA8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执行之前，研究员先审阅计划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A82B8B5E-13C6-476B-A3DF-8D7CF060E5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48A3185C-1126-4B79-99A0-BDB07A43337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[5] Lewi, Codex评测, 2026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106B7228-6EF9-4179-A2D5-478A12F7EEC2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15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20B6C5CD-7B17-4A22-8547-CC6446DCD5F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81225"/>
            <ns1:ext cx="108204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1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作者给Codex的要求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665C4A0F-26FE-4CB2-9E97-ABD7E954575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86075"/>
            <ns1:ext cx="10820400" cy="1457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2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2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2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“Wait for me to review and approve</ns1:t>
            </ns1:r>
          </ns1:p>
          <ns1:p>
            <ns1:pPr>
              <ns1:defRPr sz="32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2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the plan before beginning.”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EC89F05B-412B-4E49-9CA8-AC5C57A7B41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61010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矩形 8">
            <ns1:extLst>
              <ns1:ext uri="{FF2B5EF4-FFF2-40B4-BE49-F238E27FC236}">
                <ns2:creationId id="{98E4D174-1010-405C-B355-68E4BB57D2C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33975"/>
            <ns1:ext cx="323850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目标与旧记录</ns1:t>
            </ns1:r>
          </ns1:p>
        </ns0:txBody>
      </ns0:sp>
      <ns0:sp>
        <ns0:nvSpPr>
          <ns0:cNvPr id="10" name="箭头: 右 9">
            <ns1:extLst>
              <ns1:ext uri="{FF2B5EF4-FFF2-40B4-BE49-F238E27FC236}">
                <ns2:creationId id="{A38BD5F7-5299-43C5-9865-FD5DA022748F}"/>
              </ns1:ext>
            </ns1:extLst>
          </ns0:cNvPr>
          <ns0:cNvSpPr>
            <ns1:spLocks noGrp="1"/>
          </ns0:cNvSpPr>
          <ns0:nvPr/>
        </ns0:nvSpPr>
        <ns0:spPr>
          <ns1:xfrm>
            <ns1:off x="3914775" y="5248275"/>
            <ns1:ext cx="523875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1" name="矩形 10">
            <ns1:extLst>
              <ns1:ext uri="{FF2B5EF4-FFF2-40B4-BE49-F238E27FC236}">
                <ns2:creationId id="{328E2956-C699-471A-A78F-C5BF8411BDAD}"/>
              </ns1:ext>
            </ns1:extLst>
          </ns0:cNvPr>
          <ns0:cNvSpPr>
            <ns1:spLocks noGrp="1"/>
          </ns0:cNvSpPr>
          <ns0:nvPr/>
        </ns0:nvSpPr>
        <ns0:spPr>
          <ns1:xfrm>
            <ns1:off x="4686300" y="5133975"/>
            <ns1:ext cx="310515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Codex拟计划</ns1:t>
            </ns1:r>
          </ns1:p>
        </ns0:txBody>
      </ns0:sp>
      <ns0:sp>
        <ns0:nvSpPr>
          <ns0:cNvPr id="12" name="箭头: 右 11">
            <ns1:extLst>
              <ns1:ext uri="{FF2B5EF4-FFF2-40B4-BE49-F238E27FC236}">
                <ns2:creationId id="{59A3E6EE-D859-4DA1-831F-C587C544036C}"/>
              </ns1:ext>
            </ns1:extLst>
          </ns0:cNvPr>
          <ns0:cNvSpPr>
            <ns1:spLocks noGrp="1"/>
          </ns0:cNvSpPr>
          <ns0:nvPr/>
        </ns0:nvSpPr>
        <ns0:spPr>
          <ns1:xfrm>
            <ns1:off x="7858125" y="5248275"/>
            <ns1:ext cx="523875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3" name="矩形 12">
            <ns1:extLst>
              <ns1:ext uri="{FF2B5EF4-FFF2-40B4-BE49-F238E27FC236}">
                <ns2:creationId id="{A3498449-12D0-4E13-BACB-F9E7DCED9D4A}"/>
              </ns1:ext>
            </ns1:extLst>
          </ns0:cNvPr>
          <ns0:cNvSpPr>
            <ns1:spLocks noGrp="1"/>
          </ns0:cNvSpPr>
          <ns0:nvPr/>
        </ns0:nvSpPr>
        <ns0:spPr>
          <ns1:xfrm>
            <ns1:off x="8667750" y="5133975"/>
            <ns1:ext cx="283845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人审阅后执行</ns1:t>
            </ns1:r>
          </ns1:p>
        </ns0:txBody>
      </ns0:sp>
    </ns0:spTree>
    <ns0:extLst>
      <ns0:ext uri="{BB962C8B-B14F-4D97-AF65-F5344CB8AC3E}">
        <ns3:creationId val="1209884140"/>
      </ns0:ext>
    </ns0:extLst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" name="矩形 14">
            <ns1:extLst>
              <ns1:ext uri="{FF2B5EF4-FFF2-40B4-BE49-F238E27FC236}">
                <ns2:creationId id="{AFD55F66-8193-4DD7-9E9C-6F950EE8EB4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8791AFD6-216C-4037-B6C7-45692D3A0FA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Runme让下一次任务能接着做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69390CFC-43FF-44E0-852C-E69BD136E05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8B3485EA-AD78-4DB5-B290-A3E02E777CB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[5] Lewi, Codex评测, 2026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45B9DA7E-F0B3-4D0E-87E2-7117DDE6C25F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16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183737C7-3EC6-45AE-8281-5638C35CA3D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81225"/>
            <ns1:ext cx="42862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Runme笔记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2C381AEB-4F95-4E05-A902-D4534BF6EAC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76575"/>
            <ns1:ext cx="30289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目标与计划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FE8825F4-3D8F-4B47-96E6-3A6695F7449B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3076575"/>
            <ns1:ext cx="74104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为什么做，准备怎样做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155C425B-F299-4BD0-907E-198AB56EE26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9814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74C0B341-0D10-4174-90FE-2F7748EF095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181475"/>
            <ns1:ext cx="30289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命令与输出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AA70887D-4D48-418F-BC63-1B69D57740CD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4181475"/>
            <ns1:ext cx="74104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实际做了什么，发生了什么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4C4900A3-FB8B-40C5-AD2C-DC2DDE21DCF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0863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3" name="矩形 12">
            <ns1:extLst>
              <ns1:ext uri="{FF2B5EF4-FFF2-40B4-BE49-F238E27FC236}">
                <ns2:creationId id="{17610CF1-3742-4E90-AB49-65DAD2D393D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334000"/>
            <ns1:ext cx="302895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解释与取舍</ns1:t>
            </ns1:r>
          </ns1:p>
        </ns0:txBody>
      </ns0:sp>
      <ns0:sp>
        <ns0:nvSpPr>
          <ns0:cNvPr id="14" name="矩形 13">
            <ns1:extLst>
              <ns1:ext uri="{FF2B5EF4-FFF2-40B4-BE49-F238E27FC236}">
                <ns2:creationId id="{EC498E3F-2F17-486D-BC7F-9EBEF3775434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5334000"/>
            <ns1:ext cx="741045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下一次任务可以读取判断依据</ns1:t>
            </ns1:r>
          </ns1:p>
        </ns0:txBody>
      </ns0:sp>
    </ns0:spTree>
    <ns0:extLst>
      <ns0:ext uri="{BB962C8B-B14F-4D97-AF65-F5344CB8AC3E}">
        <ns3:creationId val="932201656"/>
      </ns0:ext>
    </ns0:extLst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矩形 12">
            <ns1:extLst>
              <ns1:ext uri="{FF2B5EF4-FFF2-40B4-BE49-F238E27FC236}">
                <ns2:creationId id="{270499B4-1630-4A3A-9643-4D6EBC831A7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AAB7E25F-E6A2-4ED4-80CE-A56B68C0C51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AlphaEvolve把程序候选交给自动评测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BC0F7F09-86DE-422F-BCE0-15DD2F1455D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98F0E957-DDE6-4EFB-AAD9-2491505DE22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[6] AlphaEvolve, 2025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0B87AECA-538F-45E3-BE2D-B4E9309AF09A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17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7053A8F0-1F93-4270-AB2A-EA8AB816F03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686050"/>
            <ns1:ext cx="3048000" cy="14192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Gemini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提出程序候选</ns1:t>
            </ns1:r>
          </ns1:p>
        </ns0:txBody>
      </ns0:sp>
      <ns0:sp>
        <ns0:nvSpPr>
          <ns0:cNvPr id="7" name="箭头: 右 6">
            <ns1:extLst>
              <ns1:ext uri="{FF2B5EF4-FFF2-40B4-BE49-F238E27FC236}">
                <ns2:creationId id="{2EC60B0F-5B7F-4344-8225-B86F28992709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267075"/>
            <ns1:ext cx="6096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8" name="矩形 7">
            <ns1:extLst>
              <ns1:ext uri="{FF2B5EF4-FFF2-40B4-BE49-F238E27FC236}">
                <ns2:creationId id="{FAE28EF4-6C6A-47EE-A9CA-982650BFC7F3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2686050"/>
            <ns1:ext cx="2952750" cy="1419225"/>
          </ns1:xfrm>
          <ns1:prstGeom prst="rect">
            <ns1:avLst/>
          </ns1:prstGeom>
          <ns1:solidFill>
            <ns1:srgbClr val="EFE5DA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执行与评测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正确性、性能</ns1:t>
            </ns1:r>
          </ns1:p>
        </ns0:txBody>
      </ns0:sp>
      <ns0:sp>
        <ns0:nvSpPr>
          <ns0:cNvPr id="9" name="箭头: 右 8">
            <ns1:extLst>
              <ns1:ext uri="{FF2B5EF4-FFF2-40B4-BE49-F238E27FC236}">
                <ns2:creationId id="{388BD2BB-E42A-486B-8EDB-EC864ABB5373}"/>
              </ns1:ext>
            </ns1:extLst>
          </ns0:cNvPr>
          <ns0:cNvSpPr>
            <ns1:spLocks noGrp="1"/>
          </ns0:cNvSpPr>
          <ns0:nvPr/>
        </ns0:nvSpPr>
        <ns0:spPr>
          <ns1:xfrm>
            <ns1:off x="8153400" y="3267075"/>
            <ns1:ext cx="6096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0A4D4C6B-B4F9-4FD0-9428-563968D0AAEE}"/>
              </ns1:ext>
            </ns1:extLst>
          </ns0:cNvPr>
          <ns0:cNvSpPr>
            <ns1:spLocks noGrp="1"/>
          </ns0:cNvSpPr>
          <ns0:nvPr/>
        </ns0:nvSpPr>
        <ns0:spPr>
          <ns1:xfrm>
            <ns1:off x="9086850" y="2686050"/>
            <ns1:ext cx="2419350" cy="14192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保留较好程序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继续产生候选</ns1:t>
            </ns1:r>
          </ns1:p>
        </ns0:txBody>
      </ns0:sp>
      <ns0:sp>
        <ns0:nvSpPr>
          <ns0:cNvPr id="11" name="箭头: 左 10">
            <ns1:extLst>
              <ns1:ext uri="{FF2B5EF4-FFF2-40B4-BE49-F238E27FC236}">
                <ns2:creationId id="{6A22AAB6-5A2B-4C18-B3B7-29C45926D881}"/>
              </ns1:ext>
            </ns1:extLst>
          </ns0:cNvPr>
          <ns0:cNvSpPr>
            <ns1:spLocks noGrp="1"/>
          </ns0:cNvSpPr>
          <ns0:nvPr/>
        </ns0:nvSpPr>
        <ns0:spPr>
          <ns1:xfrm>
            <ns1:off x="2152650" y="4533900"/>
            <ns1:ext cx="7810500" cy="228600"/>
          </ns1:xfrm>
          <ns1:prstGeom prst="leftArrow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2" name="矩形 11">
            <ns1:extLst>
              <ns1:ext uri="{FF2B5EF4-FFF2-40B4-BE49-F238E27FC236}">
                <ns2:creationId id="{CDCD9265-B3DB-405D-A71E-35CFC18FA4D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276850"/>
            <ns1:ext cx="108204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7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改进对象：能运行和检查的算法程序</ns1:t>
            </ns1:r>
          </ns1:p>
        </ns0:txBody>
      </ns0:sp>
    </ns0:spTree>
    <ns0:extLst>
      <ns0:ext uri="{BB962C8B-B14F-4D97-AF65-F5344CB8AC3E}">
        <ns3:creationId val="467619191"/>
      </ns0:ext>
    </ns0:extLst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2" name="矩形 11">
            <ns1:extLst>
              <ns1:ext uri="{FF2B5EF4-FFF2-40B4-BE49-F238E27FC236}">
                <ns2:creationId id="{85251CE6-42B0-4646-A7F4-7D42EBAB21D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F7E704DA-613A-4EE6-812D-FFAECB74316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算子加速23%，对应总训练时间减少1%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DA9BB5F8-6B0C-4AA5-AEFF-B033BF2571C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30758D98-86DB-4D99-955B-A9754343AEB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[6] AlphaEvolve, 2025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79580876-8B0D-4EE1-B2A1-AAE885999248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18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F157A21D-0DF1-47CD-B6B5-B6EAE1D7243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200275"/>
            <ns1:ext cx="4953000" cy="15906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8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8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8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23%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FF97C4C6-C8B2-47C4-A414-FF8CBE8A577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133850"/>
            <ns1:ext cx="49530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所举矩阵乘法kernel的加速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2D60B6D9-3CA0-4CF1-9FF1-73B51DC15056}"/>
              </ns1:ext>
            </ns1:extLst>
          </ns0:cNvPr>
          <ns0:cNvSpPr>
            <ns1:spLocks noGrp="1"/>
          </ns0:cNvSpPr>
          <ns0:nvPr/>
        </ns0:nvSpPr>
        <ns0:spPr>
          <ns1:xfrm>
            <ns1:off x="7029450" y="2200275"/>
            <ns1:ext cx="4476750" cy="15906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84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84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84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1%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B4F1DAC1-02B9-4C31-AE6E-DFDBED9D2400}"/>
              </ns1:ext>
            </ns1:extLst>
          </ns0:cNvPr>
          <ns0:cNvSpPr>
            <ns1:spLocks noGrp="1"/>
          </ns0:cNvSpPr>
          <ns0:nvPr/>
        </ns0:nvSpPr>
        <ns0:spPr>
          <ns1:xfrm>
            <ns1:off x="7029450" y="4133850"/>
            <ns1:ext cx="447675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Gemini总训练时间减少</ns1:t>
            </ns1:r>
          </ns1:p>
        </ns0:txBody>
      </ns0:sp>
      <ns0:sp>
        <ns0:nvSpPr>
          <ns0:cNvPr id="10" name="矩形 9">
            <ns1:extLst>
              <ns1:ext uri="{FF2B5EF4-FFF2-40B4-BE49-F238E27FC236}">
                <ns2:creationId id="{A6DE3655-A875-49B2-9686-3A386E8B136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3530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1" name="矩形 10">
            <ns1:extLst>
              <ns1:ext uri="{FF2B5EF4-FFF2-40B4-BE49-F238E27FC236}">
                <ns2:creationId id="{9D40BB1F-BBC3-4DD1-9844-096E7660FED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705475"/>
            <ns1:ext cx="108204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局部与整体的分母不同</ns1:t>
            </ns1:r>
          </ns1:p>
        </ns0:txBody>
      </ns0:sp>
    </ns0:spTree>
    <ns0:extLst>
      <ns0:ext uri="{BB962C8B-B14F-4D97-AF65-F5344CB8AC3E}">
        <ns3:creationId val="1170605778"/>
      </ns0:ext>
    </ns0:extLst>
  </ns0:cSld>
  <ns0:clrMapOvr>
    <ns1:masterClrMapping/>
  </ns0:clrMapOvr>
</ns0:sld>
</file>

<file path=ppt/slides/slide1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6" name="矩形 15">
            <ns1:extLst>
              <ns1:ext uri="{FF2B5EF4-FFF2-40B4-BE49-F238E27FC236}">
                <ns2:creationId id="{925F5B11-E16F-4AA7-A1F9-1A99E3E50D3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C42BFBA5-B9BE-4CBE-B99D-CB9C2D7C3EC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Agent策略与自身代码，也成为改进对象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3CE58700-F618-48C4-B883-8FC20A4BDCC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3A7DB72D-7A8D-4D16-A299-8F3201E695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[7] AgentEvolver v1, §3—5；[8] DGM, Introduction；[11] 代码库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CE9E81D7-B7A8-44B6-8CB0-05B910D8BA52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19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DFAE68BD-702E-4244-8E31-254530E3249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200275"/>
            <ns1:ext cx="514350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通义 AgentEvolver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F3E37C69-E459-4250-9E2C-615454782CF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105150"/>
            <ns1:ext cx="5143500" cy="514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任务生成 · 经验复用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6D884D8F-936B-4767-A7E7-28C950332B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57625"/>
            <ns1:ext cx="51435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奖励指导策略训练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E13BBB19-CED0-4C40-80A9-F0AC217D533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629150"/>
            <ns1:ext cx="51435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更新负责行动选择的模型参数</ns1:t>
            </ns1:r>
          </ns1:p>
        </ns0:txBody>
      </ns0:sp>
      <ns0:sp>
        <ns0:nvSpPr>
          <ns0:cNvPr id="10" name="矩形 9">
            <ns1:extLst>
              <ns1:ext uri="{FF2B5EF4-FFF2-40B4-BE49-F238E27FC236}">
                <ns2:creationId id="{263C1793-11CB-4FD4-82C9-EDADD0559E99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2200275"/>
            <ns1:ext cx="487680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Sakana DGM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E257FD07-0695-410D-B4E1-06F212EFE161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3105150"/>
            <ns1:ext cx="4876800" cy="514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修改工具和流程代码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F35F080D-F6D5-40CE-A0E4-4FAC866DACD5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3857625"/>
            <ns1:ext cx="4876800" cy="895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评测后从版本档案继续探索</ns1:t>
            </ns1:r>
          </ns1:p>
        </ns0:txBody>
      </ns0:sp>
      <ns0:sp>
        <ns0:nvSpPr>
          <ns0:cNvPr id="13" name="矩形 12">
            <ns1:extLst>
              <ns1:ext uri="{FF2B5EF4-FFF2-40B4-BE49-F238E27FC236}">
                <ns2:creationId id="{A1419B41-C489-46CC-B903-E1549DF7F367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4819650"/>
            <ns1:ext cx="487680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此实验固定底层模型</ns1:t>
            </ns1:r>
          </ns1:p>
        </ns0:txBody>
      </ns0:sp>
      <ns0:sp>
        <ns0:nvSpPr>
          <ns0:cNvPr id="14" name="矩形 13">
            <ns1:extLst>
              <ns1:ext uri="{FF2B5EF4-FFF2-40B4-BE49-F238E27FC236}">
                <ns2:creationId id="{5B5A4940-02FC-4478-85EE-B86F3AAD979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3625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5" name="矩形 14">
            <ns1:extLst>
              <ns1:ext uri="{FF2B5EF4-FFF2-40B4-BE49-F238E27FC236}">
                <ns2:creationId id="{3213BE29-A42F-46DE-A91F-49454AFB433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667375"/>
            <ns1:ext cx="108204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改策略与改代码，改进发生的位置不同</ns1:t>
            </ns1:r>
          </ns1:p>
        </ns0:txBody>
      </ns0:sp>
    </ns0:spTree>
    <ns0:extLst>
      <ns0:ext uri="{BB962C8B-B14F-4D97-AF65-F5344CB8AC3E}">
        <ns3:creationId val="1100533315"/>
      </ns0:ext>
    </ns0:extLst>
  </ns0:cSld>
  <ns0:clrMapOvr>
    <ns1:masterClrMapping/>
  </ns0:clrMapOvr>
</ns0:sld>
</file>

<file path=ppt/slides/slide2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矩形 6">
            <ns1:extLst>
              <ns1:ext uri="{FF2B5EF4-FFF2-40B4-BE49-F238E27FC236}">
                <ns2:creationId id="{61B529AC-0B1E-4661-A8BD-187B2A87833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E2B349DE-6813-4857-81DF-819BFA4F335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这些案例改变了研发系统的不同部分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AC3AD194-309F-4C91-BF2E-C250440ABBD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FE621646-EB60-4AC0-ABAD-C02A4B476B9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AAR；[5] Codex评测；[6] AlphaEvolve；[7] AgentEvolver；[8] DGM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1A0F15E0-8EBD-4CCD-8805-C37A28CD132E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20</ns1:t>
            </ns1:r>
          </ns1:p>
        </ns0:txBody>
      </ns0:sp>
      <ns0:graphicFrame>
        <ns0:nvGraphicFramePr>
          <ns0:cNvPr id="6" name="表格 5">
            <ns1:extLst>
              <ns1:ext uri="{FF2B5EF4-FFF2-40B4-BE49-F238E27FC236}">
                <ns2:creationId id="{AC8D2C35-A893-4C15-8A14-603782B869AA}"/>
              </ns1:ext>
            </ns1:extLst>
          </ns0:cNvPr>
          <ns0:cNvGraphicFramePr/>
          <ns0:nvPr/>
        </ns0:nvGraphicFramePr>
        <ns0:xfrm>
          <ns1:off x="685800" y="2190750"/>
          <ns1:ext cx="10820400" cy="3857625"/>
        </ns0:xfrm>
        <ns1:graphic>
          <ns1:graphicData uri="http://schemas.openxmlformats.org/drawingml/2006/table">
            <ns1:tbl>
              <ns1:tblPr/>
              <ns1:tblGrid>
                <ns1:gridCol w="2571750">
                  <ns1:extLst>
                    <ns1:ext uri="{9D8B030D-6E8A-4147-A177-3AD203B41FA5}">
                      <ns2:colId val="20000"/>
                    </ns1:ext>
                  </ns1:extLst>
                </ns1:gridCol>
                <ns1:gridCol w="3476625">
                  <ns1:extLst>
                    <ns1:ext uri="{9D8B030D-6E8A-4147-A177-3AD203B41FA5}">
                      <ns2:colId val="20001"/>
                    </ns1:ext>
                  </ns1:extLst>
                </ns1:gridCol>
                <ns1:gridCol w="4772025">
                  <ns1:extLst>
                    <ns1:ext uri="{9D8B030D-6E8A-4147-A177-3AD203B41FA5}">
                      <ns2:colId val="20002"/>
                    </ns1:ext>
                  </ns1:extLst>
                </ns1:gridCol>
              </ns1:tblGrid>
              <ns1:tr h="771525">
                <ns1:tc>
                  <ns1:txBody>
                    <ns1:bodyPr/>
                    <ns1:lstStyle/>
                    <ns1:p>
                      <ns1:r>
                        <ns1:rPr sz="20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案例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>
                      <ns1:solidFill>
                        <ns1:srgbClr val="D5D9D5"/>
                      </ns1:solidFill>
                      <ns1:prstDash val="soli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E7EFEB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1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改动对象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>
                      <ns1:solidFill>
                        <ns1:srgbClr val="D5D9D5"/>
                      </ns1:solidFill>
                      <ns1:prstDash val="soli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E7EFEB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1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怎样看效果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>
                      <ns1:solidFill>
                        <ns1:srgbClr val="D5D9D5"/>
                      </ns1:solidFill>
                      <ns1:prstDash val="soli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E7EFEB"/>
                    </ns1:solidFill>
                  </ns1:tcPr>
                </ns1:tc>
                <ns1:extLst>
                  <ns1:ext uri="{0D108BD9-81ED-4DB2-BD59-A6C34878D82A}">
                    <ns2:rowId val="10000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Anthropic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目标模型权重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训练后的行为与能力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1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OpenAI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流程与记录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命令结果、研究员判断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2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Google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算法程序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正确性与性能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3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开放研究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策略或代码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任务评测、版本表现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4"/>
                  </ns1:ext>
                </ns1:extLst>
              </ns1:tr>
            </ns1:tbl>
          </ns1:graphicData>
        </ns1:graphic>
      </ns0:graphicFrame>
    </ns0:spTree>
    <ns0:extLst>
      <ns0:ext uri="{BB962C8B-B14F-4D97-AF65-F5344CB8AC3E}">
        <ns3:creationId val="608945865"/>
      </ns0:ext>
    </ns0:extLst>
  </ns0:cSld>
  <ns0:clrMapOvr>
    <ns1:masterClrMapping/>
  </ns0:clrMapOvr>
</ns0:sld>
</file>

<file path=ppt/slides/slide2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6" name="矩形 15">
            <ns1:extLst>
              <ns1:ext uri="{FF2B5EF4-FFF2-40B4-BE49-F238E27FC236}">
                <ns2:creationId id="{0E38A3DD-DE5D-483F-A493-8AFD0F08111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5B8957EB-6CA9-42C4-B443-3FCEA226217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把上一轮的成果带进下一轮研发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4AB5E22F-3499-40AD-B3B0-BE71EB8E6DC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6C7B8678-0EDE-445E-82BF-0A2194B560C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AAR；[5] Codex评测；[8] DGM；[10] RSI分析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89F62223-D1C4-4EA4-A1B2-7EC6B6837D91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21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C6D0526B-CD8C-485C-A0DC-0257749D0E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352675"/>
            <ns1:ext cx="2762250" cy="12001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研究Agent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提方法、跑实验</ns1:t>
            </ns1:r>
          </ns1:p>
        </ns0:txBody>
      </ns0:sp>
      <ns0:sp>
        <ns0:nvSpPr>
          <ns0:cNvPr id="7" name="箭头: 右 6">
            <ns1:extLst>
              <ns1:ext uri="{FF2B5EF4-FFF2-40B4-BE49-F238E27FC236}">
                <ns2:creationId id="{F545E17C-293B-41EF-A8D2-2C58A43B4FF3}"/>
              </ns1:ext>
            </ns1:extLst>
          </ns0:cNvPr>
          <ns0:cNvSpPr>
            <ns1:spLocks noGrp="1"/>
          </ns0:cNvSpPr>
          <ns0:nvPr/>
        </ns0:nvSpPr>
        <ns0:spPr>
          <ns1:xfrm>
            <ns1:off x="3705225" y="2838450"/>
            <ns1:ext cx="66675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8" name="矩形 7">
            <ns1:extLst>
              <ns1:ext uri="{FF2B5EF4-FFF2-40B4-BE49-F238E27FC236}">
                <ns2:creationId id="{04EFE8B4-C6F2-4BFA-89E9-3C0CF554E1D2}"/>
              </ns1:ext>
            </ns1:extLst>
          </ns0:cNvPr>
          <ns0:cNvSpPr>
            <ns1:spLocks noGrp="1"/>
          </ns0:cNvSpPr>
          <ns0:nvPr/>
        </ns0:nvSpPr>
        <ns0:spPr>
          <ns1:xfrm>
            <ns1:off x="4638675" y="2352675"/>
            <ns1:ext cx="2857500" cy="12001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这一轮的成果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模型、算法或代码</ns1:t>
            </ns1:r>
          </ns1:p>
        </ns0:txBody>
      </ns0:sp>
      <ns0:sp>
        <ns0:nvSpPr>
          <ns0:cNvPr id="9" name="箭头: 右 8">
            <ns1:extLst>
              <ns1:ext uri="{FF2B5EF4-FFF2-40B4-BE49-F238E27FC236}">
                <ns2:creationId id="{3097CCEA-33FD-480B-867A-F637C9FA4FAD}"/>
              </ns1:ext>
            </ns1:extLst>
          </ns0:cNvPr>
          <ns0:cNvSpPr>
            <ns1:spLocks noGrp="1"/>
          </ns0:cNvSpPr>
          <ns0:nvPr/>
        </ns0:nvSpPr>
        <ns0:spPr>
          <ns1:xfrm>
            <ns1:off x="7762875" y="2838450"/>
            <ns1:ext cx="66675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F9D6E8B3-B3E2-4603-8138-006998CBA0B5}"/>
              </ns1:ext>
            </ns1:extLst>
          </ns0:cNvPr>
          <ns0:cNvSpPr>
            <ns1:spLocks noGrp="1"/>
          </ns0:cNvSpPr>
          <ns0:nvPr/>
        </ns0:nvSpPr>
        <ns0:spPr>
          <ns1:xfrm>
            <ns1:off x="8696325" y="2352675"/>
            <ns1:ext cx="2809875" cy="12001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检查效果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保存方法与结果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1B7C4EDC-C0CF-457D-A2DF-F909A6EC24D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9525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记录留下来，下一轮接着试</ns1:t>
            </ns1:r>
          </ns1:p>
        </ns0:txBody>
      </ns0:sp>
      <ns0:sp>
        <ns0:nvSpPr>
          <ns0:cNvPr id="12" name="箭头: 左 11">
            <ns1:extLst>
              <ns1:ext uri="{FF2B5EF4-FFF2-40B4-BE49-F238E27FC236}">
                <ns2:creationId id="{0AA641BA-17C3-4363-B987-14CDC1481135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4438650"/>
            <ns1:ext cx="9144000" cy="228600"/>
          </ns1:xfrm>
          <ns1:prstGeom prst="leftArrow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3" name="矩形 12">
            <ns1:extLst>
              <ns1:ext uri="{FF2B5EF4-FFF2-40B4-BE49-F238E27FC236}">
                <ns2:creationId id="{9A6137D7-0494-4C80-A710-17819432D2B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53000"/>
            <ns1:ext cx="10820400" cy="5048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DGM：修改后的Agent继续探索</ns1:t>
            </ns1:r>
          </ns1:p>
        </ns0:txBody>
      </ns0:sp>
      <ns0:sp>
        <ns0:nvSpPr>
          <ns0:cNvPr id="14" name="箭头: 左 13">
            <ns1:extLst>
              <ns1:ext uri="{FF2B5EF4-FFF2-40B4-BE49-F238E27FC236}">
                <ns2:creationId id="{3FAC18BD-48DC-49F9-80EA-B3B59E8A3018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5562600"/>
            <ns1:ext cx="9144000" cy="228600"/>
          </ns1:xfrm>
          <ns1:prstGeom prst="leftArrow">
            <ns1:avLst/>
          </ns1:prstGeom>
          <ns1:solidFill>
            <ns1:srgbClr val="B65D3E"/>
          </ns1:solidFill>
          <ns1:ln w="0">
            <ns1:noFill/>
          </ns1:ln>
        </ns0:spPr>
      </ns0:sp>
      <ns0:sp>
        <ns0:nvSpPr>
          <ns0:cNvPr id="15" name="矩形 14">
            <ns1:extLst>
              <ns1:ext uri="{FF2B5EF4-FFF2-40B4-BE49-F238E27FC236}">
                <ns2:creationId id="{761B358C-109D-4036-8AA2-96B6263C969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953125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基础模型后继研发，需要继续跟踪多轮结果</ns1:t>
            </ns1:r>
          </ns1:p>
        </ns0:txBody>
      </ns0:sp>
    </ns0:spTree>
    <ns0:extLst>
      <ns0:ext uri="{BB962C8B-B14F-4D97-AF65-F5344CB8AC3E}">
        <ns3:creationId val="631736596"/>
      </ns0:ext>
    </ns0:extLst>
  </ns0:cSld>
  <ns0:clrMapOvr>
    <ns1:masterClrMapping/>
  </ns0:clrMapOvr>
</ns0:sld>
</file>

<file path=ppt/slides/slide2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矩形 12">
            <ns1:extLst>
              <ns1:ext uri="{FF2B5EF4-FFF2-40B4-BE49-F238E27FC236}">
                <ns2:creationId id="{2887E7C6-49CE-42D7-8DD4-E7D4EE040CF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3100CC85-88D6-4F6A-811F-8FD64E257BB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下一轮，能不能研究得更好？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DF5A87FD-4BB9-40BC-90BC-0B8470BE4F7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C33082A2-02B9-49F0-8641-0EE2E10F142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比较思路为本报告分析，尚未执行实验；[8] DGM；[10] RSI分析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070F5B6F-A21E-4216-8A4F-10CDD25B3974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22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ECCD88D6-4C14-4AAF-8F4D-4375CCE16E7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286000"/>
            <ns1:ext cx="16192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换任务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C2E71E4D-33BC-417B-8ABF-CE1E0883F959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2352675"/>
            <ns1:ext cx="8763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换一组新任务，改进还能保持吗？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2E75DDE4-D2A9-40D5-9B09-F49F4D24E48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419475"/>
            <ns1:ext cx="16192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同预算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6F1AEB39-F4E7-45AF-A2E7-1B76FED789ED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3486150"/>
            <ns1:ext cx="8763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同样的预算，能找到更好的方法吗？</ns1:t>
            </ns1:r>
          </ns1:p>
        </ns0:txBody>
      </ns0:sp>
      <ns0:sp>
        <ns0:nvSpPr>
          <ns0:cNvPr id="10" name="矩形 9">
            <ns1:extLst>
              <ns1:ext uri="{FF2B5EF4-FFF2-40B4-BE49-F238E27FC236}">
                <ns2:creationId id="{BAD98394-A5AA-4B1D-973E-F381B6434FA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52950"/>
            <ns1:ext cx="16192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连续多轮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C6800F0E-D93E-456C-9FBE-FD0A51246BFD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4619625"/>
            <ns1:ext cx="8763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连续几轮，会退步或钻测试空子吗？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303E55D1-4ABC-48A8-9120-905060919AA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953125"/>
            <ns1:ext cx="108204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记录时间、计算成本和人工帮助，保留失败尝试</ns1:t>
            </ns1:r>
          </ns1:p>
        </ns0:txBody>
      </ns0:sp>
    </ns0:spTree>
    <ns0:extLst>
      <ns0:ext uri="{BB962C8B-B14F-4D97-AF65-F5344CB8AC3E}">
        <ns3:creationId val="645013124"/>
      </ns0:ext>
    </ns0:extLst>
  </ns0:cSld>
  <ns0:clrMapOvr>
    <ns1:masterClrMapping/>
  </ns0:clrMapOvr>
</ns0:sld>
</file>

<file path=ppt/slides/slide2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" name="矩形 9">
            <ns1:extLst>
              <ns1:ext uri="{FF2B5EF4-FFF2-40B4-BE49-F238E27FC236}">
                <ns2:creationId id="{6B92E536-3204-4214-9674-90F7E91964A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671ED7BD-6B03-4161-9E7A-2A4C519592A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局部自改已经发生，下一步看持续研发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F288B0D3-35EE-41BC-99AD-C2EB8EF5244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1E0CBAEA-9FF6-497B-98C1-EAA25C93052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AAR；[5] Codex评测；[6] AlphaEvolve；[7] AgentEvolver；[8] DGM；[10] RSI分析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6816F24E-28CF-45FD-9FEA-85DA5B2FC6E9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23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DD4E4352-5D12-4A44-886A-EB054824590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314575"/>
            <ns1:ext cx="108204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已有特定任务中的局部自改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66FB68D3-F1ED-4D73-92AD-E6469DA1254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33375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训练方法、评测流程、算法和代码都已有实例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A3EE04E9-AA21-40A3-A34C-0713F7072B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4100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矩形 8">
            <ns1:extLst>
              <ns1:ext uri="{FF2B5EF4-FFF2-40B4-BE49-F238E27FC236}">
                <ns2:creationId id="{1F85328C-BA37-4AB1-AB67-487075B8BB0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24425"/>
            <ns1:ext cx="10820400" cy="11620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改进后的研究系统，能否持续研发更强的基础模型？</ns1:t>
            </ns1:r>
          </ns1:p>
        </ns0:txBody>
      </ns0:sp>
    </ns0:spTree>
    <ns0:extLst>
      <ns0:ext uri="{BB962C8B-B14F-4D97-AF65-F5344CB8AC3E}">
        <ns3:creationId val="1450322346"/>
      </ns0:ext>
    </ns0:extLst>
  </ns0:cSld>
  <ns0:clrMapOvr>
    <ns1:masterClrMapping/>
  </ns0:clrMapOvr>
</ns0:sld>
</file>

<file path=ppt/slides/slide2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" name="矩形 8">
            <ns1:extLst>
              <ns1:ext uri="{FF2B5EF4-FFF2-40B4-BE49-F238E27FC236}">
                <ns2:creationId id="{9F3A0203-CCA8-436C-9B43-56CE5426E56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5AAA658B-D583-40E0-8F5E-BA564627CA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谢谢，欢迎提问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C26AE70F-1920-4CD1-B74F-363411E17F7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2A80A91B-2FB3-4FB4-9A51-DCBE788EE9B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endParaRPr/>
          </ns1:p>
        </ns0:txBody>
      </ns0:sp>
      <ns0:sp>
        <ns0:nvSpPr>
          <ns0:cNvPr id="5" name="矩形 4">
            <ns1:extLst>
              <ns1:ext uri="{FF2B5EF4-FFF2-40B4-BE49-F238E27FC236}">
                <ns2:creationId id="{9322A3D3-ED00-471F-99F2-41A2698E0446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24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5B0F3A71-66B4-41C0-8DBE-FBA0E0D111D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09825"/>
            <ns1:ext cx="1082040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Agent改了什么？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1FEA2280-2D01-4401-9C7E-36EBB265C2A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怎么知道改好了？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285FCC32-3683-4106-9286-B2A271823A4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600575"/>
            <ns1:ext cx="1082040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改进能否帮助下一轮研发？</ns1:t>
            </ns1:r>
          </ns1:p>
        </ns0:txBody>
      </ns0:sp>
    </ns0:spTree>
    <ns0:extLst>
      <ns0:ext uri="{BB962C8B-B14F-4D97-AF65-F5344CB8AC3E}">
        <ns3:creationId val="529265952"/>
      </ns0:ext>
    </ns0:extLst>
  </ns0:cSld>
  <ns0:clrMapOvr>
    <ns1:masterClrMapping/>
  </ns0:clrMapOvr>
</ns0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757EB-4964-4EF3-ADF6-453DCD95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883C6-BD54-4F0E-9DDB-88E8728B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1—8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1C4F3-06DF-4C37-A090-1A2F1FE4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31D9-EDC0-4465-A855-4B744845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详细作者、链接与适用范围见来源与答辩；新增[12]—[15]，原[1]—[11]不重排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3D014-F2E5-469D-8261-AC830B8A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E3B25-3C9F-49B0-AA80-3CB2456B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· Speculations Concerning the First Ultraintelligent Machine · 1965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581DC-59E8-4EC5-BD34-EEE0A549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· Gödel Machines · 2003—2004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68BA5-B13C-494F-AD73-9BC5418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&amp; Le · Neural Architecture Search with Reinforcement Learning · 2016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BD185-BFD6-4D3F-B5E2-7F89C2F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et al. · Automated Researchers Can Mitigate Well-Characterized Alignment Failures ·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605C4-7217-4635-B106-70563BC3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· Automating repetitive work at OpenAI with Codex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82F6E-DD3A-442C-B2C6-38E418E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 · AlphaEvolve ·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06FEA-0647-4026-8877-0A92104C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 · Efficient Self-Evolving Agent System ·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01F67-A6A9-42EA-B0FB-B75490C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Sakana AI · Darwin Gödel Machine · 2025</a:t>
            </a:r>
          </a:p>
        </p:txBody>
      </p:sp>
    </p:spTree>
    <p:extLst>
      <p:ext uri="{BB962C8B-B14F-4D97-AF65-F5344CB8AC3E}">
        <p14:creationId xmlns:p14="http://schemas.microsoft.com/office/powerpoint/2010/main" val="1323434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418BF-234B-4B15-ACC0-B568732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0C365-84BE-450B-B35A-7BCA0404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9—15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3DC93-F420-49F6-B714-1E21DFF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1ED3B-6E93-4501-BD4D-C6DDCDB6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详细作者、链接与适用范围见来源与答辩；新增[12]—[15]，原[1]—[11]不重排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F23B0-836A-41FA-98DB-0C436998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8D6E2-973F-4C66-A88B-4DA6AFCA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 · How OpenAI uses Codex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B760D-79FF-4CE9-8A5D-3E6C5C4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 · When AI builds itself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08EAA-5A58-41CA-9563-DC1DD891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AgentEvolver contributors · Official repository / Apache-2.0 License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FE09C-973E-4FA5-9DD3-9BAD04F1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[12] Karpathy · autoresearch · March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3DAC9-97EB-4BE2-845A-9B38B29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[13] Srikanth et al. · Recursive self-improvement of AI research agents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824F1-F7B0-4AEF-A36A-AAEA6224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[14] Lu et al. · The AI Scientist ·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1B4EA-618F-4091-83EC-1BF6DF8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[15] Cunningham et al. · The Economics of Recursive Self-Improvement · 2026</a:t>
            </a:r>
          </a:p>
        </p:txBody>
      </p:sp>
    </p:spTree>
    <p:extLst>
      <p:ext uri="{BB962C8B-B14F-4D97-AF65-F5344CB8AC3E}">
        <p14:creationId xmlns:p14="http://schemas.microsoft.com/office/powerpoint/2010/main" val="318012141"/>
      </p:ext>
    </p:extLst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58A7FAF-7E17-4CBC-B534-383461D523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05D77-F436-4853-A2B5-71AED655F18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4290D-7AB1-4881-86D2-31AB8D2ABA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2581A-E638-4B1C-8E77-F7E0F8EA3F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8CCF7-6049-4469-8F99-826AEF317A8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8070E-E96D-4726-8655-3A3560B3D98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ECA6F-E6A8-49C4-A3B2-FA69AAA1A83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F8C526-40DB-4ABB-A2DC-4089C156BAF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C17DD-B7C8-4FD4-9191-A6ED7832E0C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32519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5977F4-D72D-4919-BBF3-81F8D7B04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5FE13-B749-4648-8FCB-C22C6AD84D9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D9DF6-2995-4FA4-B673-447094216D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5F8F7-95F9-46D9-9861-4FE5398107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B74EA-A8E3-4BBB-AF01-8D5C1D10E3F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D3681F-D293-4159-9CF1-53452029123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88DA4-7888-4D66-9978-01D04C6DFAC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873D6-D060-4BB5-A92D-4EF62C80BA3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3CD3BC-9F69-4816-99F7-1BEAD3F15BD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211773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021D858-B245-25D1-1EA1-E5A5BB77EED7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答辩备份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78DAC7-148A-F0C2-FDFE-3A4D992875BC}"/>
              </a:ext>
            </a:extLst>
          </p:cNvPr>
          <p:cNvSpPr txBox="1"/>
          <p:nvPr/>
        </p:nvSpPr>
        <p:spPr>
          <a:xfrm>
            <a:off x="685800" y="838200"/>
            <a:ext cx="108204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</a:t>
            </a:r>
            <a:r>
              <a:rPr lang="en-US" altLang="zh-CN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个方法比较：四种搜索条件，不是逐步加法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3192B3-9526-7035-0154-911B9D9A54F4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F886EA-CDAC-45F0-5489-2551B9B9A027}"/>
              </a:ext>
            </a:extLst>
          </p:cNvPr>
          <p:cNvSpPr txBox="1"/>
          <p:nvPr/>
        </p:nvSpPr>
        <p:spPr>
          <a:xfrm>
            <a:off x="685800" y="2235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6.0%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B137C8-3317-A24E-0125-9FACE5346723}"/>
              </a:ext>
            </a:extLst>
          </p:cNvPr>
          <p:cNvSpPr txBox="1"/>
          <p:nvPr/>
        </p:nvSpPr>
        <p:spPr>
          <a:xfrm>
            <a:off x="2628900" y="2260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原样公共数据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38228C-57A0-66F7-EBD0-CB813AFD4EC2}"/>
              </a:ext>
            </a:extLst>
          </p:cNvPr>
          <p:cNvSpPr txBox="1"/>
          <p:nvPr/>
        </p:nvSpPr>
        <p:spPr>
          <a:xfrm>
            <a:off x="685800" y="3060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2.9%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520A0A-44B6-0B37-FF24-0AF5AC9C1932}"/>
              </a:ext>
            </a:extLst>
          </p:cNvPr>
          <p:cNvSpPr txBox="1"/>
          <p:nvPr/>
        </p:nvSpPr>
        <p:spPr>
          <a:xfrm>
            <a:off x="2628900" y="3086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自由构造数据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C82DD8-71A8-81E3-A434-E646E26C3B9E}"/>
              </a:ext>
            </a:extLst>
          </p:cNvPr>
          <p:cNvSpPr txBox="1"/>
          <p:nvPr/>
        </p:nvSpPr>
        <p:spPr>
          <a:xfrm>
            <a:off x="685800" y="3886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16.5%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4EE48C-5635-1BC5-C59C-4F3CAB1CDF38}"/>
              </a:ext>
            </a:extLst>
          </p:cNvPr>
          <p:cNvSpPr txBox="1"/>
          <p:nvPr/>
        </p:nvSpPr>
        <p:spPr>
          <a:xfrm>
            <a:off x="2628900" y="3911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自蒸馏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1AC4E8-DFF7-CF7D-75B2-03A1B6DF0870}"/>
              </a:ext>
            </a:extLst>
          </p:cNvPr>
          <p:cNvSpPr txBox="1"/>
          <p:nvPr/>
        </p:nvSpPr>
        <p:spPr>
          <a:xfrm>
            <a:off x="685800" y="4711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23.3%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82B507-D140-E26D-9F4F-CD6228A59F67}"/>
              </a:ext>
            </a:extLst>
          </p:cNvPr>
          <p:cNvSpPr txBox="1"/>
          <p:nvPr/>
        </p:nvSpPr>
        <p:spPr>
          <a:xfrm>
            <a:off x="2628900" y="4737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不受限方法搜索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A611151-390F-1EBA-4B27-AEEA2FB3E317}"/>
              </a:ext>
            </a:extLst>
          </p:cNvPr>
          <p:cNvSpPr/>
          <p:nvPr/>
        </p:nvSpPr>
        <p:spPr>
          <a:xfrm>
            <a:off x="8382000" y="2324100"/>
            <a:ext cx="3124200" cy="10541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共同口径
前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个已评分方法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783B70D-F690-499D-9366-FAA4B3C73F5F}"/>
              </a:ext>
            </a:extLst>
          </p:cNvPr>
          <p:cNvSpPr/>
          <p:nvPr/>
        </p:nvSpPr>
        <p:spPr>
          <a:xfrm>
            <a:off x="8382000" y="3632200"/>
            <a:ext cx="3124200" cy="10541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不要混用
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全程峰值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18.7%</a:t>
            </a:r>
            <a:endParaRPr lang="zh-CN" altLang="en-US" sz="17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87FF97-AB1F-485A-A750-D6A5D95FDC87}"/>
              </a:ext>
            </a:extLst>
          </p:cNvPr>
          <p:cNvSpPr txBox="1"/>
          <p:nvPr/>
        </p:nvSpPr>
        <p:spPr>
          <a:xfrm>
            <a:off x="685800" y="5702300"/>
            <a:ext cx="10820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每个条件只有一次搜索运行；该消融未重跑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held-out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Petri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89504CA-FA30-DAA7-17C2-25FA50D5F8DD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Fig.20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4C2997-2473-2863-EE3F-36338C39E2A2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CD053B8-24B7-4421-81BF-B2010C3F322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E9E0C-573D-406C-979B-6E4BC12B943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7A68-B9C2-464E-B02E-8032CC35C9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D4124-450C-44F0-BA33-298DBAB89D2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7415D9-0A3D-41FF-B28C-0885EA0EE93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87454-16CE-4527-9BFE-B9DE02D8F87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7CD6CD-8163-4198-9D57-0A812AF1094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C9B31-7FB9-4C1F-973C-E32C2B6D09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F79DD-03C0-4832-A9BD-4DAA90E9FDE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2545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A826AF-5B2F-4012-BBB1-49A9172C9F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9834F-4D47-43E0-99CB-A94555B8D29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6F40-18F3-45D4-A7ED-4196EC41FC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E1CE-06B4-43F8-9C87-C8141A2510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C3D02-F807-4927-B5B1-C5FAD2936AA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7A594-4EB8-4FFB-9762-08ACAB988E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10A4B-FDA6-4236-9416-0633BF78D9B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52FA7-3995-4503-9F6F-5FEDE8D3C06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BAAF7-78D7-4925-852F-C138B55BC5D6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92509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574169-C853-4407-8FF1-39BCA8A0F8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900A5-A301-4B06-8950-A098978CB1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E0C21-61BA-4801-9EE5-ECB9DA7D54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DF0C7-5EF6-4E08-811A-84298D3323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82BAA-ABF1-4112-A4E8-5800CD7710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E6CB2-43E0-4B5F-A4C9-A6C849B6E7B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F242E-869F-4F82-B2C9-516F3D4F273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3A6D0-635D-47D2-86D9-639346812FA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3246D-13F7-4BF8-A754-EDDC3D35E63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99005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EE0CCBC-1661-4461-83F6-612CA6284A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FCA70-2417-4C53-8EAF-783B93F57EA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7D530-3E9E-41FF-8CC7-4489F9586C2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EB71-FBBF-42AD-9755-E54EC3C9AAF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DD518-6B18-4E53-9270-791265B0F4D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CBF15A-B2A9-445B-B524-AF1A826C5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F9424-3408-46CA-B2AD-0EC324B377F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688BE-F9ED-4394-B266-640E04F4189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D409-C5C9-48E3-AC18-CFAD9EB6FBD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454783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CD7-8699-4826-9012-1ED7E1D55F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B697A-AAB0-442D-83F8-32B0BA3DBA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E3BDF-CBFB-4E3B-A40E-8A43DE523F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8B304A-18B9-4D80-A232-EC40E2832A1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75365-2190-4721-9465-109DCB88B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810CF-5C9B-4AAE-9FAD-DB021B7592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957019-E9D5-4585-AA60-645983CBD7D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98627-8258-451B-88B9-6AE64ED9C06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A94B1-E042-4F5C-BD99-D8E766B8589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74820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6030</Words>
  <Application>Microsoft Office PowerPoint</Application>
  <DocSecurity>0</DocSecurity>
  <PresentationFormat>宽屏</PresentationFormat>
  <Paragraphs>558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236471920@qq.com</cp:lastModifiedBy>
  <cp:revision>2</cp:revision>
  <dcterms:created xsi:type="dcterms:W3CDTF">2026-10-14T03:20:04Z</dcterms:created>
  <dcterms:modified xsi:type="dcterms:W3CDTF">2026-10-27T12:35:27Z</dcterms:modified>
</cp:coreProperties>
</file>