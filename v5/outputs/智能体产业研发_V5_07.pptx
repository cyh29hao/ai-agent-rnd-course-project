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ns2="http://schemas.microsoft.com/office/drawing/2012/chart" xmlns:ns3="http://schemas.microsoft.com/office/drawing/2014/chart" xmlns:r="http://schemas.openxmlformats.org/officeDocument/2006/relationships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2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原样公共数据 SFT</c:v>
                </c:pt>
                <c:pt idx="1">
                  <c:v>自由构造数据 SFT</c:v>
                </c:pt>
                <c:pt idx="2">
                  <c:v>SFT + KL 自蒸馏</c:v>
                </c:pt>
                <c:pt idx="3">
                  <c:v>不受限方法搜索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0.06</c:v>
                </c:pt>
                <c:pt idx="1">
                  <c:v>0.029</c:v>
                </c:pt>
                <c:pt idx="2">
                  <c:v>0.165</c:v>
                </c:pt>
                <c:pt idx="3">
                  <c:v>0.233</c:v>
                </c:pt>
              </c:numCache>
            </c:numRef>
          </c:val>
          <c:extLst>
            <c:ext uri="{C3380CC4-5D6E-409C-BE32-E72D297353CC}">
              <ns3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主讲第1页，设计预算15秒（未真人计时）。</a:t>
            </a:r>
          </a:p>
          <a:p>
            <a:r>
              <a:t>大家好。我们关注的是智能体在大模型产业研发中的应用。AI已经开始参与研发AI，那么，这些改进能不能一轮一轮继续下去？这是今天想回答的问题。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主讲第2页，设计预算30秒（未真人计时）。</a:t>
            </a:r>
          </a:p>
          <a:p>
            <a:r>
              <a:t>这个问题其实比大模型早得多。1965年，统计学家Good就讨论过：如果机器能够参与设计更好的机器，改进会不会不断继续？当时主要是思想推演，今天则开始出现能检查的研发实例。我们不急着预测什么时候会发生智能爆炸，先把问题落到一项真实任务上：Agent接过了什么工作，交付了什么，又怎样知道它做得更好？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主讲第3页，设计预算35秒（未真人计时）。</a:t>
            </a:r>
          </a:p>
          <a:p>
            <a:r>
              <a:t>可以先想象研究员面前的一轮实验：有了一个想法，还得写代码、配置训练、读日志，最后判断结果值不值得保留。比如，模型变得更少迎合用户了，会不会同时变得不擅长数学？一次实验失败，下次又该从哪里接着试？这些工作有明确工具，也有需要判断的环节。课程里讲的工具调用、记忆和评测，进入大模型研发以后，就对应这些具体动作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主讲第4页，设计预算40秒（未真人计时）。</a:t>
            </a:r>
          </a:p>
          <a:p>
            <a:r>
              <a:t>自我修改听起来很诱人，但有一个老问题：凭什么保留这次修改？这里有两种思路。Gödel Machine要求先证明修改有益，再允许修改；这个保证很强，但真实研发很难事先把所有后果都证明清楚。另一种思路是产生候选，实际运行，再用评测筛选，神经架构搜索和后面的代码自改研究更接近这条路线。它们体现的是验证方式的差异。今天的案例主要依赖实验，所以评测测了什么、漏了什么，会直接影响结论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主讲第5页，设计预算20秒（未真人计时）。</a:t>
            </a:r>
          </a:p>
          <a:p>
            <a:r>
              <a:t>下面先跟着一个改模型的任务走：任务怎么交给Agent，方法怎么进入模型，结果又怎么用于下一次尝试。看完这些具体工作，再回到题目：这些改进能不能让下一轮研发做得更好？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主讲第6页，设计预算25秒（未真人计时）。</a:t>
            </a:r>
          </a:p>
          <a:p>
            <a:r>
              <a:t>我们重点选这两家，是想展开研发中的两个环节。Anthropic的公开研究能看到训练方法和目标模型的变化，OpenAI作者的案例能看到评测任务怎样执行、怎样留下记录。Google和开放研究再补上算法、策略和代码。一起看，就能知道Agent进入了哪些研发工作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主讲第7页，设计预算40秒（未真人计时）。</a:t>
            </a:r>
          </a:p>
          <a:p>
            <a:r>
              <a:t>先看Anthropic Fellows项目的一项公开对齐研究。任务是让模型少迎合错误观点：用户说错了，模型也应该能指出问题。请看图上三个角色。Claude Opus4.8作为研究Agent，想办法、写实现和调用训练工具；Qwen3.5-2B是接受训练的目标模型；评测器检查改善和能力副作用。这里“Agent研发AI”的具体含义，就是它能通过工具改变另一个模型。下面看它怎样把一个想法变成可检查的实验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8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从左往右看，一轮研究需要交付一个真正能运行的方法。研究</a:t>
            </a:r>
            <a:r>
              <a:rPr lang="en-US" altLang="zh-CN"/>
              <a:t>Agent</a:t>
            </a:r>
            <a:r>
              <a:rPr lang="zh-CN" altLang="en-US"/>
              <a:t>先读资料、看已有结果，提出训练假设；在看到本轮结果之前，先冻结</a:t>
            </a:r>
            <a:r>
              <a:rPr lang="en-US" altLang="zh-CN"/>
              <a:t>mini-paper</a:t>
            </a:r>
            <a:r>
              <a:rPr lang="zh-CN" altLang="en-US"/>
              <a:t>，把方法、数据和训练目标写清楚。随后提交实现，检查代码是否和说明一致、是否违反实验规则。系统再运行训练，更新目标模型权重；典型预算约一张</a:t>
            </a:r>
            <a:r>
              <a:rPr lang="en-US" altLang="zh-CN"/>
              <a:t>H200</a:t>
            </a:r>
            <a:r>
              <a:rPr lang="zh-CN" altLang="en-US"/>
              <a:t>、半小时。最后由独立评测器同时检查安全改善和能力退化，所以不是分数提高就够了，还要看有没有明显副作用。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mini-paper</a:t>
            </a:r>
            <a:r>
              <a:rPr lang="zh-CN" altLang="en-US"/>
              <a:t>是训练前冻结的方法记录，不含事后结果；评测对比训练前后表现。基本规则禁止使用评测数据，也禁止从研究</a:t>
            </a:r>
            <a:r>
              <a:rPr lang="en-US" altLang="zh-CN"/>
              <a:t>Agent</a:t>
            </a:r>
            <a:r>
              <a:rPr lang="zh-CN" altLang="en-US"/>
              <a:t>或更强模型蒸馏。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§3.1—3.2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9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一次尝试结束以后，结果不会随着聊天结束就消失。多个研究</a:t>
            </a:r>
            <a:r>
              <a:rPr lang="en-US" altLang="zh-CN"/>
              <a:t>Agent</a:t>
            </a:r>
            <a:r>
              <a:rPr lang="zh-CN" altLang="en-US"/>
              <a:t>可以并行探索不同候选，而文献综述、方法代码、实验得分和失败经验会进入共享记录。新会话开始时，可以重新读取这些持久记录，再决定下一次往哪里试。所以这里的记忆是一套外部工程机制：经验能被后续会话复用，但研究</a:t>
            </a:r>
            <a:r>
              <a:rPr lang="en-US" altLang="zh-CN"/>
              <a:t>Agent</a:t>
            </a:r>
            <a:r>
              <a:rPr lang="zh-CN" altLang="en-US"/>
              <a:t>自己的模型权重并没有因此自动更新。真正被训练的是目标模型，而不是研究</a:t>
            </a:r>
            <a:r>
              <a:rPr lang="en-US" altLang="zh-CN"/>
              <a:t>Agent</a:t>
            </a:r>
            <a:r>
              <a:rPr lang="zh-CN" altLang="en-US"/>
              <a:t>本身。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候选。每轮为新会话，连续性由持久记录承担；不要把读取记录说成研究</a:t>
            </a:r>
            <a:r>
              <a:rPr lang="en-US" altLang="zh-CN"/>
              <a:t>Agent</a:t>
            </a:r>
            <a:r>
              <a:rPr lang="zh-CN" altLang="en-US"/>
              <a:t>参数更新。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10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接下来我们看一条真正成功过的技术路线。第一步不是立刻训练学生，而是先构造一个表现更好的教师。模型回答问题时会形成内部表示，激活引导尝试对隐藏状态施加方向性干预；图上的</a:t>
            </a:r>
            <a:r>
              <a:rPr lang="en-US" altLang="zh-CN"/>
              <a:t>h</a:t>
            </a:r>
            <a:r>
              <a:rPr lang="zh-CN" altLang="en-US"/>
              <a:t>变成</a:t>
            </a:r>
            <a:r>
              <a:rPr lang="en-US" altLang="zh-CN"/>
              <a:t>h′</a:t>
            </a:r>
            <a:r>
              <a:rPr lang="zh-CN" altLang="en-US"/>
              <a:t>只是教学写法。它不是把某道题的答案拼进提示词，而是让内部计算更少迎合用户的错误观点。引导后，目标模型形成一个临时更好的教师版本，但这项变化还没有写进模型权重。下一步的问题就是：怎样把这种临时变化保留下来？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h′</a:t>
            </a:r>
            <a:r>
              <a:rPr lang="zh-CN" altLang="en-US"/>
              <a:t>＝</a:t>
            </a:r>
            <a:r>
              <a:rPr lang="en-US" altLang="zh-CN"/>
              <a:t>h</a:t>
            </a:r>
            <a:r>
              <a:rPr lang="zh-CN" altLang="en-US"/>
              <a:t>＋</a:t>
            </a:r>
            <a:r>
              <a:rPr lang="en-US" altLang="zh-CN"/>
              <a:t>αv</a:t>
            </a:r>
            <a:r>
              <a:rPr lang="zh-CN" altLang="en-US"/>
              <a:t>是机制教学示意；真实方向、层和系数由具体方法定义。教师来自</a:t>
            </a:r>
            <a:r>
              <a:rPr lang="en-US" altLang="zh-CN"/>
              <a:t>Qwen</a:t>
            </a:r>
            <a:r>
              <a:rPr lang="zh-CN" altLang="en-US"/>
              <a:t>目标模型的引导版本，不是</a:t>
            </a:r>
            <a:r>
              <a:rPr lang="en-US" altLang="zh-CN"/>
              <a:t>Claude</a:t>
            </a:r>
            <a:r>
              <a:rPr lang="zh-CN" altLang="en-US"/>
              <a:t>研究</a:t>
            </a:r>
            <a:r>
              <a:rPr lang="en-US" altLang="zh-CN"/>
              <a:t>Agent</a:t>
            </a:r>
            <a:r>
              <a:rPr lang="zh-CN" altLang="en-US"/>
              <a:t>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11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下一步，是把教师带来的行为变化真正写进学生参数。教师和学生面对同一个输入，各自产生回答分布。教师是目标模型的引导版本，提供更少谄媚的训练目标；学生是等待训练的目标模型。训练利用</a:t>
            </a:r>
            <a:r>
              <a:rPr lang="en-US" altLang="zh-CN"/>
              <a:t>KL</a:t>
            </a:r>
            <a:r>
              <a:rPr lang="zh-CN" altLang="en-US"/>
              <a:t>约束，让学生学习教师的输出倾向，所以参数更新发生在学生身上，教师负责提供训练信号。训练结束后，再去掉临时激活引导，让学生正常推理并接受独立评测。短片只是机制教学示意；分布更接近不等于模型必然更安全，最终仍要检查行为改善与能力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候选。教师提供分布，学生接受参数更新。</a:t>
            </a:r>
            <a:r>
              <a:rPr lang="en-US" altLang="zh-CN"/>
              <a:t>KL</a:t>
            </a:r>
            <a:r>
              <a:rPr lang="zh-CN" altLang="en-US"/>
              <a:t>方向与获胜方法的完整配方不由教学图指定。不受限获胜配方采用引导教师后蒸馏；受限</a:t>
            </a:r>
            <a:r>
              <a:rPr lang="en-US" altLang="zh-CN"/>
              <a:t>KL</a:t>
            </a:r>
            <a:r>
              <a:rPr lang="zh-CN" altLang="en-US"/>
              <a:t>搜索条件不允许激活引导，两者不可混同。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主讲第12页，设计预算40秒，未真人计时。</ns1:t>
            </ns1:r>
          </ns1:p>
          <ns1:p>
            <ns1:r>
              <ns1:t>这一页先定义指标。改善空间关闭比例，是训练带来的提升，占“基线到参考最优”原有差距的比例。看这个式子，分子是实际提升，分母是原本还能提高多少。用教学数值代入：基线50，训练后70，参考最优100，分子是20，分母是50，所以补回了40%的原有差距。这个40%不是训练后正确率；论文还会用几何平均数汇总多个安全测试，所以后面的23.3%也不能直接读成通过率。</ns1:t>
            </ns1:r>
          </ns1:p>
          <ns1:p>
            <ns1:r>
              <ns1:t>B部分07候选。50、70、100均为教学数值，不是论文实验结果。单基准公式见[4]§2.2；多基准使用几何平均。</ns1:t>
            </ns1:r>
          </ns1:p>
          <ns1:p>
            <ns1:r>
              <ns1:t>来源：[4] https://alignment.anthropic.com/2026/automated-alignment-researchers/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13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现在看真实结果。这是在同一个谄媚任务、同一个目标模型下，对前</a:t>
            </a:r>
            <a:r>
              <a:rPr lang="en-US" altLang="zh-CN"/>
              <a:t>150</a:t>
            </a:r>
            <a:r>
              <a:rPr lang="zh-CN" altLang="en-US"/>
              <a:t>个已评分方法的比较。原样公共数据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6.0%</a:t>
            </a:r>
            <a:r>
              <a:rPr lang="zh-CN" altLang="en-US"/>
              <a:t>，自由构造数据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2.9%</a:t>
            </a:r>
            <a:r>
              <a:rPr lang="zh-CN" altLang="en-US"/>
              <a:t>；允许</a:t>
            </a:r>
            <a:r>
              <a:rPr lang="en-US" altLang="zh-CN"/>
              <a:t>SFT</a:t>
            </a:r>
            <a:r>
              <a:rPr lang="zh-CN" altLang="en-US"/>
              <a:t>加</a:t>
            </a:r>
            <a:r>
              <a:rPr lang="en-US" altLang="zh-CN"/>
              <a:t>KL</a:t>
            </a:r>
            <a:r>
              <a:rPr lang="zh-CN" altLang="en-US"/>
              <a:t>自蒸馏后达到</a:t>
            </a:r>
            <a:r>
              <a:rPr lang="en-US" altLang="zh-CN"/>
              <a:t>16.5%</a:t>
            </a:r>
            <a:r>
              <a:rPr lang="zh-CN" altLang="en-US"/>
              <a:t>，进一步放开方法空间则达到</a:t>
            </a:r>
            <a:r>
              <a:rPr lang="en-US" altLang="zh-CN"/>
              <a:t>23.3%</a:t>
            </a:r>
            <a:r>
              <a:rPr lang="zh-CN" altLang="en-US"/>
              <a:t>。所以这张图比较的是不同方法搜索条件：在这个案例里，训练目标和机制比单纯增加数据自由度更关键。每个条件只有一次搜索运行，这些结果也没有重跑</a:t>
            </a:r>
            <a:r>
              <a:rPr lang="en-US" altLang="zh-CN"/>
              <a:t>held-out</a:t>
            </a:r>
            <a:r>
              <a:rPr lang="zh-CN" altLang="en-US"/>
              <a:t>或</a:t>
            </a:r>
            <a:r>
              <a:rPr lang="en-US" altLang="zh-CN"/>
              <a:t>Petri</a:t>
            </a:r>
            <a:r>
              <a:rPr lang="zh-CN" altLang="en-US"/>
              <a:t>，因此不能当作普遍规律。下一部分换到评测工作流。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候选。四项均为</a:t>
            </a:r>
            <a:r>
              <a:rPr lang="en-US" altLang="zh-CN"/>
              <a:t>[4] Fig.20</a:t>
            </a:r>
            <a:r>
              <a:rPr lang="zh-CN" altLang="en-US"/>
              <a:t>在共同前</a:t>
            </a:r>
            <a:r>
              <a:rPr lang="en-US" altLang="zh-CN"/>
              <a:t>150</a:t>
            </a:r>
            <a:r>
              <a:rPr lang="zh-CN" altLang="en-US"/>
              <a:t>个已评分方法处的标注。</a:t>
            </a:r>
            <a:r>
              <a:rPr lang="en-US" altLang="zh-CN"/>
              <a:t>16.5%</a:t>
            </a:r>
            <a:r>
              <a:rPr lang="zh-CN" altLang="en-US"/>
              <a:t>不是</a:t>
            </a:r>
            <a:r>
              <a:rPr lang="en-US" altLang="zh-CN"/>
              <a:t>KL</a:t>
            </a:r>
            <a:r>
              <a:rPr lang="zh-CN" altLang="en-US"/>
              <a:t>条件全程峰值</a:t>
            </a:r>
            <a:r>
              <a:rPr lang="en-US" altLang="zh-CN"/>
              <a:t>18.7%</a:t>
            </a:r>
            <a:r>
              <a:rPr lang="zh-CN" altLang="en-US"/>
              <a:t>；</a:t>
            </a:r>
            <a:r>
              <a:rPr lang="en-US" altLang="zh-CN"/>
              <a:t>23.3%</a:t>
            </a:r>
            <a:r>
              <a:rPr lang="zh-CN" altLang="en-US"/>
              <a:t>不是通过率、单一配方贡献或最终完整运行峰值。单任务、单模型、每条件一次运行，仅比较爬坡评测套件。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Runme把命令放在笔记里执行，输出也能跟着保存。请从上到下看：目标和计划说明为什么做，命令和输出记录具体发生了什么，解释与取舍交代下一步怎么选。换一个会话，Codex就能读取这些记录，接着处理任务。它和前面的共享实验记录有一个共同点：上次怎么做、哪里失败、为什么这样决定，都能留给下一次。这里的记忆就保存在这些可读取的记录中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加速了23%，对应Gemini总训练时间减少1%。左边说的是一个算子，右边说的是完整训练。训练还有其他大量工作，所以一个环节快了很多，整段训练的收益仍可能比较小。23%落在这个算子上，1%才对应总训练时间。这个例子让我们看到，Agent找到的一项程序改动，怎样实际进入大模型训练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主讲第19页，设计预算40秒，未真人计时。</a:t>
            </a:r>
          </a:p>
          <a:p>
            <a:r>
              <a:t>前面改的是模型和训练程序。开放研究还把Agent自身作为改进对象。左边的AgentEvolver会生成任务、复用经验，再把行动的贡献用于奖励，训练Agent的策略。右边的DGM会改自己的工具和流程代码，比如增加补丁检查；运行评测后，把不同版本存进档案，供后续继续探索。这里要分清，训练策略与修改代码，是两种不同的改进。</a:t>
            </a:r>
          </a:p>
          <a:p>
            <a:r>
              <a:t>D部分06修订。采用曹天卓来稿区分改策略与改代码的讲法；档案不是只保留当前最高分版本。AgentEvolver v1 §3—5；DGM v1 §3、官方Introduction。基准分母与具体例子见10_D部分答辩备课。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主讲第20页，设计预算40秒，未真人计时。</a:t>
            </a:r>
          </a:p>
          <a:p>
            <a:r>
              <a:t>把前面的案例放在一起看，先问它改了哪个对象。Anthropic训练目标模型，OpenAI这个案例改进评测流程、留下研究记录，Google优化训练程序。刚才的开放研究，则训练Agent策略或修改自身代码。这些结果分别体现在模型行为、任务完成情况和程序性能上。下一步就要问：这轮留下的成果，会怎样进入下一轮研究？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主讲第21页，设计预算45秒，未真人计时。</a:t>
            </a:r>
          </a:p>
          <a:p>
            <a:r>
              <a:t>上一轮的成果，有两种接法。第一种是把实验记录留下来，下次读取成功和失败，接着提出方法。前面的共享记录和Runme就是这样。第二种更进一步：DGM改了Agent自身，后续还能从这些版本继续探索。图中两条返回的箭头，分别表示带回记录和带回修改后的Agent。如果要把这个思路推广到基础模型研发，还要看它能否持续做出更强的后继模型。</a:t>
            </a:r>
          </a:p>
          <a:p>
            <a:r>
              <a:t>下方回流特指DGM在Agent代码层的迭代，不表示AAR把Qwen替换成Opus研究Agent。最后一问讨论基础模型的持续后继研发。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主讲第22页，设计预算35秒，未真人计时。</a:t>
            </a:r>
          </a:p>
          <a:p>
            <a:r>
              <a:t>怎样判断它下一轮真的研究得更好了？可以让原版和改进版，在同样预算下研究同一组新任务。先看找到的方法是否更好，再换任务、连续观察几轮，同时记录失败和人工帮助。这样有助于判断，它有没有只适应刚才那批题，是否提高研发效率，以及会不会退步或钻测试空子。这是我们提出的比较思路，本组没有做这项实验。</a:t>
            </a:r>
          </a:p>
          <a:p>
            <a:r>
              <a:t>本页是本报告提出的后续比较思路，不是已执行实验，也不要求本组新增实践。预算宜记录时间、计算/调用成本和人工帮助；新任务用于检查迁移，多轮结果包括失败与代价。有限测试有助判断，不能保证普遍持续改进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主讲第23页，设计预算25秒，未真人计时。</a:t>
            </a:r>
          </a:p>
          <a:p>
            <a:r>
              <a:t>所以，回到开头的问题，我们已经看到特定任务里的局部自我改进：Agent能帮助改模型，也能修改自身代码并继续探索。对于今天关注的大模型研发，下一步要检验的是，这些改进能否持续提高下一轮研究的能力，产出更强的基础模型。这就是我们对“距离递归自我改进还有多远”的回答：已有具体进展，持续的后继研发还需要跨轮次检验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主讲第24页，设计预算5秒，未真人计时。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Fig.20</a:t>
            </a:r>
            <a:r>
              <a:rPr lang="zh-CN" altLang="en-US"/>
              <a:t>四条件共同前</a:t>
            </a:r>
            <a:r>
              <a:rPr lang="en-US" altLang="zh-CN"/>
              <a:t>150</a:t>
            </a:r>
            <a:r>
              <a:rPr lang="zh-CN" altLang="en-US"/>
              <a:t>个方法：</a:t>
            </a:r>
            <a:r>
              <a:rPr lang="en-US" altLang="zh-CN"/>
              <a:t>6.0%</a:t>
            </a:r>
            <a:r>
              <a:rPr lang="zh-CN" altLang="en-US"/>
              <a:t>、</a:t>
            </a:r>
            <a:r>
              <a:rPr lang="en-US" altLang="zh-CN"/>
              <a:t>2.9%</a:t>
            </a:r>
            <a:r>
              <a:rPr lang="zh-CN" altLang="en-US"/>
              <a:t>、</a:t>
            </a:r>
            <a:r>
              <a:rPr lang="en-US" altLang="zh-CN"/>
              <a:t>16.5%</a:t>
            </a:r>
            <a:r>
              <a:rPr lang="zh-CN" altLang="en-US"/>
              <a:t>、</a:t>
            </a:r>
            <a:r>
              <a:rPr lang="en-US" altLang="zh-CN"/>
              <a:t>23.3%</a:t>
            </a:r>
            <a:r>
              <a:rPr lang="zh-CN" altLang="en-US"/>
              <a:t>。</a:t>
            </a:r>
            <a:r>
              <a:rPr lang="en-US" altLang="zh-CN"/>
              <a:t>16.5%</a:t>
            </a:r>
            <a:r>
              <a:rPr lang="zh-CN" altLang="en-US"/>
              <a:t>不要与</a:t>
            </a:r>
            <a:r>
              <a:rPr lang="en-US" altLang="zh-CN"/>
              <a:t>KL</a:t>
            </a:r>
            <a:r>
              <a:rPr lang="zh-CN" altLang="en-US"/>
              <a:t>完整运行峰值</a:t>
            </a:r>
            <a:r>
              <a:rPr lang="en-US" altLang="zh-CN"/>
              <a:t>18.7%</a:t>
            </a:r>
            <a:r>
              <a:rPr lang="zh-CN" altLang="en-US"/>
              <a:t>混用。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开放框架、策略训练与代码自改要分别追踪。AgentEvolver训练更新策略参数；DGM此实验固定底层模型，修改代码和工具。DGM官方20%→50%对应论文SWE-bench 200题子集；Polyglot 14.2%→30.7%为完整复评，勿混50题搜索子集或pass@2榜单。见DGM v1 §4.2与组长D答辩备课。</a:t>
            </a:r>
          </a:p>
          <a:p>
            <a:r>
              <a:t>https://arxiv.org/html/2505.22954v1</a:t>
            </a:r>
          </a:p>
          <a:p>
            <a:r>
              <a:t>https://arxiv.org/html/2511.10395v1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D766A6-9D9B-4A3E-B7A7-F046388A7BC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63813F-A46F-4B3E-813A-C0A8918C47E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F65E28-8458-4031-A5EB-FE46193E5A72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0226B-FF11-45FD-BD22-A5730764F411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86A8-D3F3-4F8C-B4CC-392BA648D53A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149605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E0CE4BD-255C-4A19-AAD8-BA030C8195D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0B22D3-BD07-419B-864D-AA3302AB319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机器设计更好机器：一个早于大模型的问题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601F71-0E43-4840-945E-B5DB8B81F64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E760A6-9165-4A2C-9092-53908871B7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Good, 1965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EFC7B-A790-464A-AB63-411C16858DF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0E107D-BEA3-45D3-B071-B90E9A0CB4D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981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1965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AE3B0F-22AB-4D26-9947-14027C368FC1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I. J. Good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B29067-D4FB-4D2F-8DC9-70FC113CC1E6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267450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如果机器能参与设计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更好的机器，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改进会不会继续？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FC4B8E-A72F-45EC-B440-60E421582665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C0A842-AF20-4B76-9F21-105887328A77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今天可以追问：它接手了哪项任务，交付了什么结果</a:t>
            </a:r>
          </a:p>
        </p:txBody>
      </p:sp>
    </p:spTree>
    <p:extLst>
      <p:ext uri="{BB962C8B-B14F-4D97-AF65-F5344CB8AC3E}">
        <p14:creationId xmlns:p14="http://schemas.microsoft.com/office/powerpoint/2010/main" val="158071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FF9A36A-699A-4B99-ADF0-6D030C850AD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B60991-E21C-429B-9DF9-FE08D1BBB56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研发AI，需要反复做实验和评测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C176D1-3BE7-45E6-85CD-14FC0EE919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561780-6E8B-4E07-8DEB-B4A4A2F19ED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639279-9E47-45A5-9E26-593F38DE850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7C8100-5978-4F2F-B340-9FA43C4723E5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B46F0D-ED67-492C-AE9D-3BFDEBF0B516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提出训练方法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F2783D8-304A-448F-93FE-8FFCAB2507B0}"/>
              </a:ext>
            </a:extLst>
          </p:cNvPr>
          <p:cNvSpPr>
            <a:spLocks noGrp="1"/>
          </p:cNvSpPr>
          <p:nvPr/>
        </p:nvSpPr>
        <p:spPr>
          <a:xfrm>
            <a:off x="30575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5A5206-5EB4-4C38-ADFF-8C5956452678}"/>
              </a:ext>
            </a:extLst>
          </p:cNvPr>
          <p:cNvSpPr>
            <a:spLocks noGrp="1"/>
          </p:cNvSpPr>
          <p:nvPr/>
        </p:nvSpPr>
        <p:spPr>
          <a:xfrm>
            <a:off x="34671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C1EE2F-4DF1-45A3-898E-17052ADB2998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把方法变成代码与训练任务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42F7A36-39D2-4712-BA14-855F83143D10}"/>
              </a:ext>
            </a:extLst>
          </p:cNvPr>
          <p:cNvSpPr>
            <a:spLocks noGrp="1"/>
          </p:cNvSpPr>
          <p:nvPr/>
        </p:nvSpPr>
        <p:spPr>
          <a:xfrm>
            <a:off x="58388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C398F0-7508-443E-98BE-6D0AD351234F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34F504-B4D3-488E-8655-340487B51F6B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检查行为改善</a:t>
            </a:r>
          </a:p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和能力损失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82147EA-3C48-4776-96D2-C1B55E497AF5}"/>
              </a:ext>
            </a:extLst>
          </p:cNvPr>
          <p:cNvSpPr>
            <a:spLocks noGrp="1"/>
          </p:cNvSpPr>
          <p:nvPr/>
        </p:nvSpPr>
        <p:spPr>
          <a:xfrm>
            <a:off x="86201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7AEBE8-2F3F-4D40-B9D7-43F255B7AB56}"/>
              </a:ext>
            </a:extLst>
          </p:cNvPr>
          <p:cNvSpPr>
            <a:spLocks noGrp="1"/>
          </p:cNvSpPr>
          <p:nvPr/>
        </p:nvSpPr>
        <p:spPr>
          <a:xfrm>
            <a:off x="90297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2E51CE-1BD1-46A5-89D2-CA5207695CC1}"/>
              </a:ext>
            </a:extLst>
          </p:cNvPr>
          <p:cNvSpPr>
            <a:spLocks noGrp="1"/>
          </p:cNvSpPr>
          <p:nvPr/>
        </p:nvSpPr>
        <p:spPr>
          <a:xfrm>
            <a:off x="90297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记录失败</a:t>
            </a:r>
          </a:p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决定下一次尝试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688654-7E0B-4506-BA63-17B9B978EAEC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一次行为改善，可能伴随其他能力下降</a:t>
            </a:r>
          </a:p>
        </p:txBody>
      </p:sp>
    </p:spTree>
    <p:extLst>
      <p:ext uri="{BB962C8B-B14F-4D97-AF65-F5344CB8AC3E}">
        <p14:creationId xmlns:p14="http://schemas.microsoft.com/office/powerpoint/2010/main" val="96788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8BBAD4A-5664-461B-9CE7-CA76D6D0DF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687911-61A4-4286-9D8B-E40DCA111B2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自我修改怎样才值得保留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5D6F6-048E-4CD3-88B5-B789CA13BBA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F42727-051D-492B-A85D-D63ECD67C8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[2] Gödel Machines；[3] NAS, 2016；[8]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2A3A70-A7F1-4F62-B6A1-FBA0234856F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6B9080-0A48-4AB8-85B7-7ACDBEF3095B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证明后修改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45F74-C3D5-4EEF-9F2D-786EEC68447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Gödel Machine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先证明修改有益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1E9EE5-6898-4763-AB59-90D605DFC2CA}"/>
              </a:ext>
            </a:extLst>
          </p:cNvPr>
          <p:cNvSpPr>
            <a:spLocks noGrp="1"/>
          </p:cNvSpPr>
          <p:nvPr/>
        </p:nvSpPr>
        <p:spPr>
          <a:xfrm>
            <a:off x="6572250" y="2200275"/>
            <a:ext cx="49339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评测后保留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92FF2D-8657-432A-90A0-C9E76828DD61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9339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NAS与DGM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搜索候选，再检验结果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0B127-42B6-42D4-8889-1E779582F5BC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D04C34-42CC-4D38-B4A2-F6B02FEE3452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真实研发怎样验证“更好”，贯穿今天的案例</a:t>
            </a:r>
          </a:p>
        </p:txBody>
      </p:sp>
    </p:spTree>
    <p:extLst>
      <p:ext uri="{BB962C8B-B14F-4D97-AF65-F5344CB8AC3E}">
        <p14:creationId xmlns:p14="http://schemas.microsoft.com/office/powerpoint/2010/main" val="120903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3F25B23-B352-451B-AD1A-CC01BA5631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154505-70EE-4856-BCF2-980855E19B0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沿着研发链条找答案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7C950A-26D2-425F-ADCD-0A2EB9B4368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45F6F-0655-454E-A2E0-B6CAE6CB402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5B0720-C2D1-4270-BAE4-76A3E211698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2D8F0F-4374-4560-B445-FEA7C256056F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DAF72D-4926-451B-8EAE-B6598BC9AA38}"/>
              </a:ext>
            </a:extLst>
          </p:cNvPr>
          <p:cNvSpPr>
            <a:spLocks noGrp="1"/>
          </p:cNvSpPr>
          <p:nvPr/>
        </p:nvSpPr>
        <p:spPr>
          <a:xfrm>
            <a:off x="2257425" y="223837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任务怎样交给Agent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9C5789-6855-4B0E-BD4B-CE201E64F641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BEDCAD-CFE9-4784-9987-818978CC155D}"/>
              </a:ext>
            </a:extLst>
          </p:cNvPr>
          <p:cNvSpPr>
            <a:spLocks noGrp="1"/>
          </p:cNvSpPr>
          <p:nvPr/>
        </p:nvSpPr>
        <p:spPr>
          <a:xfrm>
            <a:off x="2257425" y="320040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方法怎样进入模型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CE1A24-AC8B-4CC3-A5BB-6EBC192AD8B0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0AB361-BDE9-4461-AB73-CA332CA0B2EC}"/>
              </a:ext>
            </a:extLst>
          </p:cNvPr>
          <p:cNvSpPr>
            <a:spLocks noGrp="1"/>
          </p:cNvSpPr>
          <p:nvPr/>
        </p:nvSpPr>
        <p:spPr>
          <a:xfrm>
            <a:off x="2257425" y="416242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结果怎样进入下一轮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474A06-A647-4AB6-8B08-D0C5AF5D58F0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623B3E-B3A7-45A4-84C5-CA4C64C69155}"/>
              </a:ext>
            </a:extLst>
          </p:cNvPr>
          <p:cNvSpPr>
            <a:spLocks noGrp="1"/>
          </p:cNvSpPr>
          <p:nvPr/>
        </p:nvSpPr>
        <p:spPr>
          <a:xfrm>
            <a:off x="2257425" y="512445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改进能否让下一轮研发做得更好</a:t>
            </a:r>
          </a:p>
        </p:txBody>
      </p:sp>
    </p:spTree>
    <p:extLst>
      <p:ext uri="{BB962C8B-B14F-4D97-AF65-F5344CB8AC3E}">
        <p14:creationId xmlns:p14="http://schemas.microsoft.com/office/powerpoint/2010/main" val="31867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FD8E208-B047-45AA-B314-DB102CB20B0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687E4E-1602-4A32-896C-63E0BBC1251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为什么重点看Anthropic与OpenAI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9DEE30-5E3E-49F5-B427-65949E4CF57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86293-ACE6-4080-BED3-41D5A312226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2AC90C-65B0-4C18-AC0F-3AF33E8788D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10FFA1-4DF7-4919-B161-7B7F82AA7B5E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F3C4C7-17DA-4EF5-A87A-50681728749D}"/>
              </a:ext>
            </a:extLst>
          </p:cNvPr>
          <p:cNvSpPr>
            <a:spLocks noGrp="1"/>
          </p:cNvSpPr>
          <p:nvPr/>
        </p:nvSpPr>
        <p:spPr>
          <a:xfrm>
            <a:off x="4095750" y="22574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方法、目标模型权重与实验评测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67F691-C797-4757-8761-E5001EAA8813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632FA7-3A4B-49B6-A375-2028B6D83B51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21DA46-FE27-4795-986F-4E7C27AE438C}"/>
              </a:ext>
            </a:extLst>
          </p:cNvPr>
          <p:cNvSpPr>
            <a:spLocks noGrp="1"/>
          </p:cNvSpPr>
          <p:nvPr/>
        </p:nvSpPr>
        <p:spPr>
          <a:xfrm>
            <a:off x="4095750" y="34766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研发任务、工具使用与决策记录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F5D87D-3853-4115-A15E-13A5D7C60C37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422BE1-7BEE-42B2-BE4C-B8D8E45A2F87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Google与开放研究补充算法、策略和代码的改动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90069C-DC62-4F0A-ACED-D4F32F6635CE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重点比较训练方法与评测流程</a:t>
            </a:r>
          </a:p>
        </p:txBody>
      </p:sp>
    </p:spTree>
    <p:extLst>
      <p:ext uri="{BB962C8B-B14F-4D97-AF65-F5344CB8AC3E}">
        <p14:creationId xmlns:p14="http://schemas.microsoft.com/office/powerpoint/2010/main" val="1623291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D3B0AF-B4C5-4808-9BC4-E5C1E05EE3D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BB652-68FF-4BAD-8AC0-2C7FC83521D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53822-5215-4E7D-9B40-B33C0DF86D3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D360AE-AC35-46AB-9478-BB14AB3FA7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ECBD1-623C-4241-908E-1926CE718F5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AA0275-21E9-4B3D-AB40-5BF50467FD2B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41E4C6C-A345-44C2-9B34-6FA386C4E05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477F8D-ECBB-4D3E-A909-7DAE08EF0D65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B73F517-D2CE-43CC-9C07-EF7553D050F8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C92B8-143E-4C47-8045-142825EBCF4D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6FDCFE-594F-4193-97CF-0FC78CFAC9F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55D32-76BA-465A-A8BB-94D61D9BFA1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105707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49047ED0-867C-0DE0-F907-956B185C6194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43CC03-C30E-3F88-D5A1-1BD8D72AD386}"/>
              </a:ext>
            </a:extLst>
          </p:cNvPr>
          <p:cNvSpPr txBox="1"/>
          <p:nvPr/>
        </p:nvSpPr>
        <p:spPr>
          <a:xfrm>
            <a:off x="685800" y="838200"/>
            <a:ext cx="1082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一轮研究要交付可审查、可训练、可评测的方法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CFA824-ADE9-8096-E20F-B5FE85A5BE15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09DF44B-BE10-F2E3-93DE-0982720DFB8B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§3.1—3.2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35AFAF-7F69-1FA8-9FE5-A49097034EAC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A1A67E-CD2A-93EA-7808-DFCF584ECE79}"/>
              </a:ext>
            </a:extLst>
          </p:cNvPr>
          <p:cNvSpPr/>
          <p:nvPr/>
        </p:nvSpPr>
        <p:spPr>
          <a:xfrm>
            <a:off x="6858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51F84D-7886-4528-51E3-34B7988EFE18}"/>
              </a:ext>
            </a:extLst>
          </p:cNvPr>
          <p:cNvSpPr txBox="1"/>
          <p:nvPr/>
        </p:nvSpPr>
        <p:spPr>
          <a:xfrm>
            <a:off x="8382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D00388-EC0F-6D8C-8165-CC3C77E17478}"/>
              </a:ext>
            </a:extLst>
          </p:cNvPr>
          <p:cNvSpPr txBox="1"/>
          <p:nvPr/>
        </p:nvSpPr>
        <p:spPr>
          <a:xfrm>
            <a:off x="8382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提出假设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A4F636-9769-FCA7-2CA1-7427CF8E38C3}"/>
              </a:ext>
            </a:extLst>
          </p:cNvPr>
          <p:cNvSpPr txBox="1"/>
          <p:nvPr/>
        </p:nvSpPr>
        <p:spPr>
          <a:xfrm>
            <a:off x="8382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资料、文献与
已有结果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A9449F1-8C40-3076-9F0C-616AF33F3042}"/>
              </a:ext>
            </a:extLst>
          </p:cNvPr>
          <p:cNvCxnSpPr/>
          <p:nvPr/>
        </p:nvCxnSpPr>
        <p:spPr>
          <a:xfrm>
            <a:off x="267970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784B2D6-99EC-F4C7-840B-0A78D52B1960}"/>
              </a:ext>
            </a:extLst>
          </p:cNvPr>
          <p:cNvSpPr/>
          <p:nvPr/>
        </p:nvSpPr>
        <p:spPr>
          <a:xfrm>
            <a:off x="290195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1A54C3B-9A70-B05E-1F6C-DB69A98887B1}"/>
              </a:ext>
            </a:extLst>
          </p:cNvPr>
          <p:cNvSpPr txBox="1"/>
          <p:nvPr/>
        </p:nvSpPr>
        <p:spPr>
          <a:xfrm>
            <a:off x="305435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D3E8F31-E7BD-0D09-6558-C0DDD90DAA00}"/>
              </a:ext>
            </a:extLst>
          </p:cNvPr>
          <p:cNvSpPr txBox="1"/>
          <p:nvPr/>
        </p:nvSpPr>
        <p:spPr>
          <a:xfrm>
            <a:off x="3054350" y="2895600"/>
            <a:ext cx="16383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</a:t>
            </a:r>
            <a:r>
              <a:rPr lang="en-US" altLang="zh-CN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mini-paper</a:t>
            </a:r>
            <a:endParaRPr lang="zh-CN" altLang="en-US" sz="165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5CCB51-FB8B-5474-4ECA-2039B138B75D}"/>
              </a:ext>
            </a:extLst>
          </p:cNvPr>
          <p:cNvSpPr txBox="1"/>
          <p:nvPr/>
        </p:nvSpPr>
        <p:spPr>
          <a:xfrm>
            <a:off x="305435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训练前写明方法、
数据与损失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DC6917F-9F04-A9E6-C4DD-34717C23A8FF}"/>
              </a:ext>
            </a:extLst>
          </p:cNvPr>
          <p:cNvCxnSpPr/>
          <p:nvPr/>
        </p:nvCxnSpPr>
        <p:spPr>
          <a:xfrm>
            <a:off x="489585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DCBCD0C-1D3F-DE43-E75F-941B4F6E109F}"/>
              </a:ext>
            </a:extLst>
          </p:cNvPr>
          <p:cNvSpPr/>
          <p:nvPr/>
        </p:nvSpPr>
        <p:spPr>
          <a:xfrm>
            <a:off x="51181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2164D90-CBB7-334E-BA67-7DE8727709ED}"/>
              </a:ext>
            </a:extLst>
          </p:cNvPr>
          <p:cNvSpPr txBox="1"/>
          <p:nvPr/>
        </p:nvSpPr>
        <p:spPr>
          <a:xfrm>
            <a:off x="52705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B8E0876-6355-33EE-5E45-7FBEFC7B1A84}"/>
              </a:ext>
            </a:extLst>
          </p:cNvPr>
          <p:cNvSpPr txBox="1"/>
          <p:nvPr/>
        </p:nvSpPr>
        <p:spPr>
          <a:xfrm>
            <a:off x="52705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提交实现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BD5CFBB-E203-F130-0270-D92893FB3EAD}"/>
              </a:ext>
            </a:extLst>
          </p:cNvPr>
          <p:cNvSpPr txBox="1"/>
          <p:nvPr/>
        </p:nvSpPr>
        <p:spPr>
          <a:xfrm>
            <a:off x="52705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代码与说明一致；
通过规则检查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FBEC8C7-8A78-2852-D597-DB6ED4F280CA}"/>
              </a:ext>
            </a:extLst>
          </p:cNvPr>
          <p:cNvCxnSpPr/>
          <p:nvPr/>
        </p:nvCxnSpPr>
        <p:spPr>
          <a:xfrm>
            <a:off x="711200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ABF044A-924C-1D1D-A8A8-ED2DC34382E5}"/>
              </a:ext>
            </a:extLst>
          </p:cNvPr>
          <p:cNvSpPr/>
          <p:nvPr/>
        </p:nvSpPr>
        <p:spPr>
          <a:xfrm>
            <a:off x="733425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AF147FC-4B6F-DFBB-2EA2-7DB14B027392}"/>
              </a:ext>
            </a:extLst>
          </p:cNvPr>
          <p:cNvSpPr txBox="1"/>
          <p:nvPr/>
        </p:nvSpPr>
        <p:spPr>
          <a:xfrm>
            <a:off x="748665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C199E9-C52D-D170-A204-8595F527C356}"/>
              </a:ext>
            </a:extLst>
          </p:cNvPr>
          <p:cNvSpPr txBox="1"/>
          <p:nvPr/>
        </p:nvSpPr>
        <p:spPr>
          <a:xfrm>
            <a:off x="748665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训练目标模型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A1D54B7-898D-A452-72F2-DBC3AE251E8C}"/>
              </a:ext>
            </a:extLst>
          </p:cNvPr>
          <p:cNvSpPr txBox="1"/>
          <p:nvPr/>
        </p:nvSpPr>
        <p:spPr>
          <a:xfrm>
            <a:off x="7486650" y="3695700"/>
            <a:ext cx="16383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产出更新权重；
约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H200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0CC69764-5AD0-D276-FCDE-8E19D6C98410}"/>
              </a:ext>
            </a:extLst>
          </p:cNvPr>
          <p:cNvCxnSpPr/>
          <p:nvPr/>
        </p:nvCxnSpPr>
        <p:spPr>
          <a:xfrm>
            <a:off x="932815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3FF6AC9-E75B-0A85-547A-6D9C882C885E}"/>
              </a:ext>
            </a:extLst>
          </p:cNvPr>
          <p:cNvSpPr/>
          <p:nvPr/>
        </p:nvSpPr>
        <p:spPr>
          <a:xfrm>
            <a:off x="95504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1F56742-5D99-9681-C4D5-C0C3460050FA}"/>
              </a:ext>
            </a:extLst>
          </p:cNvPr>
          <p:cNvSpPr txBox="1"/>
          <p:nvPr/>
        </p:nvSpPr>
        <p:spPr>
          <a:xfrm>
            <a:off x="97028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2210BCC-24EB-C37C-B66B-3013AE373F38}"/>
              </a:ext>
            </a:extLst>
          </p:cNvPr>
          <p:cNvSpPr txBox="1"/>
          <p:nvPr/>
        </p:nvSpPr>
        <p:spPr>
          <a:xfrm>
            <a:off x="97028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独立评测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6C8AFE2-7D56-F355-801A-13C80E36B6ED}"/>
              </a:ext>
            </a:extLst>
          </p:cNvPr>
          <p:cNvSpPr txBox="1"/>
          <p:nvPr/>
        </p:nvSpPr>
        <p:spPr>
          <a:xfrm>
            <a:off x="97028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安全改善与
能力退化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2F21929-BDA3-FB3D-6B10-0127AB8BA18B}"/>
              </a:ext>
            </a:extLst>
          </p:cNvPr>
          <p:cNvSpPr txBox="1"/>
          <p:nvPr/>
        </p:nvSpPr>
        <p:spPr>
          <a:xfrm>
            <a:off x="685800" y="50419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基本规则：禁用评测数据；禁止从研究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或更强模型蒸馏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35CAAF8-B2F7-2029-728D-0D393C6D7A7F}"/>
              </a:ext>
            </a:extLst>
          </p:cNvPr>
          <p:cNvSpPr txBox="1"/>
          <p:nvPr/>
        </p:nvSpPr>
        <p:spPr>
          <a:xfrm>
            <a:off x="685800" y="55626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筛选原则：安全改善不能以明显能力退化为代价</a:t>
            </a:r>
          </a:p>
        </p:txBody>
      </p:sp>
    </p:spTree>
    <p:extLst>
      <p:ext uri="{BB962C8B-B14F-4D97-AF65-F5344CB8AC3E}">
        <p14:creationId xmlns:p14="http://schemas.microsoft.com/office/powerpoint/2010/main" val="20145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2E0F34C-DE69-A9E1-FF0F-D4E7AFFC9921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CC362D-D4A7-8DE2-42F3-79C30F5E4582}"/>
              </a:ext>
            </a:extLst>
          </p:cNvPr>
          <p:cNvSpPr txBox="1"/>
          <p:nvPr/>
        </p:nvSpPr>
        <p:spPr>
          <a:xfrm>
            <a:off x="685800" y="838200"/>
            <a:ext cx="10820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4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下一次尝试，能接着读到之前的成功与失败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42CCC2-A979-5019-7165-222740EF0BF6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DE34FC-EB68-B8B9-AB38-1E575E8D0F07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§3.1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F33A12-8B06-FA38-C3F6-63126D6C5DE5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1E201CF-70DA-2BFC-38B3-B66BD3ECE137}"/>
              </a:ext>
            </a:extLst>
          </p:cNvPr>
          <p:cNvSpPr/>
          <p:nvPr/>
        </p:nvSpPr>
        <p:spPr>
          <a:xfrm>
            <a:off x="685800" y="2489200"/>
            <a:ext cx="3073400" cy="21082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5CDBB-D763-0BDC-29DF-F4124D4D2F91}"/>
              </a:ext>
            </a:extLst>
          </p:cNvPr>
          <p:cNvSpPr txBox="1"/>
          <p:nvPr/>
        </p:nvSpPr>
        <p:spPr>
          <a:xfrm>
            <a:off x="914400" y="2755900"/>
            <a:ext cx="26162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多个研究</a:t>
            </a:r>
            <a:r>
              <a:rPr lang="en-US" altLang="zh-CN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
</a:t>
            </a:r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并行探索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22CDD3-7D54-BA56-B4C6-1EAE54C58A92}"/>
              </a:ext>
            </a:extLst>
          </p:cNvPr>
          <p:cNvSpPr txBox="1"/>
          <p:nvPr/>
        </p:nvSpPr>
        <p:spPr>
          <a:xfrm>
            <a:off x="9144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提出候选方法
分别提交训练与评测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20504A1-96D2-1787-5D82-8D2FEC96F06D}"/>
              </a:ext>
            </a:extLst>
          </p:cNvPr>
          <p:cNvCxnSpPr/>
          <p:nvPr/>
        </p:nvCxnSpPr>
        <p:spPr>
          <a:xfrm>
            <a:off x="3873500" y="3530600"/>
            <a:ext cx="5334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7A7D321-D896-9C2D-E94D-1B5B8C719BAA}"/>
              </a:ext>
            </a:extLst>
          </p:cNvPr>
          <p:cNvSpPr/>
          <p:nvPr/>
        </p:nvSpPr>
        <p:spPr>
          <a:xfrm>
            <a:off x="4559300" y="2489200"/>
            <a:ext cx="3073400" cy="21082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C85B37-AA33-1AC8-6CF8-B91E1CFA8DB2}"/>
              </a:ext>
            </a:extLst>
          </p:cNvPr>
          <p:cNvSpPr txBox="1"/>
          <p:nvPr/>
        </p:nvSpPr>
        <p:spPr>
          <a:xfrm>
            <a:off x="4787900" y="2755900"/>
            <a:ext cx="2616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共享记录持续累积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F5DA3C-0F79-57BF-362E-079E5005B673}"/>
              </a:ext>
            </a:extLst>
          </p:cNvPr>
          <p:cNvSpPr txBox="1"/>
          <p:nvPr/>
        </p:nvSpPr>
        <p:spPr>
          <a:xfrm>
            <a:off x="47879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文献综述、方法代码
实验得分、失败经验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06935E8-E153-07F0-2DB1-21B377D9E0C9}"/>
              </a:ext>
            </a:extLst>
          </p:cNvPr>
          <p:cNvCxnSpPr/>
          <p:nvPr/>
        </p:nvCxnSpPr>
        <p:spPr>
          <a:xfrm>
            <a:off x="7747000" y="3530600"/>
            <a:ext cx="5334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88516CF-D10C-8FB0-D163-1C7D204CB74C}"/>
              </a:ext>
            </a:extLst>
          </p:cNvPr>
          <p:cNvSpPr/>
          <p:nvPr/>
        </p:nvSpPr>
        <p:spPr>
          <a:xfrm>
            <a:off x="8432800" y="2489200"/>
            <a:ext cx="3073400" cy="21082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223613-E1E6-A5D2-CFEE-064E839E47BE}"/>
              </a:ext>
            </a:extLst>
          </p:cNvPr>
          <p:cNvSpPr txBox="1"/>
          <p:nvPr/>
        </p:nvSpPr>
        <p:spPr>
          <a:xfrm>
            <a:off x="8661400" y="2755900"/>
            <a:ext cx="2616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新会话读取后继续研究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BD946D6-AB04-D0A9-5DC8-3731DD4DC91D}"/>
              </a:ext>
            </a:extLst>
          </p:cNvPr>
          <p:cNvSpPr txBox="1"/>
          <p:nvPr/>
        </p:nvSpPr>
        <p:spPr>
          <a:xfrm>
            <a:off x="86614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读取持久记录继续尝试
</a:t>
            </a:r>
            <a:r>
              <a:rPr lang="en-US" altLang="zh-CN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权重不因此更新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4327800-6455-5D8C-4DCD-3530307EFF0D}"/>
              </a:ext>
            </a:extLst>
          </p:cNvPr>
          <p:cNvCxnSpPr/>
          <p:nvPr/>
        </p:nvCxnSpPr>
        <p:spPr>
          <a:xfrm flipH="1">
            <a:off x="2514600" y="4940300"/>
            <a:ext cx="7137400" cy="0"/>
          </a:xfrm>
          <a:prstGeom prst="line">
            <a:avLst/>
          </a:prstGeom>
          <a:ln w="88900">
            <a:solidFill>
              <a:srgbClr val="D5D9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AF62E2F-F9AB-C6B1-70EB-EDBA0E05FE78}"/>
              </a:ext>
            </a:extLst>
          </p:cNvPr>
          <p:cNvSpPr txBox="1"/>
          <p:nvPr/>
        </p:nvSpPr>
        <p:spPr>
          <a:xfrm>
            <a:off x="685800" y="5372100"/>
            <a:ext cx="10820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研究能接续：经验保存在外部记录里，而不是自动写回研究</a:t>
            </a:r>
            <a:r>
              <a:rPr lang="en-US" altLang="zh-CN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58327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CB792AAA-F4BE-85F0-1BEF-DB01EFE9A57B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A0DA0B-09D4-9C9D-E3EA-11A3E9F16C06}"/>
              </a:ext>
            </a:extLst>
          </p:cNvPr>
          <p:cNvSpPr txBox="1"/>
          <p:nvPr/>
        </p:nvSpPr>
        <p:spPr>
          <a:xfrm>
            <a:off x="685800" y="838200"/>
            <a:ext cx="108204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先用激活引导，构造一个更少谄媚的教师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FE1709-1326-6781-7932-6D39011F8DDE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72D23A-9DA2-ADB2-CBEF-1C30B9433B26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；机制教学示意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963121-56D0-B15D-A24F-46CF56C1087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488EA2-35EE-9A0F-1591-D7394CA9741C}"/>
              </a:ext>
            </a:extLst>
          </p:cNvPr>
          <p:cNvSpPr txBox="1"/>
          <p:nvPr/>
        </p:nvSpPr>
        <p:spPr>
          <a:xfrm>
            <a:off x="685800" y="2082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目标：让模型更少迎合用户的错误观点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CF970E-FBFB-2467-DE06-03517A20475C}"/>
              </a:ext>
            </a:extLst>
          </p:cNvPr>
          <p:cNvSpPr/>
          <p:nvPr/>
        </p:nvSpPr>
        <p:spPr>
          <a:xfrm>
            <a:off x="68580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F81E2F-5777-1852-4620-279668F673FE}"/>
              </a:ext>
            </a:extLst>
          </p:cNvPr>
          <p:cNvSpPr txBox="1"/>
          <p:nvPr/>
        </p:nvSpPr>
        <p:spPr>
          <a:xfrm>
            <a:off x="86360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原目标模型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299B1B-DF37-DC8D-E597-56C49480FB73}"/>
              </a:ext>
            </a:extLst>
          </p:cNvPr>
          <p:cNvSpPr txBox="1"/>
          <p:nvPr/>
        </p:nvSpPr>
        <p:spPr>
          <a:xfrm>
            <a:off x="86360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Qwen3.5-2B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正常前向
内部表示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7DFE7A3-DC8E-78CD-B8E9-FC4DCE828D4C}"/>
              </a:ext>
            </a:extLst>
          </p:cNvPr>
          <p:cNvCxnSpPr/>
          <p:nvPr/>
        </p:nvCxnSpPr>
        <p:spPr>
          <a:xfrm>
            <a:off x="322580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2F0519E-354A-2D38-F75E-D482FCB311FC}"/>
              </a:ext>
            </a:extLst>
          </p:cNvPr>
          <p:cNvSpPr/>
          <p:nvPr/>
        </p:nvSpPr>
        <p:spPr>
          <a:xfrm>
            <a:off x="3460750" y="2743200"/>
            <a:ext cx="2489200" cy="2146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FE153DD-17F3-FD49-57F6-ABAA1C65264E}"/>
              </a:ext>
            </a:extLst>
          </p:cNvPr>
          <p:cNvSpPr txBox="1"/>
          <p:nvPr/>
        </p:nvSpPr>
        <p:spPr>
          <a:xfrm>
            <a:off x="363855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方向性干预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D4A5F3-349D-710F-0940-DFEF7786626C}"/>
              </a:ext>
            </a:extLst>
          </p:cNvPr>
          <p:cNvSpPr txBox="1"/>
          <p:nvPr/>
        </p:nvSpPr>
        <p:spPr>
          <a:xfrm>
            <a:off x="363855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作用于隐藏状态
教学示意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h′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＝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αv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42F0CF-C9A8-5F90-B8CC-9A39D4EC62FE}"/>
              </a:ext>
            </a:extLst>
          </p:cNvPr>
          <p:cNvCxnSpPr/>
          <p:nvPr/>
        </p:nvCxnSpPr>
        <p:spPr>
          <a:xfrm>
            <a:off x="600075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13F0C5-A3C4-990F-E73B-4EE0BD9F5B95}"/>
              </a:ext>
            </a:extLst>
          </p:cNvPr>
          <p:cNvSpPr/>
          <p:nvPr/>
        </p:nvSpPr>
        <p:spPr>
          <a:xfrm>
            <a:off x="623570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CA21ED3-62D7-AFC2-D30C-75A61F82011A}"/>
              </a:ext>
            </a:extLst>
          </p:cNvPr>
          <p:cNvSpPr txBox="1"/>
          <p:nvPr/>
        </p:nvSpPr>
        <p:spPr>
          <a:xfrm>
            <a:off x="641350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引导后的教师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8FF24F-4AB6-F515-BED8-A38EEB035B92}"/>
              </a:ext>
            </a:extLst>
          </p:cNvPr>
          <p:cNvSpPr txBox="1"/>
          <p:nvPr/>
        </p:nvSpPr>
        <p:spPr>
          <a:xfrm>
            <a:off x="641350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目标模型的引导版本
更少倾向附和错误观点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7A2E9FE-9FE2-95CD-57D7-9B16876CDE82}"/>
              </a:ext>
            </a:extLst>
          </p:cNvPr>
          <p:cNvCxnSpPr/>
          <p:nvPr/>
        </p:nvCxnSpPr>
        <p:spPr>
          <a:xfrm>
            <a:off x="877570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52F20DA-3E90-B5DF-502A-C65F0AA103C9}"/>
              </a:ext>
            </a:extLst>
          </p:cNvPr>
          <p:cNvSpPr/>
          <p:nvPr/>
        </p:nvSpPr>
        <p:spPr>
          <a:xfrm>
            <a:off x="901065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4A0CFF2-5F59-CA4D-DAC0-192581555D24}"/>
              </a:ext>
            </a:extLst>
          </p:cNvPr>
          <p:cNvSpPr txBox="1"/>
          <p:nvPr/>
        </p:nvSpPr>
        <p:spPr>
          <a:xfrm>
            <a:off x="918845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待解决问题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55A2E06-7C4B-41B7-AD09-126485B6B8E5}"/>
              </a:ext>
            </a:extLst>
          </p:cNvPr>
          <p:cNvSpPr txBox="1"/>
          <p:nvPr/>
        </p:nvSpPr>
        <p:spPr>
          <a:xfrm>
            <a:off x="918845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推理时的临时变化
怎样保留到正常推理？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384D16-62E7-F38A-2539-DCC865A5E1FA}"/>
              </a:ext>
            </a:extLst>
          </p:cNvPr>
          <p:cNvSpPr txBox="1"/>
          <p:nvPr/>
        </p:nvSpPr>
        <p:spPr>
          <a:xfrm>
            <a:off x="685800" y="52070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教师来自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目标模型的引导版本，不是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Claude Opus 4.8</a:t>
            </a:r>
            <a:endParaRPr lang="zh-CN" altLang="en-US" sz="165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C54370A-F5D4-6AEA-5B96-9DD9D2CDE280}"/>
              </a:ext>
            </a:extLst>
          </p:cNvPr>
          <p:cNvSpPr txBox="1"/>
          <p:nvPr/>
        </p:nvSpPr>
        <p:spPr>
          <a:xfrm>
            <a:off x="685800" y="57023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激活引导改变内部表示，不是把某题正确答案拼进提示词</a:t>
            </a:r>
          </a:p>
        </p:txBody>
      </p:sp>
    </p:spTree>
    <p:extLst>
      <p:ext uri="{BB962C8B-B14F-4D97-AF65-F5344CB8AC3E}">
        <p14:creationId xmlns:p14="http://schemas.microsoft.com/office/powerpoint/2010/main" val="1677997436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openxmlformats.org/officeDocument/2006/relationships" xmlns:ns5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文本框 16">
            <ns1:extLst>
              <ns1:ext uri="{FF2B5EF4-FFF2-40B4-BE49-F238E27FC236}">
                <ns2:creationId id="{837DF8FF-3243-EBE0-C81E-E4251BD851C1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模型改进  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Anthropic</ns1:t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033E9163-E1F9-EAF9-BF46-FF8703CC79A5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0783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再用</ns1:t>
            </ns1:r>
            <ns1:r>
              <ns1:rPr lang="en-US" altLang="zh-CN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蒸馏，把教师行为写进学生权重</ns1:t>
            </ns1:r>
          </ns1:p>
        </ns0:txBody>
      </ns0:sp>
      <ns0:sp>
        <ns0:nvSpPr>
          <ns0:cNvPr id="19" name="矩形 18">
            <ns1:extLst>
              <ns1:ext uri="{FF2B5EF4-FFF2-40B4-BE49-F238E27FC236}">
                <ns2:creationId id="{CEFD6FD6-7CFA-9574-55C4-B41297EF05E5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0" name="文本框 19">
            <ns1:extLst>
              <ns1:ext uri="{FF2B5EF4-FFF2-40B4-BE49-F238E27FC236}">
                <ns2:creationId id="{4522AB13-6037-E7DA-83EE-2A06273D9E0E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；机制教学示意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5C674175-66B1-F95D-1841-615B7CD4E68D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11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61C9019E-68F5-4C9A-ECBE-6FBE658F710B}"/>
              </ns1:ext>
            </ns1:extLst>
          </ns0:cNvPr>
          <ns0:cNvSpPr txBox="1"/>
          <ns0:nvPr/>
        </ns0:nvSpPr>
        <ns0:spPr>
          <ns1:xfrm>
            <ns1:off x="4749800" y="1993900"/>
            <ns1:ext cx="2692400" cy="292388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同一个输入</ns1:t>
            </ns1:r>
          </ns1:p>
        </ns0:txBody>
      </ns0:sp>
      <ns0:cxnSp>
        <ns0:nvCxnSpPr>
          <ns0:cNvPr id="23" name="直接连接符 22">
            <ns1:extLst>
              <ns1:ext uri="{FF2B5EF4-FFF2-40B4-BE49-F238E27FC236}">
                <ns2:creationId id="{C7EF486F-13A5-5D64-AB7B-F19AB50DF671}"/>
              </ns1:ext>
            </ns1:extLst>
          </ns0:cNvPr>
          <ns0:cNvCxnSpPr/>
          <ns0:nvPr/>
        </ns0:nvCxnSpPr>
        <ns0:spPr>
          <ns1:xfrm flipH="1">
            <ns1:off x="27305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4" name="直接连接符 23">
            <ns1:extLst>
              <ns1:ext uri="{FF2B5EF4-FFF2-40B4-BE49-F238E27FC236}">
                <ns2:creationId id="{E982D847-5B41-09ED-D329-3C74E9C10DCE}"/>
              </ns1:ext>
            </ns1:extLst>
          </ns0:cNvPr>
          <ns0:cNvCxnSpPr/>
          <ns0:nvPr/>
        </ns0:nvCxnSpPr>
        <ns0:spPr>
          <ns1:xfrm>
            <ns1:off x="60960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5" name="矩形: 圆角 24">
            <ns1:extLst>
              <ns1:ext uri="{FF2B5EF4-FFF2-40B4-BE49-F238E27FC236}">
                <ns2:creationId id="{DA3A6032-5392-77BF-0A01-57D71CBCB752}"/>
              </ns1:ext>
            </ns1:extLst>
          </ns0:cNvPr>
          <ns0:cNvSpPr/>
          <ns0:nvPr/>
        </ns0:nvSpPr>
        <ns0:spPr>
          <ns1:xfrm>
            <ns1:off x="914400" y="2819400"/>
            <ns1:ext cx="3632200" cy="1257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007FC04C-F02B-D29A-44D6-3792EE167C28}"/>
              </ns1:ext>
            </ns1:extLst>
          </ns0:cNvPr>
          <ns0:cNvSpPr txBox="1"/>
          <ns0:nvPr/>
        </ns0:nvSpPr>
        <ns0:spPr>
          <ns1:xfrm>
            <ns1:off x="1117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教师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Teacher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7" name="文本框 26">
            <ns1:extLst>
              <ns1:ext uri="{FF2B5EF4-FFF2-40B4-BE49-F238E27FC236}">
                <ns2:creationId id="{3DFA7252-3C11-2A67-E9E7-8683A92E583B}"/>
              </ns1:ext>
            </ns1:extLst>
          </ns0:cNvPr>
          <ns0:cNvSpPr txBox="1"/>
          <ns0:nvPr/>
        </ns0:nvSpPr>
        <ns0:spPr>
          <ns1:xfrm>
            <ns1:off x="1117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引导后的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｜冻结权重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pT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矩形: 圆角 27">
            <ns1:extLst>
              <ns1:ext uri="{FF2B5EF4-FFF2-40B4-BE49-F238E27FC236}">
                <ns2:creationId id="{0D62C0AA-CF73-1D7E-750A-5362D638832C}"/>
              </ns1:ext>
            </ns1:extLst>
          </ns0:cNvPr>
          <ns0:cNvSpPr/>
          <ns0:nvPr/>
        </ns0:nvSpPr>
        <ns0:spPr>
          <ns1:xfrm>
            <ns1:off x="7645400" y="2819400"/>
            <ns1:ext cx="3632200" cy="1257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9" name="文本框 28">
            <ns1:extLst>
              <ns1:ext uri="{FF2B5EF4-FFF2-40B4-BE49-F238E27FC236}">
                <ns2:creationId id="{F3151B8B-9156-CCA1-61E5-89EDDCF3E0F0}"/>
              </ns1:ext>
            </ns1:extLst>
          </ns0:cNvPr>
          <ns0:cNvSpPr txBox="1"/>
          <ns0:nvPr/>
        </ns0:nvSpPr>
        <ns0:spPr>
          <ns1:xfrm>
            <ns1:off x="7848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学生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Student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0" name="文本框 29">
            <ns1:extLst>
              <ns1:ext uri="{FF2B5EF4-FFF2-40B4-BE49-F238E27FC236}">
                <ns2:creationId id="{510E5356-FE50-F215-4822-9E0957C63567}"/>
              </ns1:ext>
            </ns1:extLst>
          </ns0:cNvPr>
          <ns0:cNvSpPr txBox="1"/>
          <ns0:nvPr/>
        </ns0:nvSpPr>
        <ns0:spPr>
          <ns1:xfrm>
            <ns1:off x="7848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待训练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｜参数可更新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pθ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1" name="直接连接符 30">
            <ns1:extLst>
              <ns1:ext uri="{FF2B5EF4-FFF2-40B4-BE49-F238E27FC236}">
                <ns2:creationId id="{F2780B45-DAAE-0CBD-AC9D-1259D0DB72B2}"/>
              </ns1:ext>
            </ns1:extLst>
          </ns0:cNvPr>
          <ns0:cNvCxnSpPr/>
          <ns0:nvPr/>
        </ns0:nvCxnSpPr>
        <ns0:spPr>
          <ns1:xfrm>
            <ns1:off x="36322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2" name="直接连接符 31">
            <ns1:extLst>
              <ns1:ext uri="{FF2B5EF4-FFF2-40B4-BE49-F238E27FC236}">
                <ns2:creationId id="{BF33E41C-EC21-6161-A4FB-75F2FAD31EE8}"/>
              </ns1:ext>
            </ns1:extLst>
          </ns0:cNvPr>
          <ns0:cNvCxnSpPr/>
          <ns0:nvPr/>
        </ns0:nvCxnSpPr>
        <ns0:spPr>
          <ns1:xfrm flipH="1">
            <ns1:off x="69469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3" name="矩形: 圆角 32">
            <ns1:extLst>
              <ns1:ext uri="{FF2B5EF4-FFF2-40B4-BE49-F238E27FC236}">
                <ns2:creationId id="{FD944791-4757-6B31-F56D-DD837F42B97C}"/>
              </ns1:ext>
            </ns1:extLst>
          </ns0:cNvPr>
          <ns0:cNvSpPr/>
          <ns0:nvPr/>
        </ns0:nvSpPr>
        <ns0:spPr>
          <ns1:xfrm>
            <ns1:off x="4483100" y="4343400"/>
            <ns1:ext cx="3225800" cy="8382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en-US" altLang="zh-CN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分布约束
让学生学习教师的输出倾向</ns1:t>
            </ns1:r>
          </ns1:p>
        </ns0:txBody>
      </ns0:sp>
      <ns0:cxnSp>
        <ns0:nvCxnSpPr>
          <ns0:cNvPr id="34" name="直接连接符 33">
            <ns1:extLst>
              <ns1:ext uri="{FF2B5EF4-FFF2-40B4-BE49-F238E27FC236}">
                <ns2:creationId id="{92BB6F8F-639F-A0E7-E983-C6F10012A28B}"/>
              </ns1:ext>
            </ns1:extLst>
          </ns0:cNvPr>
          <ns0:cNvCxnSpPr/>
          <ns0:nvPr/>
        </ns0:nvCxnSpPr>
        <ns0:spPr>
          <ns1:xfrm>
            <ns1:off x="6096000" y="5194300"/>
            <ns1:ext cx="0" cy="2794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5" name="矩形: 圆角 34">
            <ns1:extLst>
              <ns1:ext uri="{FF2B5EF4-FFF2-40B4-BE49-F238E27FC236}">
                <ns2:creationId id="{A9E817B0-4B62-F87C-403A-C0A6B9C4C6BF}"/>
              </ns1:ext>
            </ns1:extLst>
          </ns0:cNvPr>
          <ns0:cNvSpPr/>
          <ns0:nvPr/>
        </ns0:nvSpPr>
        <ns0:spPr>
          <ns1:xfrm>
            <ns1:off x="4546600" y="5473700"/>
            <ns1:ext cx="3098800" cy="495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7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仅更新学生参数</ns1:t>
            </ns1:r>
          </ns1:p>
        </ns0:txBody>
      </ns0:sp>
      <ns0:cxnSp>
        <ns0:nvCxnSpPr>
          <ns0:cNvPr id="36" name="直接连接符 35">
            <ns1:extLst>
              <ns1:ext uri="{FF2B5EF4-FFF2-40B4-BE49-F238E27FC236}">
                <ns2:creationId id="{8DCD49F7-75B0-8BEE-BA92-C3B41FCEC5A4}"/>
              </ns1:ext>
            </ns1:extLst>
          </ns0:cNvPr>
          <ns0:cNvCxnSpPr/>
          <ns0:nvPr/>
        </ns0:nvCxnSpPr>
        <ns0:spPr>
          <ns1:xfrm>
            <ns1:off x="7670800" y="5715000"/>
            <ns1:ext cx="6477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7" name="矩形: 圆角 36">
            <ns1:extLst>
              <ns1:ext uri="{FF2B5EF4-FFF2-40B4-BE49-F238E27FC236}">
                <ns2:creationId id="{D57B7726-0C30-7968-CF34-A5712777027A}"/>
              </ns1:ext>
            </ns1:extLst>
          </ns0:cNvPr>
          <ns0:cNvSpPr/>
          <ns0:nvPr/>
        </ns0:nvSpPr>
        <ns0:spPr>
          <ns1:xfrm>
            <ns1:off x="8432800" y="5334000"/>
            <ns1:ext cx="2844800" cy="7620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5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移除引导｜正常推理
独立评测</ns1:t>
            </ns1:r>
          </ns1:p>
        </ns0:txBody>
      </ns0:sp>
      <ns0:sp>
        <ns0:nvSpPr>
          <ns0:cNvPr id="38" name="文本框 37">
            <ns1:extLst>
              <ns1:ext uri="{FF2B5EF4-FFF2-40B4-BE49-F238E27FC236}">
                <ns2:creationId id="{08E2629E-51C3-A6A4-52F4-A690D878A9E9}"/>
              </ns1:ext>
            </ns1:extLst>
          </ns0:cNvPr>
          <ns0:cNvSpPr txBox="1"/>
          <ns0:nvPr/>
        </ns0:nvSpPr>
        <ns0:spPr>
          <ns1:xfrm>
            <ns1:off x="685800" y="6108700"/>
            <ns1:ext cx="65405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参数更新发生在学生模型；教师提供训练目标</ns1:t>
            </ns1:r>
          </ns1:p>
        </ns0:txBody>
      </ns0:sp>
      <ns0:sp>
        <ns0:nvSpPr>
          <ns0:cNvPr id="39" name="文本框 38">
            <ns1:extLst>
              <ns1:ext uri="{FF2B5EF4-FFF2-40B4-BE49-F238E27FC236}">
                <ns2:creationId id="{47E90DDE-F3D9-9260-0A55-2851D19D44DF}"/>
              </ns1:ext>
            </ns1:extLst>
          </ns0:cNvPr>
          <ns0:cNvSpPr txBox="1"/>
          <ns0:nvPr/>
        </ns0:nvSpPr>
        <ns0:spPr>
          <ns1:xfrm>
            <ns1:off x="7391400" y="6108700"/>
            <ns1:ext cx="41148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方向与完整配方由具体方法定义</ns1:t>
            </ns1:r>
          </ns1:p>
        </ns0:txBody>
      </ns0:sp>
      <ns0:pic>
        <ns0:nvPicPr>
          <ns0:cNvPr id="40" name="MechanismTeachingVideo_B07">
            <ns1:hlinkClick action="ppaction://media"/>
            <ns1:extLst>
              <ns1:ext uri="{FF2B5EF4-FFF2-40B4-BE49-F238E27FC236}">
                <ns2:creationId id="{AECB4570-ACE4-F204-5428-7C8FCFFB9CB6}"/>
              </ns1:ext>
            </ns1:extLst>
          </ns0:cNvPr>
          <ns0:cNvPicPr>
            <ns1:picLocks noChangeAspect="1"/>
          </ns0:cNvPicPr>
          <ns0:nvPr>
            <ns1:videoFile ns4:link="rId2"/>
            <ns0:extLst>
              <ns0:ext uri="{DAA4B4D4-6D71-4841-9C94-3DE7FCFB9230}">
                <ns5:media ns4:embed="rId1"/>
              </ns0:ext>
            </ns0:extLst>
          </ns0:nvPr>
        </ns0:nvPicPr>
        <ns0:blipFill>
          <ns1:blip ns4:embed="rId5"/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</ns0:spTree>
    <ns0:extLst>
      <ns0:ext uri="{BB962C8B-B14F-4D97-AF65-F5344CB8AC3E}">
        <ns5:creationId val="110738304"/>
      </ns0:ext>
    </ns0:extLst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playFrom(0.0)">
                                      <ns0:cBhvr>
                                        <ns0:cTn id="6" dur="18000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  <ns0:video>
              <ns0:cMediaNode vol="80000">
                <ns0:cTn id="7" fill="hold" display="0">
                  <ns0:stCondLst>
                    <ns0:cond delay="indefinite"/>
                  </ns0:stCondLst>
                </ns0:cTn>
                <ns0:tgtEl>
                  <ns0:spTgt spid="40"/>
                </ns0:tgtEl>
              </ns0:cMediaNode>
            </ns0:video>
            <ns0:seq concurrent="1" nextAc="seek">
              <ns0:cTn id="8" restart="whenNotActive" fill="hold" evtFilter="cancelBubble" nodeType="interactiveSeq">
                <ns0:stCondLst>
                  <ns0:cond evt="onClick" delay="0">
                    <ns0:tgtEl>
                      <ns0:spTgt spid="40"/>
                    </ns0:tgtEl>
                  </ns0:cond>
                </ns0:stCondLst>
                <ns0:endSync evt="end" delay="0">
                  <ns0:rtn val="all"/>
                </ns0:endSync>
                <ns0:childTnLst>
                  <ns0:par>
                    <ns0:cTn id="9" fill="hold">
                      <ns0:stCondLst>
                        <ns0:cond delay="0"/>
                      </ns0:stCondLst>
                      <ns0:childTnLst>
                        <ns0:par>
                          <ns0:cTn id="1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1" presetID="2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togglePause">
                                      <ns0:cBhvr>
                                        <ns0:cTn id="12" dur="1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nextCondLst>
                <ns0:cond evt="onClick" delay="0">
                  <ns0:tgtEl>
                    <ns0:spTgt spid="40"/>
                  </ns0:tgtEl>
                </ns0:cond>
              </ns0:nextCondLst>
            </ns0:seq>
          </ns0:childTnLst>
        </ns0:cTn>
      </ns0:par>
    </ns0:tnLst>
  </ns0:timing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F80B0E7D-39E0-9F0C-41B7-AA34BFA1C9AE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E4FB7D-1CF3-4E9C-DB11-1762B8CA2A8D}"/>
              </a:ext>
            </a:extLst>
          </p:cNvPr>
          <p:cNvSpPr txBox="1"/>
          <p:nvPr/>
        </p:nvSpPr>
        <p:spPr>
          <a:xfrm>
            <a:off x="685800" y="838200"/>
            <a:ext cx="10820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4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改善空间：先弄清百分数的分母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1633B8-3DF9-DAC0-5DE2-670A509BBA3C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828E14-E70A-3ECE-6011-17C28F8BCDD4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§2.2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；定义与教学数值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9C1FBE-74A3-0843-7585-0469C64AEA55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7DCEBE3-456C-23C0-1E84-D97E36B7550F}"/>
              </a:ext>
            </a:extLst>
          </p:cNvPr>
          <p:cNvSpPr/>
          <p:nvPr/>
        </p:nvSpPr>
        <p:spPr>
          <a:xfrm>
            <a:off x="685800" y="1943100"/>
            <a:ext cx="10820400" cy="14986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6DF597-6263-79E5-C6E5-BA395FFA3D5F}"/>
              </a:ext>
            </a:extLst>
          </p:cNvPr>
          <p:cNvSpPr txBox="1"/>
          <p:nvPr/>
        </p:nvSpPr>
        <p:spPr>
          <a:xfrm>
            <a:off x="914400" y="21590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801258-D0B8-290D-32F7-B1432B89CC97}"/>
              </a:ext>
            </a:extLst>
          </p:cNvPr>
          <p:cNvSpPr txBox="1"/>
          <p:nvPr/>
        </p:nvSpPr>
        <p:spPr>
          <a:xfrm>
            <a:off x="1905000" y="2133600"/>
            <a:ext cx="93726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改善空间关闭比例：训练带来的提升，占“基线到参考最优”原有差距的比例。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0EA75C-24E4-4325-5424-10AC64DB4266}"/>
              </a:ext>
            </a:extLst>
          </p:cNvPr>
          <p:cNvSpPr txBox="1"/>
          <p:nvPr/>
        </p:nvSpPr>
        <p:spPr>
          <a:xfrm>
            <a:off x="914400" y="2705100"/>
            <a:ext cx="10363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训练后得分 − 基线得分</a:t>
            </a:r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÷ (</a:t>
            </a:r>
            <a:r>
              <a:rPr lang="zh-CN" altLang="en-US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参考最优得分 − 基线得分</a:t>
            </a:r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sz="22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9D0551-6097-392C-B54C-8C7C6199CA5D}"/>
              </a:ext>
            </a:extLst>
          </p:cNvPr>
          <p:cNvSpPr txBox="1"/>
          <p:nvPr/>
        </p:nvSpPr>
        <p:spPr>
          <a:xfrm>
            <a:off x="685800" y="370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一个小例子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F9CC0B-78DA-F1B4-DF03-AACF7BDFAB09}"/>
              </a:ext>
            </a:extLst>
          </p:cNvPr>
          <p:cNvSpPr/>
          <p:nvPr/>
        </p:nvSpPr>
        <p:spPr>
          <a:xfrm>
            <a:off x="685800" y="4165600"/>
            <a:ext cx="1676400" cy="1143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D11B60E-4086-85F4-61F1-75B81A39CCA4}"/>
              </a:ext>
            </a:extLst>
          </p:cNvPr>
          <p:cNvSpPr txBox="1"/>
          <p:nvPr/>
        </p:nvSpPr>
        <p:spPr>
          <a:xfrm>
            <a:off x="8382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38994E-A939-D443-48C2-1B6B0510B69D}"/>
              </a:ext>
            </a:extLst>
          </p:cNvPr>
          <p:cNvSpPr txBox="1"/>
          <p:nvPr/>
        </p:nvSpPr>
        <p:spPr>
          <a:xfrm>
            <a:off x="8382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endParaRPr lang="zh-CN" altLang="en-US" sz="29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777971C-7E18-C99D-E66D-96A19F534AAC}"/>
              </a:ext>
            </a:extLst>
          </p:cNvPr>
          <p:cNvCxnSpPr/>
          <p:nvPr/>
        </p:nvCxnSpPr>
        <p:spPr>
          <a:xfrm>
            <a:off x="2413000" y="4737100"/>
            <a:ext cx="22860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2EE8B3D-6C03-1E6A-0A6C-97616D1A1F88}"/>
              </a:ext>
            </a:extLst>
          </p:cNvPr>
          <p:cNvSpPr/>
          <p:nvPr/>
        </p:nvSpPr>
        <p:spPr>
          <a:xfrm>
            <a:off x="2692400" y="4165600"/>
            <a:ext cx="1676400" cy="11430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57E08F-D9FE-9CED-9C83-AC35F5D56892}"/>
              </a:ext>
            </a:extLst>
          </p:cNvPr>
          <p:cNvSpPr txBox="1"/>
          <p:nvPr/>
        </p:nvSpPr>
        <p:spPr>
          <a:xfrm>
            <a:off x="28448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8D410CB-0FB1-6EB7-FA20-F88139793C0D}"/>
              </a:ext>
            </a:extLst>
          </p:cNvPr>
          <p:cNvSpPr txBox="1"/>
          <p:nvPr/>
        </p:nvSpPr>
        <p:spPr>
          <a:xfrm>
            <a:off x="28448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</a:t>
            </a:r>
            <a:endParaRPr lang="zh-CN" altLang="en-US" sz="29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81B32D-5CA1-4108-1AD1-C08C6D40EFD9}"/>
              </a:ext>
            </a:extLst>
          </p:cNvPr>
          <p:cNvCxnSpPr/>
          <p:nvPr/>
        </p:nvCxnSpPr>
        <p:spPr>
          <a:xfrm>
            <a:off x="4419600" y="4737100"/>
            <a:ext cx="22860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16C13F5-0D5E-6811-7270-D3016EA46EB3}"/>
              </a:ext>
            </a:extLst>
          </p:cNvPr>
          <p:cNvSpPr/>
          <p:nvPr/>
        </p:nvSpPr>
        <p:spPr>
          <a:xfrm>
            <a:off x="4699000" y="4165600"/>
            <a:ext cx="1676400" cy="1143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E11E4A1-2EE3-7CF4-09A9-1CDAD6D6F6C9}"/>
              </a:ext>
            </a:extLst>
          </p:cNvPr>
          <p:cNvSpPr txBox="1"/>
          <p:nvPr/>
        </p:nvSpPr>
        <p:spPr>
          <a:xfrm>
            <a:off x="48514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参考最优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C745A27-E58F-9F29-C883-33A82E6EAD67}"/>
              </a:ext>
            </a:extLst>
          </p:cNvPr>
          <p:cNvSpPr txBox="1"/>
          <p:nvPr/>
        </p:nvSpPr>
        <p:spPr>
          <a:xfrm>
            <a:off x="48514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endParaRPr lang="zh-CN" altLang="en-US" sz="29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54CDCB9-588B-FEB7-3214-4F7CBFAA1262}"/>
              </a:ext>
            </a:extLst>
          </p:cNvPr>
          <p:cNvSpPr/>
          <p:nvPr/>
        </p:nvSpPr>
        <p:spPr>
          <a:xfrm>
            <a:off x="7289800" y="3924300"/>
            <a:ext cx="4216400" cy="1384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E43188C-BBB7-015F-B834-415529FFD536}"/>
              </a:ext>
            </a:extLst>
          </p:cNvPr>
          <p:cNvSpPr txBox="1"/>
          <p:nvPr/>
        </p:nvSpPr>
        <p:spPr>
          <a:xfrm>
            <a:off x="7543800" y="4114800"/>
            <a:ext cx="3708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代入定义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8E8548D-4BB9-5CC3-460E-1909F5902AEE}"/>
              </a:ext>
            </a:extLst>
          </p:cNvPr>
          <p:cNvSpPr txBox="1"/>
          <p:nvPr/>
        </p:nvSpPr>
        <p:spPr>
          <a:xfrm>
            <a:off x="7543800" y="4495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(70 − 50) ÷ (100 − 50)</a:t>
            </a:r>
            <a:endParaRPr lang="zh-CN" altLang="en-US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822BD32-09E4-3768-ED36-41BE391EABD3}"/>
              </a:ext>
            </a:extLst>
          </p:cNvPr>
          <p:cNvSpPr txBox="1"/>
          <p:nvPr/>
        </p:nvSpPr>
        <p:spPr>
          <a:xfrm>
            <a:off x="7543800" y="48514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4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40%</a:t>
            </a:r>
            <a:endParaRPr lang="zh-CN" altLang="en-US" sz="24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2F2D66-9C5E-BE63-C4F9-4CA013D280DF}"/>
              </a:ext>
            </a:extLst>
          </p:cNvPr>
          <p:cNvSpPr txBox="1"/>
          <p:nvPr/>
        </p:nvSpPr>
        <p:spPr>
          <a:xfrm>
            <a:off x="685800" y="55880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直观理解：原本还差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分，现在补回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分，因此关闭了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40%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的原有改善空间。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58BD702-D287-192A-F5D1-6B9149BC0716}"/>
              </a:ext>
            </a:extLst>
          </p:cNvPr>
          <p:cNvSpPr txBox="1"/>
          <p:nvPr/>
        </p:nvSpPr>
        <p:spPr>
          <a:xfrm>
            <a:off x="685800" y="60198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40%</a:t>
            </a:r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不是训练后正确率；多个安全测试还要用几何平均数汇总。</a:t>
            </a:r>
          </a:p>
        </p:txBody>
      </p:sp>
    </p:spTree>
    <p:extLst>
      <p:ext uri="{BB962C8B-B14F-4D97-AF65-F5344CB8AC3E}">
        <p14:creationId xmlns:p14="http://schemas.microsoft.com/office/powerpoint/2010/main" val="1601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7318C3-C9F6-48D7-882A-B13B07782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386588"/>
              </p:ext>
            </p:extLst>
          </p:nvPr>
        </p:nvGraphicFramePr>
        <p:xfrm>
          <a:off x="685799" y="2514600"/>
          <a:ext cx="7493000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0A5B4E4-D3EB-8B32-9734-CED5C617EB38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4DE3A7-E515-98FE-6F16-7BFA0F1AFB26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同一案例中，训练目标比增加数据自由度更关键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5CBAC2-D992-F8EC-649B-4905325507A2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CCB85E-68EA-5A7D-D65C-91ABF172D2CD}"/>
              </a:ext>
            </a:extLst>
          </p:cNvPr>
          <p:cNvSpPr txBox="1"/>
          <p:nvPr/>
        </p:nvSpPr>
        <p:spPr>
          <a:xfrm>
            <a:off x="685800" y="2019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Qwen3.5-2B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谄媚任务｜前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08D9C4-19A4-6ACE-87FF-E88EB170A1C0}"/>
              </a:ext>
            </a:extLst>
          </p:cNvPr>
          <p:cNvSpPr txBox="1"/>
          <p:nvPr/>
        </p:nvSpPr>
        <p:spPr>
          <a:xfrm>
            <a:off x="8496300" y="2603500"/>
            <a:ext cx="30099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9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比较的是搜索条件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41B2BE-58F6-E679-EFD9-9002A804A9D6}"/>
              </a:ext>
            </a:extLst>
          </p:cNvPr>
          <p:cNvSpPr txBox="1"/>
          <p:nvPr/>
        </p:nvSpPr>
        <p:spPr>
          <a:xfrm>
            <a:off x="8496300" y="3124200"/>
            <a:ext cx="30099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允许的方法不同
不是同一模型逐步加模块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D7DC09-F6E3-D218-2E6A-0DA688772464}"/>
              </a:ext>
            </a:extLst>
          </p:cNvPr>
          <p:cNvSpPr txBox="1"/>
          <p:nvPr/>
        </p:nvSpPr>
        <p:spPr>
          <a:xfrm>
            <a:off x="8496300" y="41275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限定范围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D22E9A-B8BE-D6B4-E6C1-0B41EA0C7967}"/>
              </a:ext>
            </a:extLst>
          </p:cNvPr>
          <p:cNvSpPr txBox="1"/>
          <p:nvPr/>
        </p:nvSpPr>
        <p:spPr>
          <a:xfrm>
            <a:off x="8496300" y="4610100"/>
            <a:ext cx="30099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单个任务、单个目标模型
每条件一次搜索运行
未重跑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endParaRPr lang="zh-CN" altLang="en-US" sz="14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EA0547-B914-BA05-4ACA-D65285D0D571}"/>
              </a:ext>
            </a:extLst>
          </p:cNvPr>
          <p:cNvSpPr txBox="1"/>
          <p:nvPr/>
        </p:nvSpPr>
        <p:spPr>
          <a:xfrm>
            <a:off x="685800" y="5880100"/>
            <a:ext cx="7493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横轴：安全改善空间关闭比例（</a:t>
            </a:r>
            <a:r>
              <a:rPr lang="en-US" altLang="zh-CN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F3DC5D-70C0-2662-3E09-791E7B0DD5AC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3BF6B1-84E6-3DFC-4B95-2337CDB85490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11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54D8147-38C4-4633-A4F8-067A61A916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0ECF2C-7FE0-498F-B95D-0DC01B8C4EC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A3BED-9CD9-4F58-B3A9-8C3BA1CC94F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A1251B-E608-41DA-A448-62B0702D3FD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31CAD-533A-4D57-980A-BE015FC1106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401FC1-D1A6-4597-8544-BBFD42FACD0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84DA76-4A24-481C-BE3E-FEAA473106C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BE747-6DB5-4A3E-8A80-26028E3C3C31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62309-EE54-40D8-B791-2B66F226A12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36956D-1CA7-47E3-98F3-52767129E73F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F0054-6CE8-439C-8D08-38CF25D90A3C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9122A-85AA-4CFB-BE9C-19345DEABE6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9132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62CFA05-E1B4-4D8F-8F18-FAA66574C34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279D9-2C7C-468F-8081-1E49CEB5FA8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B8B5E-13C6-476B-A3DF-8D7CF060E56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A3185C-1126-4B79-99A0-BDB07A4333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6B7228-6EF9-4179-A2D5-478A12F7EE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6C5CD-7B17-4A22-8547-CC6446DCD5F4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5C4A0F-26FE-4CB2-9E97-ABD7E954575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89F05B-412B-4E49-9CA8-AC5C57A7B41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E4D174-1010-405C-B355-68E4BB57D2CC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38BD5F7-5299-43C5-9865-FD5DA022748F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8E2956-C699-471A-A78F-C5BF8411BDAD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9A3E6EE-D859-4DA1-831F-C587C544036C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498449-12D0-4E13-BACB-F9E7DCED9D4A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20988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FD55F66-8193-4DD7-9E9C-6F950EE8E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1AFD6-216C-4037-B6C7-45692D3A0FA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90CFC-43FF-44E0-852C-E69BD136E05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3485EA-AD78-4DB5-B290-A3E02E777C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DA7E-F0B3-4D0E-87E2-7117DDE6C25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737C7-3EC6-45AE-8281-5638C35CA3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81AEB-4F95-4E05-A902-D4534BF6EAC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825F4-3D8F-4B47-96E6-3A6695F7449B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C425B-F299-4BD0-907E-198AB56EE26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C0B341-0D10-4174-90FE-2F7748EF0955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0887D-4D48-418F-BC63-1B69D57740CD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900A3-FB8B-40C5-AD2C-DC2DDE21DCF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610CF1-3742-4E90-AB49-65DAD2D393D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498E3F-2F17-486D-BC7F-9EBEF3775434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93220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70499B4-1630-4A3A-9643-4D6EBC831A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B7E25F-E6A2-4ED4-80CE-A56B68C0C51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F7F09-86DE-422F-BCE0-15DD2F1455D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0E957-DDE6-4EFB-AAD9-2491505DE2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7AECA-538F-45E3-BE2D-B4E9309AF09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53A8F0-1F93-4270-AB2A-EA8AB816F03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EC60B0F-5B7F-4344-8225-B86F2899270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28EF4-6C6A-47EE-A9CA-982650BFC7F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88BD2BB-E42A-486B-8EDB-EC864ABB5373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4D4C6B-B4F9-4FD0-9428-563968D0AAEE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6A22AAB6-5A2B-4C18-B3B7-29C45926D881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CD9265-B3DB-405D-A71E-35CFC18FA4D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46761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251CE6-42B0-4646-A7F4-7D42EBAB21D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E704DA-613A-4EE6-812D-FFAECB7431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BB5F8-6B0C-4AA5-AEFF-B033BF2571C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758D98-86DB-4D99-955B-A9754343AE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580876-8B0D-4EE1-B2A1-AAE88599924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7A21D-0DF1-47CD-B6B5-B6EAE1D72432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97C4C6-C8B2-47C4-A414-FF8CBE8A5773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0B6D9-3CA0-4CF1-9FF1-73B51DC15056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F1DAC1-02B9-4C31-AE6E-DFDBED9D2400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DE3655-A875-49B2-9686-3A386E8B136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0BB1F-BBC3-4DD1-9844-096E7660FED5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17060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25F5B11-E16F-4AA7-A1F9-1A99E3E50D3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2BFBA5-B9BE-4CBE-B99D-CB9C2D7C3EC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E58700-F618-48C4-B883-8FC20A4BDCC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7DB72D-7A8D-4D16-A299-8F3201E695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 v1, §3—5；[8] DGM, Introduction；[11] 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9E81D7-B7A8-44B6-8CB0-05B910D8BA5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E68BD-702E-4244-8E31-254530E32495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5143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E37C69-E459-4250-9E2C-615454782CF7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任务生成 · 经验复用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884D8F-936B-4767-A7E7-28C950332BC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奖励指导策略训练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3BBB19-CED0-4C40-80A9-F0AC217D5330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更新负责行动选择的模型参数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3C1793-11CB-4FD4-82C9-EDADD0559E99}"/>
              </a:ext>
            </a:extLst>
          </p:cNvPr>
          <p:cNvSpPr>
            <a:spLocks noGrp="1"/>
          </p:cNvSpPr>
          <p:nvPr/>
        </p:nvSpPr>
        <p:spPr>
          <a:xfrm>
            <a:off x="6629400" y="2200275"/>
            <a:ext cx="487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57FD07-0695-410D-B4E1-06F212EFE161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48768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修改工具和流程代码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5F080D-F6D5-40CE-A0E4-4FAC866DACD5}"/>
              </a:ext>
            </a:extLst>
          </p:cNvPr>
          <p:cNvSpPr>
            <a:spLocks noGrp="1"/>
          </p:cNvSpPr>
          <p:nvPr/>
        </p:nvSpPr>
        <p:spPr>
          <a:xfrm>
            <a:off x="6629400" y="3857625"/>
            <a:ext cx="48768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评测后从版本档案继续探索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419B41-C489-46CC-B903-E1549DF7F367}"/>
              </a:ext>
            </a:extLst>
          </p:cNvPr>
          <p:cNvSpPr>
            <a:spLocks noGrp="1"/>
          </p:cNvSpPr>
          <p:nvPr/>
        </p:nvSpPr>
        <p:spPr>
          <a:xfrm>
            <a:off x="6629400" y="4819650"/>
            <a:ext cx="4876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此实验固定底层模型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5A4940-02FC-4478-85EE-B86F3AAD9798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13BE29-A42F-46DE-A91F-49454AFB4333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改策略与改代码，改进发生的位置不同</a:t>
            </a:r>
          </a:p>
        </p:txBody>
      </p:sp>
    </p:spTree>
    <p:extLst>
      <p:ext uri="{BB962C8B-B14F-4D97-AF65-F5344CB8AC3E}">
        <p14:creationId xmlns:p14="http://schemas.microsoft.com/office/powerpoint/2010/main" val="1100533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1B529AC-0B1E-4661-A8BD-187B2A8783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B349DE-6813-4857-81DF-819BFA4F335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3AD194-309F-4C91-BF2E-C250440ABBD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621646-EB60-4AC0-ABAD-C02A4B476B9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0F15E0-8EBD-4CCD-8805-C37A28CD132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C8D2C35-A893-4C15-8A14-603782B869AA}"/>
              </a:ext>
            </a:extLst>
          </p:cNvPr>
          <p:cNvGraphicFramePr/>
          <p:nvPr/>
        </p:nvGraphicFramePr>
        <p:xfrm>
          <a:off x="685800" y="2190750"/>
          <a:ext cx="10820400" cy="385762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改动对象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怎样看效果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目标模型权重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训练后的行为与能力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流程与记录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命令结果、研究员判断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算法程序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正确性与性能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开放研究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策略或代码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任务评测、版本表现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45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E38A3DD-DE5D-483F-A493-8AFD0F08111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8957EB-6CA9-42C4-B443-3FCEA226217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把上一轮的成果带进下一轮研发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B5E22F-3499-40AD-B3B0-BE71EB8E6DC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7B8678-0EDE-445E-82BF-0A2194B560C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F62223-D1C4-4EA4-A1B2-7EC6B6837D9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D0526B-CD8C-485C-A0DC-0257749D0EB7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2762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提方法、跑实验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F545E17C-293B-41EF-A8D2-2C58A43B4FF3}"/>
              </a:ext>
            </a:extLst>
          </p:cNvPr>
          <p:cNvSpPr>
            <a:spLocks noGrp="1"/>
          </p:cNvSpPr>
          <p:nvPr/>
        </p:nvSpPr>
        <p:spPr>
          <a:xfrm>
            <a:off x="3705225" y="2838450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EFE8B4-C6F2-4BFA-89E9-3C0CF554E1D2}"/>
              </a:ext>
            </a:extLst>
          </p:cNvPr>
          <p:cNvSpPr>
            <a:spLocks noGrp="1"/>
          </p:cNvSpPr>
          <p:nvPr/>
        </p:nvSpPr>
        <p:spPr>
          <a:xfrm>
            <a:off x="4638675" y="2352675"/>
            <a:ext cx="285750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这一轮的成果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模型、算法或代码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097CCEA-33FD-480B-867A-F637C9FA4FAD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D6E8B3-B3E2-4603-8138-006998CBA0B5}"/>
              </a:ext>
            </a:extLst>
          </p:cNvPr>
          <p:cNvSpPr>
            <a:spLocks noGrp="1"/>
          </p:cNvSpPr>
          <p:nvPr/>
        </p:nvSpPr>
        <p:spPr>
          <a:xfrm>
            <a:off x="8696325" y="2352675"/>
            <a:ext cx="28098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检查效果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保存方法与结果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7C4EDC-C0CF-457D-A2DF-F909A6EC24D8}"/>
              </a:ext>
            </a:extLst>
          </p:cNvPr>
          <p:cNvSpPr>
            <a:spLocks noGrp="1"/>
          </p:cNvSpPr>
          <p:nvPr/>
        </p:nvSpPr>
        <p:spPr>
          <a:xfrm>
            <a:off x="685800" y="3819525"/>
            <a:ext cx="108204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记录留下来，下一轮接着试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0AA641BA-17C3-4363-B987-14CDC1481135}"/>
              </a:ext>
            </a:extLst>
          </p:cNvPr>
          <p:cNvSpPr>
            <a:spLocks noGrp="1"/>
          </p:cNvSpPr>
          <p:nvPr/>
        </p:nvSpPr>
        <p:spPr>
          <a:xfrm>
            <a:off x="1571625" y="4438650"/>
            <a:ext cx="91440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6137D7-0494-4C80-A710-17819432D2B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DGM：修改后的Agent继续探索</a:t>
            </a:r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3FAC18BD-48DC-49F9-80EA-B3B59E8A3018}"/>
              </a:ext>
            </a:extLst>
          </p:cNvPr>
          <p:cNvSpPr>
            <a:spLocks noGrp="1"/>
          </p:cNvSpPr>
          <p:nvPr/>
        </p:nvSpPr>
        <p:spPr>
          <a:xfrm>
            <a:off x="1571625" y="5562600"/>
            <a:ext cx="9144000" cy="228600"/>
          </a:xfrm>
          <a:prstGeom prst="leftArrow">
            <a:avLst/>
          </a:prstGeom>
          <a:solidFill>
            <a:srgbClr val="B65D3E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1B358C-109D-4036-8AA2-96B6263C9692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基础模型后继研发，需要继续跟踪多轮结果</a:t>
            </a:r>
          </a:p>
        </p:txBody>
      </p:sp>
    </p:spTree>
    <p:extLst>
      <p:ext uri="{BB962C8B-B14F-4D97-AF65-F5344CB8AC3E}">
        <p14:creationId xmlns:p14="http://schemas.microsoft.com/office/powerpoint/2010/main" val="631736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887E7C6-49CE-42D7-8DD4-E7D4EE040CF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00CC85-88D6-4F6A-811F-8FD64E257BB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下一轮，能不能研究得更好？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5A87FD-4BB9-40BC-90BC-0B8470BE4F7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3082A2-02B9-49F0-8641-0EE2E10F142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比较思路为本报告分析，尚未执行实验；[8]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0F5B6F-A21E-4216-8A4F-10CDD25B397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CD88D6-4C14-4AAF-8F4D-4375CCE16E7B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换任务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E71E4D-33BC-417B-8ABF-CE1E0883F959}"/>
              </a:ext>
            </a:extLst>
          </p:cNvPr>
          <p:cNvSpPr>
            <a:spLocks noGrp="1"/>
          </p:cNvSpPr>
          <p:nvPr/>
        </p:nvSpPr>
        <p:spPr>
          <a:xfrm>
            <a:off x="2743200" y="2352675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换一组新任务，改进还能保持吗？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75DDE4-D2A9-40D5-9B09-F49F4D24E489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同预算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1AEB39-F4E7-45AF-A2E7-1B76FED789ED}"/>
              </a:ext>
            </a:extLst>
          </p:cNvPr>
          <p:cNvSpPr>
            <a:spLocks noGrp="1"/>
          </p:cNvSpPr>
          <p:nvPr/>
        </p:nvSpPr>
        <p:spPr>
          <a:xfrm>
            <a:off x="2743200" y="3486150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同样的预算，能找到更好的方法吗？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D98394-A5AA-4B1D-973E-F381B6434FAE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连续多轮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0F0E-D93E-456C-9FBE-FD0A51246BFD}"/>
              </a:ext>
            </a:extLst>
          </p:cNvPr>
          <p:cNvSpPr>
            <a:spLocks noGrp="1"/>
          </p:cNvSpPr>
          <p:nvPr/>
        </p:nvSpPr>
        <p:spPr>
          <a:xfrm>
            <a:off x="2743200" y="4619625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连续几轮，会退步或钻测试空子吗？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3E55D1-4ABC-48A8-9120-905060919AAE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记录时间、计算成本和人工帮助，保留失败尝试</a:t>
            </a:r>
          </a:p>
        </p:txBody>
      </p:sp>
    </p:spTree>
    <p:extLst>
      <p:ext uri="{BB962C8B-B14F-4D97-AF65-F5344CB8AC3E}">
        <p14:creationId xmlns:p14="http://schemas.microsoft.com/office/powerpoint/2010/main" val="645013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B92E536-3204-4214-9674-90F7E91964A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1ED7BD-6B03-4161-9E7A-2A4C519592A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局部自改已经发生，下一步看持续研发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88B0D3-35EE-41BC-99AD-C2EB8EF5244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CBAEA-9FF6-497B-98C1-EAA25C93052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16F24E-28CF-45FD-9FEA-85DA5B2FC6E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4E4352-5D12-4A44-886A-EB054824590D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已有特定任务中的局部自改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B68D3-F1ED-4D73-92AD-E6469DA1254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训练方法、评测流程、算法和代码都已有实例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EE04E9-AA21-40A3-A34C-0713F7072BB7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85328C-BA37-4AB1-AB67-487075B8BB0F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1082040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改进后的研究系统，能否持续研发更强的基础模型？</a:t>
            </a:r>
          </a:p>
        </p:txBody>
      </p:sp>
    </p:spTree>
    <p:extLst>
      <p:ext uri="{BB962C8B-B14F-4D97-AF65-F5344CB8AC3E}">
        <p14:creationId xmlns:p14="http://schemas.microsoft.com/office/powerpoint/2010/main" val="1450322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3A0203-CCA8-436C-9B43-56CE5426E5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A658B-D583-40E0-8F5E-BA564627CAD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6AE70F-1920-4CD1-B74F-363411E17F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80A91B-2FB3-4FB4-9A51-DCBE788EE9B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2A3D3-ED00-471F-99F2-41A2698E044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0F3A71-66B4-41C0-8DBE-FBA0E0D111D3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EA2280-2D01-4401-9C7E-36EBB265C2A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5FCC32-3683-4106-9286-B2A271823A4F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52926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42DBCFA-2AB2-4F67-A929-8CAC1F5FC1E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5571B2-8D37-49DF-B5B3-F847F8B3E6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历史与模型研发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71BE20-E7AB-4E62-A71B-99D5AC92065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A91C5C-EEEF-48B9-AE74-21E55CE43BC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16AC5C-36DB-40DC-8A3B-91E6610CC14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D9BF33-AE91-4F9C-BFF3-F5A18AD2AAD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I. J. Speculations Concerning the First Ultraintelligent Machine. Advances in Computers, 1965, 6:31–88.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D29ED-1D08-4EE5-A526-524DB5947501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J. Gödel Machines: Self-Referential Universal Problem Solvers Making Provably Optimal Self-Improvements. 2003/2004技术报告.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A8905B-1567-4144-B0F9-618D2BF0EE5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B, Le Q V. Neural Architecture Search with Reinforcement Learning. arXiv:1611.01578, 2016.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6EAD5F-4993-4D58-A12E-5C4B34A5930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Y.-H., Wen J., Kirchner J. H. Automated Researchers Can Mitigate Well-Characterized Alignment Failures.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D93EAB-D321-4182-9E02-94CD3E6B493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Codex. OpenAI Developers, 2026-08-25.</a:t>
            </a:r>
          </a:p>
        </p:txBody>
      </p:sp>
    </p:spTree>
    <p:extLst>
      <p:ext uri="{BB962C8B-B14F-4D97-AF65-F5344CB8AC3E}">
        <p14:creationId xmlns:p14="http://schemas.microsoft.com/office/powerpoint/2010/main" val="134734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1C499F-8E50-4F14-B210-9D3E0D744A0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B482BA-D2E1-4094-A330-5096332BAB1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算法、开放研究与RSI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F68D9D-BD1A-438B-92E1-1375CD56DA5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99E9F-4D55-4CDF-9D3F-7D149658F10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9ED161-593F-44D2-AC89-A08A995614C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45AC7F-AD10-4629-BFAE-4DD563D8CB1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DeepMind. AlphaEvolve: A Gemini-powered coding agent for designing advanced algorithms. 2025.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89DB4A-EE85-472B-962C-423ED7DDC05E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AgentEvolver: Towards Efficient Self-Evolving Agent System. arXiv:2511.10395,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55B100-F5B1-4B2E-A0CC-7BA2569F5CDB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Zhang等. Darwin Gödel Machine: Open-Ended Evolution of Self-Improving Agents. 2025；同团队官方说明.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3B7449-5B31-4E22-A8A3-06D323A21B3B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OpenAI. Research acceleration: The view inside OpenAI.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C56993-DDC5-4178-912E-035D3F70CBCC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Institute. When AI builds itself. 2026.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3CECB-4A27-4C0F-8D84-5D475F1C6424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ModelScope. AgentEvolver官方代码仓库. Apache-2.0.</a:t>
            </a:r>
          </a:p>
        </p:txBody>
      </p:sp>
    </p:spTree>
    <p:extLst>
      <p:ext uri="{BB962C8B-B14F-4D97-AF65-F5344CB8AC3E}">
        <p14:creationId xmlns:p14="http://schemas.microsoft.com/office/powerpoint/2010/main" val="358105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021D858-B245-25D1-1EA1-E5A5BB77EED7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答辩备份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78DAC7-148A-F0C2-FDFE-3A4D992875BC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</a:t>
            </a:r>
            <a:r>
              <a:rPr lang="en-US" altLang="zh-CN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个方法比较：四种搜索条件，不是逐步加法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192B3-9526-7035-0154-911B9D9A54F4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F886EA-CDAC-45F0-5489-2551B9B9A027}"/>
              </a:ext>
            </a:extLst>
          </p:cNvPr>
          <p:cNvSpPr txBox="1"/>
          <p:nvPr/>
        </p:nvSpPr>
        <p:spPr>
          <a:xfrm>
            <a:off x="685800" y="2235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6.0%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B137C8-3317-A24E-0125-9FACE5346723}"/>
              </a:ext>
            </a:extLst>
          </p:cNvPr>
          <p:cNvSpPr txBox="1"/>
          <p:nvPr/>
        </p:nvSpPr>
        <p:spPr>
          <a:xfrm>
            <a:off x="2628900" y="2260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原样公共数据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38228C-57A0-66F7-EBD0-CB813AFD4EC2}"/>
              </a:ext>
            </a:extLst>
          </p:cNvPr>
          <p:cNvSpPr txBox="1"/>
          <p:nvPr/>
        </p:nvSpPr>
        <p:spPr>
          <a:xfrm>
            <a:off x="685800" y="3060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2.9%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520A0A-44B6-0B37-FF24-0AF5AC9C1932}"/>
              </a:ext>
            </a:extLst>
          </p:cNvPr>
          <p:cNvSpPr txBox="1"/>
          <p:nvPr/>
        </p:nvSpPr>
        <p:spPr>
          <a:xfrm>
            <a:off x="2628900" y="3086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自由构造数据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C82DD8-71A8-81E3-A434-E646E26C3B9E}"/>
              </a:ext>
            </a:extLst>
          </p:cNvPr>
          <p:cNvSpPr txBox="1"/>
          <p:nvPr/>
        </p:nvSpPr>
        <p:spPr>
          <a:xfrm>
            <a:off x="685800" y="3886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16.5%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4EE48C-5635-1BC5-C59C-4F3CAB1CDF38}"/>
              </a:ext>
            </a:extLst>
          </p:cNvPr>
          <p:cNvSpPr txBox="1"/>
          <p:nvPr/>
        </p:nvSpPr>
        <p:spPr>
          <a:xfrm>
            <a:off x="2628900" y="3911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自蒸馏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AC4E8-DFF7-CF7D-75B2-03A1B6DF0870}"/>
              </a:ext>
            </a:extLst>
          </p:cNvPr>
          <p:cNvSpPr txBox="1"/>
          <p:nvPr/>
        </p:nvSpPr>
        <p:spPr>
          <a:xfrm>
            <a:off x="685800" y="4711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23.3%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82B507-D140-E26D-9F4F-CD6228A59F67}"/>
              </a:ext>
            </a:extLst>
          </p:cNvPr>
          <p:cNvSpPr txBox="1"/>
          <p:nvPr/>
        </p:nvSpPr>
        <p:spPr>
          <a:xfrm>
            <a:off x="2628900" y="4737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不受限方法搜索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611151-390F-1EBA-4B27-AEEA2FB3E317}"/>
              </a:ext>
            </a:extLst>
          </p:cNvPr>
          <p:cNvSpPr/>
          <p:nvPr/>
        </p:nvSpPr>
        <p:spPr>
          <a:xfrm>
            <a:off x="8382000" y="2324100"/>
            <a:ext cx="3124200" cy="10541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共同口径
前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83B70D-F690-499D-9366-FAA4B3C73F5F}"/>
              </a:ext>
            </a:extLst>
          </p:cNvPr>
          <p:cNvSpPr/>
          <p:nvPr/>
        </p:nvSpPr>
        <p:spPr>
          <a:xfrm>
            <a:off x="8382000" y="3632200"/>
            <a:ext cx="3124200" cy="10541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不要混用
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全程峰值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18.7%</a:t>
            </a:r>
            <a:endParaRPr lang="zh-CN" altLang="en-US" sz="17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87FF97-AB1F-485A-A750-D6A5D95FDC87}"/>
              </a:ext>
            </a:extLst>
          </p:cNvPr>
          <p:cNvSpPr txBox="1"/>
          <p:nvPr/>
        </p:nvSpPr>
        <p:spPr>
          <a:xfrm>
            <a:off x="685800" y="5702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每个条件只有一次搜索运行；该消融未重跑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9504CA-FA30-DAA7-17C2-25FA50D5F8DD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4C2997-2473-2863-EE3F-36338C39E2A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6030</Words>
  <Application>Microsoft Office PowerPoint</Application>
  <DocSecurity>0</DocSecurity>
  <PresentationFormat>宽屏</PresentationFormat>
  <Paragraphs>558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236471920@qq.com</cp:lastModifiedBy>
  <cp:revision>2</cp:revision>
  <dcterms:created xsi:type="dcterms:W3CDTF">2026-10-14T03:20:04Z</dcterms:created>
  <dcterms:modified xsi:type="dcterms:W3CDTF">2026-10-27T12:35:27Z</dcterms:modified>
</cp:coreProperties>
</file>