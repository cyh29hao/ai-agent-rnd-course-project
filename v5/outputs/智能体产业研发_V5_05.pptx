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原样公共数据 SFT</c:v>
                </c:pt>
                <c:pt idx="1">
                  <c:v>自由构造数据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主讲第1页，设计预算15秒（未真人计时）。</a:t>
            </a:r>
          </a:p>
          <a:p xmlns:a="http://schemas.openxmlformats.org/drawingml/2006/main">
            <a:r>
              <a:t>大家好。我们关注的是智能体在大模型产业研发中的应用。AI已经开始参与研发AI，那么，这些改进能不能一轮一轮继续下去？这是今天想回答的问题。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主讲第2页，设计预算30秒（未真人计时）。</a:t>
            </a:r>
          </a:p>
          <a:p xmlns:a="http://schemas.openxmlformats.org/drawingml/2006/main">
            <a:r>
              <a:t>这个问题其实比大模型早得多。1965年，统计学家Good就讨论过：如果机器能够参与设计更好的机器，改进会不会不断继续？当时主要是思想推演，今天则开始出现能检查的研发实例。我们不急着预测什么时候会发生智能爆炸，先把问题落到一项真实任务上：Agent接过了什么工作，交付了什么，又怎样知道它做得更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[1] Good, 1965</a:t>
            </a:r>
          </a:p>
          <a:p xmlns:a="http://schemas.openxmlformats.org/drawingml/2006/main">
            <a:r>
              <a:t>https://scienceplusplus.org/metascience/assets/Good1965.pdf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主讲第3页，设计预算35秒（未真人计时）。</a:t>
            </a:r>
          </a:p>
          <a:p xmlns:a="http://schemas.openxmlformats.org/drawingml/2006/main">
            <a:r>
              <a:t>可以先想象研究员面前的一轮实验：有了一个想法，还得写代码、配置训练、读日志，最后判断结果值不值得保留。比如，模型变得更少迎合用户了，会不会同时变得不擅长数学？一次实验失败，下次又该从哪里接着试？这些工作有明确工具，也有需要判断的环节。课程里讲的工具调用、记忆和评测，进入大模型研发以后，就对应这些具体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主讲第4页，设计预算40秒（未真人计时）。</a:t>
            </a:r>
          </a:p>
          <a:p xmlns:a="http://schemas.openxmlformats.org/drawingml/2006/main">
            <a:r>
              <a:t>自我修改听起来很诱人，但有一个老问题：凭什么保留这次修改？这里有两种思路。Gödel Machine要求先证明修改有益，再允许修改；这个保证很强，但真实研发很难事先把所有后果都证明清楚。另一种思路是产生候选，实际运行，再用评测筛选，神经架构搜索和后面的代码自改研究更接近这条路线。它们体现的是验证方式的差异。今天的案例主要依赖实验，所以评测测了什么、漏了什么，会直接影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[2] Schmidhuber, Gödel Machines</a:t>
            </a:r>
          </a:p>
          <a:p xmlns:a="http://schemas.openxmlformats.org/drawingml/2006/main">
            <a:r>
              <a:t>https://people.idsia.ch/~juergen/gmweb4/gmweb4.html</a:t>
            </a:r>
          </a:p>
          <a:p xmlns:a="http://schemas.openxmlformats.org/drawingml/2006/main">
            <a:r>
              <a:t>[3] Zoph &amp; Le, NAS, 2016</a:t>
            </a:r>
          </a:p>
          <a:p xmlns:a="http://schemas.openxmlformats.org/drawingml/2006/main">
            <a:r>
              <a:t>https://arxiv.org/abs/1611.01578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主讲第5页，设计预算20秒（未真人计时）。</a:t>
            </a:r>
          </a:p>
          <a:p xmlns:a="http://schemas.openxmlformats.org/drawingml/2006/main">
            <a:r>
              <a:t>下面先跟着一个改模型的任务走：任务怎么交给Agent，方法怎么进入模型，结果又怎么用于下一次尝试。看完这些具体工作，再回到题目：这些改进能不能让下一轮研发做得更好？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主讲第6页，设计预算25秒（未真人计时）。</a:t>
            </a:r>
          </a:p>
          <a:p xmlns:a="http://schemas.openxmlformats.org/drawingml/2006/main">
            <a:r>
              <a:t>我们重点选这两家，是想展开研发中的两个环节。Anthropic的公开研究能看到训练方法和目标模型的变化，OpenAI作者的案例能看到评测任务怎样执行、怎样留下记录。Google和开放研究再补上算法、策略和代码。一起看，就能知道Agent进入了哪些研发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  <a:p xmlns:a="http://schemas.openxmlformats.org/drawingml/2006/main">
            <a:r>
              <a:t>[7] AgentEvolver论文, 2025</a:t>
            </a:r>
          </a:p>
          <a:p xmlns:a="http://schemas.openxmlformats.org/drawingml/2006/main">
            <a:r>
              <a:t>https://arxiv.org/html/2511.10395v1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主讲第7页，设计预算40秒（未真人计时）。</a:t>
            </a:r>
          </a:p>
          <a:p xmlns:a="http://schemas.openxmlformats.org/drawingml/2006/main">
            <a:r>
              <a:t>先看Anthropic Fellows项目的一项公开对齐研究。任务是让模型少迎合错误观点：用户说错了，模型也应该能指出问题。请看图上三个角色。Claude Opus4.8作为研究Agent，想办法、写实现和调用训练工具；Qwen3.5-2B是接受训练的目标模型；评测器检查改善和能力副作用。这里“Agent研发AI”的具体含义，就是它能通过工具改变另一个模型。下面看它怎样把一个想法变成可检查的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主讲第8页，设计预算40秒（未真人计时）。</a:t>
            </a:r>
          </a:p>
          <a:p xmlns:a="http://schemas.openxmlformats.org/drawingml/2006/main">
            <a:r>
              <a:t>从左往右看，一轮研究先读资料、提出假设，在看到本轮评测结果之前冻结小论文，再提交实现。这样就能对照原来的假设检查结果。基本规则不允许利用评测数据，也禁止从研究Agent或更强模型蒸馏。代码经过监控，训练工具更新目标模型，最后由外部评测打分。典型方法的预算约一张H200、半小时。所以，Agent必须把想法做成可运行的方法，同时遵守资源和数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主讲第9页，设计预算40秒（未真人计时）。</a:t>
            </a:r>
          </a:p>
          <a:p xmlns:a="http://schemas.openxmlformats.org/drawingml/2006/main">
            <a:r>
              <a:t>一次尝试结束以后，结果不会随着聊天结束就消失。多个研究Agent并行探索，方法、得分和研究记录进入共享资料。新的会话可以读取这些记录，知道哪些方向试过，再提出下一种方法。所以这里的记忆首先是一套外部工程机制：即使换了会话，研究也能接续。请注意这个回流方向，它把经验带回下一次尝试，却没有因此更新研究Agent的模型权重。下一页我们就看一个真正涉及目标模型变化的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主讲第10页，设计预算50秒（未真人计时）。</a:t>
            </a:r>
          </a:p>
          <a:p xmlns:a="http://schemas.openxmlformats.org/drawingml/2006/main">
            <a:r>
              <a:t>这项研究在开放权重实验中找到的一条成功路线，是激活引导加自蒸馏。先只看第一步。模型回答问题时，中间会形成内部表示；方法对这些表示施加方向性的干预，让回答更倾向于指出错误，而不是顺着用户说。图上的教师，就是目标模型经过引导后的版本，并不是另外请来的一个更强模型。这个干预作用在模型内部，不是把一条新指令拼到用户提示里。可以把这一步理解为，先临时改变它的回答倾向。此时学生还没有经过训练：去掉这项推理时干预，刚才的变化能不能留下来？这就需要第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主讲第11页，设计预算50秒（未真人计时）。</a:t>
            </a:r>
          </a:p>
          <a:p xmlns:a="http://schemas.openxmlformats.org/drawingml/2006/main">
            <a:r>
              <a:t>请跟着短片看三个动作。首先，引导后的教师给出输出概率分布；学生也给出自己的分布。然后，训练目标用KL散度衡量两者的差异，并据此调整学生参数。最后，学生不用刚才的临时引导，正常推理，再接受外部评测。把教师和学生分开讲，就是为了看清临时干预与参数训练发生在不同阶段。也就是说，第一步改变教师的输出，第二步才试着把这种行为写进学生权重。短片是教学示意，不是论文的实验录像。分布更接近，只说明训练目标被优化了；学生是否真的少迎合、是否损失能力，仍要看最后的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主讲第12页，设计预算40秒（未真人计时）。</a:t>
            </a:r>
          </a:p>
          <a:p xmlns:a="http://schemas.openxmlformats.org/drawingml/2006/main">
            <a:r>
              <a:t>在展示真实数字之前，先看这个教学例子。假设基线是50分，训练以后70分，最优是100分。实际多了20分，但原来有50分的改善空间，所以关闭了40%的改善空间。分母是原来还能提高多少，不是测试题的总数，因此这个40%不能读成通过率。如果换了基线，百分数也会随原有改善空间改变。论文还会把多个基准汇总，具体计算放在备份。大家只要先记住这条尺子，下一页的百分数就不会被误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主讲第13页，设计预算40秒（未真人计时）。</a:t>
            </a:r>
          </a:p>
          <a:p xmlns:a="http://schemas.openxmlformats.org/drawingml/2006/main">
            <a:r>
              <a:t>这里选取论文图二十的四种条件中的三种，看前150个已评分方法。公共数据SFT是6.0%，自由构造数据SFT是2.9%，不受限研究方法是23.3%。这是搜索条件的比较，不能把23.3%全算成刚才蒸馏配方的效果。每个条件只有一次运行，相同方法数量也不代表总成本相同。我们看到的是具体任务中的改善；下一部分换一个环节，看Agent怎样协助把评测本身跑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主讲第14页，设计预算35秒（未真人计时）。</a:t>
            </a:r>
          </a:p>
          <a:p xmlns:a="http://schemas.openxmlformats.org/drawingml/2006/main">
            <a:r>
              <a:t>OpenAI工程师Jeremy Lewi公开过一项发布前评测工作流。研究员已经有评测目标，但要完成它，还需要找到正确工具、准备命令、处理执行问题，最后解释结果。作者把这些工作放进Runme笔记，让Codex读取工具说明和之前的记录，再协助推进。这里我们能顺着一次任务往下看：任务怎么提出，谁决定开始执行，结果又怎么留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主讲第15页，设计预算40秒（未真人计时）。</a:t>
            </a:r>
          </a:p>
          <a:p xmlns:a="http://schemas.openxmlformats.org/drawingml/2006/main">
            <a:r>
              <a:t>屏幕上这句原文很直接：开始之前，等我审阅并批准计划。看下面这条顺序，先有目标和既有记录，Codex再写出计划，研究员审阅后才执行。为什么这一步有用？因为命令能够跑通，不代表它回答了正确的问题。把计划先写出来，人就能检查准备跑哪些评测、是否漏掉关键条件。这个例子清楚展示了人在执行决策上的位置；它描述的是作者自己的工作流，不能替整个公司作同样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主讲第16页，设计预算40秒（未真人计时）。</a:t>
            </a:r>
          </a:p>
          <a:p xmlns:a="http://schemas.openxmlformats.org/drawingml/2006/main">
            <a:r>
              <a:t>Runme把命令放在笔记里执行，输出也能跟着保存。请从上到下看：目标和计划说明为什么做，命令和输出记录具体发生了什么，解释与取舍交代下一步怎么选。换一个会话，Codex就能读取这些记录，接着处理任务。它和前面的共享实验记录有一个共同点：上次怎么做、哪里失败、为什么这样决定，都能留给下一次。这里的记忆就保存在这些可读取的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主讲第17页，设计预算40秒（未真人计时）。</a:t>
            </a:r>
          </a:p>
          <a:p xmlns:a="http://schemas.openxmlformats.org/drawingml/2006/main">
            <a:r>
              <a:t>Google DeepMind的AlphaEvolve把同样的生成、执行、筛选循环用在程序上。Gemini先提出候选程序，执行器测正确性和性能，系统保留较好的候选，再继续生成。这里最重要的是，评价可以落到实际运行结果上：程序有没有算对，速度有没有更快。这类反馈适合检查算法改动。它优化的是程序，并不直接重训练模型权重。那么，改一个程序能给大模型研发带来什么收益？下一页看训练里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主讲第18页，设计预算40秒（未真人计时）。</a:t>
            </a:r>
          </a:p>
          <a:p xmlns:a="http://schemas.openxmlformats.org/drawingml/2006/main">
            <a:r>
              <a:t>这个案例报告，一个矩阵乘法kernel加速了23%，对应Gemini总训练时间减少1%。左边说的是一个算子，右边说的是完整训练。训练还有其他大量工作，所以一个环节快了很多，整段训练的收益仍可能比较小。23%落在这个算子上，1%才对应总训练时间。这个例子让我们看到，Agent找到的一项程序改动，怎样实际进入大模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主讲第19页，设计预算40秒（未真人计时）。</a:t>
            </a:r>
          </a:p>
          <a:p xmlns:a="http://schemas.openxmlformats.org/drawingml/2006/main">
            <a:r>
              <a:t>开放研究还展示了两个改动对象。通义团队的AgentEvolver通过生成任务、复用经验和轨迹贡献归因来训练Agent策略。Sakana的Darwin Gödel Machine会修改Agent自身代码，用基准评价，再保留候选谱系，让不同版本继续探索。策略训练和代码修改发生在不同位置。框架公开以后，这些改动更容易查清；训练数据和模型权重是否开放，还要分别看项目给出的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[7] AgentEvolver论文, 2025</a:t>
            </a:r>
          </a:p>
          <a:p xmlns:a="http://schemas.openxmlformats.org/drawingml/2006/main">
            <a:r>
              <a:t>https://arxiv.org/html/2511.10395v1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  <a:p xmlns:a="http://schemas.openxmlformats.org/drawingml/2006/main">
            <a:r>
              <a:t>[11] modelscope/AgentEvolver</a:t>
            </a:r>
          </a:p>
          <a:p xmlns:a="http://schemas.openxmlformats.org/drawingml/2006/main"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主讲第20页，设计预算40秒（未真人计时）。</a:t>
            </a:r>
          </a:p>
          <a:p xmlns:a="http://schemas.openxmlformats.org/drawingml/2006/main">
            <a:r>
              <a:t>大家看中间这一列，每个案例到底改了什么。Anthropic训练的是目标模型，OpenAI留下的是评测流程和研究记录，Google修改训练相关程序，开放研究还会改Agent策略和代码。再看右边，效果分别落在行为、任务结果或程序性能上。把这些位置分清以后，下一轮研发的问题就具体了：这轮的成果会留在哪里，接下来谁来用它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  <a:p xmlns:a="http://schemas.openxmlformats.org/drawingml/2006/main">
            <a:r>
              <a:t>[7] AgentEvolver论文, 2025</a:t>
            </a:r>
          </a:p>
          <a:p xmlns:a="http://schemas.openxmlformats.org/drawingml/2006/main">
            <a:r>
              <a:t>https://arxiv.org/html/2511.10395v1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主讲第21页，设计预算45秒（未真人计时）。</a:t>
            </a:r>
          </a:p>
          <a:p xmlns:a="http://schemas.openxmlformats.org/drawingml/2006/main">
            <a:r>
              <a:t>先看上面的流程。研究Agent做完实验，把方法和结果留下来，下一次尝试就有了起点。前面的共享记录和Runme，都在做这件事。DGM还往前走了一步：它改的是Agent自身代码，改好的版本可以继续探索新的修改。于是，下一轮既能接着用以前的记录，也可能换成一个改进后的研究Agent。把问题推进到基础模型，就要继续观察：这样一轮轮做下去，能不能持续研发出更强的后继模型？</a:t>
            </a:r>
          </a:p>
          <a:p xmlns:a="http://schemas.openxmlformats.org/drawingml/2006/main">
            <a:r>
              <a:t>下方回流特指DGM在Agent代码层的迭代，不表示AAR把Qwen替换成Opus研究Agent。最后一问讨论基础模型的持续后继研发。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  <a:p xmlns:a="http://schemas.openxmlformats.org/drawingml/2006/main">
            <a:r>
              <a:t>[10] Anthropic, Recursive Self-Improvement</a:t>
            </a:r>
          </a:p>
          <a:p xmlns:a="http://schemas.openxmlformats.org/drawingml/2006/main"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主讲第22页，设计预算35秒（未真人计时）。</a:t>
            </a:r>
          </a:p>
          <a:p xmlns:a="http://schemas.openxmlformats.org/drawingml/2006/main">
            <a:r>
              <a:t>可以让原版和改进后的版本，各做一轮研究，用同一组新任务，也给同样的时间和算力。先比较它们找到的方法好不好，再换任务、继续迭代几轮。这样能看清几件事：它是不是只擅长刚才那批题，下一轮有没有研究得更有效，还有会不会退步或钻测试的空子。对基础模型研发来说，跟踪这些连续变化，比只看某一轮的最高分更有说服力。</a:t>
            </a:r>
          </a:p>
          <a:p xmlns:a="http://schemas.openxmlformats.org/drawingml/2006/main">
            <a:r>
              <a:t>本页是对后续比较方法的讨论，不是已执行的实验，也不是要求本组新增实验。泛化、等预算比较、多轮收益与代价均为本报告分析问题。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  <a:p xmlns:a="http://schemas.openxmlformats.org/drawingml/2006/main">
            <a:r>
              <a:t>[10] Anthropic, Recursive Self-Improvement</a:t>
            </a:r>
          </a:p>
          <a:p xmlns:a="http://schemas.openxmlformats.org/drawingml/2006/main"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主讲第23页，设计预算25秒（未真人计时）。</a:t>
            </a:r>
          </a:p>
          <a:p xmlns:a="http://schemas.openxmlformats.org/drawingml/2006/main">
            <a:r>
              <a:t>回到开头Good提出的问题。今天，Agent已经能提出训练办法、跑评测、优化程序，也开始改进自身代码。接下来最值得看的，是改进后的研究系统做下一轮研发时，能否继续产出更强的基础模型。沿着这一轮轮的结果往下看，才能理解AI辅助研发会走到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[4] Chen 等, Automated Researchers…, 2026</a:t>
            </a:r>
          </a:p>
          <a:p xmlns:a="http://schemas.openxmlformats.org/drawingml/2006/main">
            <a:r>
              <a:t>https://alignment.anthropic.com/2026/automated-alignment-researchers/</a:t>
            </a:r>
          </a:p>
          <a:p xmlns:a="http://schemas.openxmlformats.org/drawingml/2006/main">
            <a:r>
              <a:t>[5] Lewi, OpenAI评测工作流, 2026</a:t>
            </a:r>
          </a:p>
          <a:p xmlns:a="http://schemas.openxmlformats.org/drawingml/2006/main">
            <a:r>
              <a:t>https://developers.openai.com/blog/automating-repetitive-work-at-openai-with-codex</a:t>
            </a:r>
          </a:p>
          <a:p xmlns:a="http://schemas.openxmlformats.org/drawingml/2006/main">
            <a:r>
              <a:t>[6] Google DeepMind, AlphaEvolve, 2025</a:t>
            </a:r>
          </a:p>
          <a:p xmlns:a="http://schemas.openxmlformats.org/drawingml/2006/main">
            <a:r>
              <a:t>https://deepmind.google/blog/alphaevolve-a-gemini-powered-coding-agent-for-designing-advanced-algorithms/</a:t>
            </a:r>
          </a:p>
          <a:p xmlns:a="http://schemas.openxmlformats.org/drawingml/2006/main">
            <a:r>
              <a:t>[7] AgentEvolver论文, 2025</a:t>
            </a:r>
          </a:p>
          <a:p xmlns:a="http://schemas.openxmlformats.org/drawingml/2006/main">
            <a:r>
              <a:t>https://arxiv.org/html/2511.10395v1</a:t>
            </a:r>
          </a:p>
          <a:p xmlns:a="http://schemas.openxmlformats.org/drawingml/2006/main">
            <a:r>
              <a:t>[8] Sakana AI, DGM, 2025</a:t>
            </a:r>
          </a:p>
          <a:p xmlns:a="http://schemas.openxmlformats.org/drawingml/2006/main">
            <a:r>
              <a:t>https://sakana.ai/dgm/</a:t>
            </a:r>
          </a:p>
          <a:p xmlns:a="http://schemas.openxmlformats.org/drawingml/2006/main">
            <a:r>
              <a:t>[10] Anthropic, Recursive Self-Improvement</a:t>
            </a:r>
          </a:p>
          <a:p xmlns:a="http://schemas.openxmlformats.org/drawingml/2006/main"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主讲第24页，设计预算5秒（未真人计时）。</a:t>
            </a:r>
          </a:p>
          <a:p xmlns:a="http://schemas.openxmlformats.org/drawingml/2006/main">
            <a:r>
              <a:t>谢谢大家，欢迎提问。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[1] Good, 1965</a:t>
            </a:r>
          </a:p>
          <a:p>
            <a:r>
              <a:t>https://scienceplusplus.org/metascience/assets/Good1965.pdf</a:t>
            </a:r>
          </a:p>
          <a:p>
            <a:r>
              <a:t>[2] Schmidhuber, Gödel Machines</a:t>
            </a:r>
          </a:p>
          <a:p>
            <a:r>
              <a:t>https://people.idsia.ch/~juergen/gmweb4/gmweb4.html</a:t>
            </a:r>
          </a:p>
          <a:p>
            <a:r>
              <a:t>[3] Zoph &amp; Le, NAS, 2016</a:t>
            </a:r>
          </a:p>
          <a:p>
            <a:r>
              <a:t>https://arxiv.org/abs/1611.01578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文献编号与主讲保持一致；完整来源定位见来源与答辩手册。</a:t>
            </a:r>
          </a:p>
          <a:p>
            <a:r>
              <a:t>[6] Google DeepMind, AlphaEvolve, 2025</a:t>
            </a:r>
          </a:p>
          <a:p>
            <a:r>
              <a:t>https://deepmind.google/blog/alphaevolve-a-gemini-powered-coding-agent-for-designing-advanced-algorithms/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§2.3、§3.2、§5.1。能力门槛是95%置信区间不完全低于基线，不能改写成每项都无下降。held-out在选择Petri方法时是validation，不能将所有阶段称为完全独立终测。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KL方向仅为教学选定，不宣称获胜配方的全部方向、系数或实现。互动HTML的二类单参数原型是教学演示，不是AAR训练复现。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App. D.4。全程峰值26.4/18.7/6.0/4.5与固定方法数不同。相同方法数不等于同全部时间、成本。该比较未重跑held-out/Petri。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§6，Fig.9。研究Agent的ECI156与目标ECI158是所报代理指标，不能推断全能力排序。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AAR §6 Fig.9、App. E.1。与开放权重蒸馏不同实验。没有因此证明更弱研究Agent在全部能力上超越目标。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OpenAI研究加速报告§1与方法。3.1不是生产率倍数。运行时间不会自动转化为有效研究贡献。</a:t>
            </a:r>
          </a:p>
          <a:p>
            <a:r>
              <a:t>[9] OpenAI研究加速报告, 2026</a:t>
            </a:r>
          </a:p>
          <a:p>
            <a:r>
              <a:t>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不要把框架Apache-2.0外推为所有模型、训练数据或基础设施开放。SWE与Polyglot结果是各自基准，不能与Qwen谄媚分数直接排名。</a:t>
            </a:r>
          </a:p>
          <a:p>
            <a:r>
              <a:t>[7] AgentEvolver论文, 2025</a:t>
            </a:r>
          </a:p>
          <a:p>
            <a:r>
              <a:t>https://arxiv.org/html/2511.10395v1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[11] modelscope/AgentEvolver</a:t>
            </a:r>
          </a:p>
          <a:p>
            <a:r>
              <a:t>https://github.com/modelscope/AgentEvolver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这是本报告对技术能力与治理安排的区分。RSI并无本报告通用评分标准；对所选公开证据做限定性判断。</a:t>
            </a:r>
          </a:p>
          <a:p>
            <a:r>
              <a:t>[4] Chen 等, Automated Researchers…, 2026</a:t>
            </a:r>
          </a:p>
          <a:p>
            <a:r>
              <a:t>https://alignment.anthropic.com/2026/automated-alignment-researchers/</a:t>
            </a:r>
          </a:p>
          <a:p>
            <a:r>
              <a:t>[5] Lewi, OpenAI评测工作流, 2026</a:t>
            </a:r>
          </a:p>
          <a:p>
            <a:r>
              <a:t>https://developers.openai.com/blog/automating-repetitive-work-at-openai-with-codex</a:t>
            </a:r>
          </a:p>
          <a:p>
            <a:r>
              <a:t>[8] Sakana AI, DGM, 2025</a:t>
            </a:r>
          </a:p>
          <a:p>
            <a:r>
              <a:t>https://sakana.ai/dgm/</a:t>
            </a:r>
          </a:p>
          <a:p>
            <a:r>
              <a:t>[10] Anthropic, Recursive Self-Improvement</a:t>
            </a:r>
          </a:p>
          <a:p>
            <a:r>
              <a:t>https://www.anthropic.com/institute/recursive-self-improvement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D766A6-9D9B-4A3E-B7A7-F046388A7BCB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DDCD7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63813F-A46F-4B3E-813A-C0A8918C47E2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1857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智能体在大模型产业</a:t>
            </a:r>
          </a:p>
          <a:p>
            <a:pPr>
              <a:def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研发中的应用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F65E28-8458-4031-A5EB-FE46193E5A72}"/>
              </a:ext>
            </a:extLst>
          </p:cNvPr>
          <p:cNvSpPr>
            <a:spLocks noGrp="1"/>
          </p:cNvSpPr>
          <p:nvPr/>
        </p:nvSpPr>
        <p:spPr>
          <a:xfrm>
            <a:off x="685800" y="36004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B4DAD2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0226B-FF11-45FD-BD22-A5730764F411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以Anthropic、OpenAI等公司的公开实践为例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86A8-D3F3-4F8C-B4CC-392BA648D53A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AF8F3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</p:spTree>
    <p:extLst>
      <p:ext uri="{BB962C8B-B14F-4D97-AF65-F5344CB8AC3E}">
        <p14:creationId xmlns:p14="http://schemas.microsoft.com/office/powerpoint/2010/main" val="1496050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BE0CE4BD-255C-4A19-AAD8-BA030C8195D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0B22D3-BD07-419B-864D-AA3302AB319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机器设计更好机器：一个早于大模型的问题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601F71-0E43-4840-945E-B5DB8B81F64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E760A6-9165-4A2C-9092-53908871B7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[1] Good, 1965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5EFC7B-A790-464A-AB63-411C16858DF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0E107D-BEA3-45D3-B071-B90E9A0CB4D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3981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1965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AE3B0F-22AB-4D26-9947-14027C368FC1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3905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I. J. Good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B29067-D4FB-4D2F-8DC9-70FC113CC1E6}"/>
              </a:ext>
            </a:extLst>
          </p:cNvPr>
          <p:cNvSpPr>
            <a:spLocks noGrp="1"/>
          </p:cNvSpPr>
          <p:nvPr/>
        </p:nvSpPr>
        <p:spPr>
          <a:xfrm>
            <a:off x="5238750" y="2390775"/>
            <a:ext cx="6267450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如果机器能参与设计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更好的机器，</a:t>
            </a:r>
          </a:p>
          <a:p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改进会不会继续？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FC4B8E-A72F-45EC-B440-60E421582665}"/>
              </a:ext>
            </a:extLst>
          </p:cNvPr>
          <p:cNvSpPr>
            <a:spLocks noGrp="1"/>
          </p:cNvSpPr>
          <p:nvPr/>
        </p:nvSpPr>
        <p:spPr>
          <a:xfrm>
            <a:off x="685800" y="52101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C0A842-AF20-4B76-9F21-105887328A77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8204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今天可以追问：它接手了哪项任务，交付了什么结果</a:t>
            </a:r>
          </a:p>
        </p:txBody>
      </p:sp>
    </p:spTree>
    <p:extLst>
      <p:ext uri="{BB962C8B-B14F-4D97-AF65-F5344CB8AC3E}">
        <p14:creationId xmlns:p14="http://schemas.microsoft.com/office/powerpoint/2010/main" val="1580717888"/>
      </p:ext>
    </p:extLst>
  </p:cSld>
  <p:clrMapOvr>
    <a:masterClrMapping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9A36A-699A-4B99-ADF0-6D030C85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60991-E21C-429B-9DF9-FE08D1BB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研发AI，需要反复做实验和评测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176D1-3BE7-45E6-85CD-14FC0EE9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61780-6E8B-4E07-8DEB-B4A4A2F1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39279-9E47-45A5-9E26-593F38DE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C8100-5978-4F2F-B340-9FA43C47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46F0D-ED67-492C-AE9D-3BFDEBF0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提出训练方法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783D8-304A-448F-93FE-8FFCAB2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4795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A5206-5EB4-4C38-ADFF-8C595645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1EE2F-4DF1-45A3-898E-17052ADB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把方法变成代码与训练任务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F7A36-39D2-4712-BA14-855F8314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64795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398F0-7508-443E-98BE-6D0AD351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4F504-B4D3-488E-8655-340487B5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检查行为改善</a:t>
            </a:r>
          </a:p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和能力损失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147EA-3C48-4776-96D2-C1B55E49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3143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AEBE8-2F3F-4D40-B9D7-43F255B7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466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下一轮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E51CE-1BD1-46A5-89D2-CA520769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14700"/>
            <a:ext cx="24098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记录失败</a:t>
            </a:r>
          </a:p>
          <a:p xmlns:a="http://schemas.openxmlformats.org/drawingml/2006/main">
            <a:pPr>
              <a:def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决定下一次尝试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88654-7E0B-4506-BA63-17B9B97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一次行为改善，可能伴随其他能力下降</a:t>
            </a:r>
          </a:p>
        </p:txBody>
      </p:sp>
    </p:spTree>
    <p:extLst>
      <p:ext uri="{BB962C8B-B14F-4D97-AF65-F5344CB8AC3E}">
        <p14:creationId xmlns:p14="http://schemas.microsoft.com/office/powerpoint/2010/main" val="967885372"/>
      </p:ext>
    </p:extLst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8BBAD4A-5664-461B-9CE7-CA76D6D0DF3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687911-61A4-4286-9D8B-E40DCA111B2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自我修改怎样才值得保留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05D6F6-048E-4CD3-88B5-B789CA13BBA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F42727-051D-492B-A85D-D63ECD67C83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[2] Gödel Machines；[3] NAS, 2016；[8] DGM,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2A3A70-A7F1-4F62-B6A1-FBA0234856F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6B9080-0A48-4AB8-85B7-7ACDBEF3095B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857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证明后修改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45F74-C3D5-4EEF-9F2D-786EEC68447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8577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Gödel Machine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先证明修改有益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1E9EE5-6898-4763-AB59-90D605DFC2CA}"/>
              </a:ext>
            </a:extLst>
          </p:cNvPr>
          <p:cNvSpPr>
            <a:spLocks noGrp="1"/>
          </p:cNvSpPr>
          <p:nvPr/>
        </p:nvSpPr>
        <p:spPr>
          <a:xfrm>
            <a:off x="6572250" y="2200275"/>
            <a:ext cx="49339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评测后保留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92FF2D-8657-432A-90A0-C9E76828DD61}"/>
              </a:ext>
            </a:extLst>
          </p:cNvPr>
          <p:cNvSpPr>
            <a:spLocks noGrp="1"/>
          </p:cNvSpPr>
          <p:nvPr/>
        </p:nvSpPr>
        <p:spPr>
          <a:xfrm>
            <a:off x="6572250" y="3143250"/>
            <a:ext cx="4933950" cy="121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NAS与DGM</a:t>
            </a:r>
          </a:p>
          <a:p>
            <a:pPr>
              <a:def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搜索候选，再检验结果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0B127-42B6-42D4-8889-1E779582F5BC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D04C34-42CC-4D38-B4A2-F6B02FEE3452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真实研发怎样验证“更好”，贯穿今天的案例</a:t>
            </a:r>
          </a:p>
        </p:txBody>
      </p:sp>
    </p:spTree>
    <p:extLst>
      <p:ext uri="{BB962C8B-B14F-4D97-AF65-F5344CB8AC3E}">
        <p14:creationId xmlns:p14="http://schemas.microsoft.com/office/powerpoint/2010/main" val="1209034566"/>
      </p:ext>
    </p:extLst>
  </p:cSld>
  <p:clrMapOvr>
    <a:masterClrMapping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25B23-B352-451B-AD1A-CC01BA5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54505-70EE-4856-BCF2-980855E1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沿着研发链条找答案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C950A-26D2-425F-ADCD-0A2EB9B4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45F6F-0655-454E-A2E0-B6CAE6CB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B0720-C2D1-4270-BAE4-76A3E211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D8F0F-4374-4560-B445-FEA7C256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AF72D-4926-451B-8EAE-B6598BC9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3837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任务怎样交给Agent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C5789-6855-4B0E-BD4B-CE201E64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EDCAD-CFE9-4784-9987-818978CC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0040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方法怎样进入模型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E1A24-AC8B-4CC3-A5BB-6EBC192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AB361-BDE9-4461-AB73-CA332CA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16242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结果怎样进入下一轮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74A06-A647-4AB6-8B08-D0C5AF5D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623B3E-B3A7-45A4-84C5-CA4C64C6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124450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改进能否让下一轮研发做得更好</a:t>
            </a:r>
          </a:p>
        </p:txBody>
      </p:sp>
    </p:spTree>
    <p:extLst>
      <p:ext uri="{BB962C8B-B14F-4D97-AF65-F5344CB8AC3E}">
        <p14:creationId xmlns:p14="http://schemas.microsoft.com/office/powerpoint/2010/main" val="318670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8E208-B047-45AA-B314-DB102CB2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一  问题与动机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7E4E-1602-4A32-896C-63E0BBC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为什么重点看Anthropic与OpenAI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DEE30-5E3E-49F5-B427-65949E4C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6293-ACE6-4080-BED3-41D5A312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AC90C-65B0-4C18-AC0F-3AF33E87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0FFA1-4DF7-4919-B161-7B7F82AA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Anthropic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3C4C7-17DA-4EF5-A87A-5068172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57425"/>
            <a:ext cx="7410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方法、目标模型权重与实验评测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7F691-C797-4757-8761-E5001EAA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32FA7-3A4B-49B6-A375-2028B6D8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OpenAI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1DA46-FE27-4795-986F-4E7C27A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7410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研发任务、工具使用与决策记录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5D87D-3853-4115-A15E-13A5D7C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22BE1-7BEE-42B2-BE4C-B8D8E45A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Google与开放研究补充算法、策略和代码的改动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0069C-DC62-4F0A-ACED-D4F32F66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重点比较训练方法与评测流程</a:t>
            </a:r>
          </a:p>
        </p:txBody>
      </p:sp>
    </p:spTree>
    <p:extLst>
      <p:ext uri="{BB962C8B-B14F-4D97-AF65-F5344CB8AC3E}">
        <p14:creationId xmlns:p14="http://schemas.microsoft.com/office/powerpoint/2010/main" val="1623291075"/>
      </p:ext>
    </p:extLst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16D3B0AF-B4C5-4808-9BC4-E5C1E05EE3D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9BB652-68FF-4BAD-8AC0-2C7FC83521D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任务：让模型少迎合错误观点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D53822-5215-4E7D-9B40-B33C0DF86D3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D360AE-AC35-46AB-9478-BB14AB3FA7C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ECBD1-623C-4241-908E-1926CE718F5B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AA0275-21E9-4B3D-AB40-5BF50467FD2B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304800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Claude Opus 4.8</a:t>
            </a:r>
          </a:p>
          <a:p>
            <a:pPr>
              <a:def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提出并实施方法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41E4C6C-A345-44C2-9B34-6FA386C4E05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477F8D-ECBB-4D3E-A909-7DAE08EF0D65}"/>
              </a:ext>
            </a:extLst>
          </p:cNvPr>
          <p:cNvSpPr>
            <a:spLocks noGrp="1"/>
          </p:cNvSpPr>
          <p:nvPr/>
        </p:nvSpPr>
        <p:spPr>
          <a:xfrm>
            <a:off x="4933950" y="2657475"/>
            <a:ext cx="2952750" cy="14573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Qwen3.5-2B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接受后训练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B73F517-D2CE-43CC-9C07-EF7553D050F8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0C92B8-143E-4C47-8045-142825EBCF4D}"/>
              </a:ext>
            </a:extLst>
          </p:cNvPr>
          <p:cNvSpPr>
            <a:spLocks noGrp="1"/>
          </p:cNvSpPr>
          <p:nvPr/>
        </p:nvSpPr>
        <p:spPr>
          <a:xfrm>
            <a:off x="9086850" y="2657475"/>
            <a:ext cx="2419350" cy="14573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评测器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行为与能力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6FDCFE-594F-4193-97CF-0FC78CFAC9FA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任务：减少顺着用户错误观点说的行为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255D32-76BA-465A-A8BB-94D61D9BFA1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8204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研究者、被训练模型、评测器承担不同角色</a:t>
            </a:r>
          </a:p>
        </p:txBody>
      </p:sp>
    </p:spTree>
    <p:extLst>
      <p:ext uri="{BB962C8B-B14F-4D97-AF65-F5344CB8AC3E}">
        <p14:creationId xmlns:p14="http://schemas.microsoft.com/office/powerpoint/2010/main" val="105707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91F740C-2EB5-4AF5-9996-7137B4B07E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203922-383B-4EEF-9D26-F660F8BF713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一轮研究需要交付能运行的方法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2355A2-2D91-466E-8EA8-F0CD263886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3494A4-09C9-446A-8C9F-F0AC28581E4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0B5DF7-7FC6-430D-9F99-FF4F2D3F3E5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9A4F8-5AA2-4CB8-8A51-5D38472800C3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04A643-2478-4381-923A-9F3E8986D8F0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提出假设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0FFFD2-C312-4818-926A-3A6C461BA1EA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资料与研究方法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31347D-D48D-422A-B106-86E380D917F1}"/>
              </a:ext>
            </a:extLst>
          </p:cNvPr>
          <p:cNvSpPr>
            <a:spLocks noGrp="1"/>
          </p:cNvSpPr>
          <p:nvPr/>
        </p:nvSpPr>
        <p:spPr>
          <a:xfrm>
            <a:off x="348615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4508BF-4491-4DBA-ACAD-EB47D0CB7EBF}"/>
              </a:ext>
            </a:extLst>
          </p:cNvPr>
          <p:cNvSpPr>
            <a:spLocks noGrp="1"/>
          </p:cNvSpPr>
          <p:nvPr/>
        </p:nvSpPr>
        <p:spPr>
          <a:xfrm>
            <a:off x="348615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冻结小论文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425E4C-145E-49FF-902B-ED0AAEE7A765}"/>
              </a:ext>
            </a:extLst>
          </p:cNvPr>
          <p:cNvSpPr>
            <a:spLocks noGrp="1"/>
          </p:cNvSpPr>
          <p:nvPr/>
        </p:nvSpPr>
        <p:spPr>
          <a:xfrm>
            <a:off x="348615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本轮结果尚未公布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32A782-DC64-4893-A50C-8B6C7E2A9C27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22955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7C81EF-40EB-4089-8E74-3F1171CFC275}"/>
              </a:ext>
            </a:extLst>
          </p:cNvPr>
          <p:cNvSpPr>
            <a:spLocks noGrp="1"/>
          </p:cNvSpPr>
          <p:nvPr/>
        </p:nvSpPr>
        <p:spPr>
          <a:xfrm>
            <a:off x="6286500" y="2819400"/>
            <a:ext cx="22955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提交实现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65FEF3-7642-4EE2-886F-FEB722A02316}"/>
              </a:ext>
            </a:extLst>
          </p:cNvPr>
          <p:cNvSpPr>
            <a:spLocks noGrp="1"/>
          </p:cNvSpPr>
          <p:nvPr/>
        </p:nvSpPr>
        <p:spPr>
          <a:xfrm>
            <a:off x="6286500" y="3762375"/>
            <a:ext cx="229552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代码监控后训练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00384D-E45B-486B-8871-8D5B2851450B}"/>
              </a:ext>
            </a:extLst>
          </p:cNvPr>
          <p:cNvSpPr>
            <a:spLocks noGrp="1"/>
          </p:cNvSpPr>
          <p:nvPr/>
        </p:nvSpPr>
        <p:spPr>
          <a:xfrm>
            <a:off x="9086850" y="2152650"/>
            <a:ext cx="24193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AFEFD7-0D11-414D-9F3A-49228A9E9C84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24193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DBE970-FC33-4527-BB9D-E234177C2908}"/>
              </a:ext>
            </a:extLst>
          </p:cNvPr>
          <p:cNvSpPr>
            <a:spLocks noGrp="1"/>
          </p:cNvSpPr>
          <p:nvPr/>
        </p:nvSpPr>
        <p:spPr>
          <a:xfrm>
            <a:off x="9086850" y="3762375"/>
            <a:ext cx="24193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反馈结果与副作用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6E8E1D-FBAE-4836-834E-A164FBFB6127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典型方法预算：约1张H200，约30分钟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2F1E35-2EEB-40BC-B668-6B6D822A7CC8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基本规则：禁用评测数据，禁止从研究Agent或更强模型蒸馏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C29B399-F700-4996-AFC7-0C90B062B1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453EE1-09AF-4D9C-8D30-909E0DA3B12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下一次尝试，能读到之前的成功与失败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3BD411-332D-4C32-AA84-5F37785842C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D30844-765F-407B-B767-40B61A08C10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941BC5-C451-423E-B26E-CD3950F2EF4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9173F2-C940-4CE3-8D7E-160E51F7B393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31242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多个研究Agent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并行探索候选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60CD603-2AB4-43D2-B400-E993D7321A01}"/>
              </a:ext>
            </a:extLst>
          </p:cNvPr>
          <p:cNvSpPr>
            <a:spLocks noGrp="1"/>
          </p:cNvSpPr>
          <p:nvPr/>
        </p:nvSpPr>
        <p:spPr>
          <a:xfrm>
            <a:off x="406717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18F835-A6D4-494A-9A05-4F5CC840560D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3019425" cy="15335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方法、评分与失败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701CC2B1-70F4-4A79-A22B-08C3E7F44679}"/>
              </a:ext>
            </a:extLst>
          </p:cNvPr>
          <p:cNvSpPr>
            <a:spLocks noGrp="1"/>
          </p:cNvSpPr>
          <p:nvPr/>
        </p:nvSpPr>
        <p:spPr>
          <a:xfrm>
            <a:off x="8239125" y="32480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94E929-4DA1-4942-B116-9EC96018820E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400300" cy="15335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新会话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读取后继续尝试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36150154-013C-44F9-902F-C151FCFFFFA4}"/>
              </a:ext>
            </a:extLst>
          </p:cNvPr>
          <p:cNvSpPr>
            <a:spLocks noGrp="1"/>
          </p:cNvSpPr>
          <p:nvPr/>
        </p:nvSpPr>
        <p:spPr>
          <a:xfrm>
            <a:off x="2238375" y="4572000"/>
            <a:ext cx="771525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36BE94-D988-4FA0-89C5-D2E8F458F99D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研究能接续：记忆保存在外部记录中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29ED05C-ECB2-440E-9122-6FF633E4D90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C756F8-9BC6-4C95-813C-746658BD5CC9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4518D8-5CF4-4584-B6EF-8474D6C6E91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F7C82F-EC85-4459-A1D4-6A5C6863CD0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945547-26B0-4BA9-AB8C-5F342D176A64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CC946D-69A9-46B6-9B47-DAC6F42A4375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目标：更少迎合错误观点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83FC6F-263A-413E-86D8-1FDDFB8228FC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3143250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原内部表示 h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ADEA7F6-E4C0-4054-A6E9-61F06D20E488}"/>
              </a:ext>
            </a:extLst>
          </p:cNvPr>
          <p:cNvSpPr>
            <a:spLocks noGrp="1"/>
          </p:cNvSpPr>
          <p:nvPr/>
        </p:nvSpPr>
        <p:spPr>
          <a:xfrm>
            <a:off x="4095750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42CBAF-EBA2-4AB7-AE69-D16B0D0D3E18}"/>
              </a:ext>
            </a:extLst>
          </p:cNvPr>
          <p:cNvSpPr>
            <a:spLocks noGrp="1"/>
          </p:cNvSpPr>
          <p:nvPr/>
        </p:nvSpPr>
        <p:spPr>
          <a:xfrm>
            <a:off x="4933950" y="3133725"/>
            <a:ext cx="2857500" cy="1200150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方向性干预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h′ = h + αv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96B93CE6-AC23-4775-AC79-1E360005B918}"/>
              </a:ext>
            </a:extLst>
          </p:cNvPr>
          <p:cNvSpPr>
            <a:spLocks noGrp="1"/>
          </p:cNvSpPr>
          <p:nvPr/>
        </p:nvSpPr>
        <p:spPr>
          <a:xfrm>
            <a:off x="8067675" y="3619500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CF467C-C2CF-4AEF-B8F6-6178674BF80B}"/>
              </a:ext>
            </a:extLst>
          </p:cNvPr>
          <p:cNvSpPr>
            <a:spLocks noGrp="1"/>
          </p:cNvSpPr>
          <p:nvPr/>
        </p:nvSpPr>
        <p:spPr>
          <a:xfrm>
            <a:off x="8886825" y="3133725"/>
            <a:ext cx="2619375" cy="12001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DAAA4E-FBB0-4245-862E-E79833946E9E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推理时的临时改变，怎样保留下来？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475D42-7865-4DF4-AE64-6D3EF471ECC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h′公式为一般教学示意，方向与强度取决于具体方法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644227A-E99B-4363-9F81-5BD8081D492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6E1D13-3261-4146-A503-3B13A119DE0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蒸馏训练把行为变化写进学生权重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C0E9B2-3AED-4137-A388-D3BBE3C55F7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06580D-545E-41F2-991B-FD359319711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2026；App. D.4；机制教学示意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07C9C9-4110-4CB1-AFC3-E0FB6E71451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0BFD37-7BF7-4223-A29E-FA56105A0FB1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目标模型的引导版本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97499FA-E7E3-4534-8970-66A81239C2E5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4FD808-AE9B-432F-9A94-C92B30F3B2E3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3238500" cy="10001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  <a:p>
            <a:pPr>
              <a:def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训练前的学生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76D32EE-7B3F-4327-9890-6A9F8119F3FB}"/>
              </a:ext>
            </a:extLst>
          </p:cNvPr>
          <p:cNvSpPr>
            <a:spLocks noGrp="1"/>
          </p:cNvSpPr>
          <p:nvPr/>
        </p:nvSpPr>
        <p:spPr>
          <a:xfrm>
            <a:off x="4191000" y="45815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4D21D0-51F9-49EF-9CC7-D47CC6DD0029}"/>
              </a:ext>
            </a:extLst>
          </p:cNvPr>
          <p:cNvSpPr>
            <a:spLocks noGrp="1"/>
          </p:cNvSpPr>
          <p:nvPr/>
        </p:nvSpPr>
        <p:spPr>
          <a:xfrm>
            <a:off x="5076825" y="2533650"/>
            <a:ext cx="2905125" cy="257175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更新学生权重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607A9C20-3229-4A3D-90BA-E84757004890}"/>
              </a:ext>
            </a:extLst>
          </p:cNvPr>
          <p:cNvSpPr>
            <a:spLocks noGrp="1"/>
          </p:cNvSpPr>
          <p:nvPr/>
        </p:nvSpPr>
        <p:spPr>
          <a:xfrm>
            <a:off x="8248650" y="370522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DF1F9C-0EB6-4A7F-B41D-7075ED6D48F7}"/>
              </a:ext>
            </a:extLst>
          </p:cNvPr>
          <p:cNvSpPr>
            <a:spLocks noGrp="1"/>
          </p:cNvSpPr>
          <p:nvPr/>
        </p:nvSpPr>
        <p:spPr>
          <a:xfrm>
            <a:off x="9210675" y="3162300"/>
            <a:ext cx="2295525" cy="1333500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65F46F-34F6-4ACC-AB38-6CE644AF528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分布差异成为训练信号，参数更新发生在学生模型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4FDE-7A13-4CE0-9D6E-9B79A0F38BF0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KL方向和完整配方由具体方法定义，此图不指定超参数</a:t>
            </a:r>
          </a:p>
        </p:txBody>
      </p:sp>
      <p:pic>
        <p:nvPicPr>
          <p:cNvPr id="16" name="MechanismTeachingVideo">
            <a:hlinkClick action="ppaction://media"/>
            <a:extLst>
              <a:ext uri="{FF2B5EF4-FFF2-40B4-BE49-F238E27FC236}">
                <a16:creationId xmlns:a16="http://schemas.microsoft.com/office/drawing/2014/main" id="{A95F5366-EA2F-19A3-848B-D6F08E4EFA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FC2C53B-6458-4BB8-97D3-359B857F156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FFB5A8-DB0D-4434-A5B5-41782574B88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改善空间：先弄清百分数的分母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C6490D-1757-48B8-A42A-3EFDBF761DF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49EF91-3E94-4527-858A-CFA4CADAD78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C8806F-0403-4510-A876-54F0CC303F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1AF233-A365-4180-A0E4-E7348FA98BCE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101905-B9DD-4A22-A3A4-F6556F1D646A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515F25-DC3C-4331-9BAD-1BAE269D6691}"/>
              </a:ext>
            </a:extLst>
          </p:cNvPr>
          <p:cNvSpPr>
            <a:spLocks noGrp="1"/>
          </p:cNvSpPr>
          <p:nvPr/>
        </p:nvSpPr>
        <p:spPr>
          <a:xfrm>
            <a:off x="4562475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7E95F-0328-40F3-B0D6-D0B82E311347}"/>
              </a:ext>
            </a:extLst>
          </p:cNvPr>
          <p:cNvSpPr>
            <a:spLocks noGrp="1"/>
          </p:cNvSpPr>
          <p:nvPr/>
        </p:nvSpPr>
        <p:spPr>
          <a:xfrm>
            <a:off x="4562475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7C4FF4-BD4B-403E-8AF2-635F66A3F1F8}"/>
              </a:ext>
            </a:extLst>
          </p:cNvPr>
          <p:cNvSpPr>
            <a:spLocks noGrp="1"/>
          </p:cNvSpPr>
          <p:nvPr/>
        </p:nvSpPr>
        <p:spPr>
          <a:xfrm>
            <a:off x="8439150" y="2238375"/>
            <a:ext cx="30575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6F82A7-FAEA-4752-8A85-AF596DB03395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30575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E7DA44-1602-4B63-8C34-E1AC1975F615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59F00F-AB54-4C27-8752-689A0680072F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42862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9CFB37-63C8-44F3-A9D1-6F199868BE94}"/>
              </a:ext>
            </a:extLst>
          </p:cNvPr>
          <p:cNvSpPr>
            <a:spLocks noGrp="1"/>
          </p:cNvSpPr>
          <p:nvPr/>
        </p:nvSpPr>
        <p:spPr>
          <a:xfrm>
            <a:off x="4981575" y="4505325"/>
            <a:ext cx="6524625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CD33FA-74B2-45C4-9F55-A49C9D8BF8C1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50、70、100是教学数值，40%不是论文结果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7593404-3D11-4CA6-9C59-48BE0F55B9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二  模型改进  Anthropic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4C0453-28EA-4B81-8660-6C552B0532EF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同一案例中，不受限方法搜索取得更大改善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95794-ACF8-450C-B4D8-6DF0C4741ED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B81C64-6684-484F-9F42-B71EFEFEDC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B90C9D-190D-4E91-9109-54054082A11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D1ECA2-F7AF-4DF9-B6F4-761A41CCBC68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Qwen3.5-2B谄媚任务：前150个已评分方法</a:t>
            </a:r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/>
        </p:nvGraphicFramePr>
        <p:xfrm>
          <a:off x="685800" y="2667000"/>
          <a:ext cx="7019925" cy="308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8379029-03DA-42A4-AB75-BD359E12F239}"/>
              </a:ext>
            </a:extLst>
          </p:cNvPr>
          <p:cNvSpPr>
            <a:spLocks noGrp="1"/>
          </p:cNvSpPr>
          <p:nvPr/>
        </p:nvSpPr>
        <p:spPr>
          <a:xfrm>
            <a:off x="8172450" y="2914650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比较搜索条件</a:t>
            </a:r>
          </a:p>
          <a:p>
            <a:pPr>
              <a:def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允许的方法不同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40BCE1-55F0-4A1F-BE65-BBF02EEA18C9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3333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每条件一次运行</a:t>
            </a:r>
          </a:p>
          <a:p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E67389-E9E6-4018-8959-785B58410696}"/>
              </a:ext>
            </a:extLst>
          </p:cNvPr>
          <p:cNvSpPr>
            <a:spLocks noGrp="1"/>
          </p:cNvSpPr>
          <p:nvPr/>
        </p:nvSpPr>
        <p:spPr>
          <a:xfrm>
            <a:off x="685800" y="5934075"/>
            <a:ext cx="108204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横轴：改善空间关闭比例；选取[4] Fig.20中的三项比较</a:t>
            </a: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54D8147-38C4-4633-A4F8-067A61A9162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0ECF2C-7FE0-498F-B95D-0DC01B8C4EC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另一项任务：把发布前评测跑清楚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EA3BED-9CD9-4F58-B3A9-8C3BA1CC94F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A1251B-E608-41DA-A448-62B0702D3FD3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31CAD-533A-4D57-980A-BE015FC11069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401FC1-D1A6-4597-8544-BBFD42FACD0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1082040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发布前，怎样检查模型是否达到要求？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84DA76-4A24-481C-BE3E-FEAA473106C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CBE747-6DB5-4A3E-8A80-26028E3C3C31}"/>
              </a:ext>
            </a:extLst>
          </p:cNvPr>
          <p:cNvSpPr>
            <a:spLocks noGrp="1"/>
          </p:cNvSpPr>
          <p:nvPr/>
        </p:nvSpPr>
        <p:spPr>
          <a:xfrm>
            <a:off x="4095750" y="333375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确定本次评测目标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A62309-EE54-40D8-B791-2B66F226A12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36956D-1CA7-47E3-98F3-52767129E73F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4F0054-6CE8-439C-8D08-38CF25D90A3C}"/>
              </a:ext>
            </a:extLst>
          </p:cNvPr>
          <p:cNvSpPr>
            <a:spLocks noGrp="1"/>
          </p:cNvSpPr>
          <p:nvPr/>
        </p:nvSpPr>
        <p:spPr>
          <a:xfrm>
            <a:off x="4095750" y="4533900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找工具、写命令、检查结果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89122A-85AA-4CFB-BE9C-19345DEABE67}"/>
              </a:ext>
            </a:extLst>
          </p:cNvPr>
          <p:cNvSpPr>
            <a:spLocks noGrp="1"/>
          </p:cNvSpPr>
          <p:nvPr/>
        </p:nvSpPr>
        <p:spPr>
          <a:xfrm>
            <a:off x="685800" y="54387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291328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162CFA05-E1B4-4D8F-8F18-FAA66574C34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279D9-2C7C-468F-8081-1E49CEB5FA8B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执行之前，研究员先审阅计划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2B8B5E-13C6-476B-A3DF-8D7CF060E56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A3185C-1126-4B79-99A0-BDB07A43337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6B7228-6EF9-4179-A2D5-478A12F7EEC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6C5CD-7B17-4A22-8547-CC6446DCD5F4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作者给Codex的要求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5C4A0F-26FE-4CB2-9E97-ABD7E954575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108204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89F05B-412B-4E49-9CA8-AC5C57A7B411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4D174-1010-405C-B355-68E4BB57D2CC}"/>
              </a:ext>
            </a:extLst>
          </p:cNvPr>
          <p:cNvSpPr>
            <a:spLocks noGrp="1"/>
          </p:cNvSpPr>
          <p:nvPr/>
        </p:nvSpPr>
        <p:spPr>
          <a:xfrm>
            <a:off x="685800" y="5133975"/>
            <a:ext cx="323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38BD5F7-5299-43C5-9865-FD5DA022748F}"/>
              </a:ext>
            </a:extLst>
          </p:cNvPr>
          <p:cNvSpPr>
            <a:spLocks noGrp="1"/>
          </p:cNvSpPr>
          <p:nvPr/>
        </p:nvSpPr>
        <p:spPr>
          <a:xfrm>
            <a:off x="391477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8E2956-C699-471A-A78F-C5BF8411BDAD}"/>
              </a:ext>
            </a:extLst>
          </p:cNvPr>
          <p:cNvSpPr>
            <a:spLocks noGrp="1"/>
          </p:cNvSpPr>
          <p:nvPr/>
        </p:nvSpPr>
        <p:spPr>
          <a:xfrm>
            <a:off x="4686300" y="5133975"/>
            <a:ext cx="31051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59A3E6EE-D859-4DA1-831F-C587C544036C}"/>
              </a:ext>
            </a:extLst>
          </p:cNvPr>
          <p:cNvSpPr>
            <a:spLocks noGrp="1"/>
          </p:cNvSpPr>
          <p:nvPr/>
        </p:nvSpPr>
        <p:spPr>
          <a:xfrm>
            <a:off x="7858125" y="5248275"/>
            <a:ext cx="523875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498449-12D0-4E13-BACB-F9E7DCED9D4A}"/>
              </a:ext>
            </a:extLst>
          </p:cNvPr>
          <p:cNvSpPr>
            <a:spLocks noGrp="1"/>
          </p:cNvSpPr>
          <p:nvPr/>
        </p:nvSpPr>
        <p:spPr>
          <a:xfrm>
            <a:off x="8667750" y="5133975"/>
            <a:ext cx="28384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209884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FD55F66-8193-4DD7-9E9C-6F950EE8E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研发流程  OpenAI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1AFD6-216C-4037-B6C7-45692D3A0FA0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Runme让下一次任务能接着做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390CFC-43FF-44E0-852C-E69BD136E05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485EA-AD78-4DB5-B290-A3E02E777CB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Codex评测,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DA7E-F0B3-4D0E-87E2-7117DDE6C25F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3737C7-3EC6-45AE-8281-5638C35CA3D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Runme笔记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381AEB-4F95-4E05-A902-D4534BF6EAC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目标与计划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8825F4-3D8F-4B47-96E6-3A6695F7449B}"/>
              </a:ext>
            </a:extLst>
          </p:cNvPr>
          <p:cNvSpPr>
            <a:spLocks noGrp="1"/>
          </p:cNvSpPr>
          <p:nvPr/>
        </p:nvSpPr>
        <p:spPr>
          <a:xfrm>
            <a:off x="4095750" y="30765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为什么做，准备怎样做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5C425B-F299-4BD0-907E-198AB56EE26E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C0B341-0D10-4174-90FE-2F7748EF0955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30289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命令与输出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70887D-4D48-418F-BC63-1B69D57740CD}"/>
              </a:ext>
            </a:extLst>
          </p:cNvPr>
          <p:cNvSpPr>
            <a:spLocks noGrp="1"/>
          </p:cNvSpPr>
          <p:nvPr/>
        </p:nvSpPr>
        <p:spPr>
          <a:xfrm>
            <a:off x="4095750" y="4181475"/>
            <a:ext cx="7410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实际做了什么，发生了什么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900A3-FB8B-40C5-AD2C-DC2DDE21DCFE}"/>
              </a:ext>
            </a:extLst>
          </p:cNvPr>
          <p:cNvSpPr>
            <a:spLocks noGrp="1"/>
          </p:cNvSpPr>
          <p:nvPr/>
        </p:nvSpPr>
        <p:spPr>
          <a:xfrm>
            <a:off x="685800" y="50863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610CF1-3742-4E90-AB49-65DAD2D393DD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0289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解释与取舍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498E3F-2F17-486D-BC7F-9EBEF3775434}"/>
              </a:ext>
            </a:extLst>
          </p:cNvPr>
          <p:cNvSpPr>
            <a:spLocks noGrp="1"/>
          </p:cNvSpPr>
          <p:nvPr/>
        </p:nvSpPr>
        <p:spPr>
          <a:xfrm>
            <a:off x="4095750" y="5334000"/>
            <a:ext cx="741045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下一次任务可以读取判断依据</a:t>
            </a:r>
          </a:p>
        </p:txBody>
      </p:sp>
    </p:spTree>
    <p:extLst>
      <p:ext uri="{BB962C8B-B14F-4D97-AF65-F5344CB8AC3E}">
        <p14:creationId xmlns:p14="http://schemas.microsoft.com/office/powerpoint/2010/main" val="932201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70499B4-1630-4A3A-9643-4D6EBC831A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B7E25F-E6A2-4ED4-80CE-A56B68C0C51A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AlphaEvolve把程序候选交给自动评测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0F7F09-86DE-422F-BCE0-15DD2F1455D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F0E957-DDE6-4EFB-AAD9-2491505DE2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87AECA-538F-45E3-BE2D-B4E9309AF09A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53A8F0-1F93-4270-AB2A-EA8AB816F039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04800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提出程序候选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EC60B0F-5B7F-4344-8225-B86F28992709}"/>
              </a:ext>
            </a:extLst>
          </p:cNvPr>
          <p:cNvSpPr>
            <a:spLocks noGrp="1"/>
          </p:cNvSpPr>
          <p:nvPr/>
        </p:nvSpPr>
        <p:spPr>
          <a:xfrm>
            <a:off x="40005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E28EF4-6C6A-47EE-A9CA-982650BFC7F3}"/>
              </a:ext>
            </a:extLst>
          </p:cNvPr>
          <p:cNvSpPr>
            <a:spLocks noGrp="1"/>
          </p:cNvSpPr>
          <p:nvPr/>
        </p:nvSpPr>
        <p:spPr>
          <a:xfrm>
            <a:off x="4933950" y="2686050"/>
            <a:ext cx="2952750" cy="1419225"/>
          </a:xfrm>
          <a:prstGeom prst="rect">
            <a:avLst/>
          </a:prstGeom>
          <a:solidFill>
            <a:srgbClr val="EFE5DA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执行与评测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正确性、性能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388BD2BB-E42A-486B-8EDB-EC864ABB5373}"/>
              </a:ext>
            </a:extLst>
          </p:cNvPr>
          <p:cNvSpPr>
            <a:spLocks noGrp="1"/>
          </p:cNvSpPr>
          <p:nvPr/>
        </p:nvSpPr>
        <p:spPr>
          <a:xfrm>
            <a:off x="8153400" y="3267075"/>
            <a:ext cx="609600" cy="228600"/>
          </a:xfrm>
          <a:prstGeom prst="rightArrow">
            <a:avLst/>
          </a:prstGeom>
          <a:solidFill>
            <a:srgbClr val="167F78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4D4C6B-B4F9-4FD0-9428-563968D0AAEE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419350" cy="1419225"/>
          </a:xfrm>
          <a:prstGeom prst="rect">
            <a:avLst/>
          </a:prstGeom>
          <a:solidFill>
            <a:srgbClr val="E7EFEB"/>
          </a:solidFill>
          <a:ln w="0">
            <a:noFill/>
          </a:ln>
        </p:spPr>
        <p:txBody>
          <a:bodyPr lIns="171450" tIns="171450" rIns="171450" bIns="171450"/>
          <a:lstStyle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保留较好程序</a:t>
            </a:r>
          </a:p>
          <a:p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继续产生候选</a:t>
            </a:r>
          </a:p>
        </p:txBody>
      </p:sp>
      <p:sp>
        <p:nvSpPr>
          <p:cNvPr id="11" name="箭头: 左 10">
            <a:extLst>
              <a:ext uri="{FF2B5EF4-FFF2-40B4-BE49-F238E27FC236}">
                <a16:creationId xmlns:a16="http://schemas.microsoft.com/office/drawing/2014/main" id="{6A22AAB6-5A2B-4C18-B3B7-29C45926D881}"/>
              </a:ext>
            </a:extLst>
          </p:cNvPr>
          <p:cNvSpPr>
            <a:spLocks noGrp="1"/>
          </p:cNvSpPr>
          <p:nvPr/>
        </p:nvSpPr>
        <p:spPr>
          <a:xfrm>
            <a:off x="2152650" y="4533900"/>
            <a:ext cx="7810500" cy="228600"/>
          </a:xfrm>
          <a:prstGeom prst="leftArrow">
            <a:avLst/>
          </a:prstGeom>
          <a:solidFill>
            <a:srgbClr val="E7EFEB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DCD9265-B3DB-405D-A71E-35CFC18FA4D7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08204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改进对象：能运行和检查的算法程序</a:t>
            </a:r>
          </a:p>
        </p:txBody>
      </p:sp>
    </p:spTree>
    <p:extLst>
      <p:ext uri="{BB962C8B-B14F-4D97-AF65-F5344CB8AC3E}">
        <p14:creationId xmlns:p14="http://schemas.microsoft.com/office/powerpoint/2010/main" val="467619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5251CE6-42B0-4646-A7F4-7D42EBAB21D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其他研发对象  Google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E704DA-613A-4EE6-812D-FFAECB74316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算子加速23%，对应总训练时间减少1%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9BB5F8-6B0C-4AA5-AEFF-B033BF2571C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758D98-86DB-4D99-955B-A9754343AEB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[6] AlphaEvolve, 2025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80876-8B0D-4EE1-B2A1-AAE88599924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57A21D-0DF1-47CD-B6B5-B6EAE1D72432}"/>
              </a:ext>
            </a:extLst>
          </p:cNvPr>
          <p:cNvSpPr>
            <a:spLocks noGrp="1"/>
          </p:cNvSpPr>
          <p:nvPr/>
        </p:nvSpPr>
        <p:spPr>
          <a:xfrm>
            <a:off x="685800" y="2200275"/>
            <a:ext cx="495300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23%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7C4C6-C8B2-47C4-A414-FF8CBE8A577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所举矩阵乘法kernel的加速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60B6D9-3CA0-4CF1-9FF1-73B51DC15056}"/>
              </a:ext>
            </a:extLst>
          </p:cNvPr>
          <p:cNvSpPr>
            <a:spLocks noGrp="1"/>
          </p:cNvSpPr>
          <p:nvPr/>
        </p:nvSpPr>
        <p:spPr>
          <a:xfrm>
            <a:off x="7029450" y="2200275"/>
            <a:ext cx="4476750" cy="1590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F1DAC1-02B9-4C31-AE6E-DFDBED9D2400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4476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Gemini总训练时间减少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DE3655-A875-49B2-9686-3A386E8B1369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40BB1F-BBC3-4DD1-9844-096E7660FED5}"/>
              </a:ext>
            </a:extLst>
          </p:cNvPr>
          <p:cNvSpPr>
            <a:spLocks noGrp="1"/>
          </p:cNvSpPr>
          <p:nvPr/>
        </p:nvSpPr>
        <p:spPr>
          <a:xfrm>
            <a:off x="685800" y="5705475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局部与整体的分母不同</a:t>
            </a:r>
          </a:p>
        </p:txBody>
      </p:sp>
    </p:spTree>
    <p:extLst>
      <p:ext uri="{BB962C8B-B14F-4D97-AF65-F5344CB8AC3E}">
        <p14:creationId xmlns:p14="http://schemas.microsoft.com/office/powerpoint/2010/main" val="117060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506E1F5-953B-4060-903C-66AC87333CF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三  开放研究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8285F4-08DB-403D-A430-D4A157EE20E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Agent策略与自身代码，也成为改进对象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B293A7-6AC9-4539-B988-7967DE7A9FC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B9B963-E3B8-4993-A1F1-02C721B1C13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6E903C-AA58-4794-9D85-2EE376859A62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DD2A8D-71EF-4EE0-BC72-4DF8E19AC097}"/>
              </a:ext>
            </a:extLst>
          </p:cNvPr>
          <p:cNvSpPr>
            <a:spLocks noGrp="1"/>
          </p:cNvSpPr>
          <p:nvPr/>
        </p:nvSpPr>
        <p:spPr>
          <a:xfrm>
            <a:off x="685800" y="2219325"/>
            <a:ext cx="51149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0D54CF-0CB0-4C6F-934F-04D24B1870D6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5019675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生成任务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复用经验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贡献归因支持策略训练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C8837B-F9E4-47E4-A011-1B4D0DC35262}"/>
              </a:ext>
            </a:extLst>
          </p:cNvPr>
          <p:cNvSpPr>
            <a:spLocks noGrp="1"/>
          </p:cNvSpPr>
          <p:nvPr/>
        </p:nvSpPr>
        <p:spPr>
          <a:xfrm>
            <a:off x="6629400" y="2219325"/>
            <a:ext cx="48768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Sakana DGM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5BEFCD-EA26-4D70-B8E5-98365C5094BD}"/>
              </a:ext>
            </a:extLst>
          </p:cNvPr>
          <p:cNvSpPr>
            <a:spLocks noGrp="1"/>
          </p:cNvSpPr>
          <p:nvPr/>
        </p:nvSpPr>
        <p:spPr>
          <a:xfrm>
            <a:off x="6629400" y="3124200"/>
            <a:ext cx="4876800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修改Agent自身代码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运行基准检查</a:t>
            </a:r>
          </a:p>
          <a:p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保留候选谱系继续探索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139AB7-4C91-462B-83CD-EED535D1B2D0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3C0310-D04D-4A21-95C2-5346A97D50E1}"/>
              </a:ext>
            </a:extLst>
          </p:cNvPr>
          <p:cNvSpPr>
            <a:spLocks noGrp="1"/>
          </p:cNvSpPr>
          <p:nvPr/>
        </p:nvSpPr>
        <p:spPr>
          <a:xfrm>
            <a:off x="685800" y="5591175"/>
            <a:ext cx="108204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策略训练与代码自改，需要分别追踪</a:t>
            </a:r>
          </a:p>
        </p:txBody>
      </p:sp>
    </p:spTree>
    <p:extLst>
      <p:ext uri="{BB962C8B-B14F-4D97-AF65-F5344CB8AC3E}">
        <p14:creationId xmlns:p14="http://schemas.microsoft.com/office/powerpoint/2010/main" val="1321425185"/>
      </p:ext>
    </p:extLst>
  </p:cSld>
  <p:clrMapOvr>
    <a:masterClrMapping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529AC-0B1E-4661-A8BD-187B2A87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349DE-6813-4857-81DF-819BFA4F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这些案例改变了研发系统的不同部分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AD194-309F-4C91-BF2E-C250440A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21646-EB60-4AC0-ABAD-C02A4B47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F15E0-8EBD-4CCD-8805-C37A28CD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D2C35-A893-4C15-8A14-603782B869AA}"/>
              </a:ext>
            </a:extLst>
          </p:cNvPr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476625"/>
                <a:gridCol w="4772025"/>
              </a:tblGrid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改动对象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怎样看效果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T w="9525">
                      <a:solidFill>
                        <a:srgbClr val="D5D9D5"/>
                      </a:solidFill>
                      <a:prstDash val="solid"/>
                    </a:lnT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E7EFEB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Anthropic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目标模型权重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训练后的行为与能力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流程与记录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命令结果、研究员判断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算法程序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正确性与性能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  <a:tr h="771525">
                <a:tc>
                  <a:txBody>
                    <a:bodyPr lIns="114300" tIns="114300" rIns="114300" bIns="114300"/>
                    <a:lstStyle/>
                    <a:p>
                      <a:r>
                        <a:rPr sz="2325" b="1">
                          <a:solidFill>
                            <a:srgbClr val="167F7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开放研究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9D5"/>
                      </a:solidFill>
                      <a:prstDash val="solid"/>
                    </a:lnL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3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策略或代码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0">
                          <a:solidFill>
                            <a:srgbClr val="1E35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任务评测、版本表现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9D5"/>
                      </a:solidFill>
                      <a:prstDash val="solid"/>
                    </a:lnR>
                    <a:lnB w="9525">
                      <a:solidFill>
                        <a:srgbClr val="D5D9D5"/>
                      </a:solidFill>
                      <a:prstDash val="solid"/>
                    </a:lnB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458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5FF18-C92E-4DE7-A626-AF25F0A1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5B785-E956-4E54-96F2-12EC8D7C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把上一轮的成果带进下一轮研发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C7F90-061B-47A3-B5B3-FD8CE734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FEC61-7C8D-420B-9308-4F1B65A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75D19-DCBC-4A63-8ED4-7E0C87E6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F0F68-7B06-47F2-9C14-E9DD0B33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提方法、跑实验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4C904-97D3-4361-994A-2110054F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4322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4121E-B652-46A5-BF5B-E6480C6A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3840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这一轮的成果</a:t>
            </a:r>
          </a:p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模型、算法或代码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E747E-9DEE-4312-BC4F-7948A67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43225"/>
            <a:ext cx="666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33642-D194-457D-B35E-4EF01BCE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38400"/>
            <a:ext cx="2809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检查效果</a:t>
            </a:r>
          </a:p>
          <a:p xmlns:a="http://schemas.openxmlformats.org/drawingml/2006/main">
            <a:pPr>
              <a:def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保存方法与结果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57BA1-D6C2-4DBC-B714-55EA4F5C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实验记录留下来，下次接着试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F23C7-0156-4C6D-BF23-437F88DB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24375"/>
            <a:ext cx="9144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B79DE-7C15-4285-993A-9F31E59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DGM让改好的Agent继续探索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7F731-1165-43DE-A58A-619A8E88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00700"/>
            <a:ext cx="91440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65D3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F9DEB-3860-4987-99DB-F062B13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下一代基础模型，能否也这样持续改进？</a:t>
            </a:r>
          </a:p>
        </p:txBody>
      </p:sp>
    </p:spTree>
    <p:extLst>
      <p:ext uri="{BB962C8B-B14F-4D97-AF65-F5344CB8AC3E}">
        <p14:creationId xmlns:p14="http://schemas.microsoft.com/office/powerpoint/2010/main" val="5811578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6B942-4FC7-4F89-BB7E-619ACC09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585C4-8A9A-42EB-9EE2-EDAED0B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下一轮，能不能研究得更好？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C9FE0-68D7-4A7A-8972-22CFF4F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895B4-67BB-491B-804B-CB70C77D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2026；[8] DGM, 2025；[10] Anthropic RSI分析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044F1-3AF6-4226-B80E-71D9C2A1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F2FA6-57AA-40CB-876E-0D1910AD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98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43E22-C840-489E-BB56-6B9915A7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90775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换一组新任务，还能做好吗？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8038E-1881-41A2-9D01-9AE9E943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98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25DDE-1608-4A6E-AC94-88361FF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24250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同样的时间和算力，能找到更好的方法吗？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59A12-460C-4B08-A009-E9694BB8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98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40851-CA29-4F70-8842-1F3F88A2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57725"/>
            <a:ext cx="9239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连续改几轮，会退步或钻测试的空子吗？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507F7-78D2-44E9-B0ED-A28720FE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一种比较办法：原版与新版做同一组任务，资源预算相同</a:t>
            </a:r>
          </a:p>
        </p:txBody>
      </p:sp>
    </p:spTree>
    <p:extLst>
      <p:ext uri="{BB962C8B-B14F-4D97-AF65-F5344CB8AC3E}">
        <p14:creationId xmlns:p14="http://schemas.microsoft.com/office/powerpoint/2010/main" val="14305842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0430A-E1F2-4A7E-AB05-2F1361E9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四  回到RSI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82AA9-59B6-45CB-A521-036335E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AI已经参与研发，接下来要看下一轮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6FF4F-688D-4738-B7E2-8B2B95EA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99615-8EE8-4ADF-ABA0-CEBD78B6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23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AAR；[5] Codex评测；[6] AlphaEvolve；[7] AgentEvolver；[8] DGM；[10] RSI分析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07CD-8C6D-4FAB-B171-3754D403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16F6E-0E86-4446-8DBF-8DE00D0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能改模型，也能改进研发Agent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E63B1-DED0-4EB8-8F0A-00900641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8204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我们看到了训练办法、评测记录、算法和代码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EF65B-A82D-43A0-A3D5-42695F7A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218D7-541E-4678-A67C-020C6102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改进后的系统，能否接着研发更强的基础模型？</a:t>
            </a:r>
          </a:p>
        </p:txBody>
      </p:sp>
    </p:spTree>
    <p:extLst>
      <p:ext uri="{BB962C8B-B14F-4D97-AF65-F5344CB8AC3E}">
        <p14:creationId xmlns:p14="http://schemas.microsoft.com/office/powerpoint/2010/main" val="1679372583"/>
      </p:ext>
    </p:extLst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3A0203-CCA8-436C-9B43-56CE5426E56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A658B-D583-40E0-8F5E-BA564627CADE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6AE70F-1920-4CD1-B74F-363411E17F7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80A91B-2FB3-4FB4-9A51-DCBE788EE9B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2A3D3-ED00-471F-99F2-41A2698E0446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0F3A71-66B4-41C0-8DBE-FBA0E0D111D3}"/>
              </a:ext>
            </a:extLst>
          </p:cNvPr>
          <p:cNvSpPr>
            <a:spLocks noGrp="1"/>
          </p:cNvSpPr>
          <p:nvPr/>
        </p:nvSpPr>
        <p:spPr>
          <a:xfrm>
            <a:off x="685800" y="240982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Agent改了什么？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A2280-2D01-4401-9C7E-36EBB265C2A5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怎么知道改好了？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5FCC32-3683-4106-9286-B2A271823A4F}"/>
              </a:ext>
            </a:extLst>
          </p:cNvPr>
          <p:cNvSpPr>
            <a:spLocks noGrp="1"/>
          </p:cNvSpPr>
          <p:nvPr/>
        </p:nvSpPr>
        <p:spPr>
          <a:xfrm>
            <a:off x="685800" y="4600575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改进能否帮助下一轮研发？</a:t>
            </a:r>
          </a:p>
        </p:txBody>
      </p:sp>
    </p:spTree>
    <p:extLst>
      <p:ext uri="{BB962C8B-B14F-4D97-AF65-F5344CB8AC3E}">
        <p14:creationId xmlns:p14="http://schemas.microsoft.com/office/powerpoint/2010/main" val="5292659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42DBCFA-2AB2-4F67-A929-8CAC1F5FC1E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5571B2-8D37-49DF-B5B3-F847F8B3E6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历史与模型研发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1BE20-E7AB-4E62-A71B-99D5AC92065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A91C5C-EEEF-48B9-AE74-21E55CE43BC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16AC5C-36DB-40DC-8A3B-91E6610CC14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D9BF33-AE91-4F9C-BFF3-F5A18AD2AAD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[1] Good I. J. Speculations Concerning the First Ultraintelligent Machine. Advances in Computers, 1965, 6:31–88.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6D29ED-1D08-4EE5-A526-524DB5947501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[2] Schmidhuber J. Gödel Machines: Self-Referential Universal Problem Solvers Making Provably Optimal Self-Improvements. 2003/2004技术报告.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8905B-1567-4144-B0F9-618D2BF0EE5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[3] Zoph B, Le Q V. Neural Architecture Search with Reinforcement Learning. arXiv:1611.01578, 2016.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6EAD5F-4993-4D58-A12E-5C4B34A59308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[4] Chen Y.-H., Wen J., Kirchner J. H. Automated Researchers Can Mitigate Well-Characterized Alignment Failures.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D93EAB-D321-4182-9E02-94CD3E6B493D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Codex. OpenAI Developers, 2026-08-25.</a:t>
            </a:r>
          </a:p>
        </p:txBody>
      </p:sp>
    </p:spTree>
    <p:extLst>
      <p:ext uri="{BB962C8B-B14F-4D97-AF65-F5344CB8AC3E}">
        <p14:creationId xmlns:p14="http://schemas.microsoft.com/office/powerpoint/2010/main" val="1347348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1C499F-8E50-4F14-B210-9D3E0D744A0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B482BA-D2E1-4094-A330-5096332BAB1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参考文献  算法、开放研究与RSI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F68D9D-BD1A-438B-92E1-1375CD56DA5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F99E9F-4D55-4CDF-9D3F-7D149658F109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完整链接与来源定位见备注及来源手册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9ED161-593F-44D2-AC89-A08A995614C8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45AC7F-AD10-4629-BFAE-4DD563D8CB11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[6] Google DeepMind. AlphaEvolve: A Gemini-powered coding agent for designing advanced algorithms. 2025.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89DB4A-EE85-472B-962C-423ED7DDC05E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[7] AgentEvolver: Towards Efficient Self-Evolving Agent System. arXiv:2511.10395,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55B100-F5B1-4B2E-A0CC-7BA2569F5CDB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[8] Zhang等. Darwin Gödel Machine: Open-Ended Evolution of Self-Improving Agents. 2025；同团队官方说明.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3B7449-5B31-4E22-A8A3-06D323A21B3B}"/>
              </a:ext>
            </a:extLst>
          </p:cNvPr>
          <p:cNvSpPr>
            <a:spLocks noGrp="1"/>
          </p:cNvSpPr>
          <p:nvPr/>
        </p:nvSpPr>
        <p:spPr>
          <a:xfrm>
            <a:off x="685800" y="406717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[9] OpenAI. Research acceleration: The view inside OpenAI. 2026.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C56993-DDC5-4178-912E-035D3F70CBCC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[10] Anthropic Institute. When AI builds itself. 2026.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73CECB-4A27-4C0F-8D84-5D475F1C6424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[11] ModelScope. AgentEvolver官方代码仓库. Apache-2.0.</a:t>
            </a:r>
          </a:p>
        </p:txBody>
      </p:sp>
    </p:spTree>
    <p:extLst>
      <p:ext uri="{BB962C8B-B14F-4D97-AF65-F5344CB8AC3E}">
        <p14:creationId xmlns:p14="http://schemas.microsoft.com/office/powerpoint/2010/main" val="358105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58A7FAF-7E17-4CBC-B534-383461D523C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D05D77-F436-4853-A2B5-71AED655F187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训练结果怎样避免只在排行榜上好看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C4290D-7AB1-4881-86D2-31AB8D2ABA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2581A-E638-4B1C-8E77-F7E0F8EA3FE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28CCF7-6049-4469-8F99-826AEF317A8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28070E-E96D-4726-8655-3A3560B3D988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研究Agent能看到爬坡评分，隐藏评测由独立评测器执行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BECA6F-E6A8-49C4-A3B2-FA69AAA1A837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能力门槛：MMLU、GSM8K、IFEval的95%置信区间检查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F8C526-40DB-4ABB-A2DC-4089C156BAF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held-out参与选择Petri方法时承担验证集作用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0C17DD-B7C8-4FD4-9191-A6ED7832E0C9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外部评测与代码监控降低风险，仍需检查取巧和泛化</a:t>
            </a:r>
          </a:p>
        </p:txBody>
      </p:sp>
    </p:spTree>
    <p:extLst>
      <p:ext uri="{BB962C8B-B14F-4D97-AF65-F5344CB8AC3E}">
        <p14:creationId xmlns:p14="http://schemas.microsoft.com/office/powerpoint/2010/main" val="1325196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5977F4-D72D-4919-BBF3-81F8D7B04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5FE13-B749-4648-8FCB-C22C6AD84D9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KL与改善空间的数学解释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5D9DF6-2995-4FA4-B673-447094216D6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35F8F7-95F9-46D9-9861-4FE5398107F8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7B74EA-A8E3-4BBB-AF01-8D5C1D10E3FE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D3681F-D293-4159-9CF1-53452029123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教学选定的KL(pT∥pθ) = Σ pT(y) log[pT(y)/pθ(y)]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C88DA4-7888-4D66-9978-01D04C6DFAC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优化学生参数，使学生输出分布接近教师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B873D6-D060-4BB5-A92D-4EF62C80BA3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单基准改善比例 = (得分 − 基线) / (最优 − 基线)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3CD3BC-9F69-4816-99F7-1BEAD3F15BDE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多基准汇总使用几何均值，负向指标需按原文转换</a:t>
            </a:r>
          </a:p>
        </p:txBody>
      </p:sp>
    </p:spTree>
    <p:extLst>
      <p:ext uri="{BB962C8B-B14F-4D97-AF65-F5344CB8AC3E}">
        <p14:creationId xmlns:p14="http://schemas.microsoft.com/office/powerpoint/2010/main" val="211773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697900-4B80-4A7B-9C72-B203707CC2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A29FB5-66E8-44C4-8541-2CE096DF557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前150个方法比较的适用范围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E7AF3A-42B5-42B1-99BE-8389EC20C0C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AE7E88-CEA7-4A45-8B41-C03088DF616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B76A56-6151-4E9F-83DE-960B954775B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AE4E3-0E90-41EF-A8DF-0AF05E7186D2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不受限研究允许探索不同训练配方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5DA887-80B1-4111-8B6B-4AF086D1AEE0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原样公共数据SFT与自由构造数据SFT限制训练方式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1CC83F-4186-4586-9F0D-74F6E324617C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23.3%、6.0%、2.9%对应Fig.20前150个已评分方法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656C09-BF95-4666-8002-E2363C9DC0D7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每条件一次，仅爬坡评测；不推断单一方法因果贡献</a:t>
            </a:r>
          </a:p>
        </p:txBody>
      </p:sp>
    </p:spTree>
    <p:extLst>
      <p:ext uri="{BB962C8B-B14F-4D97-AF65-F5344CB8AC3E}">
        <p14:creationId xmlns:p14="http://schemas.microsoft.com/office/powerpoint/2010/main" val="35836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CD053B8-24B7-4421-81BF-B2010C3F322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7E9E0C-573D-406C-979B-6E4BC12B9438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另一个实验：研究Agent只生成训练数据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A67A68-B9C2-464E-B02E-8032CC35C95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53D4124-450C-44F0-BA33-298DBAB89D2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7415D9-0A3D-41FF-B28C-0885EA0EE93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E87454-16CE-4527-9BFE-B9DE02D8F87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研究Agent：Sonnet 5；只能构造训练数据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7CD6CD-8163-4198-9D57-0A812AF1094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目标：Opus 4.8早期检查点，已有对齐SFT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C9B31-7FB9-4C1F-973C-E32C2B6D09FD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产生数据后训练目标模型，再做Petri评测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F79DD-03C0-4832-A9BD-4DAA90E9FDE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这个设置与Qwen激活引导实验分开</a:t>
            </a:r>
          </a:p>
        </p:txBody>
      </p:sp>
    </p:spTree>
    <p:extLst>
      <p:ext uri="{BB962C8B-B14F-4D97-AF65-F5344CB8AC3E}">
        <p14:creationId xmlns:p14="http://schemas.microsoft.com/office/powerpoint/2010/main" val="225452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A826AF-5B2F-4012-BBB1-49A9172C9F2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69834F-4D47-43E0-99CB-A94555B8D29C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65%与72%究竟衡量什么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96F40-18F3-45D4-A7ED-4196EC41FC4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7DE1CE-06B4-43F8-9C87-C8141A25107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FC3D02-F807-4927-B5B1-C5FAD2936AA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7A594-4EB8-4FFB-9762-08ACAB988E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所设十维Petri审计：覆盖加权的改善空间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B10A4B-FDA6-4236-9416-0633BF78D9B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公式：改善维度比例 × 改善比例的几何均值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852FA7-3995-4503-9F6F-5FEDE8D3C06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研究胜出检查点65%，发布版对照72%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BAAF7-78D7-4925-852F-C138B55BC5D6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它衡量设定维度的改善，不能读成总体安全通过率</a:t>
            </a:r>
          </a:p>
        </p:txBody>
      </p:sp>
    </p:spTree>
    <p:extLst>
      <p:ext uri="{BB962C8B-B14F-4D97-AF65-F5344CB8AC3E}">
        <p14:creationId xmlns:p14="http://schemas.microsoft.com/office/powerpoint/2010/main" val="1925094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2574169-C853-4407-8FF1-39BCA8A0F8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F900A5-A301-4B06-8950-A098978CB1A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3.1个Agent工作日怎样理解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E0C21-61BA-4801-9EE5-ECB9DA7D54F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0DF0C7-5EF6-4E08-811A-84298D33232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[9] OpenAI研究加速, 2026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182BAA-ABF1-4112-A4E8-5800CD7710DD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E6CB2-43E0-4B5F-A4C9-A6C849B6E7B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Agent运行工作日 / 人类工作日 = 3.1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F242E-869F-4F82-B2C9-516F3D4F273B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按8小时折算运行时长，截至2026年8月中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23A6D0-635D-47D2-86D9-639346812FAB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可以说明组织采用规模，不能直接换算产出效率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33246D-13F7-4BF8-A754-EDDC3D35E631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净提效还需质量、人工成本与失败任务等对照</a:t>
            </a:r>
          </a:p>
        </p:txBody>
      </p:sp>
    </p:spTree>
    <p:extLst>
      <p:ext uri="{BB962C8B-B14F-4D97-AF65-F5344CB8AC3E}">
        <p14:creationId xmlns:p14="http://schemas.microsoft.com/office/powerpoint/2010/main" val="1990055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EE0CCBC-1661-4461-83F6-612CA6284A5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FCA70-2417-4C53-8EAF-783B93F57EA3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代码开放与模型训练开放的区别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7D530-3E9E-41FF-8CC7-4489F9586C2E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FEB71-FBBF-42AD-9755-E54EC3C9AAF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[7] AgentEvolver, 2025；[8] DGM, 2025；[11] AgentEvolver代码库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DD518-6B18-4E53-9270-791265B0F4D7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CBF15A-B2A9-445B-B524-AF1A826C56E9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AgentEvolver支持任务生成、经验复用和策略训练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F9424-3408-46CA-B2AD-0EC324B377FE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DGM探索修改Agent工具与代码，底层权重需另查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5688BE-F9ED-4394-B266-640E04F4189A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框架代码可以开放，训练权重和数据可能另有条件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D409-C5C9-48E3-AC18-CFAD9EB6FBDD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复现应逐项确认模型、数据、环境和计算预算</a:t>
            </a:r>
          </a:p>
        </p:txBody>
      </p:sp>
    </p:spTree>
    <p:extLst>
      <p:ext uri="{BB962C8B-B14F-4D97-AF65-F5344CB8AC3E}">
        <p14:creationId xmlns:p14="http://schemas.microsoft.com/office/powerpoint/2010/main" val="4547835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938DCD7-8699-4826-9012-1ED7E1D55F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108204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2B697A-AAB0-442D-83F8-32B0BA3DBA24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108204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为什么人审不能单独判定RSI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FE3BDF-CBFB-4E3B-A40E-8A43DE523F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8B304A-18B9-4D80-A232-EC40E2832A1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239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Chen等, AAR, 2026；[5] Lewi, Codex评测, 2026；[8] DGM, 2025；[10] Anthropic RSI分析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E75365-2190-4721-9465-109DCB88B3A0}"/>
              </a:ext>
            </a:extLst>
          </p:cNvPr>
          <p:cNvSpPr>
            <a:spLocks noGrp="1"/>
          </p:cNvSpPr>
          <p:nvPr/>
        </p:nvSpPr>
        <p:spPr>
          <a:xfrm>
            <a:off x="11106150" y="64389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3810CF-5C9B-4AAE-9FAD-DB021B759254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人工审批说明谁控制目标、执行或发布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957019-E9D5-4585-AA60-645983CBD7DF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技术判断要追踪修改对象与能力反馈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98627-8258-451B-88B9-6AE64ED9C06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有审批的系统仍可能存在局部递归能力改进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6A94B1-E042-4F5C-BD99-D8E766B85892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没有审批也不保证持续后继研发或可靠结果</a:t>
            </a:r>
          </a:p>
        </p:txBody>
      </p:sp>
    </p:spTree>
    <p:extLst>
      <p:ext uri="{BB962C8B-B14F-4D97-AF65-F5344CB8AC3E}">
        <p14:creationId xmlns:p14="http://schemas.microsoft.com/office/powerpoint/2010/main" val="74820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3849</Words>
  <Application>Microsoft Office PowerPoint</Application>
  <DocSecurity>0</DocSecurity>
  <PresentationFormat>宽屏</PresentationFormat>
  <Paragraphs>596</Paragraphs>
  <Slides>34</Slides>
  <Notes>34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7" baseType="lpstr">
      <vt:lpstr>Aptos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云海 陈</cp:lastModifiedBy>
  <cp:revision>1</cp:revision>
  <dcterms:created xsi:type="dcterms:W3CDTF">2026-10-14T03:20:04Z</dcterms:created>
  <dcterms:modified xsi:type="dcterms:W3CDTF">2026-10-14T03:20:31Z</dcterms:modified>
</cp:coreProperties>
</file>