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3" r:id="rId2"/>
    <p:sldId id="264" r:id="rId3"/>
    <p:sldId id="265" r:id="rId4"/>
    <p:sldId id="266" r:id="rId5"/>
    <p:sldId id="267" r:id="rId6"/>
    <p:sldId id="268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改善空间</c:v>
          </c:tx>
          <c:spPr>
            <a:solidFill>
              <a:srgbClr val="167F78"/>
            </a:solidFill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950" b="1">
                    <a:solidFill>
                      <a:srgbClr val="1E3544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ns2="http://schemas.microsoft.com/office/drawing/2012/chart" xmlns:ns3="http://schemas.microsoft.com/office/drawing/2014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原样公共数据 SFT</c:v>
                </c:pt>
                <c:pt idx="1">
                  <c:v>自由构造数据 SFT</c:v>
                </c:pt>
                <c:pt idx="2">
                  <c:v>SFT + KL 自蒸馏</c:v>
                </c:pt>
                <c:pt idx="3">
                  <c:v>不受限方法搜索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0.06</c:v>
                </c:pt>
                <c:pt idx="1">
                  <c:v>2.9000000000000001E-2</c:v>
                </c:pt>
                <c:pt idx="2">
                  <c:v>0.16500000000000001</c:v>
                </c:pt>
                <c:pt idx="3">
                  <c:v>0.23300000000000001</c:v>
                </c:pt>
              </c:numCache>
            </c:numRef>
          </c:val>
          <c:extLst xmlns:ns2="http://schemas.microsoft.com/office/drawing/2012/chart" xmlns:ns3="http://schemas.microsoft.com/office/drawing/2014/chart">
            <c:ext xmlns:c16="http://schemas.microsoft.com/office/drawing/2014/chart" uri="{C3380CC4-5D6E-409C-BE32-E72D297353CC}">
              <c16:uniqueId val="{00000000-0B68-4E84-BF9C-DB743723F6C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800">
                <a:solidFill>
                  <a:srgbClr val="1E354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5"/>
          <c:min val="0"/>
        </c:scaling>
        <c:delete val="0"/>
        <c:axPos val="b"/>
        <c:majorGridlines>
          <c:spPr>
            <a:ln w="9525">
              <a:solidFill>
                <a:srgbClr val="D5D9D5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6768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AF8F3"/>
        </a:solidFill>
      </c:spPr>
    </c:plotArea>
    <c:plotVisOnly val="1"/>
    <c:dispBlanksAs val="zero"/>
    <c:showDLblsOverMax val="1"/>
  </c:chart>
  <c:spPr>
    <a:solidFill>
      <a:srgbClr val="FAF8F3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8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从左往右看，一轮研究需要交付一个真正能运行的方法。研究</a:t>
            </a:r>
            <a:r>
              <a:rPr lang="en-US" altLang="zh-CN"/>
              <a:t>Agent</a:t>
            </a:r>
            <a:r>
              <a:rPr lang="zh-CN" altLang="en-US"/>
              <a:t>先读资料、看已有结果，提出训练假设；在看到本轮结果之前，先冻结</a:t>
            </a:r>
            <a:r>
              <a:rPr lang="en-US" altLang="zh-CN"/>
              <a:t>mini-paper</a:t>
            </a:r>
            <a:r>
              <a:rPr lang="zh-CN" altLang="en-US"/>
              <a:t>，把方法、数据和训练目标写清楚。随后提交实现，检查代码是否和说明一致、是否违反实验规则。系统再运行训练，更新目标模型权重；典型预算约一张</a:t>
            </a:r>
            <a:r>
              <a:rPr lang="en-US" altLang="zh-CN"/>
              <a:t>H200</a:t>
            </a:r>
            <a:r>
              <a:rPr lang="zh-CN" altLang="en-US"/>
              <a:t>、半小时。最后由独立评测器同时检查安全改善和能力退化，所以不是分数提高就够了，还要看有没有明显副作用。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mini-paper</a:t>
            </a:r>
            <a:r>
              <a:rPr lang="zh-CN" altLang="en-US"/>
              <a:t>是训练前冻结的方法记录，不含事后结果；评测对比训练前后表现。基本规则禁止使用评测数据，也禁止从研究</a:t>
            </a:r>
            <a:r>
              <a:rPr lang="en-US" altLang="zh-CN"/>
              <a:t>Agent</a:t>
            </a:r>
            <a:r>
              <a:rPr lang="zh-CN" altLang="en-US"/>
              <a:t>或更强模型蒸馏。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§3.1—3.2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9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一次尝试结束以后，结果不会随着聊天结束就消失。多个研究</a:t>
            </a:r>
            <a:r>
              <a:rPr lang="en-US" altLang="zh-CN"/>
              <a:t>Agent</a:t>
            </a:r>
            <a:r>
              <a:rPr lang="zh-CN" altLang="en-US"/>
              <a:t>可以并行探索不同候选，而文献综述、方法代码、实验得分和失败经验会进入共享记录。新会话开始时，可以重新读取这些持久记录，再决定下一次往哪里试。所以这里的记忆是一套外部工程机制：经验能被后续会话复用，但研究</a:t>
            </a:r>
            <a:r>
              <a:rPr lang="en-US" altLang="zh-CN"/>
              <a:t>Agent</a:t>
            </a:r>
            <a:r>
              <a:rPr lang="zh-CN" altLang="en-US"/>
              <a:t>自己的模型权重并没有因此自动更新。真正被训练的是目标模型，而不是研究</a:t>
            </a:r>
            <a:r>
              <a:rPr lang="en-US" altLang="zh-CN"/>
              <a:t>Agent</a:t>
            </a:r>
            <a:r>
              <a:rPr lang="zh-CN" altLang="en-US"/>
              <a:t>本身。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候选。每轮为新会话，连续性由持久记录承担；不要把读取记录说成研究</a:t>
            </a:r>
            <a:r>
              <a:rPr lang="en-US" altLang="zh-CN"/>
              <a:t>Agent</a:t>
            </a:r>
            <a:r>
              <a:rPr lang="zh-CN" altLang="en-US"/>
              <a:t>参数更新。</a:t>
            </a:r>
            <a:r>
              <a:rPr lang="en-US" altLang="zh-CN"/>
              <a:t>[4]§3</a:t>
            </a:r>
            <a:r>
              <a:rPr lang="zh-CN" altLang="en-US"/>
              <a:t>、</a:t>
            </a:r>
            <a:r>
              <a:rPr lang="en-US" altLang="zh-CN"/>
              <a:t>§3.1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10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接下来我们看一条真正成功过的技术路线。第一步不是立刻训练学生，而是先构造一个表现更好的教师。模型回答问题时会形成内部表示，激活引导尝试对隐藏状态施加方向性干预；图上的</a:t>
            </a:r>
            <a:r>
              <a:rPr lang="en-US" altLang="zh-CN"/>
              <a:t>h</a:t>
            </a:r>
            <a:r>
              <a:rPr lang="zh-CN" altLang="en-US"/>
              <a:t>变成</a:t>
            </a:r>
            <a:r>
              <a:rPr lang="en-US" altLang="zh-CN"/>
              <a:t>h′</a:t>
            </a:r>
            <a:r>
              <a:rPr lang="zh-CN" altLang="en-US"/>
              <a:t>只是教学写法。它不是把某道题的答案拼进提示词，而是让内部计算更少迎合用户的错误观点。引导后，目标模型形成一个临时更好的教师版本，但这项变化还没有写进模型权重。下一步的问题就是：怎样把这种临时变化保留下来？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h′</a:t>
            </a:r>
            <a:r>
              <a:rPr lang="zh-CN" altLang="en-US"/>
              <a:t>＝</a:t>
            </a:r>
            <a:r>
              <a:rPr lang="en-US" altLang="zh-CN"/>
              <a:t>h</a:t>
            </a:r>
            <a:r>
              <a:rPr lang="zh-CN" altLang="en-US"/>
              <a:t>＋</a:t>
            </a:r>
            <a:r>
              <a:rPr lang="en-US" altLang="zh-CN"/>
              <a:t>αv</a:t>
            </a:r>
            <a:r>
              <a:rPr lang="zh-CN" altLang="en-US"/>
              <a:t>是机制教学示意；真实方向、层和系数由具体方法定义。教师来自</a:t>
            </a:r>
            <a:r>
              <a:rPr lang="en-US" altLang="zh-CN"/>
              <a:t>Qwen</a:t>
            </a:r>
            <a:r>
              <a:rPr lang="zh-CN" altLang="en-US"/>
              <a:t>目标模型的引导版本，不是</a:t>
            </a:r>
            <a:r>
              <a:rPr lang="en-US" altLang="zh-CN"/>
              <a:t>Claude</a:t>
            </a:r>
            <a:r>
              <a:rPr lang="zh-CN" altLang="en-US"/>
              <a:t>研究</a:t>
            </a:r>
            <a:r>
              <a:rPr lang="en-US" altLang="zh-CN"/>
              <a:t>Agent</a:t>
            </a:r>
            <a:r>
              <a:rPr lang="zh-CN" altLang="en-US"/>
              <a:t>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11</a:t>
            </a:r>
            <a:r>
              <a:rPr lang="zh-CN" altLang="en-US"/>
              <a:t>页，设计预算</a:t>
            </a:r>
            <a:r>
              <a:rPr lang="en-US" altLang="zh-CN"/>
              <a:t>50</a:t>
            </a:r>
            <a:r>
              <a:rPr lang="zh-CN" altLang="en-US"/>
              <a:t>秒，未真人计时。
下一步，是把教师带来的行为变化真正写进学生参数。教师和学生面对同一个输入，各自产生回答分布。教师是目标模型的引导版本，提供更少谄媚的训练目标；学生是等待训练的目标模型。训练利用</a:t>
            </a:r>
            <a:r>
              <a:rPr lang="en-US" altLang="zh-CN"/>
              <a:t>KL</a:t>
            </a:r>
            <a:r>
              <a:rPr lang="zh-CN" altLang="en-US"/>
              <a:t>约束，让学生学习教师的输出倾向，所以参数更新发生在学生身上，教师负责提供训练信号。训练结束后，再去掉临时激活引导，让学生正常推理并接受独立评测。短片只是机制教学示意；分布更接近不等于模型必然更安全，最终仍要检查行为改善与能力副作用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候选。教师提供分布，学生接受参数更新。</a:t>
            </a:r>
            <a:r>
              <a:rPr lang="en-US" altLang="zh-CN"/>
              <a:t>KL</a:t>
            </a:r>
            <a:r>
              <a:rPr lang="zh-CN" altLang="en-US"/>
              <a:t>方向与获胜方法的完整配方不由教学图指定。不受限获胜配方采用引导教师后蒸馏；受限</a:t>
            </a:r>
            <a:r>
              <a:rPr lang="en-US" altLang="zh-CN"/>
              <a:t>KL</a:t>
            </a:r>
            <a:r>
              <a:rPr lang="zh-CN" altLang="en-US"/>
              <a:t>搜索条件不允许激活引导，两者不可混同。</a:t>
            </a:r>
            <a:r>
              <a:rPr lang="en-US" altLang="zh-CN"/>
              <a:t>[4]App. D.4</a:t>
            </a:r>
            <a:r>
              <a:rPr lang="zh-CN" altLang="en-US"/>
              <a:t>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12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这一页先定义指标。所谓改善空间关闭比例，是训练带来的提升，占“基线到参考最优”原有差距的比例。写成公式，就是训练后得分减去基线得分，再除以参考最优得分减去基线得分。用教学数值代入：基线</a:t>
            </a:r>
            <a:r>
              <a:rPr lang="en-US" altLang="zh-CN"/>
              <a:t>50</a:t>
            </a:r>
            <a:r>
              <a:rPr lang="zh-CN" altLang="en-US"/>
              <a:t>，训练后</a:t>
            </a:r>
            <a:r>
              <a:rPr lang="en-US" altLang="zh-CN"/>
              <a:t>70</a:t>
            </a:r>
            <a:r>
              <a:rPr lang="zh-CN" altLang="en-US"/>
              <a:t>，参考最优</a:t>
            </a:r>
            <a:r>
              <a:rPr lang="en-US" altLang="zh-CN"/>
              <a:t>100</a:t>
            </a:r>
            <a:r>
              <a:rPr lang="zh-CN" altLang="en-US"/>
              <a:t>，分子是</a:t>
            </a:r>
            <a:r>
              <a:rPr lang="en-US" altLang="zh-CN"/>
              <a:t>20</a:t>
            </a:r>
            <a:r>
              <a:rPr lang="zh-CN" altLang="en-US"/>
              <a:t>，分母是</a:t>
            </a:r>
            <a:r>
              <a:rPr lang="en-US" altLang="zh-CN"/>
              <a:t>50</a:t>
            </a:r>
            <a:r>
              <a:rPr lang="zh-CN" altLang="en-US"/>
              <a:t>，所以结果是</a:t>
            </a:r>
            <a:r>
              <a:rPr lang="en-US" altLang="zh-CN"/>
              <a:t>40%</a:t>
            </a:r>
            <a:r>
              <a:rPr lang="zh-CN" altLang="en-US"/>
              <a:t>。直观地说，原本还差</a:t>
            </a:r>
            <a:r>
              <a:rPr lang="en-US" altLang="zh-CN"/>
              <a:t>50</a:t>
            </a:r>
            <a:r>
              <a:rPr lang="zh-CN" altLang="en-US"/>
              <a:t>分，现在补回</a:t>
            </a:r>
            <a:r>
              <a:rPr lang="en-US" altLang="zh-CN"/>
              <a:t>20</a:t>
            </a:r>
            <a:r>
              <a:rPr lang="zh-CN" altLang="en-US"/>
              <a:t>分。注意，这个</a:t>
            </a:r>
            <a:r>
              <a:rPr lang="en-US" altLang="zh-CN"/>
              <a:t>40%</a:t>
            </a:r>
            <a:r>
              <a:rPr lang="zh-CN" altLang="en-US"/>
              <a:t>不是训练后正确率；论文还会用几何平均数汇总多个安全测试，所以后面的</a:t>
            </a:r>
            <a:r>
              <a:rPr lang="en-US" altLang="zh-CN"/>
              <a:t>23.3%</a:t>
            </a:r>
            <a:r>
              <a:rPr lang="zh-CN" altLang="en-US"/>
              <a:t>也不能直接读成通过率。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</a:t>
            </a:r>
            <a:r>
              <a:rPr lang="en-US" altLang="zh-CN"/>
              <a:t>50</a:t>
            </a:r>
            <a:r>
              <a:rPr lang="zh-CN" altLang="en-US"/>
              <a:t>、</a:t>
            </a:r>
            <a:r>
              <a:rPr lang="en-US" altLang="zh-CN"/>
              <a:t>70</a:t>
            </a:r>
            <a:r>
              <a:rPr lang="zh-CN" altLang="en-US"/>
              <a:t>、</a:t>
            </a:r>
            <a:r>
              <a:rPr lang="en-US" altLang="zh-CN"/>
              <a:t>100</a:t>
            </a:r>
            <a:r>
              <a:rPr lang="zh-CN" altLang="en-US"/>
              <a:t>均为教学数值，不是论文实验结果。单基准公式见</a:t>
            </a:r>
            <a:r>
              <a:rPr lang="en-US" altLang="zh-CN"/>
              <a:t>[4]§2.2</a:t>
            </a:r>
            <a:r>
              <a:rPr lang="zh-CN" altLang="en-US"/>
              <a:t>；多基准使用几何平均。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主讲第</a:t>
            </a:r>
            <a:r>
              <a:rPr lang="en-US" altLang="zh-CN"/>
              <a:t>13</a:t>
            </a:r>
            <a:r>
              <a:rPr lang="zh-CN" altLang="en-US"/>
              <a:t>页，设计预算</a:t>
            </a:r>
            <a:r>
              <a:rPr lang="en-US" altLang="zh-CN"/>
              <a:t>40</a:t>
            </a:r>
            <a:r>
              <a:rPr lang="zh-CN" altLang="en-US"/>
              <a:t>秒，未真人计时。
现在看真实结果。这是在同一个谄媚任务、同一个目标模型下，对前</a:t>
            </a:r>
            <a:r>
              <a:rPr lang="en-US" altLang="zh-CN"/>
              <a:t>150</a:t>
            </a:r>
            <a:r>
              <a:rPr lang="zh-CN" altLang="en-US"/>
              <a:t>个已评分方法的比较。原样公共数据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6.0%</a:t>
            </a:r>
            <a:r>
              <a:rPr lang="zh-CN" altLang="en-US"/>
              <a:t>，自由构造数据</a:t>
            </a:r>
            <a:r>
              <a:rPr lang="en-US" altLang="zh-CN"/>
              <a:t>SFT</a:t>
            </a:r>
            <a:r>
              <a:rPr lang="zh-CN" altLang="en-US"/>
              <a:t>是</a:t>
            </a:r>
            <a:r>
              <a:rPr lang="en-US" altLang="zh-CN"/>
              <a:t>2.9%</a:t>
            </a:r>
            <a:r>
              <a:rPr lang="zh-CN" altLang="en-US"/>
              <a:t>；允许</a:t>
            </a:r>
            <a:r>
              <a:rPr lang="en-US" altLang="zh-CN"/>
              <a:t>SFT</a:t>
            </a:r>
            <a:r>
              <a:rPr lang="zh-CN" altLang="en-US"/>
              <a:t>加</a:t>
            </a:r>
            <a:r>
              <a:rPr lang="en-US" altLang="zh-CN"/>
              <a:t>KL</a:t>
            </a:r>
            <a:r>
              <a:rPr lang="zh-CN" altLang="en-US"/>
              <a:t>自蒸馏后达到</a:t>
            </a:r>
            <a:r>
              <a:rPr lang="en-US" altLang="zh-CN"/>
              <a:t>16.5%</a:t>
            </a:r>
            <a:r>
              <a:rPr lang="zh-CN" altLang="en-US"/>
              <a:t>，进一步放开方法空间则达到</a:t>
            </a:r>
            <a:r>
              <a:rPr lang="en-US" altLang="zh-CN"/>
              <a:t>23.3%</a:t>
            </a:r>
            <a:r>
              <a:rPr lang="zh-CN" altLang="en-US"/>
              <a:t>。所以这张图比较的是不同方法搜索条件：在这个案例里，训练目标和机制比单纯增加数据自由度更关键。每个条件只有一次搜索运行，这些结果也没有重跑</a:t>
            </a:r>
            <a:r>
              <a:rPr lang="en-US" altLang="zh-CN"/>
              <a:t>held-out</a:t>
            </a:r>
            <a:r>
              <a:rPr lang="zh-CN" altLang="en-US"/>
              <a:t>或</a:t>
            </a:r>
            <a:r>
              <a:rPr lang="en-US" altLang="zh-CN"/>
              <a:t>Petri</a:t>
            </a:r>
            <a:r>
              <a:rPr lang="zh-CN" altLang="en-US"/>
              <a:t>，因此不能当作普遍规律。下一部分换到评测工作流。
</a:t>
            </a:r>
            <a:r>
              <a:rPr lang="en-US" altLang="zh-CN"/>
              <a:t>B</a:t>
            </a:r>
            <a:r>
              <a:rPr lang="zh-CN" altLang="en-US"/>
              <a:t>部分</a:t>
            </a:r>
            <a:r>
              <a:rPr lang="en-US" altLang="zh-CN"/>
              <a:t>07</a:t>
            </a:r>
            <a:r>
              <a:rPr lang="zh-CN" altLang="en-US"/>
              <a:t>候选。四项均为</a:t>
            </a:r>
            <a:r>
              <a:rPr lang="en-US" altLang="zh-CN"/>
              <a:t>[4] Fig.20</a:t>
            </a:r>
            <a:r>
              <a:rPr lang="zh-CN" altLang="en-US"/>
              <a:t>在共同前</a:t>
            </a:r>
            <a:r>
              <a:rPr lang="en-US" altLang="zh-CN"/>
              <a:t>150</a:t>
            </a:r>
            <a:r>
              <a:rPr lang="zh-CN" altLang="en-US"/>
              <a:t>个已评分方法处的标注。</a:t>
            </a:r>
            <a:r>
              <a:rPr lang="en-US" altLang="zh-CN"/>
              <a:t>16.5%</a:t>
            </a:r>
            <a:r>
              <a:rPr lang="zh-CN" altLang="en-US"/>
              <a:t>不是</a:t>
            </a:r>
            <a:r>
              <a:rPr lang="en-US" altLang="zh-CN"/>
              <a:t>KL</a:t>
            </a:r>
            <a:r>
              <a:rPr lang="zh-CN" altLang="en-US"/>
              <a:t>条件全程峰值</a:t>
            </a:r>
            <a:r>
              <a:rPr lang="en-US" altLang="zh-CN"/>
              <a:t>18.7%</a:t>
            </a:r>
            <a:r>
              <a:rPr lang="zh-CN" altLang="en-US"/>
              <a:t>；</a:t>
            </a:r>
            <a:r>
              <a:rPr lang="en-US" altLang="zh-CN"/>
              <a:t>23.3%</a:t>
            </a:r>
            <a:r>
              <a:rPr lang="zh-CN" altLang="en-US"/>
              <a:t>不是通过率、单一配方贡献或最终完整运行峰值。单任务、单模型、每条件一次运行，仅比较爬坡评测套件。
来源：</a:t>
            </a:r>
            <a:r>
              <a:rPr lang="en-US" altLang="zh-CN"/>
              <a:t>[4] https://alignment.anthropic.com/2026/automated-alignment-researchers/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04010A-4129-4123-B643-CD0B3D03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7047AB2F-DC8F-45B3-A58D-C7112BAB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6A698C4-7FDE-4453-8A40-59CFC292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01C2592-27F0-4EC3-AE8F-DBB27C48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339F55A-5F4A-40CD-A216-24F497D1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BF1C9C-5A47-4450-A196-202CAC952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4221FFA-3421-462F-B2C3-FB847ECA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2ED1660-FF18-4D69-8DB5-6A216D6445E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60C464E-CE93-43B4-8954-359BB459A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CB1773-AADD-4336-812F-FF334388E7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49047ED0-867C-0DE0-F907-956B185C6194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43CC03-C30E-3F88-D5A1-1BD8D72AD386}"/>
              </a:ext>
            </a:extLst>
          </p:cNvPr>
          <p:cNvSpPr txBox="1"/>
          <p:nvPr/>
        </p:nvSpPr>
        <p:spPr>
          <a:xfrm>
            <a:off x="685800" y="838200"/>
            <a:ext cx="108204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一轮研究要交付可审查、可训练、可评测的方法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CFA824-ADE9-8096-E20F-B5FE85A5BE15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09DF44B-BE10-F2E3-93DE-0982720DFB8B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§3.1—3.2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135AFAF-7F69-1FA8-9FE5-A49097034EAC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AA1A67E-CD2A-93EA-7808-DFCF584ECE79}"/>
              </a:ext>
            </a:extLst>
          </p:cNvPr>
          <p:cNvSpPr/>
          <p:nvPr/>
        </p:nvSpPr>
        <p:spPr>
          <a:xfrm>
            <a:off x="6858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51F84D-7886-4528-51E3-34B7988EFE18}"/>
              </a:ext>
            </a:extLst>
          </p:cNvPr>
          <p:cNvSpPr txBox="1"/>
          <p:nvPr/>
        </p:nvSpPr>
        <p:spPr>
          <a:xfrm>
            <a:off x="8382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8D00388-EC0F-6D8C-8165-CC3C77E17478}"/>
              </a:ext>
            </a:extLst>
          </p:cNvPr>
          <p:cNvSpPr txBox="1"/>
          <p:nvPr/>
        </p:nvSpPr>
        <p:spPr>
          <a:xfrm>
            <a:off x="8382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提出假设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2A4F636-9769-FCA7-2CA1-7427CF8E38C3}"/>
              </a:ext>
            </a:extLst>
          </p:cNvPr>
          <p:cNvSpPr txBox="1"/>
          <p:nvPr/>
        </p:nvSpPr>
        <p:spPr>
          <a:xfrm>
            <a:off x="8382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资料、文献与
已有结果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A9449F1-8C40-3076-9F0C-616AF33F3042}"/>
              </a:ext>
            </a:extLst>
          </p:cNvPr>
          <p:cNvCxnSpPr/>
          <p:nvPr/>
        </p:nvCxnSpPr>
        <p:spPr>
          <a:xfrm>
            <a:off x="26797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B784B2D6-99EC-F4C7-840B-0A78D52B1960}"/>
              </a:ext>
            </a:extLst>
          </p:cNvPr>
          <p:cNvSpPr/>
          <p:nvPr/>
        </p:nvSpPr>
        <p:spPr>
          <a:xfrm>
            <a:off x="29019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A54C3B-9A70-B05E-1F6C-DB69A98887B1}"/>
              </a:ext>
            </a:extLst>
          </p:cNvPr>
          <p:cNvSpPr txBox="1"/>
          <p:nvPr/>
        </p:nvSpPr>
        <p:spPr>
          <a:xfrm>
            <a:off x="30543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D3E8F31-E7BD-0D09-6558-C0DDD90DAA00}"/>
              </a:ext>
            </a:extLst>
          </p:cNvPr>
          <p:cNvSpPr txBox="1"/>
          <p:nvPr/>
        </p:nvSpPr>
        <p:spPr>
          <a:xfrm>
            <a:off x="3054350" y="2895600"/>
            <a:ext cx="16383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冻结</a:t>
            </a:r>
            <a:r>
              <a:rPr lang="en-US" altLang="zh-CN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mini-paper</a:t>
            </a:r>
            <a:endParaRPr lang="zh-CN" altLang="en-US" sz="165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85CCB51-FB8B-5474-4ECA-2039B138B75D}"/>
              </a:ext>
            </a:extLst>
          </p:cNvPr>
          <p:cNvSpPr txBox="1"/>
          <p:nvPr/>
        </p:nvSpPr>
        <p:spPr>
          <a:xfrm>
            <a:off x="305435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训练前写明方法、
数据与损失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DC6917F-9F04-A9E6-C4DD-34717C23A8FF}"/>
              </a:ext>
            </a:extLst>
          </p:cNvPr>
          <p:cNvCxnSpPr/>
          <p:nvPr/>
        </p:nvCxnSpPr>
        <p:spPr>
          <a:xfrm>
            <a:off x="48958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DCBCD0C-1D3F-DE43-E75F-941B4F6E109F}"/>
              </a:ext>
            </a:extLst>
          </p:cNvPr>
          <p:cNvSpPr/>
          <p:nvPr/>
        </p:nvSpPr>
        <p:spPr>
          <a:xfrm>
            <a:off x="51181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62164D90-CBB7-334E-BA67-7DE8727709ED}"/>
              </a:ext>
            </a:extLst>
          </p:cNvPr>
          <p:cNvSpPr txBox="1"/>
          <p:nvPr/>
        </p:nvSpPr>
        <p:spPr>
          <a:xfrm>
            <a:off x="52705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B8E0876-6355-33EE-5E45-7FBEFC7B1A84}"/>
              </a:ext>
            </a:extLst>
          </p:cNvPr>
          <p:cNvSpPr txBox="1"/>
          <p:nvPr/>
        </p:nvSpPr>
        <p:spPr>
          <a:xfrm>
            <a:off x="52705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提交实现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BD5CFBB-E203-F130-0270-D92893FB3EAD}"/>
              </a:ext>
            </a:extLst>
          </p:cNvPr>
          <p:cNvSpPr txBox="1"/>
          <p:nvPr/>
        </p:nvSpPr>
        <p:spPr>
          <a:xfrm>
            <a:off x="52705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代码与说明一致；
通过规则检查</a:t>
            </a: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FBEC8C7-8A78-2852-D597-DB6ED4F280CA}"/>
              </a:ext>
            </a:extLst>
          </p:cNvPr>
          <p:cNvCxnSpPr/>
          <p:nvPr/>
        </p:nvCxnSpPr>
        <p:spPr>
          <a:xfrm>
            <a:off x="711200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4ABF044A-924C-1D1D-A8A8-ED2DC34382E5}"/>
              </a:ext>
            </a:extLst>
          </p:cNvPr>
          <p:cNvSpPr/>
          <p:nvPr/>
        </p:nvSpPr>
        <p:spPr>
          <a:xfrm>
            <a:off x="733425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AF147FC-4B6F-DFBB-2EA2-7DB14B027392}"/>
              </a:ext>
            </a:extLst>
          </p:cNvPr>
          <p:cNvSpPr txBox="1"/>
          <p:nvPr/>
        </p:nvSpPr>
        <p:spPr>
          <a:xfrm>
            <a:off x="748665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9C199E9-C52D-D170-A204-8595F527C356}"/>
              </a:ext>
            </a:extLst>
          </p:cNvPr>
          <p:cNvSpPr txBox="1"/>
          <p:nvPr/>
        </p:nvSpPr>
        <p:spPr>
          <a:xfrm>
            <a:off x="748665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训练目标模型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A1D54B7-898D-A452-72F2-DBC3AE251E8C}"/>
              </a:ext>
            </a:extLst>
          </p:cNvPr>
          <p:cNvSpPr txBox="1"/>
          <p:nvPr/>
        </p:nvSpPr>
        <p:spPr>
          <a:xfrm>
            <a:off x="7486650" y="3695700"/>
            <a:ext cx="16383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产出更新权重；
约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H200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分钟</a:t>
            </a: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0CC69764-5AD0-D276-FCDE-8E19D6C98410}"/>
              </a:ext>
            </a:extLst>
          </p:cNvPr>
          <p:cNvCxnSpPr/>
          <p:nvPr/>
        </p:nvCxnSpPr>
        <p:spPr>
          <a:xfrm>
            <a:off x="9328150" y="3467100"/>
            <a:ext cx="171450" cy="0"/>
          </a:xfrm>
          <a:prstGeom prst="line">
            <a:avLst/>
          </a:prstGeom>
          <a:ln w="2159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3FF6AC9-E75B-0A85-547A-6D9C882C885E}"/>
              </a:ext>
            </a:extLst>
          </p:cNvPr>
          <p:cNvSpPr/>
          <p:nvPr/>
        </p:nvSpPr>
        <p:spPr>
          <a:xfrm>
            <a:off x="9550400" y="2171700"/>
            <a:ext cx="1943100" cy="2667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1F56742-5D99-9681-C4D5-C0C3460050FA}"/>
              </a:ext>
            </a:extLst>
          </p:cNvPr>
          <p:cNvSpPr txBox="1"/>
          <p:nvPr/>
        </p:nvSpPr>
        <p:spPr>
          <a:xfrm>
            <a:off x="9702800" y="2336800"/>
            <a:ext cx="1638300" cy="35394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23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2300" b="1">
              <a:solidFill>
                <a:srgbClr val="B65D3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2210BCC-24EB-C37C-B66B-3013AE373F38}"/>
              </a:ext>
            </a:extLst>
          </p:cNvPr>
          <p:cNvSpPr txBox="1"/>
          <p:nvPr/>
        </p:nvSpPr>
        <p:spPr>
          <a:xfrm>
            <a:off x="9702800" y="2895600"/>
            <a:ext cx="16383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独立评测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6C8AFE2-7D56-F355-801A-13C80E36B6ED}"/>
              </a:ext>
            </a:extLst>
          </p:cNvPr>
          <p:cNvSpPr txBox="1"/>
          <p:nvPr/>
        </p:nvSpPr>
        <p:spPr>
          <a:xfrm>
            <a:off x="9702800" y="3695700"/>
            <a:ext cx="16383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安全改善与
能力退化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2F21929-BDA3-FB3D-6B10-0127AB8BA18B}"/>
              </a:ext>
            </a:extLst>
          </p:cNvPr>
          <p:cNvSpPr txBox="1"/>
          <p:nvPr/>
        </p:nvSpPr>
        <p:spPr>
          <a:xfrm>
            <a:off x="685800" y="50419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基本规则：禁用评测数据；禁止从研究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或更强模型蒸馏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35CAAF8-B2F7-2029-728D-0D393C6D7A7F}"/>
              </a:ext>
            </a:extLst>
          </p:cNvPr>
          <p:cNvSpPr txBox="1"/>
          <p:nvPr/>
        </p:nvSpPr>
        <p:spPr>
          <a:xfrm>
            <a:off x="685800" y="55626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筛选原则：安全改善不能以明显能力退化为代价</a:t>
            </a:r>
          </a:p>
        </p:txBody>
      </p:sp>
    </p:spTree>
    <p:extLst>
      <p:ext uri="{BB962C8B-B14F-4D97-AF65-F5344CB8AC3E}">
        <p14:creationId xmlns:p14="http://schemas.microsoft.com/office/powerpoint/2010/main" val="201452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02E0F34C-DE69-A9E1-FF0F-D4E7AFFC9921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CC362D-D4A7-8DE2-42F3-79C30F5E4582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下一次尝试，能接着读到之前的成功与失败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42CCC2-A979-5019-7165-222740EF0BF6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0DE34FC-EB68-B8B9-AB38-1E575E8D0F07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§3.1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AF33A12-8B06-FA38-C3F6-63126D6C5DE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1E201CF-70DA-2BFC-38B3-B66BD3ECE137}"/>
              </a:ext>
            </a:extLst>
          </p:cNvPr>
          <p:cNvSpPr/>
          <p:nvPr/>
        </p:nvSpPr>
        <p:spPr>
          <a:xfrm>
            <a:off x="685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B5CDBB-D763-0BDC-29DF-F4124D4D2F91}"/>
              </a:ext>
            </a:extLst>
          </p:cNvPr>
          <p:cNvSpPr txBox="1"/>
          <p:nvPr/>
        </p:nvSpPr>
        <p:spPr>
          <a:xfrm>
            <a:off x="914400" y="2755900"/>
            <a:ext cx="2616200" cy="61555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多个研究</a:t>
            </a:r>
            <a:r>
              <a:rPr lang="en-US" altLang="zh-CN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
</a:t>
            </a:r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并行探索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22CDD3-7D54-BA56-B4C6-1EAE54C58A92}"/>
              </a:ext>
            </a:extLst>
          </p:cNvPr>
          <p:cNvSpPr txBox="1"/>
          <p:nvPr/>
        </p:nvSpPr>
        <p:spPr>
          <a:xfrm>
            <a:off x="914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提出候选方法
分别提交训练与评测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20504A1-96D2-1787-5D82-8D2FEC96F06D}"/>
              </a:ext>
            </a:extLst>
          </p:cNvPr>
          <p:cNvCxnSpPr/>
          <p:nvPr/>
        </p:nvCxnSpPr>
        <p:spPr>
          <a:xfrm>
            <a:off x="38735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7A7D321-D896-9C2D-E94D-1B5B8C719BAA}"/>
              </a:ext>
            </a:extLst>
          </p:cNvPr>
          <p:cNvSpPr/>
          <p:nvPr/>
        </p:nvSpPr>
        <p:spPr>
          <a:xfrm>
            <a:off x="4559300" y="2489200"/>
            <a:ext cx="3073400" cy="21082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C85B37-AA33-1AC8-6CF8-B91E1CFA8DB2}"/>
              </a:ext>
            </a:extLst>
          </p:cNvPr>
          <p:cNvSpPr txBox="1"/>
          <p:nvPr/>
        </p:nvSpPr>
        <p:spPr>
          <a:xfrm>
            <a:off x="47879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共享记录持续累积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5F5DA3C-0F79-57BF-362E-079E5005B673}"/>
              </a:ext>
            </a:extLst>
          </p:cNvPr>
          <p:cNvSpPr txBox="1"/>
          <p:nvPr/>
        </p:nvSpPr>
        <p:spPr>
          <a:xfrm>
            <a:off x="47879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文献综述、方法代码
实验得分、失败经验</a:t>
            </a: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06935E8-E153-07F0-2DB1-21B377D9E0C9}"/>
              </a:ext>
            </a:extLst>
          </p:cNvPr>
          <p:cNvCxnSpPr/>
          <p:nvPr/>
        </p:nvCxnSpPr>
        <p:spPr>
          <a:xfrm>
            <a:off x="7747000" y="3530600"/>
            <a:ext cx="5334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688516CF-D10C-8FB0-D163-1C7D204CB74C}"/>
              </a:ext>
            </a:extLst>
          </p:cNvPr>
          <p:cNvSpPr/>
          <p:nvPr/>
        </p:nvSpPr>
        <p:spPr>
          <a:xfrm>
            <a:off x="8432800" y="2489200"/>
            <a:ext cx="3073400" cy="21082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223613-E1E6-A5D2-CFEE-064E839E47BE}"/>
              </a:ext>
            </a:extLst>
          </p:cNvPr>
          <p:cNvSpPr txBox="1"/>
          <p:nvPr/>
        </p:nvSpPr>
        <p:spPr>
          <a:xfrm>
            <a:off x="8661400" y="2755900"/>
            <a:ext cx="2616200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0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新会话读取后继续研究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BD946D6-AB04-D0A9-5DC8-3731DD4DC91D}"/>
              </a:ext>
            </a:extLst>
          </p:cNvPr>
          <p:cNvSpPr txBox="1"/>
          <p:nvPr/>
        </p:nvSpPr>
        <p:spPr>
          <a:xfrm>
            <a:off x="8661400" y="3657600"/>
            <a:ext cx="26162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读取持久记录继续尝试
</a:t>
            </a:r>
            <a:r>
              <a:rPr lang="en-US" altLang="zh-CN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15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权重不因此更新</a:t>
            </a: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4327800-6455-5D8C-4DCD-3530307EFF0D}"/>
              </a:ext>
            </a:extLst>
          </p:cNvPr>
          <p:cNvCxnSpPr/>
          <p:nvPr/>
        </p:nvCxnSpPr>
        <p:spPr>
          <a:xfrm flipH="1">
            <a:off x="2514600" y="4940300"/>
            <a:ext cx="7137400" cy="0"/>
          </a:xfrm>
          <a:prstGeom prst="line">
            <a:avLst/>
          </a:prstGeom>
          <a:ln w="889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3AF62E2F-F9AB-C6B1-70EB-EDBA0E05FE78}"/>
              </a:ext>
            </a:extLst>
          </p:cNvPr>
          <p:cNvSpPr txBox="1"/>
          <p:nvPr/>
        </p:nvSpPr>
        <p:spPr>
          <a:xfrm>
            <a:off x="685800" y="5372100"/>
            <a:ext cx="10820400" cy="3231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研究能接续：经验保存在外部记录里，而不是自动写回研究</a:t>
            </a:r>
            <a:r>
              <a:rPr lang="en-US" altLang="zh-CN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Agent</a:t>
            </a:r>
            <a:r>
              <a:rPr lang="zh-CN" altLang="en-US" sz="21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</a:t>
            </a:r>
          </a:p>
        </p:txBody>
      </p:sp>
    </p:spTree>
    <p:extLst>
      <p:ext uri="{BB962C8B-B14F-4D97-AF65-F5344CB8AC3E}">
        <p14:creationId xmlns:p14="http://schemas.microsoft.com/office/powerpoint/2010/main" val="58327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CB792AAA-F4BE-85F0-1BEF-DB01EFE9A57B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A0DA0B-09D4-9C9D-E3EA-11A3E9F16C06}"/>
              </a:ext>
            </a:extLst>
          </p:cNvPr>
          <p:cNvSpPr txBox="1"/>
          <p:nvPr/>
        </p:nvSpPr>
        <p:spPr>
          <a:xfrm>
            <a:off x="685800" y="838200"/>
            <a:ext cx="108204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先用激活引导，构造一个更少谄媚的教师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FE1709-1326-6781-7932-6D39011F8DDE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72D23A-9DA2-ADB2-CBEF-1C30B9433B26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；机制教学示意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963121-56D0-B15D-A24F-46CF56C10872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488EA2-35EE-9A0F-1591-D7394CA9741C}"/>
              </a:ext>
            </a:extLst>
          </p:cNvPr>
          <p:cNvSpPr txBox="1"/>
          <p:nvPr/>
        </p:nvSpPr>
        <p:spPr>
          <a:xfrm>
            <a:off x="685800" y="2082800"/>
            <a:ext cx="10820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目标：让模型更少迎合用户的错误观点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CF970E-FBFB-2467-DE06-03517A20475C}"/>
              </a:ext>
            </a:extLst>
          </p:cNvPr>
          <p:cNvSpPr/>
          <p:nvPr/>
        </p:nvSpPr>
        <p:spPr>
          <a:xfrm>
            <a:off x="6858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6F81E2F-5777-1852-4620-279668F673FE}"/>
              </a:ext>
            </a:extLst>
          </p:cNvPr>
          <p:cNvSpPr txBox="1"/>
          <p:nvPr/>
        </p:nvSpPr>
        <p:spPr>
          <a:xfrm>
            <a:off x="8636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原目标模型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299B1B-DF37-DC8D-E597-56C49480FB73}"/>
              </a:ext>
            </a:extLst>
          </p:cNvPr>
          <p:cNvSpPr txBox="1"/>
          <p:nvPr/>
        </p:nvSpPr>
        <p:spPr>
          <a:xfrm>
            <a:off x="8636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正常前向
内部表示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37DFE7A3-DC8E-78CD-B8E9-FC4DCE828D4C}"/>
              </a:ext>
            </a:extLst>
          </p:cNvPr>
          <p:cNvCxnSpPr/>
          <p:nvPr/>
        </p:nvCxnSpPr>
        <p:spPr>
          <a:xfrm>
            <a:off x="32258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2F0519E-354A-2D38-F75E-D482FCB311FC}"/>
              </a:ext>
            </a:extLst>
          </p:cNvPr>
          <p:cNvSpPr/>
          <p:nvPr/>
        </p:nvSpPr>
        <p:spPr>
          <a:xfrm>
            <a:off x="3460750" y="2743200"/>
            <a:ext cx="2489200" cy="2146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FE153DD-17F3-FD49-57F6-ABAA1C65264E}"/>
              </a:ext>
            </a:extLst>
          </p:cNvPr>
          <p:cNvSpPr txBox="1"/>
          <p:nvPr/>
        </p:nvSpPr>
        <p:spPr>
          <a:xfrm>
            <a:off x="36385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方向性干预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D4A5F3-349D-710F-0940-DFEF7786626C}"/>
              </a:ext>
            </a:extLst>
          </p:cNvPr>
          <p:cNvSpPr txBox="1"/>
          <p:nvPr/>
        </p:nvSpPr>
        <p:spPr>
          <a:xfrm>
            <a:off x="36385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作用于隐藏状态
教学示意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h′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＝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＋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αv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342F0CF-C9A8-5F90-B8CC-9A39D4EC62FE}"/>
              </a:ext>
            </a:extLst>
          </p:cNvPr>
          <p:cNvCxnSpPr/>
          <p:nvPr/>
        </p:nvCxnSpPr>
        <p:spPr>
          <a:xfrm>
            <a:off x="600075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713F0C5-A3C4-990F-E73B-4EE0BD9F5B95}"/>
              </a:ext>
            </a:extLst>
          </p:cNvPr>
          <p:cNvSpPr/>
          <p:nvPr/>
        </p:nvSpPr>
        <p:spPr>
          <a:xfrm>
            <a:off x="623570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ACA21ED3-62D7-AFC2-D30C-75A61F82011A}"/>
              </a:ext>
            </a:extLst>
          </p:cNvPr>
          <p:cNvSpPr txBox="1"/>
          <p:nvPr/>
        </p:nvSpPr>
        <p:spPr>
          <a:xfrm>
            <a:off x="641350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 </a:t>
            </a:r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引导后的教师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8FF24F-4AB6-F515-BED8-A38EEB035B92}"/>
              </a:ext>
            </a:extLst>
          </p:cNvPr>
          <p:cNvSpPr txBox="1"/>
          <p:nvPr/>
        </p:nvSpPr>
        <p:spPr>
          <a:xfrm>
            <a:off x="641350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
更少倾向附和错误观点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7A2E9FE-9FE2-95CD-57D7-9B16876CDE82}"/>
              </a:ext>
            </a:extLst>
          </p:cNvPr>
          <p:cNvCxnSpPr/>
          <p:nvPr/>
        </p:nvCxnSpPr>
        <p:spPr>
          <a:xfrm>
            <a:off x="8775700" y="3810000"/>
            <a:ext cx="18415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D52F20DA-3E90-B5DF-502A-C65F0AA103C9}"/>
              </a:ext>
            </a:extLst>
          </p:cNvPr>
          <p:cNvSpPr/>
          <p:nvPr/>
        </p:nvSpPr>
        <p:spPr>
          <a:xfrm>
            <a:off x="9010650" y="2743200"/>
            <a:ext cx="2489200" cy="2146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4A0CFF2-5F59-CA4D-DAC0-192581555D24}"/>
              </a:ext>
            </a:extLst>
          </p:cNvPr>
          <p:cNvSpPr txBox="1"/>
          <p:nvPr/>
        </p:nvSpPr>
        <p:spPr>
          <a:xfrm>
            <a:off x="9188450" y="29845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 </a:t>
            </a:r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待解决问题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55A2E06-7C4B-41B7-AD09-126485B6B8E5}"/>
              </a:ext>
            </a:extLst>
          </p:cNvPr>
          <p:cNvSpPr txBox="1"/>
          <p:nvPr/>
        </p:nvSpPr>
        <p:spPr>
          <a:xfrm>
            <a:off x="9188450" y="3657600"/>
            <a:ext cx="21336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推理时的临时变化
怎样保留到正常推理？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C384D16-62E7-F38A-2539-DCC865A5E1FA}"/>
              </a:ext>
            </a:extLst>
          </p:cNvPr>
          <p:cNvSpPr txBox="1"/>
          <p:nvPr/>
        </p:nvSpPr>
        <p:spPr>
          <a:xfrm>
            <a:off x="685800" y="5207000"/>
            <a:ext cx="108204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教师来自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目标模型的引导版本，不是</a:t>
            </a:r>
            <a:r>
              <a:rPr lang="en-US" altLang="zh-CN" sz="165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Claude Opus 4.8</a:t>
            </a:r>
            <a:endParaRPr lang="zh-CN" altLang="en-US" sz="165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4C54370A-F5D4-6AEA-5B96-9DD9D2CDE280}"/>
              </a:ext>
            </a:extLst>
          </p:cNvPr>
          <p:cNvSpPr txBox="1"/>
          <p:nvPr/>
        </p:nvSpPr>
        <p:spPr>
          <a:xfrm>
            <a:off x="685800" y="57023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激活引导改变内部表示，不是把某题正确答案拼进提示词</a:t>
            </a:r>
          </a:p>
        </p:txBody>
      </p:sp>
    </p:spTree>
    <p:extLst>
      <p:ext uri="{BB962C8B-B14F-4D97-AF65-F5344CB8AC3E}">
        <p14:creationId xmlns:p14="http://schemas.microsoft.com/office/powerpoint/2010/main" val="1677997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837DF8FF-3243-EBE0-C81E-E4251BD851C1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3E9163-E1F9-EAF9-BF46-FF8703CC79A5}"/>
              </a:ext>
            </a:extLst>
          </p:cNvPr>
          <p:cNvSpPr txBox="1"/>
          <p:nvPr/>
        </p:nvSpPr>
        <p:spPr>
          <a:xfrm>
            <a:off x="685800" y="838200"/>
            <a:ext cx="10820400" cy="50783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再用</a:t>
            </a:r>
            <a:r>
              <a:rPr lang="en-US" altLang="zh-CN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33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蒸馏，把教师行为写进学生权重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EFD6FD6-7CFA-9574-55C4-B41297EF05E5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522AB13-6037-E7DA-83EE-2A06273D9E0E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；机制教学示意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674175-66B1-F95D-1841-615B7CD4E68D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C9019E-68F5-4C9A-ECBE-6FBE658F710B}"/>
              </a:ext>
            </a:extLst>
          </p:cNvPr>
          <p:cNvSpPr txBox="1"/>
          <p:nvPr/>
        </p:nvSpPr>
        <p:spPr>
          <a:xfrm>
            <a:off x="4749800" y="1993900"/>
            <a:ext cx="26924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同一个输入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7EF486F-13A5-5D64-AB7B-F19AB50DF671}"/>
              </a:ext>
            </a:extLst>
          </p:cNvPr>
          <p:cNvCxnSpPr/>
          <p:nvPr/>
        </p:nvCxnSpPr>
        <p:spPr>
          <a:xfrm flipH="1">
            <a:off x="2730500" y="2438400"/>
            <a:ext cx="3365500" cy="368300"/>
          </a:xfrm>
          <a:prstGeom prst="line">
            <a:avLst/>
          </a:prstGeom>
          <a:ln w="254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982D847-5B41-09ED-D329-3C74E9C10DCE}"/>
              </a:ext>
            </a:extLst>
          </p:cNvPr>
          <p:cNvCxnSpPr/>
          <p:nvPr/>
        </p:nvCxnSpPr>
        <p:spPr>
          <a:xfrm>
            <a:off x="6096000" y="2438400"/>
            <a:ext cx="3365500" cy="368300"/>
          </a:xfrm>
          <a:prstGeom prst="line">
            <a:avLst/>
          </a:prstGeom>
          <a:ln w="25400">
            <a:solidFill>
              <a:srgbClr val="D5D9D5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A3A6032-5392-77BF-0A01-57D71CBCB752}"/>
              </a:ext>
            </a:extLst>
          </p:cNvPr>
          <p:cNvSpPr/>
          <p:nvPr/>
        </p:nvSpPr>
        <p:spPr>
          <a:xfrm>
            <a:off x="914400" y="2819400"/>
            <a:ext cx="3632200" cy="1257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07FC04C-F02B-D29A-44D6-3792EE167C28}"/>
              </a:ext>
            </a:extLst>
          </p:cNvPr>
          <p:cNvSpPr txBox="1"/>
          <p:nvPr/>
        </p:nvSpPr>
        <p:spPr>
          <a:xfrm>
            <a:off x="1117600" y="29972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教师 </a:t>
            </a:r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Teacher</a:t>
            </a:r>
            <a:endParaRPr lang="zh-CN" altLang="en-US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DFA7252-3C11-2A67-E9E7-8683A92E583B}"/>
              </a:ext>
            </a:extLst>
          </p:cNvPr>
          <p:cNvSpPr txBox="1"/>
          <p:nvPr/>
        </p:nvSpPr>
        <p:spPr>
          <a:xfrm>
            <a:off x="1117600" y="3441700"/>
            <a:ext cx="3225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引导后的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｜冻结权重
产生分布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pT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D62C0AA-CF73-1D7E-750A-5362D638832C}"/>
              </a:ext>
            </a:extLst>
          </p:cNvPr>
          <p:cNvSpPr/>
          <p:nvPr/>
        </p:nvSpPr>
        <p:spPr>
          <a:xfrm>
            <a:off x="7645400" y="2819400"/>
            <a:ext cx="3632200" cy="12573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3151B8B-9156-CCA1-61E5-89EDDCF3E0F0}"/>
              </a:ext>
            </a:extLst>
          </p:cNvPr>
          <p:cNvSpPr txBox="1"/>
          <p:nvPr/>
        </p:nvSpPr>
        <p:spPr>
          <a:xfrm>
            <a:off x="7848600" y="2997200"/>
            <a:ext cx="3225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学生 </a:t>
            </a:r>
            <a:r>
              <a:rPr lang="en-US" altLang="zh-CN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Student</a:t>
            </a:r>
            <a:endParaRPr lang="zh-CN" altLang="en-US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10E5356-FE50-F215-4822-9E0957C63567}"/>
              </a:ext>
            </a:extLst>
          </p:cNvPr>
          <p:cNvSpPr txBox="1"/>
          <p:nvPr/>
        </p:nvSpPr>
        <p:spPr>
          <a:xfrm>
            <a:off x="7848600" y="3441700"/>
            <a:ext cx="3225800" cy="4616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待训练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</a:t>
            </a:r>
            <a:r>
              <a:rPr lang="zh-CN" altLang="en-US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｜参数可更新
产生分布 </a:t>
            </a:r>
            <a:r>
              <a:rPr lang="en-US" altLang="zh-CN" sz="150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pθ</a:t>
            </a:r>
            <a:endParaRPr lang="zh-CN" altLang="en-US" sz="1500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F2780B45-DAAE-0CBD-AC9D-1259D0DB72B2}"/>
              </a:ext>
            </a:extLst>
          </p:cNvPr>
          <p:cNvCxnSpPr/>
          <p:nvPr/>
        </p:nvCxnSpPr>
        <p:spPr>
          <a:xfrm>
            <a:off x="3632200" y="4089400"/>
            <a:ext cx="1612900" cy="33020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F33E41C-EC21-6161-A4FB-75F2FAD31EE8}"/>
              </a:ext>
            </a:extLst>
          </p:cNvPr>
          <p:cNvCxnSpPr/>
          <p:nvPr/>
        </p:nvCxnSpPr>
        <p:spPr>
          <a:xfrm flipH="1">
            <a:off x="6946900" y="4089400"/>
            <a:ext cx="1612900" cy="33020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FD944791-4757-6B31-F56D-DD837F42B97C}"/>
              </a:ext>
            </a:extLst>
          </p:cNvPr>
          <p:cNvSpPr/>
          <p:nvPr/>
        </p:nvSpPr>
        <p:spPr>
          <a:xfrm>
            <a:off x="4483100" y="4343400"/>
            <a:ext cx="3225800" cy="8382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en-US" altLang="zh-CN" sz="16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6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分布约束
让学生学习教师的输出倾向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2BB6F8F-639F-A0E7-E983-C6F10012A28B}"/>
              </a:ext>
            </a:extLst>
          </p:cNvPr>
          <p:cNvCxnSpPr/>
          <p:nvPr/>
        </p:nvCxnSpPr>
        <p:spPr>
          <a:xfrm>
            <a:off x="6096000" y="5194300"/>
            <a:ext cx="0" cy="27940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9E817B0-4B62-F87C-403A-C0A6B9C4C6BF}"/>
              </a:ext>
            </a:extLst>
          </p:cNvPr>
          <p:cNvSpPr/>
          <p:nvPr/>
        </p:nvSpPr>
        <p:spPr>
          <a:xfrm>
            <a:off x="4546600" y="5473700"/>
            <a:ext cx="3098800" cy="495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7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仅更新学生参数</a:t>
            </a: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DCD49F7-75B0-8BEE-BA92-C3B41FCEC5A4}"/>
              </a:ext>
            </a:extLst>
          </p:cNvPr>
          <p:cNvCxnSpPr/>
          <p:nvPr/>
        </p:nvCxnSpPr>
        <p:spPr>
          <a:xfrm>
            <a:off x="7670800" y="5715000"/>
            <a:ext cx="647700" cy="0"/>
          </a:xfrm>
          <a:prstGeom prst="line">
            <a:avLst/>
          </a:prstGeom>
          <a:ln w="2540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57B7726-0C30-7968-CF34-A5712777027A}"/>
              </a:ext>
            </a:extLst>
          </p:cNvPr>
          <p:cNvSpPr/>
          <p:nvPr/>
        </p:nvSpPr>
        <p:spPr>
          <a:xfrm>
            <a:off x="8432800" y="5334000"/>
            <a:ext cx="2844800" cy="7620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pPr algn="ctr"/>
            <a:r>
              <a:rPr lang="zh-CN" altLang="en-US" sz="15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移除引导｜正常推理
独立评测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8E2629E-51C3-A6A4-52F4-A690D878A9E9}"/>
              </a:ext>
            </a:extLst>
          </p:cNvPr>
          <p:cNvSpPr txBox="1"/>
          <p:nvPr/>
        </p:nvSpPr>
        <p:spPr>
          <a:xfrm>
            <a:off x="685800" y="6108700"/>
            <a:ext cx="65405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参数更新发生在学生模型；教师提供训练目标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7E90DDE-F3D9-9260-0A55-2851D19D44DF}"/>
              </a:ext>
            </a:extLst>
          </p:cNvPr>
          <p:cNvSpPr txBox="1"/>
          <p:nvPr/>
        </p:nvSpPr>
        <p:spPr>
          <a:xfrm>
            <a:off x="7391400" y="6108700"/>
            <a:ext cx="41148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KL</a:t>
            </a:r>
            <a:r>
              <a:rPr lang="zh-CN" altLang="en-US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方向与完整配方由具体方法定义</a:t>
            </a:r>
          </a:p>
        </p:txBody>
      </p:sp>
      <p:pic>
        <p:nvPicPr>
          <p:cNvPr id="40" name="MechanismTeachingVideo_B07">
            <a:hlinkClick r:id="" action="ppaction://media"/>
            <a:extLst>
              <a:ext uri="{FF2B5EF4-FFF2-40B4-BE49-F238E27FC236}">
                <a16:creationId xmlns:a16="http://schemas.microsoft.com/office/drawing/2014/main" id="{AECB4570-ACE4-F204-5428-7C8FCFFB9CB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38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000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F80B0E7D-39E0-9F0C-41B7-AA34BFA1C9AE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E4FB7D-1CF3-4E9C-DB11-1762B8CA2A8D}"/>
              </a:ext>
            </a:extLst>
          </p:cNvPr>
          <p:cNvSpPr txBox="1"/>
          <p:nvPr/>
        </p:nvSpPr>
        <p:spPr>
          <a:xfrm>
            <a:off x="685800" y="838200"/>
            <a:ext cx="10820400" cy="5232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4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改善空间：先弄清百分数的分母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1633B8-3DF9-DAC0-5DE2-670A509BBA3C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8828E14-E70A-3ECE-6011-17C28F8BCDD4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§2.2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；定义与教学数值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39C1FBE-74A3-0843-7585-0469C64AEA55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12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7DCEBE3-456C-23C0-1E84-D97E36B7550F}"/>
              </a:ext>
            </a:extLst>
          </p:cNvPr>
          <p:cNvSpPr/>
          <p:nvPr/>
        </p:nvSpPr>
        <p:spPr>
          <a:xfrm>
            <a:off x="685800" y="1943100"/>
            <a:ext cx="10820400" cy="14986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6DF597-6263-79E5-C6E5-BA395FFA3D5F}"/>
              </a:ext>
            </a:extLst>
          </p:cNvPr>
          <p:cNvSpPr txBox="1"/>
          <p:nvPr/>
        </p:nvSpPr>
        <p:spPr>
          <a:xfrm>
            <a:off x="914400" y="2159000"/>
            <a:ext cx="9398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定义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E801258-D0B8-290D-32F7-B1432B89CC97}"/>
              </a:ext>
            </a:extLst>
          </p:cNvPr>
          <p:cNvSpPr txBox="1"/>
          <p:nvPr/>
        </p:nvSpPr>
        <p:spPr>
          <a:xfrm>
            <a:off x="1905000" y="2133600"/>
            <a:ext cx="9372600" cy="2539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6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改善空间关闭比例：训练带来的提升，占“基线到参考最优”原有差距的比例。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80EA75C-24E4-4325-5424-10AC64DB4266}"/>
              </a:ext>
            </a:extLst>
          </p:cNvPr>
          <p:cNvSpPr txBox="1"/>
          <p:nvPr/>
        </p:nvSpPr>
        <p:spPr>
          <a:xfrm>
            <a:off x="914400" y="2705100"/>
            <a:ext cx="10363200" cy="3385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 ÷ (</a:t>
            </a:r>
            <a:r>
              <a:rPr lang="zh-CN" altLang="en-US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参考最优得分 − 基线得分</a:t>
            </a:r>
            <a:r>
              <a:rPr lang="en-US" altLang="zh-CN" sz="22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CN" altLang="en-US" sz="22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09D0551-6097-392C-B54C-8C7C6199CA5D}"/>
              </a:ext>
            </a:extLst>
          </p:cNvPr>
          <p:cNvSpPr txBox="1"/>
          <p:nvPr/>
        </p:nvSpPr>
        <p:spPr>
          <a:xfrm>
            <a:off x="685800" y="37084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一个小例子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54F9CC0B-78DA-F1B4-DF03-AACF7BDFAB09}"/>
              </a:ext>
            </a:extLst>
          </p:cNvPr>
          <p:cNvSpPr/>
          <p:nvPr/>
        </p:nvSpPr>
        <p:spPr>
          <a:xfrm>
            <a:off x="6858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D11B60E-4086-85F4-61F1-75B81A39CCA4}"/>
              </a:ext>
            </a:extLst>
          </p:cNvPr>
          <p:cNvSpPr txBox="1"/>
          <p:nvPr/>
        </p:nvSpPr>
        <p:spPr>
          <a:xfrm>
            <a:off x="8382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基线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38994E-A939-D443-48C2-1B6B0510B69D}"/>
              </a:ext>
            </a:extLst>
          </p:cNvPr>
          <p:cNvSpPr txBox="1"/>
          <p:nvPr/>
        </p:nvSpPr>
        <p:spPr>
          <a:xfrm>
            <a:off x="8382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777971C-7E18-C99D-E66D-96A19F534AAC}"/>
              </a:ext>
            </a:extLst>
          </p:cNvPr>
          <p:cNvCxnSpPr/>
          <p:nvPr/>
        </p:nvCxnSpPr>
        <p:spPr>
          <a:xfrm>
            <a:off x="24130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02EE8B3D-6C03-1E6A-0A6C-97616D1A1F88}"/>
              </a:ext>
            </a:extLst>
          </p:cNvPr>
          <p:cNvSpPr/>
          <p:nvPr/>
        </p:nvSpPr>
        <p:spPr>
          <a:xfrm>
            <a:off x="2692400" y="4165600"/>
            <a:ext cx="1676400" cy="11430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557E08F-D9FE-9CED-9C83-AC35F5D56892}"/>
              </a:ext>
            </a:extLst>
          </p:cNvPr>
          <p:cNvSpPr txBox="1"/>
          <p:nvPr/>
        </p:nvSpPr>
        <p:spPr>
          <a:xfrm>
            <a:off x="28448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训练后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8D410CB-0FB1-6EB7-FA20-F88139793C0D}"/>
              </a:ext>
            </a:extLst>
          </p:cNvPr>
          <p:cNvSpPr txBox="1"/>
          <p:nvPr/>
        </p:nvSpPr>
        <p:spPr>
          <a:xfrm>
            <a:off x="28448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70</a:t>
            </a:r>
            <a:endParaRPr lang="zh-CN" altLang="en-US" sz="29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281B32D-5CA1-4108-1AD1-C08C6D40EFD9}"/>
              </a:ext>
            </a:extLst>
          </p:cNvPr>
          <p:cNvCxnSpPr/>
          <p:nvPr/>
        </p:nvCxnSpPr>
        <p:spPr>
          <a:xfrm>
            <a:off x="4419600" y="4737100"/>
            <a:ext cx="228600" cy="0"/>
          </a:xfrm>
          <a:prstGeom prst="line">
            <a:avLst/>
          </a:prstGeom>
          <a:ln w="22860">
            <a:solidFill>
              <a:srgbClr val="167F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16C13F5-0D5E-6811-7270-D3016EA46EB3}"/>
              </a:ext>
            </a:extLst>
          </p:cNvPr>
          <p:cNvSpPr/>
          <p:nvPr/>
        </p:nvSpPr>
        <p:spPr>
          <a:xfrm>
            <a:off x="4699000" y="4165600"/>
            <a:ext cx="1676400" cy="1143000"/>
          </a:xfrm>
          <a:prstGeom prst="roundRect">
            <a:avLst/>
          </a:prstGeom>
          <a:solidFill>
            <a:srgbClr val="E7EFEB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E11E4A1-2EE3-7CF4-09A9-1CDAD6D6F6C9}"/>
              </a:ext>
            </a:extLst>
          </p:cNvPr>
          <p:cNvSpPr txBox="1"/>
          <p:nvPr/>
        </p:nvSpPr>
        <p:spPr>
          <a:xfrm>
            <a:off x="4851400" y="4330700"/>
            <a:ext cx="13716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参考最优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C745A27-E58F-9F29-C883-33A82E6EAD67}"/>
              </a:ext>
            </a:extLst>
          </p:cNvPr>
          <p:cNvSpPr txBox="1"/>
          <p:nvPr/>
        </p:nvSpPr>
        <p:spPr>
          <a:xfrm>
            <a:off x="4851400" y="4648200"/>
            <a:ext cx="1371600" cy="4462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9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endParaRPr lang="zh-CN" altLang="en-US" sz="2900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54CDCB9-588B-FEB7-3214-4F7CBFAA1262}"/>
              </a:ext>
            </a:extLst>
          </p:cNvPr>
          <p:cNvSpPr/>
          <p:nvPr/>
        </p:nvSpPr>
        <p:spPr>
          <a:xfrm>
            <a:off x="7289800" y="3924300"/>
            <a:ext cx="4216400" cy="1384300"/>
          </a:xfrm>
          <a:prstGeom prst="roundRect">
            <a:avLst/>
          </a:prstGeom>
          <a:solidFill>
            <a:srgbClr val="F0E7D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127000" rIns="127000" bIns="127000" rtlCol="0" anchor="ctr"/>
          <a:lstStyle/>
          <a:p>
            <a:endParaRPr lang="zh-CN" altLang="en-US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E43188C-BBB7-015F-B834-415529FFD536}"/>
              </a:ext>
            </a:extLst>
          </p:cNvPr>
          <p:cNvSpPr txBox="1"/>
          <p:nvPr/>
        </p:nvSpPr>
        <p:spPr>
          <a:xfrm>
            <a:off x="7543800" y="4114800"/>
            <a:ext cx="3708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代入定义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8E8548D-4BB9-5CC3-460E-1909F5902AEE}"/>
              </a:ext>
            </a:extLst>
          </p:cNvPr>
          <p:cNvSpPr txBox="1"/>
          <p:nvPr/>
        </p:nvSpPr>
        <p:spPr>
          <a:xfrm>
            <a:off x="7543800" y="4495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(70 − 50) ÷ (100 − 50)</a:t>
            </a:r>
            <a:endParaRPr lang="zh-CN" altLang="en-US" b="1">
              <a:solidFill>
                <a:srgbClr val="1E35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6822BD32-09E4-3768-ED36-41BE391EABD3}"/>
              </a:ext>
            </a:extLst>
          </p:cNvPr>
          <p:cNvSpPr txBox="1"/>
          <p:nvPr/>
        </p:nvSpPr>
        <p:spPr>
          <a:xfrm>
            <a:off x="7543800" y="4851400"/>
            <a:ext cx="37084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24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= 40%</a:t>
            </a:r>
            <a:endParaRPr lang="zh-CN" altLang="en-US" sz="24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12F2D66-9C5E-BE63-C4F9-4CA013D280DF}"/>
              </a:ext>
            </a:extLst>
          </p:cNvPr>
          <p:cNvSpPr txBox="1"/>
          <p:nvPr/>
        </p:nvSpPr>
        <p:spPr>
          <a:xfrm>
            <a:off x="685800" y="5588000"/>
            <a:ext cx="10820400" cy="2385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直观理解：原本还差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分，现在补回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分，因此关闭了</a:t>
            </a:r>
            <a:r>
              <a:rPr lang="en-US" altLang="zh-CN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5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的原有改善空间。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58BD702-D287-192A-F5D1-6B9149BC0716}"/>
              </a:ext>
            </a:extLst>
          </p:cNvPr>
          <p:cNvSpPr txBox="1"/>
          <p:nvPr/>
        </p:nvSpPr>
        <p:spPr>
          <a:xfrm>
            <a:off x="685800" y="60198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40%</a:t>
            </a:r>
            <a:r>
              <a:rPr lang="zh-CN" altLang="en-US" sz="1500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不是训练后正确率；多个安全测试还要用几何平均数汇总。</a:t>
            </a:r>
          </a:p>
        </p:txBody>
      </p:sp>
    </p:spTree>
    <p:extLst>
      <p:ext uri="{BB962C8B-B14F-4D97-AF65-F5344CB8AC3E}">
        <p14:creationId xmlns:p14="http://schemas.microsoft.com/office/powerpoint/2010/main" val="160178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B7318C3-C9F6-48D7-882A-B13B07782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9386588"/>
              </p:ext>
            </p:extLst>
          </p:nvPr>
        </p:nvGraphicFramePr>
        <p:xfrm>
          <a:off x="685799" y="2514600"/>
          <a:ext cx="7493000" cy="3213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E0A5B4E4-D3EB-8B32-9734-CED5C617EB38}"/>
              </a:ext>
            </a:extLst>
          </p:cNvPr>
          <p:cNvSpPr txBox="1"/>
          <p:nvPr/>
        </p:nvSpPr>
        <p:spPr>
          <a:xfrm>
            <a:off x="685800" y="279400"/>
            <a:ext cx="108204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二  模型改进  </a:t>
            </a:r>
            <a:r>
              <a:rPr lang="en-US" altLang="zh-CN" sz="15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Anthropic</a:t>
            </a:r>
            <a:endParaRPr lang="zh-CN" altLang="en-US" sz="1500" b="1">
              <a:solidFill>
                <a:srgbClr val="167F7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4DE3A7-E515-98FE-6F16-7BFA0F1AFB26}"/>
              </a:ext>
            </a:extLst>
          </p:cNvPr>
          <p:cNvSpPr txBox="1"/>
          <p:nvPr/>
        </p:nvSpPr>
        <p:spPr>
          <a:xfrm>
            <a:off x="685800" y="838200"/>
            <a:ext cx="108204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100" b="1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同一案例中，训练目标比增加数据自由度更关键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45CBAC2-D992-F8EC-649B-4905325507A2}"/>
              </a:ext>
            </a:extLst>
          </p:cNvPr>
          <p:cNvSpPr/>
          <p:nvPr/>
        </p:nvSpPr>
        <p:spPr>
          <a:xfrm>
            <a:off x="685800" y="1809750"/>
            <a:ext cx="10820400" cy="19050"/>
          </a:xfrm>
          <a:prstGeom prst="rect">
            <a:avLst/>
          </a:prstGeom>
          <a:solidFill>
            <a:srgbClr val="D5D9D5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7CCB85E-68EA-5A7D-D65C-91ABF172D2CD}"/>
              </a:ext>
            </a:extLst>
          </p:cNvPr>
          <p:cNvSpPr txBox="1"/>
          <p:nvPr/>
        </p:nvSpPr>
        <p:spPr>
          <a:xfrm>
            <a:off x="685800" y="2019300"/>
            <a:ext cx="108204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Qwen3.5-2B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谄媚任务｜前</a:t>
            </a:r>
            <a:r>
              <a:rPr lang="en-US" altLang="zh-CN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150</a:t>
            </a:r>
            <a:r>
              <a:rPr lang="zh-CN" altLang="en-US" sz="16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个已评分方法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908D9C4-19A4-6ACE-87FF-E88EB170A1C0}"/>
              </a:ext>
            </a:extLst>
          </p:cNvPr>
          <p:cNvSpPr txBox="1"/>
          <p:nvPr/>
        </p:nvSpPr>
        <p:spPr>
          <a:xfrm>
            <a:off x="8496300" y="2603500"/>
            <a:ext cx="3009900" cy="29238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900" b="1">
                <a:solidFill>
                  <a:srgbClr val="167F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比较的是搜索条件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341B2BE-58F6-E679-EFD9-9002A804A9D6}"/>
              </a:ext>
            </a:extLst>
          </p:cNvPr>
          <p:cNvSpPr txBox="1"/>
          <p:nvPr/>
        </p:nvSpPr>
        <p:spPr>
          <a:xfrm>
            <a:off x="8496300" y="3124200"/>
            <a:ext cx="3009900" cy="47705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550">
                <a:solidFill>
                  <a:srgbClr val="1E35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允许的方法不同
不是同一模型逐步加模块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D7DC09-F6E3-D218-2E6A-0DA688772464}"/>
              </a:ext>
            </a:extLst>
          </p:cNvPr>
          <p:cNvSpPr txBox="1"/>
          <p:nvPr/>
        </p:nvSpPr>
        <p:spPr>
          <a:xfrm>
            <a:off x="8496300" y="4127500"/>
            <a:ext cx="30099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b="1">
                <a:solidFill>
                  <a:srgbClr val="B65D3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限定范围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7D22E9A-B8BE-D6B4-E6C1-0B41EA0C7967}"/>
              </a:ext>
            </a:extLst>
          </p:cNvPr>
          <p:cNvSpPr txBox="1"/>
          <p:nvPr/>
        </p:nvSpPr>
        <p:spPr>
          <a:xfrm>
            <a:off x="8496300" y="4610100"/>
            <a:ext cx="3009900" cy="6694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单个任务、单个目标模型
每条件一次搜索运行
未重跑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held-out</a:t>
            </a:r>
            <a:r>
              <a:rPr lang="zh-CN" altLang="en-US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或</a:t>
            </a:r>
            <a:r>
              <a:rPr lang="en-US" altLang="zh-CN" sz="14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Petri</a:t>
            </a:r>
            <a:endParaRPr lang="zh-CN" altLang="en-US" sz="14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EA0547-B914-BA05-4ACA-D65285D0D571}"/>
              </a:ext>
            </a:extLst>
          </p:cNvPr>
          <p:cNvSpPr txBox="1"/>
          <p:nvPr/>
        </p:nvSpPr>
        <p:spPr>
          <a:xfrm>
            <a:off x="685800" y="5880100"/>
            <a:ext cx="7493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横轴：安全改善空间关闭比例（</a:t>
            </a:r>
            <a:r>
              <a:rPr lang="en-US" altLang="zh-CN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%</a:t>
            </a:r>
            <a:r>
              <a:rPr lang="zh-CN" altLang="en-US" sz="140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0F3DC5D-70C0-2662-3E09-791E7B0DD5AC}"/>
              </a:ext>
            </a:extLst>
          </p:cNvPr>
          <p:cNvSpPr txBox="1"/>
          <p:nvPr/>
        </p:nvSpPr>
        <p:spPr>
          <a:xfrm>
            <a:off x="685800" y="6438900"/>
            <a:ext cx="10236200" cy="1923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[4] Chen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, AAR, 2026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Fig.20</a:t>
            </a:r>
            <a:r>
              <a:rPr lang="zh-CN" altLang="en-US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</a:t>
            </a:r>
            <a:r>
              <a:rPr lang="en-US" altLang="zh-CN" sz="12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App. D.4</a:t>
            </a:r>
            <a:endParaRPr lang="zh-CN" altLang="en-US" sz="12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83BF6B1-84E6-3DFC-4B95-2337CDB85490}"/>
              </a:ext>
            </a:extLst>
          </p:cNvPr>
          <p:cNvSpPr txBox="1"/>
          <p:nvPr/>
        </p:nvSpPr>
        <p:spPr>
          <a:xfrm>
            <a:off x="11112500" y="6438900"/>
            <a:ext cx="406400" cy="20774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en-US" altLang="zh-CN" sz="1350">
                <a:solidFill>
                  <a:srgbClr val="6676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350">
              <a:solidFill>
                <a:srgbClr val="6676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11184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2834</Words>
  <Application>Microsoft Office PowerPoint</Application>
  <DocSecurity>0</DocSecurity>
  <PresentationFormat>宽屏</PresentationFormat>
  <Paragraphs>96</Paragraphs>
  <Slides>6</Slides>
  <Notes>6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236471920@qq.com</cp:lastModifiedBy>
  <cp:revision>3</cp:revision>
  <dcterms:created xsi:type="dcterms:W3CDTF">2026-10-14T03:20:04Z</dcterms:created>
  <dcterms:modified xsi:type="dcterms:W3CDTF">2026-10-27T12:35:33Z</dcterms:modified>
</cp:coreProperties>
</file>