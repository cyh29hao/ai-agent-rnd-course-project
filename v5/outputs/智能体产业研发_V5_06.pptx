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原样公共数据 SFT</c:v>
                </c:pt>
                <c:pt idx="1">
                  <c:v>自由构造数据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主讲第1页，设计预算15秒（未真人计时）。</a:t>
            </a:r>
          </a:p>
          <a:p xmlns:a="http://schemas.openxmlformats.org/drawingml/2006/main">
            <a:r>
              <a:t>大家好。我们关注的是智能体在大模型产业研发中的应用。AI已经开始参与研发AI，那么，这些改进能不能一轮一轮继续下去？这是今天想回答的问题。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主讲第2页，设计预算30秒（未真人计时）。</a:t>
            </a:r>
          </a:p>
          <a:p xmlns:a="http://schemas.openxmlformats.org/drawingml/2006/main">
            <a:r>
              <a:t>这个问题其实比大模型早得多。1965年，统计学家Good就讨论过：如果机器能够参与设计更好的机器，改进会不会不断继续？当时主要是思想推演，今天则开始出现能检查的研发实例。我们不急着预测什么时候会发生智能爆炸，先把问题落到一项真实任务上：Agent接过了什么工作，交付了什么，又怎样知道它做得更好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[1] Good, 1965</a:t>
            </a:r>
          </a:p>
          <a:p xmlns:a="http://schemas.openxmlformats.org/drawingml/2006/main">
            <a:r>
              <a:t>https://scienceplusplus.org/metascience/assets/Good1965.pdf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主讲第3页，设计预算35秒（未真人计时）。</a:t>
            </a:r>
          </a:p>
          <a:p xmlns:a="http://schemas.openxmlformats.org/drawingml/2006/main">
            <a:r>
              <a:t>可以先想象研究员面前的一轮实验：有了一个想法，还得写代码、配置训练、读日志，最后判断结果值不值得保留。比如，模型变得更少迎合用户了，会不会同时变得不擅长数学？一次实验失败，下次又该从哪里接着试？这些工作有明确工具，也有需要判断的环节。课程里讲的工具调用、记忆和评测，进入大模型研发以后，就对应这些具体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主讲第4页，设计预算40秒（未真人计时）。</a:t>
            </a:r>
          </a:p>
          <a:p xmlns:a="http://schemas.openxmlformats.org/drawingml/2006/main">
            <a:r>
              <a:t>自我修改听起来很诱人，但有一个老问题：凭什么保留这次修改？这里有两种思路。Gödel Machine要求先证明修改有益，再允许修改；这个保证很强，但真实研发很难事先把所有后果都证明清楚。另一种思路是产生候选，实际运行，再用评测筛选，神经架构搜索和后面的代码自改研究更接近这条路线。它们体现的是验证方式的差异。今天的案例主要依赖实验，所以评测测了什么、漏了什么，会直接影响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[2] Schmidhuber, Gödel Machines</a:t>
            </a:r>
          </a:p>
          <a:p xmlns:a="http://schemas.openxmlformats.org/drawingml/2006/main">
            <a:r>
              <a:t>https://people.idsia.ch/~juergen/gmweb4/gmweb4.html</a:t>
            </a:r>
          </a:p>
          <a:p xmlns:a="http://schemas.openxmlformats.org/drawingml/2006/main">
            <a:r>
              <a:t>[3] Zoph &amp; Le, NAS, 2016</a:t>
            </a:r>
          </a:p>
          <a:p xmlns:a="http://schemas.openxmlformats.org/drawingml/2006/main">
            <a:r>
              <a:t>https://arxiv.org/abs/1611.01578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主讲第5页，设计预算20秒（未真人计时）。</a:t>
            </a:r>
          </a:p>
          <a:p xmlns:a="http://schemas.openxmlformats.org/drawingml/2006/main">
            <a:r>
              <a:t>下面先跟着一个改模型的任务走：任务怎么交给Agent，方法怎么进入模型，结果又怎么用于下一次尝试。看完这些具体工作，再回到题目：这些改进能不能让下一轮研发做得更好？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主讲第6页，设计预算25秒（未真人计时）。</a:t>
            </a:r>
          </a:p>
          <a:p xmlns:a="http://schemas.openxmlformats.org/drawingml/2006/main">
            <a:r>
              <a:t>我们重点选这两家，是想展开研发中的两个环节。Anthropic的公开研究能看到训练方法和目标模型的变化，OpenAI作者的案例能看到评测任务怎样执行、怎样留下记录。Google和开放研究再补上算法、策略和代码。一起看，就能知道Agent进入了哪些研发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  <a:p xmlns:a="http://schemas.openxmlformats.org/drawingml/2006/main">
            <a:r>
              <a:t>[6] Google DeepMind, AlphaEvolve, 2025</a:t>
            </a:r>
          </a:p>
          <a:p xmlns:a="http://schemas.openxmlformats.org/drawingml/2006/main">
            <a:r>
              <a:t>https://deepmind.google/blog/alphaevolve-a-gemini-powered-coding-agent-for-designing-advanced-algorithms/</a:t>
            </a:r>
          </a:p>
          <a:p xmlns:a="http://schemas.openxmlformats.org/drawingml/2006/main">
            <a:r>
              <a:t>[7] AgentEvolver论文, 2025</a:t>
            </a:r>
          </a:p>
          <a:p xmlns:a="http://schemas.openxmlformats.org/drawingml/2006/main">
            <a:r>
              <a:t>https://arxiv.org/html/2511.10395v1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主讲第7页，设计预算40秒（未真人计时）。</a:t>
            </a:r>
          </a:p>
          <a:p xmlns:a="http://schemas.openxmlformats.org/drawingml/2006/main">
            <a:r>
              <a:t>先看Anthropic Fellows项目的一项公开对齐研究。任务是让模型少迎合错误观点：用户说错了，模型也应该能指出问题。请看图上三个角色。Claude Opus4.8作为研究Agent，想办法、写实现和调用训练工具；Qwen3.5-2B是接受训练的目标模型；评测器检查改善和能力副作用。这里“Agent研发AI”的具体含义，就是它能通过工具改变另一个模型。下面看它怎样把一个想法变成可检查的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主讲第8页，设计预算40秒（未真人计时）。</a:t>
            </a:r>
          </a:p>
          <a:p xmlns:a="http://schemas.openxmlformats.org/drawingml/2006/main">
            <a:r>
              <a:t>从左往右看，一轮研究先读资料、提出假设，在看到本轮评测结果之前冻结小论文，再提交实现。这样就能对照原来的假设检查结果。基本规则不允许利用评测数据，也禁止从研究Agent或更强模型蒸馏。代码经过监控，训练工具更新目标模型，最后由外部评测打分。典型方法的预算约一张H200、半小时。所以，Agent必须把想法做成可运行的方法，同时遵守资源和数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主讲第9页，设计预算40秒（未真人计时）。</a:t>
            </a:r>
          </a:p>
          <a:p xmlns:a="http://schemas.openxmlformats.org/drawingml/2006/main">
            <a:r>
              <a:t>一次尝试结束以后，结果不会随着聊天结束就消失。多个研究Agent并行探索，方法、得分和研究记录进入共享资料。新的会话可以读取这些记录，知道哪些方向试过，再提出下一种方法。所以这里的记忆首先是一套外部工程机制：即使换了会话，研究也能接续。请注意这个回流方向，它把经验带回下一次尝试，却没有因此更新研究Agent的模型权重。下一页我们就看一个真正涉及目标模型变化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主讲第10页，设计预算50秒（未真人计时）。</a:t>
            </a:r>
          </a:p>
          <a:p xmlns:a="http://schemas.openxmlformats.org/drawingml/2006/main">
            <a:r>
              <a:t>这项研究在开放权重实验中找到的一条成功路线，是激活引导加自蒸馏。先只看第一步。模型回答问题时，中间会形成内部表示；方法对这些表示施加方向性的干预，让回答更倾向于指出错误，而不是顺着用户说。图上的教师，就是目标模型经过引导后的版本，并不是另外请来的一个更强模型。这个干预作用在模型内部，不是把一条新指令拼到用户提示里。可以把这一步理解为，先临时改变它的回答倾向。此时学生还没有经过训练：去掉这项推理时干预，刚才的变化能不能留下来？这就需要第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主讲第11页，设计预算50秒（未真人计时）。</a:t>
            </a:r>
          </a:p>
          <a:p xmlns:a="http://schemas.openxmlformats.org/drawingml/2006/main">
            <a:r>
              <a:t>请跟着短片看三个动作。首先，引导后的教师给出输出概率分布；学生也给出自己的分布。然后，训练目标用KL散度衡量两者的差异，并据此调整学生参数。最后，学生不用刚才的临时引导，正常推理，再接受外部评测。把教师和学生分开讲，就是为了看清临时干预与参数训练发生在不同阶段。也就是说，第一步改变教师的输出，第二步才试着把这种行为写进学生权重。短片是教学示意，不是论文的实验录像。分布更接近，只说明训练目标被优化了；学生是否真的少迎合、是否损失能力，仍要看最后的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主讲第12页，设计预算40秒（未真人计时）。</a:t>
            </a:r>
          </a:p>
          <a:p xmlns:a="http://schemas.openxmlformats.org/drawingml/2006/main">
            <a:r>
              <a:t>在展示真实数字之前，先看这个教学例子。假设基线是50分，训练以后70分，最优是100分。实际多了20分，但原来有50分的改善空间，所以关闭了40%的改善空间。分母是原来还能提高多少，不是测试题的总数，因此这个40%不能读成通过率。如果换了基线，百分数也会随原有改善空间改变。论文还会把多个基准汇总，具体计算放在备份。大家只要先记住这条尺子，下一页的百分数就不会被误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主讲第13页，设计预算40秒（未真人计时）。</a:t>
            </a:r>
          </a:p>
          <a:p xmlns:a="http://schemas.openxmlformats.org/drawingml/2006/main">
            <a:r>
              <a:t>这里选取论文图二十的四种条件中的三种，看前150个已评分方法。公共数据SFT是6.0%，自由构造数据SFT是2.9%，不受限研究方法是23.3%。这是搜索条件的比较，不能把23.3%全算成刚才蒸馏配方的效果。每个条件只有一次运行，相同方法数量也不代表总成本相同。我们看到的是具体任务中的改善；下一部分换一个环节，看Agent怎样协助把评测本身跑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主讲第14页，设计预算35秒（未真人计时）。</a:t>
            </a:r>
          </a:p>
          <a:p xmlns:a="http://schemas.openxmlformats.org/drawingml/2006/main"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主讲第15页，设计预算40秒（未真人计时）。</a:t>
            </a:r>
          </a:p>
          <a:p xmlns:a="http://schemas.openxmlformats.org/drawingml/2006/main"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主讲第16页，设计预算40秒（未真人计时）。</a:t>
            </a:r>
          </a:p>
          <a:p xmlns:a="http://schemas.openxmlformats.org/drawingml/2006/main">
            <a:r>
              <a:t>Runme把命令放在笔记里执行，输出也能跟着保存。请从上到下看：目标和计划说明为什么做，命令和输出记录具体发生了什么，解释与取舍交代下一步怎么选。换一个会话，Codex就能读取这些记录，接着处理任务。它和前面的共享实验记录有一个共同点：上次怎么做、哪里失败、为什么这样决定，都能留给下一次。这里的记忆就保存在这些可读取的记录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主讲第17页，设计预算40秒（未真人计时）。</a:t>
            </a:r>
          </a:p>
          <a:p xmlns:a="http://schemas.openxmlformats.org/drawingml/2006/main"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[6] Google DeepMind, AlphaEvolve, 2025</a:t>
            </a:r>
          </a:p>
          <a:p xmlns:a="http://schemas.openxmlformats.org/drawingml/2006/main"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主讲第18页，设计预算40秒（未真人计时）。</a:t>
            </a:r>
          </a:p>
          <a:p xmlns:a="http://schemas.openxmlformats.org/drawingml/2006/main">
            <a:r>
              <a:t>这个案例报告，一个矩阵乘法kernel加速了23%，对应Gemini总训练时间减少1%。左边说的是一个算子，右边说的是完整训练。训练还有其他大量工作，所以一个环节快了很多，整段训练的收益仍可能比较小。23%落在这个算子上，1%才对应总训练时间。这个例子让我们看到，Agent找到的一项程序改动，怎样实际进入大模型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[6] Google DeepMind, AlphaEvolve, 2025</a:t>
            </a:r>
          </a:p>
          <a:p xmlns:a="http://schemas.openxmlformats.org/drawingml/2006/main"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主讲第19页，设计预算40秒，未真人计时。</ns1:t>
            </ns1:r>
          </ns1:p>
          <ns1:p>
            <ns1:r>
              <ns1:t>前面改的是模型和训练程序。开放研究还把Agent自身作为改进对象。左边的AgentEvolver会生成任务、复用经验，再把行动的贡献用于奖励，训练Agent的策略。右边的DGM会改自己的工具和流程代码，比如增加补丁检查；运行评测后，把不同版本存进档案，供后续继续探索。这里要分清，训练策略与修改代码，是两种不同的改进。</ns1:t>
            </ns1:r>
          </ns1:p>
          <ns1:p>
            <ns1:r>
              <ns1:t>D部分06修订。采用曹天卓来稿区分改策略与改代码的讲法；档案不是只保留当前最高分版本。AgentEvolver v1 §3—5；DGM v1 §3、官方Introduction。基准分母与具体例子见10_D部分答辩备课。</ns1:t>
            </ns1:r>
          </ns1:p>
          <ns1:p>
            <ns1:r>
              <ns1:t>来源：[7] https://arxiv.org/html/2511.10395v1；[8] https://sakana.ai/dgm/；[10] https://www.anthropic.com/institute/recursive-self-improvement</ns1:t>
            </ns1:r>
          </ns1:p>
          <ns1:p>
            <ns1:r>
              <ns1:t>深入问答与具体分母见10_D部分答辩备课.md。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0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主讲第20页，设计预算40秒，未真人计时。</ns1:t>
            </ns1:r>
          </ns1:p>
          <ns1:p>
            <ns1:r>
              <ns1:t>把前面的案例放在一起看，先问它改了哪个对象。Anthropic训练目标模型，OpenAI这个案例改进评测流程、留下研究记录，Google优化训练程序。刚才的开放研究，则训练Agent策略或修改自身代码。这些结果分别体现在模型行为、任务完成情况和程序性能上。下一步就要问：这轮留下的成果，会怎样进入下一轮研究？</ns1:t>
            </ns1:r>
          </ns1:p>
          <ns1:p>
            <ns1:r>
              <ns1:t/>
            </ns1:r>
          </ns1:p>
          <ns1:p>
            <ns1:r>
              <ns1:t>来源：[7] https://arxiv.org/html/2511.10395v1；[8] https://sakana.ai/dgm/；[10] https://www.anthropic.com/institute/recursive-self-improvement</ns1:t>
            </ns1:r>
          </ns1:p>
          <ns1:p>
            <ns1:r>
              <ns1:t>深入问答与具体分母见10_D部分答辩备课.md。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主讲第21页，设计预算45秒，未真人计时。</ns1:t>
            </ns1:r>
          </ns1:p>
          <ns1:p>
            <ns1:r>
              <ns1:t>上一轮的成果，有两种接法。第一种是把实验记录留下来，下次读取成功和失败，接着提出方法。前面的共享记录和Runme就是这样。第二种更进一步：DGM改了Agent自身，后续还能从这些版本继续探索。图中两条返回的箭头，分别表示带回记录和带回修改后的Agent。如果要把这个思路推广到基础模型研发，还要看它能否持续做出更强的后继模型。</ns1:t>
            </ns1:r>
          </ns1:p>
          <ns1:p>
            <ns1:r>
              <ns1:t>下方回流特指DGM在Agent代码层的迭代，不表示AAR把Qwen替换成Opus研究Agent。最后一问讨论基础模型的持续后继研发。</ns1:t>
            </ns1:r>
          </ns1:p>
          <ns1:p>
            <ns1:r>
              <ns1:t>来源：[7] https://arxiv.org/html/2511.10395v1；[8] https://sakana.ai/dgm/；[10] https://www.anthropic.com/institute/recursive-self-improvement</ns1:t>
            </ns1:r>
          </ns1:p>
          <ns1:p>
            <ns1:r>
              <ns1:t>深入问答与具体分母见10_D部分答辩备课.md。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2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主讲第22页，设计预算35秒，未真人计时。</ns1:t>
            </ns1:r>
          </ns1:p>
          <ns1:p>
            <ns1:r>
              <ns1:t>怎样判断它下一轮真的研究得更好了？可以让原版和改进版，在同样预算下研究同一组新任务。先看找到的方法是否更好，再换任务、连续观察几轮，同时记录失败和人工帮助。这样有助于判断，它有没有只适应刚才那批题，是否提高研发效率，以及会不会退步或钻测试空子。这是我们提出的比较思路，本组没有做这项实验。</ns1:t>
            </ns1:r>
          </ns1:p>
          <ns1:p>
            <ns1:r>
              <ns1:t>本页是本报告提出的后续比较思路，不是已执行实验，也不要求本组新增实践。预算宜记录时间、计算/调用成本和人工帮助；新任务用于检查迁移，多轮结果包括失败与代价。有限测试有助判断，不能保证普遍持续改进。</ns1:t>
            </ns1:r>
          </ns1:p>
          <ns1:p>
            <ns1:r>
              <ns1:t>来源：[7] https://arxiv.org/html/2511.10395v1；[8] https://sakana.ai/dgm/；[10] https://www.anthropic.com/institute/recursive-self-improvement</ns1:t>
            </ns1:r>
          </ns1:p>
          <ns1:p>
            <ns1:r>
              <ns1:t>深入问答与具体分母见10_D部分答辩备课.md。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主讲第23页，设计预算25秒，未真人计时。</ns1:t>
            </ns1:r>
          </ns1:p>
          <ns1:p>
            <ns1:r>
              <ns1:t>所以，回到开头的问题，我们已经看到特定任务里的局部自我改进：Agent能帮助改模型，也能修改自身代码并继续探索。对于今天关注的大模型研发，下一步要检验的是，这些改进能否持续提高下一轮研究的能力，产出更强的基础模型。这就是我们对“距离递归自我改进还有多远”的回答：已有具体进展，持续的后继研发还需要跨轮次检验。</ns1:t>
            </ns1:r>
          </ns1:p>
          <ns1:p>
            <ns1:r>
              <ns1:t/>
            </ns1:r>
          </ns1:p>
          <ns1:p>
            <ns1:r>
              <ns1:t>来源：[7] https://arxiv.org/html/2511.10395v1；[8] https://sakana.ai/dgm/；[10] https://www.anthropic.com/institute/recursive-self-improvement</ns1:t>
            </ns1:r>
          </ns1:p>
          <ns1:p>
            <ns1:r>
              <ns1:t>深入问答与具体分母见10_D部分答辩备课.md。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4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主讲第24页，设计预算5秒，未真人计时。</ns1:t>
            </ns1:r>
          </ns1:p>
          <ns1:p>
            <ns1:r>
              <ns1:t>谢谢大家，欢迎提问。</ns1:t>
            </ns1:r>
          </ns1:p>
          <ns1:p>
            <ns1:r>
              <ns1:t/>
            </ns1:r>
          </ns1:p>
          <ns1:p>
            <ns1:r>
              <ns1:t>来源：[7] https://arxiv.org/html/2511.10395v1；[8] https://sakana.ai/dgm/；[10] https://www.anthropic.com/institute/recursive-self-improvement</ns1:t>
            </ns1:r>
          </ns1:p>
          <ns1:p>
            <ns1:r>
              <ns1:t>深入问答与具体分母见10_D部分答辩备课.md。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App. D.4。全程峰值26.4/18.7/6.0/4.5与固定方法数不同。相同方法数不等于同全部时间、成本。该比较未重跑held-out/Petri。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lide Image Placeholder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开放框架、策略训练与代码自改要分别追踪。AgentEvolver训练更新策略参数；DGM此实验固定底层模型，修改代码和工具。DGM官方20%→50%对应论文SWE-bench 200题子集；Polyglot 14.2%→30.7%为完整复评，勿混50题搜索子集或pass@2榜单。见DGM v1 §4.2与组长D答辩备课。</ns1:t>
            </ns1:r>
          </ns1:p>
          <ns1:p>
            <ns1:r>
              <ns1:t>https://arxiv.org/html/2505.22954v1</ns1:t>
            </ns1:r>
          </ns1:p>
          <ns1:p>
            <ns1:r>
              <ns1:t>https://arxiv.org/html/2511.10395v1</ns1:t>
            </ns1:r>
          </ns1:p>
          <ns1:p>
            <ns1:r>
              <ns1:t>https://sakana.ai/dgm/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>
            <ns1:endParaRPr/>
          </ns1:p>
        </ns0:txBody>
      </ns0:sp>
    </ns0:spTree>
  </ns0:cSld>
  <ns0:clrMapOvr>
    <ns1:masterClrMapping/>
  </ns0:clrMapOvr>
</ns0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D766A6-9D9B-4A3E-B7A7-F046388A7BC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63813F-A46F-4B3E-813A-C0A8918C47E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F65E28-8458-4031-A5EB-FE46193E5A72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0226B-FF11-45FD-BD22-A5730764F411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86A8-D3F3-4F8C-B4CC-392BA648D53A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149605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E0CE4BD-255C-4A19-AAD8-BA030C8195D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0B22D3-BD07-419B-864D-AA3302AB319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机器设计更好机器：一个早于大模型的问题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601F71-0E43-4840-945E-B5DB8B81F64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E760A6-9165-4A2C-9092-53908871B7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Good, 1965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EFC7B-A790-464A-AB63-411C16858DF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0E107D-BEA3-45D3-B071-B90E9A0CB4D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981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1965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AE3B0F-22AB-4D26-9947-14027C368FC1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I. J. Good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B29067-D4FB-4D2F-8DC9-70FC113CC1E6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267450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如果机器能参与设计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更好的机器，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改进会不会继续？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FC4B8E-A72F-45EC-B440-60E421582665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C0A842-AF20-4B76-9F21-105887328A77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今天可以追问：它接手了哪项任务，交付了什么结果</a:t>
            </a:r>
          </a:p>
        </p:txBody>
      </p:sp>
    </p:spTree>
    <p:extLst>
      <p:ext uri="{BB962C8B-B14F-4D97-AF65-F5344CB8AC3E}">
        <p14:creationId xmlns:p14="http://schemas.microsoft.com/office/powerpoint/2010/main" val="1580717888"/>
      </p:ext>
    </p:extLst>
  </p:cSld>
  <p:clrMapOvr>
    <a:masterClrMapping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9A36A-699A-4B99-ADF0-6D030C85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60991-E21C-429B-9DF9-FE08D1BB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研发AI，需要反复做实验和评测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176D1-3BE7-45E6-85CD-14FC0EE9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61780-6E8B-4E07-8DEB-B4A4A2F1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39279-9E47-45A5-9E26-593F38DE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C8100-5978-4F2F-B340-9FA43C47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46F0D-ED67-492C-AE9D-3BFDEBF0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098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提出训练方法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783D8-304A-448F-93FE-8FFCAB2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4795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A5206-5EB4-4C38-ADFF-8C595645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1EE2F-4DF1-45A3-898E-17052ADB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14700"/>
            <a:ext cx="24098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把方法变成代码与训练任务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F7A36-39D2-4712-BA14-855F8314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4795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398F0-7508-443E-98BE-6D0AD351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4F504-B4D3-488E-8655-340487B5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24098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检查行为改善</a:t>
            </a:r>
          </a:p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和能力损失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147EA-3C48-4776-96D2-C1B55E49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AEBE8-2F3F-4D40-B9D7-43F255B7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E51CE-1BD1-46A5-89D2-CA520769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24098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记录失败</a:t>
            </a:r>
          </a:p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决定下一次尝试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88654-7E0B-4506-BA63-17B9B97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一次行为改善，可能伴随其他能力下降</a:t>
            </a:r>
          </a:p>
        </p:txBody>
      </p:sp>
    </p:spTree>
    <p:extLst>
      <p:ext uri="{BB962C8B-B14F-4D97-AF65-F5344CB8AC3E}">
        <p14:creationId xmlns:p14="http://schemas.microsoft.com/office/powerpoint/2010/main" val="967885372"/>
      </p:ext>
    </p:extLst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8BBAD4A-5664-461B-9CE7-CA76D6D0DF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687911-61A4-4286-9D8B-E40DCA111B2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自我修改怎样才值得保留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5D6F6-048E-4CD3-88B5-B789CA13BBA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F42727-051D-492B-A85D-D63ECD67C8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[2] Gödel Machines；[3] NAS, 2016；[8]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2A3A70-A7F1-4F62-B6A1-FBA0234856F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6B9080-0A48-4AB8-85B7-7ACDBEF3095B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证明后修改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45F74-C3D5-4EEF-9F2D-786EEC68447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Gödel Machine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先证明修改有益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1E9EE5-6898-4763-AB59-90D605DFC2CA}"/>
              </a:ext>
            </a:extLst>
          </p:cNvPr>
          <p:cNvSpPr>
            <a:spLocks noGrp="1"/>
          </p:cNvSpPr>
          <p:nvPr/>
        </p:nvSpPr>
        <p:spPr>
          <a:xfrm>
            <a:off x="6572250" y="2200275"/>
            <a:ext cx="49339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评测后保留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92FF2D-8657-432A-90A0-C9E76828DD61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9339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NAS与DGM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搜索候选，再检验结果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0B127-42B6-42D4-8889-1E779582F5BC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D04C34-42CC-4D38-B4A2-F6B02FEE3452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真实研发怎样验证“更好”，贯穿今天的案例</a:t>
            </a:r>
          </a:p>
        </p:txBody>
      </p:sp>
    </p:spTree>
    <p:extLst>
      <p:ext uri="{BB962C8B-B14F-4D97-AF65-F5344CB8AC3E}">
        <p14:creationId xmlns:p14="http://schemas.microsoft.com/office/powerpoint/2010/main" val="1209034566"/>
      </p:ext>
    </p:extLst>
  </p:cSld>
  <p:clrMapOvr>
    <a:masterClrMapping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25B23-B352-451B-AD1A-CC01BA5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54505-70EE-4856-BCF2-980855E1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沿着研发链条找答案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C950A-26D2-425F-ADCD-0A2EB9B4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45F6F-0655-454E-A2E0-B6CAE6C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B0720-C2D1-4270-BAE4-76A3E211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D8F0F-4374-4560-B445-FEA7C256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AF72D-4926-451B-8EAE-B6598BC9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3837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任务怎样交给Agent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C5789-6855-4B0E-BD4B-CE201E64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EDCAD-CFE9-4784-9987-818978CC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004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方法怎样进入模型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E1A24-AC8B-4CC3-A5BB-6EBC192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AB361-BDE9-4461-AB73-CA332CA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16242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结果怎样进入下一轮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74A06-A647-4AB6-8B08-D0C5AF5D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23B3E-B3A7-45A4-84C5-CA4C64C6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1244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改进能否让下一轮研发做得更好</a:t>
            </a:r>
          </a:p>
        </p:txBody>
      </p:sp>
    </p:spTree>
    <p:extLst>
      <p:ext uri="{BB962C8B-B14F-4D97-AF65-F5344CB8AC3E}">
        <p14:creationId xmlns:p14="http://schemas.microsoft.com/office/powerpoint/2010/main" val="318670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8E208-B047-45AA-B314-DB102CB2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7E4E-1602-4A32-896C-63E0BBC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为什么重点看Anthropic与OpenAI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DEE30-5E3E-49F5-B427-65949E4C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86293-ACE6-4080-BED3-41D5A312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AC90C-65B0-4C18-AC0F-3AF33E87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0FFA1-4DF7-4919-B161-7B7F82AA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3C4C7-17DA-4EF5-A87A-50681728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57425"/>
            <a:ext cx="7410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方法、目标模型权重与实验评测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7F691-C797-4757-8761-E5001EAA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32FA7-3A4B-49B6-A375-2028B6D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1DA46-FE27-4795-986F-4E7C27A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7410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研发任务、工具使用与决策记录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5D87D-3853-4115-A15E-13A5D7C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22BE1-7BEE-42B2-BE4C-B8D8E45A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Google与开放研究补充算法、策略和代码的改动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0069C-DC62-4F0A-ACED-D4F32F66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重点比较训练方法与评测流程</a:t>
            </a:r>
          </a:p>
        </p:txBody>
      </p:sp>
    </p:spTree>
    <p:extLst>
      <p:ext uri="{BB962C8B-B14F-4D97-AF65-F5344CB8AC3E}">
        <p14:creationId xmlns:p14="http://schemas.microsoft.com/office/powerpoint/2010/main" val="1623291075"/>
      </p:ext>
    </p:extLst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D3B0AF-B4C5-4808-9BC4-E5C1E05EE3D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BB652-68FF-4BAD-8AC0-2C7FC83521D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53822-5215-4E7D-9B40-B33C0DF86D3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D360AE-AC35-46AB-9478-BB14AB3FA7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ECBD1-623C-4241-908E-1926CE718F5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AA0275-21E9-4B3D-AB40-5BF50467FD2B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41E4C6C-A345-44C2-9B34-6FA386C4E05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477F8D-ECBB-4D3E-A909-7DAE08EF0D65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B73F517-D2CE-43CC-9C07-EF7553D050F8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C92B8-143E-4C47-8045-142825EBCF4D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6FDCFE-594F-4193-97CF-0FC78CFAC9F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55D32-76BA-465A-A8BB-94D61D9BFA1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105707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91F740C-2EB5-4AF5-9996-7137B4B07E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203922-383B-4EEF-9D26-F660F8BF713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一轮研究需要交付能运行的方法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2355A2-2D91-466E-8EA8-F0CD263886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3494A4-09C9-446A-8C9F-F0AC28581E4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0B5DF7-7FC6-430D-9F99-FF4F2D3F3E5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9A4F8-5AA2-4CB8-8A51-5D38472800C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04A643-2478-4381-923A-9F3E8986D8F0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提出假设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0FFFD2-C312-4818-926A-3A6C461BA1EA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资料与研究方法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31347D-D48D-422A-B106-86E380D917F1}"/>
              </a:ext>
            </a:extLst>
          </p:cNvPr>
          <p:cNvSpPr>
            <a:spLocks noGrp="1"/>
          </p:cNvSpPr>
          <p:nvPr/>
        </p:nvSpPr>
        <p:spPr>
          <a:xfrm>
            <a:off x="348615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4508BF-4491-4DBA-ACAD-EB47D0CB7EBF}"/>
              </a:ext>
            </a:extLst>
          </p:cNvPr>
          <p:cNvSpPr>
            <a:spLocks noGrp="1"/>
          </p:cNvSpPr>
          <p:nvPr/>
        </p:nvSpPr>
        <p:spPr>
          <a:xfrm>
            <a:off x="348615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冻结小论文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425E4C-145E-49FF-902B-ED0AAEE7A765}"/>
              </a:ext>
            </a:extLst>
          </p:cNvPr>
          <p:cNvSpPr>
            <a:spLocks noGrp="1"/>
          </p:cNvSpPr>
          <p:nvPr/>
        </p:nvSpPr>
        <p:spPr>
          <a:xfrm>
            <a:off x="348615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本轮结果尚未公布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32A782-DC64-4893-A50C-8B6C7E2A9C27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7C81EF-40EB-4089-8E74-3F1171CFC275}"/>
              </a:ext>
            </a:extLst>
          </p:cNvPr>
          <p:cNvSpPr>
            <a:spLocks noGrp="1"/>
          </p:cNvSpPr>
          <p:nvPr/>
        </p:nvSpPr>
        <p:spPr>
          <a:xfrm>
            <a:off x="62865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提交实现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65FEF3-7642-4EE2-886F-FEB722A02316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代码监控后训练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00384D-E45B-486B-8871-8D5B2851450B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4193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AFEFD7-0D11-414D-9F3A-49228A9E9C84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24193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DBE970-FC33-4527-BB9D-E234177C2908}"/>
              </a:ext>
            </a:extLst>
          </p:cNvPr>
          <p:cNvSpPr>
            <a:spLocks noGrp="1"/>
          </p:cNvSpPr>
          <p:nvPr/>
        </p:nvSpPr>
        <p:spPr>
          <a:xfrm>
            <a:off x="9086850" y="3762375"/>
            <a:ext cx="24193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反馈结果与副作用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6E8E1D-FBAE-4836-834E-A164FBFB6127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典型方法预算：约1张H200，约30分钟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2F1E35-2EEB-40BC-B668-6B6D822A7CC8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基本规则：禁用评测数据，禁止从研究Agent或更强模型蒸馏</a:t>
            </a:r>
          </a:p>
        </p:txBody>
      </p:sp>
    </p:spTree>
    <p:extLst>
      <p:ext uri="{BB962C8B-B14F-4D97-AF65-F5344CB8AC3E}">
        <p14:creationId xmlns:p14="http://schemas.microsoft.com/office/powerpoint/2010/main" val="20145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C29B399-F700-4996-AFC7-0C90B062B1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453EE1-09AF-4D9C-8D30-909E0DA3B12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下一次尝试，能读到之前的成功与失败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3BD411-332D-4C32-AA84-5F37785842C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D30844-765F-407B-B767-40B61A08C10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941BC5-C451-423E-B26E-CD3950F2EF4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173F2-C940-4CE3-8D7E-160E51F7B393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1242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多个研究Agent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并行探索候选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60CD603-2AB4-43D2-B400-E993D7321A01}"/>
              </a:ext>
            </a:extLst>
          </p:cNvPr>
          <p:cNvSpPr>
            <a:spLocks noGrp="1"/>
          </p:cNvSpPr>
          <p:nvPr/>
        </p:nvSpPr>
        <p:spPr>
          <a:xfrm>
            <a:off x="406717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18F835-A6D4-494A-9A05-4F5CC840560D}"/>
              </a:ext>
            </a:extLst>
          </p:cNvPr>
          <p:cNvSpPr>
            <a:spLocks noGrp="1"/>
          </p:cNvSpPr>
          <p:nvPr/>
        </p:nvSpPr>
        <p:spPr>
          <a:xfrm>
            <a:off x="4962525" y="2609850"/>
            <a:ext cx="3019425" cy="15335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共享记录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方法、评分与失败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01CC2B1-70F4-4A79-A22B-08C3E7F44679}"/>
              </a:ext>
            </a:extLst>
          </p:cNvPr>
          <p:cNvSpPr>
            <a:spLocks noGrp="1"/>
          </p:cNvSpPr>
          <p:nvPr/>
        </p:nvSpPr>
        <p:spPr>
          <a:xfrm>
            <a:off x="823912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94E929-4DA1-4942-B116-9EC96018820E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4003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新会话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读取后继续尝试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36150154-013C-44F9-902F-C151FCFFFFA4}"/>
              </a:ext>
            </a:extLst>
          </p:cNvPr>
          <p:cNvSpPr>
            <a:spLocks noGrp="1"/>
          </p:cNvSpPr>
          <p:nvPr/>
        </p:nvSpPr>
        <p:spPr>
          <a:xfrm>
            <a:off x="2238375" y="4572000"/>
            <a:ext cx="771525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36BE94-D988-4FA0-89C5-D2E8F458F99D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研究能接续：记忆保存在外部记录中</a:t>
            </a:r>
          </a:p>
        </p:txBody>
      </p:sp>
    </p:spTree>
    <p:extLst>
      <p:ext uri="{BB962C8B-B14F-4D97-AF65-F5344CB8AC3E}">
        <p14:creationId xmlns:p14="http://schemas.microsoft.com/office/powerpoint/2010/main" val="58327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29ED05C-ECB2-440E-9122-6FF633E4D90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C756F8-9BC6-4C95-813C-746658BD5CC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4518D8-5CF4-4584-B6EF-8474D6C6E91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F7C82F-EC85-4459-A1D4-6A5C6863CD0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945547-26B0-4BA9-AB8C-5F342D176A6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CC946D-69A9-46B6-9B47-DAC6F42A437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目标：更少迎合错误观点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83FC6F-263A-413E-86D8-1FDDFB8228FC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3143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原内部表示 h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ADEA7F6-E4C0-4054-A6E9-61F06D20E488}"/>
              </a:ext>
            </a:extLst>
          </p:cNvPr>
          <p:cNvSpPr>
            <a:spLocks noGrp="1"/>
          </p:cNvSpPr>
          <p:nvPr/>
        </p:nvSpPr>
        <p:spPr>
          <a:xfrm>
            <a:off x="4095750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42CBAF-EBA2-4AB7-AE69-D16B0D0D3E18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2857500" cy="1200150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方向性干预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h′ = h + αv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6B93CE6-AC23-4775-AC79-1E360005B918}"/>
              </a:ext>
            </a:extLst>
          </p:cNvPr>
          <p:cNvSpPr>
            <a:spLocks noGrp="1"/>
          </p:cNvSpPr>
          <p:nvPr/>
        </p:nvSpPr>
        <p:spPr>
          <a:xfrm>
            <a:off x="8067675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CF467C-C2CF-4AEF-B8F6-6178674BF80B}"/>
              </a:ext>
            </a:extLst>
          </p:cNvPr>
          <p:cNvSpPr>
            <a:spLocks noGrp="1"/>
          </p:cNvSpPr>
          <p:nvPr/>
        </p:nvSpPr>
        <p:spPr>
          <a:xfrm>
            <a:off x="8886825" y="3133725"/>
            <a:ext cx="26193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DAAA4E-FBB0-4245-862E-E79833946E9E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推理时的临时改变，怎样保留下来？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475D42-7865-4DF4-AE64-6D3EF471ECCB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h′公式为一般教学示意，方向与强度取决于具体方法</a:t>
            </a:r>
          </a:p>
        </p:txBody>
      </p:sp>
    </p:spTree>
    <p:extLst>
      <p:ext uri="{BB962C8B-B14F-4D97-AF65-F5344CB8AC3E}">
        <p14:creationId xmlns:p14="http://schemas.microsoft.com/office/powerpoint/2010/main" val="167799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644227A-E99B-4363-9F81-5BD8081D492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6E1D13-3261-4146-A503-3B13A119DE0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蒸馏训练把行为变化写进学生权重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C0E9B2-3AED-4137-A388-D3BBE3C55F7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6580D-545E-41F2-991B-FD359319711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2026；App. D.4；机制教学示意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07C9C9-4110-4CB1-AFC3-E0FB6E71451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0BFD37-7BF7-4223-A29E-FA56105A0FB1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目标模型的引导版本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97499FA-E7E3-4534-8970-66A81239C2E5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4FD808-AE9B-432F-9A94-C92B30F3B2E3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训练前的学生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76D32EE-7B3F-4327-9890-6A9F8119F3FB}"/>
              </a:ext>
            </a:extLst>
          </p:cNvPr>
          <p:cNvSpPr>
            <a:spLocks noGrp="1"/>
          </p:cNvSpPr>
          <p:nvPr/>
        </p:nvSpPr>
        <p:spPr>
          <a:xfrm>
            <a:off x="4191000" y="45815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4D21D0-51F9-49EF-9CC7-D47CC6DD0029}"/>
              </a:ext>
            </a:extLst>
          </p:cNvPr>
          <p:cNvSpPr>
            <a:spLocks noGrp="1"/>
          </p:cNvSpPr>
          <p:nvPr/>
        </p:nvSpPr>
        <p:spPr>
          <a:xfrm>
            <a:off x="5076825" y="2533650"/>
            <a:ext cx="2905125" cy="25717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更新学生权重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607A9C20-3229-4A3D-90BA-E84757004890}"/>
              </a:ext>
            </a:extLst>
          </p:cNvPr>
          <p:cNvSpPr>
            <a:spLocks noGrp="1"/>
          </p:cNvSpPr>
          <p:nvPr/>
        </p:nvSpPr>
        <p:spPr>
          <a:xfrm>
            <a:off x="8248650" y="37052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DF1F9C-0EB6-4A7F-B41D-7075ED6D48F7}"/>
              </a:ext>
            </a:extLst>
          </p:cNvPr>
          <p:cNvSpPr>
            <a:spLocks noGrp="1"/>
          </p:cNvSpPr>
          <p:nvPr/>
        </p:nvSpPr>
        <p:spPr>
          <a:xfrm>
            <a:off x="9210675" y="3162300"/>
            <a:ext cx="2295525" cy="13335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65F46F-34F6-4ACC-AB38-6CE644AF528C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分布差异成为训练信号，参数更新发生在学生模型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4FDE-7A13-4CE0-9D6E-9B79A0F38BF0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KL方向和完整配方由具体方法定义，此图不指定超参数</a:t>
            </a:r>
          </a:p>
        </p:txBody>
      </p:sp>
      <p:pic>
        <p:nvPicPr>
          <p:cNvPr id="16" name="MechanismTeachingVideo">
            <a:hlinkClick action="ppaction://media"/>
            <a:extLst>
              <a:ext uri="{FF2B5EF4-FFF2-40B4-BE49-F238E27FC236}">
                <a16:creationId xmlns:a16="http://schemas.microsoft.com/office/drawing/2014/main" id="{A95F5366-EA2F-19A3-848B-D6F08E4EFA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FC2C53B-6458-4BB8-97D3-359B857F156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FFB5A8-DB0D-4434-A5B5-41782574B88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改善空间：先弄清百分数的分母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C6490D-1757-48B8-A42A-3EFDBF761DF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49EF91-3E94-4527-858A-CFA4CADAD78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C8806F-0403-4510-A876-54F0CC303F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1AF233-A365-4180-A0E4-E7348FA98BCE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101905-B9DD-4A22-A3A4-F6556F1D646A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515F25-DC3C-4331-9BAD-1BAE269D6691}"/>
              </a:ext>
            </a:extLst>
          </p:cNvPr>
          <p:cNvSpPr>
            <a:spLocks noGrp="1"/>
          </p:cNvSpPr>
          <p:nvPr/>
        </p:nvSpPr>
        <p:spPr>
          <a:xfrm>
            <a:off x="4562475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7E95F-0328-40F3-B0D6-D0B82E311347}"/>
              </a:ext>
            </a:extLst>
          </p:cNvPr>
          <p:cNvSpPr>
            <a:spLocks noGrp="1"/>
          </p:cNvSpPr>
          <p:nvPr/>
        </p:nvSpPr>
        <p:spPr>
          <a:xfrm>
            <a:off x="4562475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7C4FF4-BD4B-403E-8AF2-635F66A3F1F8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6F82A7-FAEA-4752-8A85-AF596DB03395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E7DA44-1602-4B63-8C34-E1AC1975F615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59F00F-AB54-4C27-8752-689A0680072F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42862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9CFB37-63C8-44F3-A9D1-6F199868BE94}"/>
              </a:ext>
            </a:extLst>
          </p:cNvPr>
          <p:cNvSpPr>
            <a:spLocks noGrp="1"/>
          </p:cNvSpPr>
          <p:nvPr/>
        </p:nvSpPr>
        <p:spPr>
          <a:xfrm>
            <a:off x="4981575" y="4505325"/>
            <a:ext cx="6524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CD33FA-74B2-45C4-9F55-A49C9D8BF8C1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50、70、100是教学数值，40%不是论文结果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1601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7593404-3D11-4CA6-9C59-48BE0F55B9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4C0453-28EA-4B81-8660-6C552B0532E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同一案例中，不受限方法搜索取得更大改善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95794-ACF8-450C-B4D8-6DF0C4741ED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B81C64-6684-484F-9F42-B71EFEFEDC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B90C9D-190D-4E91-9109-54054082A11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D1ECA2-F7AF-4DF9-B6F4-761A41CCBC6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Qwen3.5-2B谄媚任务：前150个已评分方法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7318C3-C9F6-48D7-882A-B13B07782B56}"/>
              </a:ext>
            </a:extLst>
          </p:cNvPr>
          <p:cNvGraphicFramePr/>
          <p:nvPr/>
        </p:nvGraphicFramePr>
        <p:xfrm>
          <a:off x="685800" y="2667000"/>
          <a:ext cx="7019925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8379029-03DA-42A4-AB75-BD359E12F239}"/>
              </a:ext>
            </a:extLst>
          </p:cNvPr>
          <p:cNvSpPr>
            <a:spLocks noGrp="1"/>
          </p:cNvSpPr>
          <p:nvPr/>
        </p:nvSpPr>
        <p:spPr>
          <a:xfrm>
            <a:off x="8172450" y="2914650"/>
            <a:ext cx="3333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比较搜索条件</a:t>
            </a:r>
          </a:p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允许的方法不同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40BCE1-55F0-4A1F-BE65-BBF02EEA18C9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3333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每条件一次运行</a:t>
            </a:r>
          </a:p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E67389-E9E6-4018-8959-785B58410696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横轴：改善空间关闭比例；选取[4] Fig.20中的三项比较</a:t>
            </a:r>
          </a:p>
        </p:txBody>
      </p:sp>
    </p:spTree>
    <p:extLst>
      <p:ext uri="{BB962C8B-B14F-4D97-AF65-F5344CB8AC3E}">
        <p14:creationId xmlns:p14="http://schemas.microsoft.com/office/powerpoint/2010/main" val="79111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54D8147-38C4-4633-A4F8-067A61A916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0ECF2C-7FE0-498F-B95D-0DC01B8C4EC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A3BED-9CD9-4F58-B3A9-8C3BA1CC94F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A1251B-E608-41DA-A448-62B0702D3FD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31CAD-533A-4D57-980A-BE015FC1106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401FC1-D1A6-4597-8544-BBFD42FACD0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84DA76-4A24-481C-BE3E-FEAA473106C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BE747-6DB5-4A3E-8A80-26028E3C3C31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62309-EE54-40D8-B791-2B66F226A12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36956D-1CA7-47E3-98F3-52767129E73F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F0054-6CE8-439C-8D08-38CF25D90A3C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9122A-85AA-4CFB-BE9C-19345DEABE6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9132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62CFA05-E1B4-4D8F-8F18-FAA66574C34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279D9-2C7C-468F-8081-1E49CEB5FA8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B8B5E-13C6-476B-A3DF-8D7CF060E56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A3185C-1126-4B79-99A0-BDB07A4333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6B7228-6EF9-4179-A2D5-478A12F7EE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6C5CD-7B17-4A22-8547-CC6446DCD5F4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5C4A0F-26FE-4CB2-9E97-ABD7E954575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89F05B-412B-4E49-9CA8-AC5C57A7B41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E4D174-1010-405C-B355-68E4BB57D2CC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38BD5F7-5299-43C5-9865-FD5DA022748F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8E2956-C699-471A-A78F-C5BF8411BDAD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9A3E6EE-D859-4DA1-831F-C587C544036C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498449-12D0-4E13-BACB-F9E7DCED9D4A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20988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FD55F66-8193-4DD7-9E9C-6F950EE8E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1AFD6-216C-4037-B6C7-45692D3A0FA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90CFC-43FF-44E0-852C-E69BD136E05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3485EA-AD78-4DB5-B290-A3E02E777C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DA7E-F0B3-4D0E-87E2-7117DDE6C25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737C7-3EC6-45AE-8281-5638C35CA3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81AEB-4F95-4E05-A902-D4534BF6EAC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825F4-3D8F-4B47-96E6-3A6695F7449B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C425B-F299-4BD0-907E-198AB56EE26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C0B341-0D10-4174-90FE-2F7748EF0955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0887D-4D48-418F-BC63-1B69D57740CD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900A3-FB8B-40C5-AD2C-DC2DDE21DCF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610CF1-3742-4E90-AB49-65DAD2D393D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498E3F-2F17-486D-BC7F-9EBEF3775434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93220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70499B4-1630-4A3A-9643-4D6EBC831A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B7E25F-E6A2-4ED4-80CE-A56B68C0C51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F7F09-86DE-422F-BCE0-15DD2F1455D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0E957-DDE6-4EFB-AAD9-2491505DE2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7AECA-538F-45E3-BE2D-B4E9309AF09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53A8F0-1F93-4270-AB2A-EA8AB816F03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EC60B0F-5B7F-4344-8225-B86F2899270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28EF4-6C6A-47EE-A9CA-982650BFC7F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88BD2BB-E42A-486B-8EDB-EC864ABB5373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4D4C6B-B4F9-4FD0-9428-563968D0AAEE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6A22AAB6-5A2B-4C18-B3B7-29C45926D881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CD9265-B3DB-405D-A71E-35CFC18FA4D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46761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251CE6-42B0-4646-A7F4-7D42EBAB21D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E704DA-613A-4EE6-812D-FFAECB7431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BB5F8-6B0C-4AA5-AEFF-B033BF2571C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758D98-86DB-4D99-955B-A9754343AE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580876-8B0D-4EE1-B2A1-AAE88599924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7A21D-0DF1-47CD-B6B5-B6EAE1D72432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97C4C6-C8B2-47C4-A414-FF8CBE8A5773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0B6D9-3CA0-4CF1-9FF1-73B51DC15056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F1DAC1-02B9-4C31-AE6E-DFDBED9D2400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DE3655-A875-49B2-9686-3A386E8B136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0BB1F-BBC3-4DD1-9844-096E7660FED5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170605778"/>
      </p:ext>
    </p:extLst>
  </p:cSld>
  <p:clrMapOvr>
    <a:masterClrMapping/>
  </p:clrMapOvr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F5B11-E16F-4AA7-A1F9-1A99E3E5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BFBA5-B9BE-4CBE-B99D-CB9C2D7C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58700-F618-48C4-B883-8FC20A4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DB72D-7A8D-4D16-A299-8F3201E6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 v1, §3—5；[8] DGM, Introduction；[11] 代码库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E81D7-B7A8-44B6-8CB0-05B910D8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E68BD-702E-4244-8E31-254530E3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37C69-E459-4250-9E2C-61545478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任务生成 · 经验复用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84D8F-936B-4767-A7E7-28C9503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奖励指导策略训练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BBB19-CED0-4C40-80A9-F0AC217D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更新负责行动选择的模型参数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C1793-11CB-4FD4-82C9-EDADD055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0275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7FD07-0695-410D-B4E1-06F212E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修改工具和流程代码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F080D-F6D5-40CE-A0E4-4FAC866D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7625"/>
            <a:ext cx="4876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评测后从版本档案继续探索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19B41-C489-46CC-B903-E1549DF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19650"/>
            <a:ext cx="487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此实验固定底层模型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A4940-02FC-4478-85EE-B86F3AAD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3BE29-A42F-46DE-A91F-49454AFB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改策略与改代码，改进发生的位置不同</a:t>
            </a:r>
          </a:p>
        </p:txBody>
      </p:sp>
    </p:spTree>
    <p:extLst>
      <p:ext uri="{BB962C8B-B14F-4D97-AF65-F5344CB8AC3E}">
        <p14:creationId xmlns:p14="http://schemas.microsoft.com/office/powerpoint/2010/main" val="11005333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529AC-0B1E-4661-A8BD-187B2A87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349DE-6813-4857-81DF-819BFA4F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AD194-309F-4C91-BF2E-C250440A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21646-EB60-4AC0-ABAD-C02A4B47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F15E0-8EBD-4CCD-8805-C37A28CD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D2C35-A893-4C15-8A14-603782B869AA}"/>
              </a:ext>
            </a:extLst>
          </p:cNvPr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476625"/>
                <a:gridCol w="4772025"/>
              </a:tblGrid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改动对象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怎样看效果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</a:tr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目标模型权重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训练后的行为与能力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</a:tr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命令结果、研究员判断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</a:tr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算法程序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正确性与性能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</a:tr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开放研究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策略或代码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任务评测、版本表现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458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8A3DD-DE5D-483F-A493-8AFD0F08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957EB-6CA9-42C4-B443-3FCEA226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把上一轮的成果带进下一轮研发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5E22F-3499-40AD-B3B0-BE71EB8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B8678-0EDE-445E-82BF-0A2194B5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Codex评测；[8] DGM；[10] RSI分析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62223-D1C4-4EA4-A1B2-7EC6B683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0526B-CD8C-485C-A0DC-0257749D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762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提方法、跑实验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5E17C-293B-41EF-A8D2-2C58A43B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3845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FE8B4-C6F2-4BFA-89E9-3C0CF554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52675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这一轮的成果</a:t>
            </a:r>
          </a:p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模型、算法或代码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7CCEA-33FD-480B-867A-F637C9FA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38450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6E8B3-B3E2-4603-8138-006998CB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52675"/>
            <a:ext cx="2809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检查效果</a:t>
            </a:r>
          </a:p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保存方法与结果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C4EDC-C0CF-457D-A2DF-F909A6E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记录留下来，下一轮接着试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641BA-17C3-4363-B987-14CDC148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38650"/>
            <a:ext cx="91440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137D7-0494-4C80-A710-17819432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DGM：修改后的Agent继续探索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C18BD-48DC-49F9-80EA-B3B59E8A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62600"/>
            <a:ext cx="91440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65D3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B358C-109D-4036-8AA2-96B6263C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基础模型后继研发，需要继续跟踪多轮结果</a:t>
            </a:r>
          </a:p>
        </p:txBody>
      </p:sp>
    </p:spTree>
    <p:extLst>
      <p:ext uri="{BB962C8B-B14F-4D97-AF65-F5344CB8AC3E}">
        <p14:creationId xmlns:p14="http://schemas.microsoft.com/office/powerpoint/2010/main" val="6317365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7E7C6-49CE-42D7-8DD4-E7D4EE04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0CC85-88D6-4F6A-811F-8FD64E2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下一轮，能不能研究得更好？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A87FD-4BB9-40BC-90BC-0B8470BE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082A2-02B9-49F0-8641-0EE2E10F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比较思路为本报告分析，尚未执行实验；[8] DGM；[10] RSI分析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F5B6F-A21E-4216-8A4F-10CDD25B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D88D6-4C14-4AAF-8F4D-4375CCE1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619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换任务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71E4D-33BC-417B-8ABF-CE1E0883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52675"/>
            <a:ext cx="876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换一组新任务，改进还能保持吗？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5DDE4-D2A9-40D5-9B09-F49F4D24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1619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同预算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AEB39-F4E7-45AF-A2E7-1B76FED7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86150"/>
            <a:ext cx="876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同样的预算，能找到更好的方法吗？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98394-A5AA-4B1D-973E-F381B643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19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连续多轮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00F0E-D93E-456C-9FBE-FD0A5124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19625"/>
            <a:ext cx="8763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连续几轮，会退步或钻测试空子吗？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E55D1-4ABC-48A8-9120-90506091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记录时间、计算成本和人工帮助，保留失败尝试</a:t>
            </a:r>
          </a:p>
        </p:txBody>
      </p:sp>
    </p:spTree>
    <p:extLst>
      <p:ext uri="{BB962C8B-B14F-4D97-AF65-F5344CB8AC3E}">
        <p14:creationId xmlns:p14="http://schemas.microsoft.com/office/powerpoint/2010/main" val="6450131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2E536-3204-4214-9674-90F7E919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ED7BD-6B03-4161-9E7A-2A4C519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局部自改已经发生，下一步看持续研发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8B0D3-35EE-41BC-99AD-C2EB8EF5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CBAEA-9FF6-497B-98C1-EAA25C93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DGM；[10] RSI分析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6F24E-28CF-45FD-9FEA-85DA5B2F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E4352-5D12-4A44-886A-EB05482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已有特定任务中的局部自改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B68D3-F1ED-4D73-92AD-E6469DA1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训练方法、评测流程、算法和代码都已有实例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E04E9-AA21-40A3-A34C-0713F707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5328C-BA37-4AB1-AB67-487075B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改进后的研究系统，能否持续研发更强的基础模型？</a:t>
            </a:r>
          </a:p>
        </p:txBody>
      </p:sp>
    </p:spTree>
    <p:extLst>
      <p:ext uri="{BB962C8B-B14F-4D97-AF65-F5344CB8AC3E}">
        <p14:creationId xmlns:p14="http://schemas.microsoft.com/office/powerpoint/2010/main" val="1450322346"/>
      </p:ext>
    </p:extLst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3A0203-CCA8-436C-9B43-56CE5426E5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A658B-D583-40E0-8F5E-BA564627CAD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6AE70F-1920-4CD1-B74F-363411E17F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80A91B-2FB3-4FB4-9A51-DCBE788EE9B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2A3D3-ED00-471F-99F2-41A2698E044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0F3A71-66B4-41C0-8DBE-FBA0E0D111D3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EA2280-2D01-4401-9C7E-36EBB265C2A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5FCC32-3683-4106-9286-B2A271823A4F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52926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42DBCFA-2AB2-4F67-A929-8CAC1F5FC1E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5571B2-8D37-49DF-B5B3-F847F8B3E6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历史与模型研发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71BE20-E7AB-4E62-A71B-99D5AC92065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A91C5C-EEEF-48B9-AE74-21E55CE43BC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16AC5C-36DB-40DC-8A3B-91E6610CC14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D9BF33-AE91-4F9C-BFF3-F5A18AD2AAD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I. J. Speculations Concerning the First Ultraintelligent Machine. Advances in Computers, 1965, 6:31–88.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D29ED-1D08-4EE5-A526-524DB5947501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J. Gödel Machines: Self-Referential Universal Problem Solvers Making Provably Optimal Self-Improvements. 2003/2004技术报告.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A8905B-1567-4144-B0F9-618D2BF0EE5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B, Le Q V. Neural Architecture Search with Reinforcement Learning. arXiv:1611.01578, 2016.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6EAD5F-4993-4D58-A12E-5C4B34A5930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Y.-H., Wen J., Kirchner J. H. Automated Researchers Can Mitigate Well-Characterized Alignment Failures.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D93EAB-D321-4182-9E02-94CD3E6B493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Codex. OpenAI Developers, 2026-08-25.</a:t>
            </a:r>
          </a:p>
        </p:txBody>
      </p:sp>
    </p:spTree>
    <p:extLst>
      <p:ext uri="{BB962C8B-B14F-4D97-AF65-F5344CB8AC3E}">
        <p14:creationId xmlns:p14="http://schemas.microsoft.com/office/powerpoint/2010/main" val="134734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1C499F-8E50-4F14-B210-9D3E0D744A0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B482BA-D2E1-4094-A330-5096332BAB1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算法、开放研究与RSI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F68D9D-BD1A-438B-92E1-1375CD56DA5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99E9F-4D55-4CDF-9D3F-7D149658F10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9ED161-593F-44D2-AC89-A08A995614C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45AC7F-AD10-4629-BFAE-4DD563D8CB1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DeepMind. AlphaEvolve: A Gemini-powered coding agent for designing advanced algorithms. 2025.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89DB4A-EE85-472B-962C-423ED7DDC05E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AgentEvolver: Towards Efficient Self-Evolving Agent System. arXiv:2511.10395,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55B100-F5B1-4B2E-A0CC-7BA2569F5CDB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Zhang等. Darwin Gödel Machine: Open-Ended Evolution of Self-Improving Agents. 2025；同团队官方说明.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3B7449-5B31-4E22-A8A3-06D323A21B3B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OpenAI. Research acceleration: The view inside OpenAI.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C56993-DDC5-4178-912E-035D3F70CBCC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Institute. When AI builds itself. 2026.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3CECB-4A27-4C0F-8D84-5D475F1C6424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ModelScope. AgentEvolver官方代码仓库. Apache-2.0.</a:t>
            </a:r>
          </a:p>
        </p:txBody>
      </p:sp>
    </p:spTree>
    <p:extLst>
      <p:ext uri="{BB962C8B-B14F-4D97-AF65-F5344CB8AC3E}">
        <p14:creationId xmlns:p14="http://schemas.microsoft.com/office/powerpoint/2010/main" val="358105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1697900-4B80-4A7B-9C72-B203707CC2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A29FB5-66E8-44C4-8541-2CE096DF557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前150个方法比较的适用范围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E7AF3A-42B5-42B1-99BE-8389EC20C0C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AE7E88-CEA7-4A45-8B41-C03088DF616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B76A56-6151-4E9F-83DE-960B954775B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9AE4E3-0E90-41EF-A8DF-0AF05E7186D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不受限研究允许探索不同训练配方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5DA887-80B1-4111-8B6B-4AF086D1AEE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原样公共数据SFT与自由构造数据SFT限制训练方式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1CC83F-4186-4586-9F0D-74F6E324617C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23.3%、6.0%、2.9%对应Fig.20前150个已评分方法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56C09-BF95-4666-8002-E2363C9DC0D7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每条件一次，仅爬坡评测；不推断单一方法因果贡献</a:t>
            </a: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3849</Words>
  <Application>Microsoft Office PowerPoint</Application>
  <DocSecurity>0</DocSecurity>
  <PresentationFormat>宽屏</PresentationFormat>
  <Paragraphs>596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Aptos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云海 陈</cp:lastModifiedBy>
  <cp:revision>1</cp:revision>
  <dcterms:created xsi:type="dcterms:W3CDTF">2026-10-14T03:20:04Z</dcterms:created>
  <dcterms:modified xsi:type="dcterms:W3CDTF">2026-10-14T03:20:31Z</dcterms:modified>
</cp:coreProperties>
</file>