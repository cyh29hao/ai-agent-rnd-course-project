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bc6990d17b46ac" /><Relationship Type="http://schemas.openxmlformats.org/officeDocument/2006/relationships/extended-properties" Target="/docProps/app.xml" Id="Rb723f273137b4a5d" /><Relationship Type="http://schemas.openxmlformats.org/officeDocument/2006/relationships/officeDocument" Target="/ppt/presentation.xml" Id="R91e88b26fa3f4d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1b699ada90480f"/>
  </p:sldMasterIdLst>
  <p:notesMasterIdLst>
    <p:notesMasterId xmlns:r="http://schemas.openxmlformats.org/officeDocument/2006/relationships" r:id="R859c20ed99ec437f"/>
  </p:notesMasterIdLst>
  <p:sldIdLst>
    <p:sldId xmlns:r="http://schemas.openxmlformats.org/officeDocument/2006/relationships" id="256" r:id="Ra9a91fae5a51485b"/>
    <p:sldId xmlns:r="http://schemas.openxmlformats.org/officeDocument/2006/relationships" id="257" r:id="R33a3466d63c6480e"/>
    <p:sldId xmlns:r="http://schemas.openxmlformats.org/officeDocument/2006/relationships" id="258" r:id="R7d84267a7dd5408a"/>
    <p:sldId xmlns:r="http://schemas.openxmlformats.org/officeDocument/2006/relationships" id="259" r:id="R08f129145fe64209"/>
    <p:sldId xmlns:r="http://schemas.openxmlformats.org/officeDocument/2006/relationships" id="260" r:id="R5edbef235847419d"/>
    <p:sldId xmlns:r="http://schemas.openxmlformats.org/officeDocument/2006/relationships" id="261" r:id="R2e7cc6366ff34f06"/>
    <p:sldId xmlns:r="http://schemas.openxmlformats.org/officeDocument/2006/relationships" id="262" r:id="R31fb7120931e4c04"/>
    <p:sldId xmlns:r="http://schemas.openxmlformats.org/officeDocument/2006/relationships" id="263" r:id="R91841c99d6774444"/>
    <p:sldId xmlns:r="http://schemas.openxmlformats.org/officeDocument/2006/relationships" id="264" r:id="R233177442bca440a"/>
    <p:sldId xmlns:r="http://schemas.openxmlformats.org/officeDocument/2006/relationships" id="265" r:id="R10c1035d5aa44f5a"/>
    <p:sldId xmlns:r="http://schemas.openxmlformats.org/officeDocument/2006/relationships" id="266" r:id="R756c052ee5924296"/>
    <p:sldId xmlns:r="http://schemas.openxmlformats.org/officeDocument/2006/relationships" id="267" r:id="R3974f38deee94d50"/>
    <p:sldId xmlns:r="http://schemas.openxmlformats.org/officeDocument/2006/relationships" id="268" r:id="R5ab2c74014564906"/>
    <p:sldId xmlns:r="http://schemas.openxmlformats.org/officeDocument/2006/relationships" id="269" r:id="R3125fb95847d44d3"/>
    <p:sldId xmlns:r="http://schemas.openxmlformats.org/officeDocument/2006/relationships" id="270" r:id="Rab781e9667404c08"/>
    <p:sldId xmlns:r="http://schemas.openxmlformats.org/officeDocument/2006/relationships" id="271" r:id="Raf9cb2825b034dd7"/>
    <p:sldId xmlns:r="http://schemas.openxmlformats.org/officeDocument/2006/relationships" id="272" r:id="Rb58a45395f6d42cc"/>
    <p:sldId xmlns:r="http://schemas.openxmlformats.org/officeDocument/2006/relationships" id="273" r:id="R537bb6058ec946d1"/>
    <p:sldId xmlns:r="http://schemas.openxmlformats.org/officeDocument/2006/relationships" id="274" r:id="Rd3c4117221644b00"/>
    <p:sldId xmlns:r="http://schemas.openxmlformats.org/officeDocument/2006/relationships" id="275" r:id="Rb1bbd966a45b429e"/>
    <p:sldId xmlns:r="http://schemas.openxmlformats.org/officeDocument/2006/relationships" id="276" r:id="R6d16edb3f5524835"/>
    <p:sldId xmlns:r="http://schemas.openxmlformats.org/officeDocument/2006/relationships" id="277" r:id="Rbda1e3d1b7e84b81"/>
    <p:sldId xmlns:r="http://schemas.openxmlformats.org/officeDocument/2006/relationships" id="278" r:id="Rfc958662745a4b0d"/>
    <p:sldId xmlns:r="http://schemas.openxmlformats.org/officeDocument/2006/relationships" id="279" r:id="R0c84a9cf6c1f41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1cfba896e64bb6" /><Relationship Type="http://schemas.openxmlformats.org/officeDocument/2006/relationships/slideMaster" Target="/ppt/slideMasters/slideMaster1.xml" Id="Rd01b699ada90480f" /><Relationship Type="http://schemas.openxmlformats.org/officeDocument/2006/relationships/notesMaster" Target="/ppt/notesMasters/notesMaster1.xml" Id="R859c20ed99ec437f" /><Relationship Type="http://schemas.openxmlformats.org/officeDocument/2006/relationships/presProps" Target="/ppt/presProps.xml" Id="R0707daf4099743f6" /><Relationship Type="http://schemas.openxmlformats.org/officeDocument/2006/relationships/tableStyles" Target="/ppt/tableStyles.xml" Id="R8ef7d59432a242dd" /><Relationship Type="http://schemas.openxmlformats.org/officeDocument/2006/relationships/slide" Target="/ppt/slides/slide1.xml" Id="Ra9a91fae5a51485b" /><Relationship Type="http://schemas.openxmlformats.org/officeDocument/2006/relationships/slide" Target="/ppt/slides/slide2.xml" Id="R33a3466d63c6480e" /><Relationship Type="http://schemas.openxmlformats.org/officeDocument/2006/relationships/slide" Target="/ppt/slides/slide3.xml" Id="R7d84267a7dd5408a" /><Relationship Type="http://schemas.openxmlformats.org/officeDocument/2006/relationships/slide" Target="/ppt/slides/slide4.xml" Id="R08f129145fe64209" /><Relationship Type="http://schemas.openxmlformats.org/officeDocument/2006/relationships/slide" Target="/ppt/slides/slide5.xml" Id="R5edbef235847419d" /><Relationship Type="http://schemas.openxmlformats.org/officeDocument/2006/relationships/slide" Target="/ppt/slides/slide6.xml" Id="R2e7cc6366ff34f06" /><Relationship Type="http://schemas.openxmlformats.org/officeDocument/2006/relationships/slide" Target="/ppt/slides/slide7.xml" Id="R31fb7120931e4c04" /><Relationship Type="http://schemas.openxmlformats.org/officeDocument/2006/relationships/slide" Target="/ppt/slides/slide8.xml" Id="R91841c99d6774444" /><Relationship Type="http://schemas.openxmlformats.org/officeDocument/2006/relationships/slide" Target="/ppt/slides/slide9.xml" Id="R233177442bca440a" /><Relationship Type="http://schemas.openxmlformats.org/officeDocument/2006/relationships/slide" Target="/ppt/slides/slide10.xml" Id="R10c1035d5aa44f5a" /><Relationship Type="http://schemas.openxmlformats.org/officeDocument/2006/relationships/slide" Target="/ppt/slides/slide11.xml" Id="R756c052ee5924296" /><Relationship Type="http://schemas.openxmlformats.org/officeDocument/2006/relationships/slide" Target="/ppt/slides/slide12.xml" Id="R3974f38deee94d50" /><Relationship Type="http://schemas.openxmlformats.org/officeDocument/2006/relationships/slide" Target="/ppt/slides/slide13.xml" Id="R5ab2c74014564906" /><Relationship Type="http://schemas.openxmlformats.org/officeDocument/2006/relationships/slide" Target="/ppt/slides/slide14.xml" Id="R3125fb95847d44d3" /><Relationship Type="http://schemas.openxmlformats.org/officeDocument/2006/relationships/slide" Target="/ppt/slides/slide15.xml" Id="Rab781e9667404c08" /><Relationship Type="http://schemas.openxmlformats.org/officeDocument/2006/relationships/slide" Target="/ppt/slides/slide16.xml" Id="Raf9cb2825b034dd7" /><Relationship Type="http://schemas.openxmlformats.org/officeDocument/2006/relationships/slide" Target="/ppt/slides/slide17.xml" Id="Rb58a45395f6d42cc" /><Relationship Type="http://schemas.openxmlformats.org/officeDocument/2006/relationships/slide" Target="/ppt/slides/slide18.xml" Id="R537bb6058ec946d1" /><Relationship Type="http://schemas.openxmlformats.org/officeDocument/2006/relationships/slide" Target="/ppt/slides/slide19.xml" Id="Rd3c4117221644b00" /><Relationship Type="http://schemas.openxmlformats.org/officeDocument/2006/relationships/slide" Target="/ppt/slides/slide20.xml" Id="Rb1bbd966a45b429e" /><Relationship Type="http://schemas.openxmlformats.org/officeDocument/2006/relationships/slide" Target="/ppt/slides/slide21.xml" Id="R6d16edb3f5524835" /><Relationship Type="http://schemas.openxmlformats.org/officeDocument/2006/relationships/slide" Target="/ppt/slides/slide22.xml" Id="Rbda1e3d1b7e84b81" /><Relationship Type="http://schemas.openxmlformats.org/officeDocument/2006/relationships/slide" Target="/ppt/slides/slide23.xml" Id="Rfc958662745a4b0d" /><Relationship Type="http://schemas.openxmlformats.org/officeDocument/2006/relationships/slide" Target="/ppt/slides/slide24.xml" Id="R0c84a9cf6c1f41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2337df2b9441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a34aeb76ca4e38" /><Relationship Type="http://schemas.openxmlformats.org/officeDocument/2006/relationships/notesMaster" Target="/ppt/notesMasters/notesMaster1.xml" Id="R04551c93a9e245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49b4b1adeb4c34" /><Relationship Type="http://schemas.openxmlformats.org/officeDocument/2006/relationships/notesMaster" Target="/ppt/notesMasters/notesMaster1.xml" Id="Rca297ebcf66f4d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0e9b8525dd4452" /><Relationship Type="http://schemas.openxmlformats.org/officeDocument/2006/relationships/notesMaster" Target="/ppt/notesMasters/notesMaster1.xml" Id="R3b87852d86ab48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13c36fc4ef4e32" /><Relationship Type="http://schemas.openxmlformats.org/officeDocument/2006/relationships/notesMaster" Target="/ppt/notesMasters/notesMaster1.xml" Id="Rebeb1d70a3a44e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993e26d9474c80" /><Relationship Type="http://schemas.openxmlformats.org/officeDocument/2006/relationships/notesMaster" Target="/ppt/notesMasters/notesMaster1.xml" Id="R59ea9f2a631e45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b1637f5b4a4f91" /><Relationship Type="http://schemas.openxmlformats.org/officeDocument/2006/relationships/notesMaster" Target="/ppt/notesMasters/notesMaster1.xml" Id="R4c2dbe67f09848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a930bf5bd64e61" /><Relationship Type="http://schemas.openxmlformats.org/officeDocument/2006/relationships/notesMaster" Target="/ppt/notesMasters/notesMaster1.xml" Id="R404846fdc50541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55cd52e6ce4f4b" /><Relationship Type="http://schemas.openxmlformats.org/officeDocument/2006/relationships/notesMaster" Target="/ppt/notesMasters/notesMaster1.xml" Id="R35f94123b7424e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841eb2103948a6" /><Relationship Type="http://schemas.openxmlformats.org/officeDocument/2006/relationships/notesMaster" Target="/ppt/notesMasters/notesMaster1.xml" Id="R4adc8255609544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8ded908c874847" /><Relationship Type="http://schemas.openxmlformats.org/officeDocument/2006/relationships/notesMaster" Target="/ppt/notesMasters/notesMaster1.xml" Id="R87cdb21ec0f045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461a35e37248df" /><Relationship Type="http://schemas.openxmlformats.org/officeDocument/2006/relationships/notesMaster" Target="/ppt/notesMasters/notesMaster1.xml" Id="R5f235800276645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64fcb218994c33" /><Relationship Type="http://schemas.openxmlformats.org/officeDocument/2006/relationships/notesMaster" Target="/ppt/notesMasters/notesMaster1.xml" Id="R30ee3cb6d6da4d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f968884b0e41e1" /><Relationship Type="http://schemas.openxmlformats.org/officeDocument/2006/relationships/notesMaster" Target="/ppt/notesMasters/notesMaster1.xml" Id="Re8d78997dacb4e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60c2761cff48a5" /><Relationship Type="http://schemas.openxmlformats.org/officeDocument/2006/relationships/notesMaster" Target="/ppt/notesMasters/notesMaster1.xml" Id="R13cb234752b14e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76acc6849b48c7" /><Relationship Type="http://schemas.openxmlformats.org/officeDocument/2006/relationships/notesMaster" Target="/ppt/notesMasters/notesMaster1.xml" Id="R3eb2a8a3cd804c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fce944d1464d09" /><Relationship Type="http://schemas.openxmlformats.org/officeDocument/2006/relationships/notesMaster" Target="/ppt/notesMasters/notesMaster1.xml" Id="R1fcf33bf6c6041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172cc9c7214af5" /><Relationship Type="http://schemas.openxmlformats.org/officeDocument/2006/relationships/notesMaster" Target="/ppt/notesMasters/notesMaster1.xml" Id="R0bf7a8c36eaf45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90665667884d09" /><Relationship Type="http://schemas.openxmlformats.org/officeDocument/2006/relationships/notesMaster" Target="/ppt/notesMasters/notesMaster1.xml" Id="Rfb483a32939e4f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88a0e39b92403b" /><Relationship Type="http://schemas.openxmlformats.org/officeDocument/2006/relationships/notesMaster" Target="/ppt/notesMasters/notesMaster1.xml" Id="Raf365200c85145e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d351fe8722347ec" /><Relationship Type="http://schemas.openxmlformats.org/officeDocument/2006/relationships/notesMaster" Target="/ppt/notesMasters/notesMaster1.xml" Id="R8143c4f96ffc43b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46e685c44f4a5a" /><Relationship Type="http://schemas.openxmlformats.org/officeDocument/2006/relationships/notesMaster" Target="/ppt/notesMasters/notesMaster1.xml" Id="R5b35f659cd014f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25426506bc34cdc" /><Relationship Type="http://schemas.openxmlformats.org/officeDocument/2006/relationships/notesMaster" Target="/ppt/notesMasters/notesMaster1.xml" Id="R5da5a36b38fd4f2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75e961e42c429b" /><Relationship Type="http://schemas.openxmlformats.org/officeDocument/2006/relationships/notesMaster" Target="/ppt/notesMasters/notesMaster1.xml" Id="R7895fae75b7b4e2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75584cee4274ed9" /><Relationship Type="http://schemas.openxmlformats.org/officeDocument/2006/relationships/notesMaster" Target="/ppt/notesMasters/notesMaster1.xml" Id="Recd4254b2f8348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主讲1页，建议A，设计预算15秒。</a:t>
            </a:r>
          </a:p>
          <a:p xmlns:a="http://schemas.openxmlformats.org/drawingml/2006/main">
            <a:r>
              <a:t>大家好。当AI开始帮研究员开发AI，它接过了哪些工作？这种帮助，距离能够不断改进自己的系统，还有多远？今天，我们沿着真实的研发任务找答案。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S1: https://www.anthropic.com/institute/recursive-self-improvement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主讲2页，建议A，设计预算25秒。</a:t>
            </a:r>
          </a:p>
          <a:p xmlns:a="http://schemas.openxmlformats.org/drawingml/2006/main">
            <a:r>
              <a:t>比如，要让一个模型少迎合用户的错误观点，研究员得查资料、想办法、写训练代码，再看实验为什么失败。智能体开始接手的，就是这些具体工作。所以我们关注AI行业自身：研发的人手和方法变了，会不会进一步改变下一代模型的研发速度和方向？这比只看它会不会写代码，更接近我们这次选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S2a: https://alignment.anthropic.com/2026/automated-alignment-researchers/</a:t>
            </a:r>
          </a:p>
          <a:p xmlns:a="http://schemas.openxmlformats.org/drawingml/2006/main">
            <a:r>
              <a:t>S3: https://developers.openai.com/blog/automating-repetitive-work-at-openai-with-codex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主讲3页，建议A，设计预算15秒。</a:t>
            </a:r>
          </a:p>
          <a:p xmlns:a="http://schemas.openxmlformats.org/drawingml/2006/main">
            <a:r>
              <a:t>今天分四步：先看研发工作，再拆公司案例，然后判断离自我改进多远，最后讲我们自己的Agent协作。全场沿着这条线：接手任务，做出改动，再检查改动是否可信。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主讲4页，建议A，设计预算35秒。</a:t>
            </a:r>
          </a:p>
          <a:p xmlns:a="http://schemas.openxmlformats.org/drawingml/2006/main">
            <a:r>
              <a:t>这个问题有一段很长的历史。1965年，Good提出：设计机器本身，也可能成为机器擅长的活动。之后出现了两种值得对照的思路：一种像哥德尔机器，先证明修改有益，再动手；另一种依靠实验，生成候选、测试、保留好结果。从神经架构搜索到达尔文哥德尔机器，这条经验路线逐渐能跑起来。但能改结构或代码，还不等于能够研发完整的下一代基础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H1: https://scienceplusplus.org/metascience/assets/Good1965.pdf</a:t>
            </a:r>
          </a:p>
          <a:p xmlns:a="http://schemas.openxmlformats.org/drawingml/2006/main">
            <a:r>
              <a:t>H2: https://people.idsia.ch/~juergen/gmweb4/gmweb4.html</a:t>
            </a:r>
          </a:p>
          <a:p xmlns:a="http://schemas.openxmlformats.org/drawingml/2006/main">
            <a:r>
              <a:t>H3: https://arxiv.org/abs/1611.01578</a:t>
            </a:r>
          </a:p>
          <a:p xmlns:a="http://schemas.openxmlformats.org/drawingml/2006/main">
            <a:r>
              <a:t>H4: https://sakana.ai/dgm/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主讲5页，建议A，设计预算35秒。</a:t>
            </a:r>
          </a:p>
          <a:p xmlns:a="http://schemas.openxmlformats.org/drawingml/2006/main">
            <a:r>
              <a:t>把历史问题落到一个小任务上：用户说错了，模型怎样做到有礼貌地指出，而不是跟着附和？研究Agent读资料、提出训练方法，再调用工具训练目标模型。评测返回结果，它据此调整下一次尝试。这里，工具让想法落地，反馈告诉它有没有用，记录让下一轮不用从头开始。这也把课上的工具调用、规划和记忆，接到了真实研发任务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S2a: https://alignment.anthropic.com/2026/automated-alignment-researchers/</a:t>
            </a:r>
          </a:p>
          <a:p xmlns:a="http://schemas.openxmlformats.org/drawingml/2006/main">
            <a:r>
              <a:t>S2d: https://alignment.anthropic.com/2026/automated-alignment-researchers/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主讲6页，建议A，设计预算25秒。</a:t>
            </a:r>
          </a:p>
          <a:p xmlns:a="http://schemas.openxmlformats.org/drawingml/2006/main">
            <a:r>
              <a:t>大模型研发从方法设计，一路走到训练、评测和部署。我们重点选Anthropic和OpenAI，是因为公开材料能让我们拆开两类具体任务：前者让研究Agent提出并试验训练方法，后者让Codex参与发布前评测。一个直接触及目标模型，一个改进研究工作流程。稍后再用Google和通义补足其他路线。下面先看训练方法怎样真的变成模型改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S2a: https://alignment.anthropic.com/2026/automated-alignment-researchers/</a:t>
            </a:r>
          </a:p>
          <a:p xmlns:a="http://schemas.openxmlformats.org/drawingml/2006/main">
            <a:r>
              <a:t>S3: https://developers.openai.com/blog/automating-repetitive-work-at-openai-with-codex</a:t>
            </a:r>
          </a:p>
          <a:p xmlns:a="http://schemas.openxmlformats.org/drawingml/2006/main">
            <a:r>
              <a:t>L1: https://deepmind.google/blog/alphaevolve-a-gemini-powered-coding-agent-for-designing-advanced-algorithms/</a:t>
            </a:r>
          </a:p>
          <a:p xmlns:a="http://schemas.openxmlformats.org/drawingml/2006/main">
            <a:r>
              <a:t>L2a: https://arxiv.org/html/2511.10395v1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主讲7页，建议B，设计预算25秒。</a:t>
            </a:r>
          </a:p>
          <a:p xmlns:a="http://schemas.openxmlformats.org/drawingml/2006/main">
            <a:r>
              <a:t>先分清两个角色。研究Agent负责想办法和调工具，目标模型接受训练，随后被评测。它们不能混成同一个角色，说成模型自动把自己升级了。Anthropic的开放权重实验，让研究Agent在规定任务和资源内试验方法；研究人员仍然设定目标、工具和评测。接下来我们沿着它的一轮尝试，看具体交付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S2a: https://alignment.anthropic.com/2026/automated-alignment-researchers/</a:t>
            </a:r>
          </a:p>
          <a:p xmlns:a="http://schemas.openxmlformats.org/drawingml/2006/main">
            <a:r>
              <a:t>S2b: https://alignment.anthropic.com/2026/automated-alignment-researchers/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主讲8页，建议B，设计预算40秒。</a:t>
            </a:r>
          </a:p>
          <a:p xmlns:a="http://schemas.openxmlformats.org/drawingml/2006/main">
            <a:r>
              <a:t>一轮研究先提出方法，再把它写成可以执行的训练代码。工具训练出一个候选模型，独立评测检查：迎合有没有减少，其他能力有没有明显退步？结果会留下来，再供后续尝试和筛选使用。论文比较了AI方案和人类方案，但双方尝试预算不同：AI能多次试验，再选最好的一次。因此，结果说明它能产出有用的方法，不能直接解释成AI研究员已经全面超过人类。下面拆一个成功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S2a: https://alignment.anthropic.com/2026/automated-alignment-researchers/</a:t>
            </a:r>
          </a:p>
          <a:p xmlns:a="http://schemas.openxmlformats.org/drawingml/2006/main">
            <a:r>
              <a:t>S2b: https://alignment.anthropic.com/2026/automated-alignment-researchers/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主讲9页，建议B，设计预算55秒。</a:t>
            </a:r>
          </a:p>
          <a:p xmlns:a="http://schemas.openxmlformats.org/drawingml/2006/main">
            <a:r>
              <a:t>这个方法分两步。第一步，改变模型内部的激活表示，让回答更少迎合用户，得到一个被引导的教师。第二步，让学生学习这个教师给出的输出概率分布。图里的KL散度，就是衡量两种分布差异的办法；训练时让它们更接近，学生的权重随之更新。这样，学生以后正常推理，也能保留这种行为倾向。这比临时在输入里加一句要求更深入：改动进入了参数。这里的教师来自被引导的模型，也不是额外请来一个更强的外部模型。最终有没有改善，还要交给独立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S2d: https://alignment.anthropic.com/2026/automated-alignment-researchers/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主讲10页，建议B，设计预算40秒。</a:t>
            </a:r>
          </a:p>
          <a:p xmlns:a="http://schemas.openxmlformats.org/drawingml/2006/main">
            <a:r>
              <a:t>论文还有另一个实验，设置变了：研究Agent只能制作训练数据，目标是一个部署模型的早期检查点。这次不能把刚才的激活引导方法搬过来。胜出检查点的Petri分数是65%，发布版是72%。这里的65%，既考虑十个评测维度改善了多少，也考虑改善覆盖了多少维度；它不是安全测试通过率。这说明数据方法在这组评测中有贡献，但数字没有证明模型在所有情境下都安全。接下来换个环节，看发布前评测怎样交给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S2e: https://alignment.anthropic.com/2026/automated-alignment-researchers/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主讲11页，建议C，设计预算40秒。</a:t>
            </a:r>
          </a:p>
          <a:p xmlns:a="http://schemas.openxmlformats.org/drawingml/2006/main">
            <a:r>
              <a:t>OpenAI公开的是一个更贴近工程师日常的例子。人先把发布前评测目标写进Runme笔记本，Codex参考以前的记录提出计划。人检查计划后，它再调用工具执行，并把命令、结果解释和取舍留下来。这个笔记本可以理解为一份能执行、也能回查的实验记录。以后遇到类似任务，研究员和Agent都有依据。这项实践交付的是评测过程与结果记录；公开材料没有量化它带来的研发净效率，也没有证明它因此改进了模型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S3: https://developers.openai.com/blog/automating-repetitive-work-at-openai-with-codex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主讲12页，建议C，设计预算30秒。</a:t>
            </a:r>
          </a:p>
          <a:p xmlns:a="http://schemas.openxmlformats.org/drawingml/2006/main">
            <a:r>
              <a:t>这种用法规模有多大？OpenAI内部报告说，每个人类工作日，对应约3.1个按八小时折算的Agent运行工作日。注意，这是运行量，不能说成生产率提高了3.1倍。任务中仍有人工干预。报告还记录了一次代理侵入研究基础设施，随后服务暂停、增加限制再恢复。所以，更长时间的运行，需要明确权限和监督，不能只看它做了多少尝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S4a: https://openai.com/index/research-acceleration-view-inside-openai/</a:t>
            </a:r>
          </a:p>
          <a:p xmlns:a="http://schemas.openxmlformats.org/drawingml/2006/main">
            <a:r>
              <a:t>S4b: https://openai.com/index/research-acceleration-view-inside-openai/</a:t>
            </a:r>
          </a:p>
          <a:p xmlns:a="http://schemas.openxmlformats.org/drawingml/2006/main">
            <a:r>
              <a:t>S4c: https://openai.com/index/research-acceleration-view-inside-openai/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主讲13页，建议C，设计预算40秒。</a:t>
            </a:r>
          </a:p>
          <a:p xmlns:a="http://schemas.openxmlformats.org/drawingml/2006/main">
            <a:r>
              <a:t>其他团队补上了不同位置。Google的AlphaEvolve用Gemini生成程序，再靠自动评测和演化筛选改进算法。一个矩阵乘法内核加速23%，对应总训练时间减少1%，两者不能互换。通义的AgentEvolver公开框架，用任务生成、经验探索和贡献归因来优化Agent策略。Sakana的DGM则让Agent改自己的代码。它们分别改算法、策略和代码，所以谈自我改进之前，先问一句：这次究竟改了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L1: https://deepmind.google/blog/alphaevolve-a-gemini-powered-coding-agent-for-designing-advanced-algorithms/</a:t>
            </a:r>
          </a:p>
          <a:p xmlns:a="http://schemas.openxmlformats.org/drawingml/2006/main">
            <a:r>
              <a:t>L2a: https://arxiv.org/html/2511.10395v1</a:t>
            </a:r>
          </a:p>
          <a:p xmlns:a="http://schemas.openxmlformats.org/drawingml/2006/main">
            <a:r>
              <a:t>L2b: https://arxiv.org/html/2511.10395v1</a:t>
            </a:r>
          </a:p>
          <a:p xmlns:a="http://schemas.openxmlformats.org/drawingml/2006/main">
            <a:r>
              <a:t>H4: https://sakana.ai/dgm/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主讲14页，建议C，设计预算35秒。</a:t>
            </a:r>
          </a:p>
          <a:p xmlns:a="http://schemas.openxmlformats.org/drawingml/2006/main">
            <a:r>
              <a:t>现在把案例放回同一把尺子。第一，改了什么，是模型权重，还是算法、代码和工作流程？第二，谁来验证，在什么任务上算有效？第三，改进后的系统，能不能继续承担下一轮研发，让这种收益持续下去？公开案例已经展示了局部改进，也展示了有反馈的研究循环。但这些材料还不足以证明：一个系统能持续、自主地研发并验证更强的后继基础模型。接下来，我们用自己的协作经历说明，为什么最后这道判断仍然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S1: https://www.anthropic.com/institute/recursive-self-improvement</a:t>
            </a:r>
          </a:p>
          <a:p xmlns:a="http://schemas.openxmlformats.org/drawingml/2006/main">
            <a:r>
              <a:t>S2g: https://alignment.anthropic.com/2026/automated-alignment-researchers/</a:t>
            </a:r>
          </a:p>
          <a:p xmlns:a="http://schemas.openxmlformats.org/drawingml/2006/main">
            <a:r>
              <a:t>S3: https://developers.openai.com/blog/automating-repetitive-work-at-openai-with-codex</a:t>
            </a:r>
          </a:p>
          <a:p xmlns:a="http://schemas.openxmlformats.org/drawingml/2006/main">
            <a:r>
              <a:t>L1: https://deepmind.google/blog/alphaevolve-a-gemini-powered-coding-agent-for-designing-advanced-algorithms/</a:t>
            </a:r>
          </a:p>
          <a:p xmlns:a="http://schemas.openxmlformats.org/drawingml/2006/main">
            <a:r>
              <a:t>L2a: https://arxiv.org/html/2511.10395v1</a:t>
            </a:r>
          </a:p>
          <a:p xmlns:a="http://schemas.openxmlformats.org/drawingml/2006/main">
            <a:r>
              <a:t>H4: https://sakana.ai/dgm/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主讲15页，建议D，设计预算35秒。</a:t>
            </a:r>
          </a:p>
          <a:p xmlns:a="http://schemas.openxmlformats.org/drawingml/2006/main">
            <a:r>
              <a:t>我们准备报告时，也把检索、整理和制作初稿交给了Codex。初稿很快就出来了，但项目发起者审阅后发现：主题偏窄，目录不清楚，讲稿也很难直接讲。于是重新限定研究问题，要求补上历史和行业对照，再把抽象结论改成具体任务。这是一段真实发生的协作：人提出任务和判断问题，Agent执行检索、制作与修订。它给了我们很多产物，但产物齐全，并不自动意味着报告已经讲得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主讲16页，建议D，设计预算30秒。</a:t>
            </a:r>
          </a:p>
          <a:p xmlns:a="http://schemas.openxmlformats.org/drawingml/2006/main">
            <a:r>
              <a:t>再用一个核查案例说明：如果把65%读成安全通过率，就会以为一百次测试通过了六十五次。我们用这种误读做了核查题，不能说初稿真的犯过这个错。原文算的是十维Petri的覆盖加权改善空间。Agent可以帮忙定位和整理，最终要判断的，是数字的解释是否忠实于原文。这属于报告来源核查，不是复现公司的模型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S2e: https://alignment.anthropic.com/2026/automated-alignment-researchers/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主讲17页，建议D，设计预算25秒。</a:t>
            </a:r>
          </a:p>
          <a:p xmlns:a="http://schemas.openxmlformats.org/drawingml/2006/main">
            <a:r>
              <a:t>回到题目，智能体已经进入真实研发流程，在限定任务上交出了有效结果。距离递归自我改进，关键缺口是这些进步能否持续带来下一轮研发能力，并接受可靠验证。人的职责，也随之集中到选对问题、设定权限和判断结果。一次成功，还不能外推成完整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S1: https://www.anthropic.com/institute/recursive-self-improvement</a:t>
            </a:r>
          </a:p>
          <a:p xmlns:a="http://schemas.openxmlformats.org/drawingml/2006/main">
            <a:r>
              <a:t>S2g: https://alignment.anthropic.com/2026/automated-alignment-researchers/</a:t>
            </a:r>
          </a:p>
          <a:p xmlns:a="http://schemas.openxmlformats.org/drawingml/2006/main">
            <a:r>
              <a:t>S3: https://developers.openai.com/blog/automating-repetitive-work-at-openai-with-codex</a:t>
            </a:r>
          </a:p>
          <a:p xmlns:a="http://schemas.openxmlformats.org/drawingml/2006/main">
            <a:r>
              <a:t>L1: https://deepmind.google/blog/alphaevolve-a-gemini-powered-coding-agent-for-designing-advanced-algorithms/</a:t>
            </a:r>
          </a:p>
          <a:p xmlns:a="http://schemas.openxmlformats.org/drawingml/2006/main">
            <a:r>
              <a:t>L2a: https://arxiv.org/html/2511.10395v1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主讲18页，建议D，设计预算15秒。</a:t>
            </a:r>
          </a:p>
          <a:p xmlns:a="http://schemas.openxmlformats.org/drawingml/2006/main">
            <a:r>
              <a:t>最后记住：接手什么任务，真正改了什么，怎样验证、能否延续。AI帮助开发AI已经发生；持续的递归自我改进，还需要更多证据。谢谢大家，欢迎提问。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S1: https://www.anthropic.com/institute/recursive-self-improvement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解释用示意，不声称完整论文配方。未公开KL方向、层位置和系数不得补写。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单维例子只解释headroom。Petri多维还包括改善覆盖比例与几何均值。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实验采用5个Agent、48小时；人类仅一次方案、不可迭代，不能称公平预算全面胜人。39/1601被事后确认取巧，子类计数重叠。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局部kernel23%与总训练时间1%不能混称23%整体提升。AgentEvolver框架Apache-2.0不保证所有模型权重开放。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主讲使用实际组长与Codex协作。其他成员贡献待实际核认，不能代签。16题只是历史探索，非盲测，24题开发集未跑，不要求补做。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S1: https://www.anthropic.com/institute/recursive-self-improvement</a:t>
            </a:r>
          </a:p>
          <a:p xmlns:a="http://schemas.openxmlformats.org/drawingml/2006/main">
            <a:r>
              <a:t>S2: https://alignment.anthropic.com/2026/automated-alignment-researchers/</a:t>
            </a:r>
          </a:p>
          <a:p xmlns:a="http://schemas.openxmlformats.org/drawingml/2006/main">
            <a:r>
              <a:t>S3: https://developers.openai.com/blog/automating-repetitive-work-at-openai-with-codex</a:t>
            </a:r>
          </a:p>
          <a:p xmlns:a="http://schemas.openxmlformats.org/drawingml/2006/main">
            <a:r>
              <a:t>S4: https://openai.com/index/research-acceleration-view-inside-openai/</a:t>
            </a:r>
          </a:p>
          <a:p xmlns:a="http://schemas.openxmlformats.org/drawingml/2006/main">
            <a:r>
              <a:t>L1: https://deepmind.google/blog/alphaevolve-a-gemini-powered-coding-agent-for-designing-advanced-algorithms/</a:t>
            </a:r>
          </a:p>
          <a:p xmlns:a="http://schemas.openxmlformats.org/drawingml/2006/main">
            <a:r>
              <a:t>L2: https://arxiv.org/html/2511.10395v1</a:t>
            </a:r>
          </a:p>
          <a:p xmlns:a="http://schemas.openxmlformats.org/drawingml/2006/main">
            <a:r>
              <a:t>H1: https://scienceplusplus.org/metascience/assets/Good1965.pdf</a:t>
            </a:r>
          </a:p>
          <a:p xmlns:a="http://schemas.openxmlformats.org/drawingml/2006/main">
            <a:r>
              <a:t>H2: https://people.idsia.ch/~juergen/gmweb4/gmweb4.html</a:t>
            </a:r>
          </a:p>
          <a:p xmlns:a="http://schemas.openxmlformats.org/drawingml/2006/main">
            <a:r>
              <a:t>H3: https://arxiv.org/abs/1611.01578</a:t>
            </a:r>
          </a:p>
          <a:p xmlns:a="http://schemas.openxmlformats.org/drawingml/2006/main">
            <a:r>
              <a:t>H4: https://sakana.ai/dgm/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49355bbd646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62c22a2f649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8388cbc8841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bdae9e30d4b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426fb41194a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c291e2fc9248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7692BC-C913-4904-ACA2-A40324E6E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B356E7-412C-4168-8306-22F7CB7384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1BA7F1-4F54-4E5D-B4BC-FA8109B63A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5E3650-3AAD-409B-BFD4-5986C0EBCA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9B054C-521B-4997-9450-3D256123EC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25D68D-72E4-44E7-B7E4-1E73E6E496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A034C2-C3B5-40BD-AA42-A9E6AF0B2D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A29D07-A16B-492F-9F0E-40DCAF24D9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52F2EF-0D4B-47D2-B75E-45CFAB4363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4083A2-069F-4B15-A360-343215A454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9b335179894b82" /><Relationship Type="http://schemas.openxmlformats.org/officeDocument/2006/relationships/slideLayout" Target="/ppt/slideLayouts/slideLayout1.xml" Id="Rbe68d93388604707" /><Relationship Type="http://schemas.openxmlformats.org/officeDocument/2006/relationships/slideLayout" Target="/ppt/slideLayouts/slideLayout2.xml" Id="R37b9fd7f87494613" /><Relationship Type="http://schemas.openxmlformats.org/officeDocument/2006/relationships/slideLayout" Target="/ppt/slideLayouts/slideLayout3.xml" Id="R5724b0bdeec64eb6" /><Relationship Type="http://schemas.openxmlformats.org/officeDocument/2006/relationships/slideLayout" Target="/ppt/slideLayouts/slideLayout4.xml" Id="R1007d6edbb7d4c73" /><Relationship Type="http://schemas.openxmlformats.org/officeDocument/2006/relationships/slideLayout" Target="/ppt/slideLayouts/slideLayout5.xml" Id="Rc562191300ee4a6e" /><Relationship Type="http://schemas.openxmlformats.org/officeDocument/2006/relationships/slideLayout" Target="/ppt/slideLayouts/slideLayout6.xml" Id="R5266ba448ec14c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68d93388604707"/>
    <p:sldLayoutId xmlns:r="http://schemas.openxmlformats.org/officeDocument/2006/relationships" id="2147483650" r:id="R37b9fd7f87494613"/>
    <p:sldLayoutId xmlns:r="http://schemas.openxmlformats.org/officeDocument/2006/relationships" id="2147483651" r:id="R5724b0bdeec64eb6"/>
    <p:sldLayoutId xmlns:r="http://schemas.openxmlformats.org/officeDocument/2006/relationships" id="2147483652" r:id="R1007d6edbb7d4c73"/>
    <p:sldLayoutId xmlns:r="http://schemas.openxmlformats.org/officeDocument/2006/relationships" id="2147483653" r:id="Rc562191300ee4a6e"/>
    <p:sldLayoutId xmlns:r="http://schemas.openxmlformats.org/officeDocument/2006/relationships" id="2147483654" r:id="R5266ba448ec14c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027c3712ae4d59" /><Relationship Type="http://schemas.openxmlformats.org/officeDocument/2006/relationships/notesSlide" Target="/ppt/notesSlides/notesSlide1.xml" Id="R7b1b179dd07f41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14b6176e84832" /><Relationship Type="http://schemas.openxmlformats.org/officeDocument/2006/relationships/notesSlide" Target="/ppt/notesSlides/notesSlide2.xml" Id="R21860ebb4be748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73dbebe4e4c6a" /><Relationship Type="http://schemas.openxmlformats.org/officeDocument/2006/relationships/notesSlide" Target="/ppt/notesSlides/notesSlide3.xml" Id="Rd6838555721a41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52b516fb694271" /><Relationship Type="http://schemas.openxmlformats.org/officeDocument/2006/relationships/notesSlide" Target="/ppt/notesSlides/notesSlide4.xml" Id="R1eac4301ff334f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f9df9d1e7c4ca0" /><Relationship Type="http://schemas.openxmlformats.org/officeDocument/2006/relationships/notesSlide" Target="/ppt/notesSlides/notesSlide5.xml" Id="R2f0abbba62114d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0c269ad03a4d8a" /><Relationship Type="http://schemas.openxmlformats.org/officeDocument/2006/relationships/notesSlide" Target="/ppt/notesSlides/notesSlide6.xml" Id="Refb7f1ada5ab42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8aa6710714536" /><Relationship Type="http://schemas.openxmlformats.org/officeDocument/2006/relationships/notesSlide" Target="/ppt/notesSlides/notesSlide7.xml" Id="R2fbbebce625f48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06b0eb2306451c" /><Relationship Type="http://schemas.openxmlformats.org/officeDocument/2006/relationships/notesSlide" Target="/ppt/notesSlides/notesSlide8.xml" Id="R69a1213501ea49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20a36ae6f74e98" /><Relationship Type="http://schemas.openxmlformats.org/officeDocument/2006/relationships/notesSlide" Target="/ppt/notesSlides/notesSlide9.xml" Id="R6a70013169f749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0d0f41bb04497a" /><Relationship Type="http://schemas.openxmlformats.org/officeDocument/2006/relationships/notesSlide" Target="/ppt/notesSlides/notesSlide10.xml" Id="Rfb198513d56946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2e050ecf064883" /><Relationship Type="http://schemas.openxmlformats.org/officeDocument/2006/relationships/image" Target="/ppt/media/image.png" Id="Radc3d40e8bb949e7" /><Relationship Type="http://schemas.openxmlformats.org/officeDocument/2006/relationships/notesSlide" Target="/ppt/notesSlides/notesSlide11.xml" Id="Rf8b1e57c57564a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7ba3976a9146c5" /><Relationship Type="http://schemas.openxmlformats.org/officeDocument/2006/relationships/notesSlide" Target="/ppt/notesSlides/notesSlide12.xml" Id="R8b84ab70aca74f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40c1d3b294279" /><Relationship Type="http://schemas.openxmlformats.org/officeDocument/2006/relationships/notesSlide" Target="/ppt/notesSlides/notesSlide13.xml" Id="R12227d19f16743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45a8b9e8604a43" /><Relationship Type="http://schemas.openxmlformats.org/officeDocument/2006/relationships/notesSlide" Target="/ppt/notesSlides/notesSlide14.xml" Id="R08c9c65ec97f45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d22e13b7234a2a" /><Relationship Type="http://schemas.openxmlformats.org/officeDocument/2006/relationships/notesSlide" Target="/ppt/notesSlides/notesSlide15.xml" Id="Re904bbd3c6904f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09d95eb574925" /><Relationship Type="http://schemas.openxmlformats.org/officeDocument/2006/relationships/notesSlide" Target="/ppt/notesSlides/notesSlide16.xml" Id="R64964475753344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6cfbdaf3f44ea" /><Relationship Type="http://schemas.openxmlformats.org/officeDocument/2006/relationships/notesSlide" Target="/ppt/notesSlides/notesSlide17.xml" Id="Rf908ff298a6f41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b44571da924029" /><Relationship Type="http://schemas.openxmlformats.org/officeDocument/2006/relationships/notesSlide" Target="/ppt/notesSlides/notesSlide18.xml" Id="R4e862ef6a4ef4e8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f9f982a87d4bd1" /><Relationship Type="http://schemas.openxmlformats.org/officeDocument/2006/relationships/notesSlide" Target="/ppt/notesSlides/notesSlide19.xml" Id="R059b12a35a774a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9d91f7559b4277" /><Relationship Type="http://schemas.openxmlformats.org/officeDocument/2006/relationships/notesSlide" Target="/ppt/notesSlides/notesSlide20.xml" Id="R06765362b94b44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00549ec4f24c26" /><Relationship Type="http://schemas.openxmlformats.org/officeDocument/2006/relationships/image" Target="/ppt/media/image2.png" Id="R3ef2bcbde39c48f1" /><Relationship Type="http://schemas.openxmlformats.org/officeDocument/2006/relationships/notesSlide" Target="/ppt/notesSlides/notesSlide21.xml" Id="R7b726b85681b44d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4c5e78a9f41ee" /><Relationship Type="http://schemas.openxmlformats.org/officeDocument/2006/relationships/notesSlide" Target="/ppt/notesSlides/notesSlide22.xml" Id="R83b11de600e04e6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ea83dc3c57434f" /><Relationship Type="http://schemas.openxmlformats.org/officeDocument/2006/relationships/notesSlide" Target="/ppt/notesSlides/notesSlide23.xml" Id="R6eaf5940b7254c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751844cd594dbf" /><Relationship Type="http://schemas.openxmlformats.org/officeDocument/2006/relationships/notesSlide" Target="/ppt/notesSlides/notesSlide24.xml" Id="Rc231edb261bf48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DBEE5-B7D6-4254-84F1-96E33342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智能体在大模型产业研发中的应用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5A16E-543E-441E-B531-C918291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37057-A215-4EC5-ADE8-FF91B518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大模型与智能体工程实践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24FD5-B914-4B9B-BD02-8EF4389B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67451-73EE-4C1C-8E66-129C44A3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AI辅助研发距离递归自我改进还有多远？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F9002-BAFE-4922-98A6-CBBDEA9E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以 Anthropic、OpenAI 等公司的公开实践为例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0B1B4-68A6-4A84-8615-BA9C481C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陈云海   张程翔   赵金城   曹天卓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ED27F-2A05-41A3-923A-684F16DC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当AI参与下一代AI的研发，我们应该看什么证据？</a:t>
            </a:r>
          </a:p>
        </p:txBody>
      </p:sp>
    </p:spTree>
    <p:extLst>
      <p:ext uri="{BB962C8B-B14F-4D97-AF65-F5344CB8AC3E}">
        <p14:creationId xmlns:p14="http://schemas.microsoft.com/office/powerpoint/2010/main" val="101915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6B6C9-64C1-4270-A3D2-4ABFE21B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A195E-6102-4887-A7A9-CDB67813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50F0B-4540-4301-A241-5CC674D8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FE55D-AB02-4F66-8306-BD1BCF4B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E851E-59FB-4F89-9E52-A4A02509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研发模型，也要处理大量具体工作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C66CE-6E22-418A-8535-CEB5006A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A470F-B075-42FE-AB7C-A75C76D1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研究范围：大模型的研究、实验、评测和研发流程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82AB2-1603-4754-8431-B3AA6D26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443A5-4DDD-4AA3-8CA2-1BD71F13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研究员的一天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E5F01-99D4-4CF4-B8C6-F59E4D33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317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提出一个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值得研究的问题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E2748-36C0-450D-8C72-14DD7E9B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50" y="350520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BF6CB-DE6B-406B-B8D4-CE2C1555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05125"/>
            <a:ext cx="317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写代码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做训练实验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47906-FE88-4733-B6E6-AF22CB77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50520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59A09-5D79-4C2F-8FC1-13F71ABD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905125"/>
            <a:ext cx="317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评测结果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寻找下一步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C4C6B-5673-44FA-B77B-F156A6E3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Agent开始接过这些工作，研发速度与验证质量就一起变得重要</a:t>
            </a:r>
          </a:p>
        </p:txBody>
      </p:sp>
    </p:spTree>
    <p:extLst>
      <p:ext uri="{BB962C8B-B14F-4D97-AF65-F5344CB8AC3E}">
        <p14:creationId xmlns:p14="http://schemas.microsoft.com/office/powerpoint/2010/main" val="1286795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C574D-F85F-4E8B-9620-6FE3E8A4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79C6C-E217-46D0-B068-46F6155A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3D272-487F-47D4-A738-D4783689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665CD-9088-4C7D-9C13-DBD9B309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E05C8-88A0-4F00-B9BE-3A1C6577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沿四个问题，走完一条研发线索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0A728-893C-43BB-8F43-4E5D92DB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56EB8-1729-4806-BE4B-C84DE1DE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全场沿着同一个问题展开：接手任务以后，能否持续研发更强的后继系统？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5B8F1-74F1-4FBD-98C0-A3AA60D3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F7B38-2713-4CF0-B5B9-26B9B1C3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669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01  智能体能接过哪些研发工作？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50A05-2447-48FE-AF27-236A5C43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99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02  公司实践究竟改了什么？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4A9BD-4BB7-4314-A744-2E66B4AD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528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03  这些进展离RSI还差什么？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E2294-13EA-4008-818C-B9258432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958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04  我们怎样使用Agent完成这次研究？</a:t>
            </a:r>
          </a:p>
        </p:txBody>
      </p:sp>
    </p:spTree>
    <p:extLst>
      <p:ext uri="{BB962C8B-B14F-4D97-AF65-F5344CB8AC3E}">
        <p14:creationId xmlns:p14="http://schemas.microsoft.com/office/powerpoint/2010/main" val="611082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2B4BF-DC5C-44F3-A0B0-2479512B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49992-B433-4974-905D-066276E9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D3EFF-027F-41F4-9CA2-564ED385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20DF5-0471-4033-B0FC-55355281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7BE7D-6AEF-4B8A-A886-A386CC3D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一个老问题，两种验证思路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9C61D-1056-46B1-A571-4BEAB1F5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B7FEA-1E35-4739-9CCC-0537F05B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Good 1965 §2；Gödel Machine；NAS 2016；DGM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DD8E9-2174-436F-BB13-7A7AF30F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8060D-08DB-41E4-9FD7-121637E6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“设计机器”也是一种智能活动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C5924-EC23-4E86-B1F2-A3B7260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1965  Good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11764-E928-4E6A-882F-449D2C97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更聪明的机器，能否设计更好的机器？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8D6BD-5D9F-4FC0-8CA2-BDB8504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67F69-98AF-416A-80E5-09CBC4F6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形式证明路线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4C886-A1A3-411E-BC3A-2CA04281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147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Gödel Machine：修改之前，寻找收益的证明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E7768-718D-443A-BF5A-F2928E0D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7342F-F341-4F10-A6E6-6F877343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经验验证路线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39CF2-6DCC-4608-901D-6789ACF5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3395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NAS、DGM：提出候选，运行评测，再保留改进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6D8D7-5555-4420-A35C-E575F5DB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661354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D45C6-7AB3-44E0-8B0D-B7C1942E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4A82E-DA23-4B4D-8842-E00F0D79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B3ECA-A941-435A-87F2-344E0EF1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EAB7F-643C-41BF-A2A3-5FF7B846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080AF-B358-4798-9AFC-20B0AA7D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先跟一次具体任务：让模型少迎合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CF3EA-776F-49AE-AEF8-77391987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FDA00-9876-4B12-BC7F-F2E2DFA2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贯穿示例：减少模型迎合用户的错误观点。此图为工作循环示意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CBB93-7A40-4A3B-9BF9-4EB021F1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3E922-40D9-4F7F-8DCC-1AB1958D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用户：我觉得这个错误结论也有道理，你同意吗？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4F2EF-E9A4-4F3F-8D80-FA8805BF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317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提出办法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D3AA4-4B3F-4B93-A889-6420A761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50" y="37147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648BA-2358-4337-A82C-7AAC9C59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14675"/>
            <a:ext cx="317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训练或测试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CBA31-4776-48B5-B24E-D5AC3D3A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7147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3E66D-3022-45F3-98B0-75D6FB3F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114675"/>
            <a:ext cx="317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结果与错误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D9ABD-1F3E-4D8A-B987-7829E4EF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下一轮读取已有结果，再决定尝试什么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2D199-4179-492E-9528-A2D9825B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对应课程：工具调用、持久记录、评测反馈与执行约束</a:t>
            </a:r>
          </a:p>
        </p:txBody>
      </p:sp>
    </p:spTree>
    <p:extLst>
      <p:ext uri="{BB962C8B-B14F-4D97-AF65-F5344CB8AC3E}">
        <p14:creationId xmlns:p14="http://schemas.microsoft.com/office/powerpoint/2010/main" val="4113203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EB644-E9E7-477A-B635-1B11A67C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96DB3-B30D-4094-BECB-00B9FA2F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B5BB8-E358-4890-B1A5-F230FE46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ADBE2-D00B-45DB-BE50-DCD96A03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41CED-97B0-4D72-97C8-CB55E7A8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为什么重点讲这两家公司？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5DC5A-7E93-4D7D-A12E-05AC5AF6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35D47-7EBA-4ACE-9010-ED6C7EB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选例依据：改动对象互补，输入、工具和产物有公开证据；不作公司排名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ED248-8930-4736-BD94-32591BF4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A494E-2359-4F96-9CD8-2A130B85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模型研发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DBE46-7D20-4803-9187-58E944C6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717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提出训练办法、更新模型权重、检验行为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90519-0E3D-4760-9761-A74C018E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BE375-79F0-4C05-8423-C89B03B9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研发工作流程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AEE8C-6FCA-4F1F-9AB9-742B3972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编排评测、调用工具、保存运行经验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F8131-8A54-4E85-A65D-885F1AC0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133C1-C16D-4D8E-B8A9-36512DAF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Anthropic：深入看模型改进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C688B-5C1E-4E04-A4CE-D888A8CF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OpenAI：深入看研发现场怎样使用Agent</a:t>
            </a:r>
          </a:p>
        </p:txBody>
      </p:sp>
    </p:spTree>
    <p:extLst>
      <p:ext uri="{BB962C8B-B14F-4D97-AF65-F5344CB8AC3E}">
        <p14:creationId xmlns:p14="http://schemas.microsoft.com/office/powerpoint/2010/main" val="13952757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92E10-171D-414C-89E1-21BDC441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24631-5C62-4366-9077-952CA336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2A77D-7CEE-4780-9980-FB16F4AF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38515-1436-427F-A51C-FC04E4EE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AB880-5C97-4978-8047-2D300CB6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研究Agent和目标模型是两个角色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614E3-8FDA-42EC-BB16-C00E3BCD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F6479-84A9-439C-B181-8313B136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Anthropic AAR §2–3。这里讲开放权重主实验；第10页另讲部署模型实验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4424B-C592-46B6-AFC3-9251EF90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661AC-E4D1-45E6-BFB2-67F849DF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任务：减少模型迎合错误观点等对齐失败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8070B-3F60-495E-A09C-82D6D13E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381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读材料、提方法、写代码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AC492-163B-4557-88EE-950C0F5F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76650"/>
            <a:ext cx="857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FFE09-CD18-448F-9905-1AA2BFC6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4667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目标模型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接受训练，被评测行为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5F591-29C9-4C7B-8E6C-B3BE36C1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任务、可用资源和评分标准由实验系统设定</a:t>
            </a:r>
          </a:p>
        </p:txBody>
      </p:sp>
    </p:spTree>
    <p:extLst>
      <p:ext uri="{BB962C8B-B14F-4D97-AF65-F5344CB8AC3E}">
        <p14:creationId xmlns:p14="http://schemas.microsoft.com/office/powerpoint/2010/main" val="7203250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F55F1-0C38-4ED3-A6BF-8B77301C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B1075-6E5E-4737-97AD-359CA46C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59E6E-35B6-490F-8F38-7893F253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14542-AA26-4A5B-94AB-8B79B4C1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D57FB-9F31-482C-825B-E37EC079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一次研究循环，交付的不只是一段建议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A8F7C-0D45-46A3-81E1-5665D95A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8C2FB-0BDF-4A04-BD2E-69F15668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Anthropic AAR §2.2–3、§7；流程按论文重绘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5B695-3684-4F20-BE57-B4478B06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60CFF-3762-46EB-B5C9-0B926E08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方法与代码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3FA61-51BE-4E87-8C78-DE780122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30765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8C9C7-37FE-4A47-A5D0-51CBB629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4765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审查与训练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548DF-49D0-4794-81D2-A09F78EB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765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0A01A-D70D-4E73-A3E2-356871AC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隔离评分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4392C-BA80-4492-AAD2-6FA7AE88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30765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3C9D1-F23F-4555-B3AF-2EFC3BD3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4765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共享记录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9CEFC-18D6-4A03-BDF8-B03637BF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每轮留下：训练检查点、分数、方法及失败经验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180AF-C394-4A0C-AC36-3E68B2DF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评分还要检查能力退化，下一轮据此尝试新方法</a:t>
            </a:r>
          </a:p>
        </p:txBody>
      </p:sp>
    </p:spTree>
    <p:extLst>
      <p:ext uri="{BB962C8B-B14F-4D97-AF65-F5344CB8AC3E}">
        <p14:creationId xmlns:p14="http://schemas.microsoft.com/office/powerpoint/2010/main" val="12402141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A3D41-7F28-4715-8460-D3F4BB7E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D8E9E-9765-4621-94E4-092E2609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5B0F6-B7E6-40AE-BF41-B01B7557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954B0-D749-44D7-A18C-0E30FFE7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EB41C-820E-449B-B7FB-1CFDB99F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把临时引导，训练进学生模型的权重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2386E-DDE3-401E-8FEB-B6C3FB38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BFFE6-8F02-4605-B2B3-6253342C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Anthropic AAR 附录D.4、§5.2；这里解释机制，不表示获胜配方的完整公式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CB4F5-4F6E-4CD1-B1BE-E865DE7F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6D991-BC85-4527-B9A7-B5716717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目标模型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内部激活加引导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8AAD0-7254-4F72-9AB3-DAAADDC1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67025"/>
            <a:ext cx="523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E6191-9A9B-4C8A-98D8-34F816E1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8600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输出分布 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7AFCE-B349-4F72-9B82-F23CF188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67025"/>
            <a:ext cx="523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DA0CE-424F-4414-BA91-07C59F00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8600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学生模型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新权重 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C8DCF-2CCD-4556-92FA-5EA89144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训练目标：让学生输出分布接近教师分布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76FCF-B1DF-4E3F-B9DA-84C73DB4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KL散度衡量分布差异，训练据此调整学生权重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1C04A-4973-471A-BD29-75686490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教师来自目标模型的引导版本，不能假设为更强的外部模型</a:t>
            </a:r>
          </a:p>
        </p:txBody>
      </p:sp>
    </p:spTree>
    <p:extLst>
      <p:ext uri="{BB962C8B-B14F-4D97-AF65-F5344CB8AC3E}">
        <p14:creationId xmlns:p14="http://schemas.microsoft.com/office/powerpoint/2010/main" val="15677789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348E1-1621-47BB-818D-C51AB3CE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0EB21-8AD5-44F4-9CB9-85018FB4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8A9DB-7099-4985-8626-C5EFAA96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5B16D-FD58-4842-9F08-481874CC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6E9E2-646F-4545-BBE8-E525E285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另一个实验：65%到底在量什么？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5D74C-E68B-4FA5-8E29-E3C0CE23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D2FA8-D1B9-41CE-8EAC-F610F1EB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Anthropic AAR §6、Fig.9、附录E.1。此页是另一项受限实验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4B069-E30E-427E-939B-B63C16F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482F2-6442-475F-BD9A-D6AF4367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323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75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rPr>
              <a:t>65%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CBCBD-4DE6-4F60-AF4C-54242D54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Petri十维覆盖加权</a:t>
            </a:r>
          </a:p>
          <a:p xmlns:a="http://schemas.openxmlformats.org/drawingml/2006/main">
            <a:pPr>
              <a:defRPr sz="24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安全改善空间分数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ED584-20E9-4C5A-882A-16616BC9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0275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这里：研究Agent只生成训练数据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6ADF0-7322-495B-9107-54026425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Sonnet 5 研究Agent</a:t>
            </a:r>
          </a:p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Opus 4.8 早期检查点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D49DD-92B9-452D-AEE3-0A9D2537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62475"/>
            <a:ext cx="523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它衡量相对基线的改善空间</a:t>
            </a:r>
          </a:p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不能读成安全测试通过率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4CA95-C7C6-4DFC-A5A7-386C2FCD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发布版本报告72%，与65%的胜出检查点分别标示</a:t>
            </a:r>
          </a:p>
        </p:txBody>
      </p:sp>
    </p:spTree>
    <p:extLst>
      <p:ext uri="{BB962C8B-B14F-4D97-AF65-F5344CB8AC3E}">
        <p14:creationId xmlns:p14="http://schemas.microsoft.com/office/powerpoint/2010/main" val="15033156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A1552-76AF-4D2F-9707-D19DE614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6A726-BAC8-4B40-A72C-0F8D8724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A8523-1ADC-4D44-87C2-C457F55F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A5956-588D-4D19-9E27-FFBD7214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2D689-57C6-4E22-934A-86D3A22C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OpenAI：可回查的发布前评测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779D1-6802-40A3-9A8B-B487478F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7F703-4AC9-4CE8-A422-585230A6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OpenAI Codex实践文 Running evaluations with Codex；右图为作者公开的Runme记录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DF773-B860-4744-90B4-C0E2E85A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57540-548F-41E2-96F2-834E3549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人写评测目标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9D298-0406-44DE-87A9-D04CC0DE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Codex查旧记录，提出计划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08D3B-1BB0-44AE-A6FC-D98DB5F2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人审阅计划，批准后执行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EF72C-9719-492B-88C2-7F13465B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命令、输出和解释留在笔记本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DB8A1-3364-4975-B02E-9B36E1EAFA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3d40e8bb949e7"/>
          <a:stretch xmlns:a="http://schemas.openxmlformats.org/drawingml/2006/main"/>
        </p:blipFill>
        <p:spPr>
          <a:xfrm xmlns:a="http://schemas.openxmlformats.org/drawingml/2006/main">
            <a:off x="5457825" y="2008063"/>
            <a:ext cx="6067425" cy="3318123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17842-9214-4C62-B333-63465947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524500"/>
            <a:ext cx="604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原始记录：目标、计划、评测配置均可回查</a:t>
            </a:r>
          </a:p>
        </p:txBody>
      </p:sp>
    </p:spTree>
    <p:extLst>
      <p:ext uri="{BB962C8B-B14F-4D97-AF65-F5344CB8AC3E}">
        <p14:creationId xmlns:p14="http://schemas.microsoft.com/office/powerpoint/2010/main" val="21101532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4A57D-EC11-48C1-B169-96BB31F7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4C03D-3F4D-444C-92C3-E671D894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65635-6C73-4977-9D13-C5895B2C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F7169-3F3C-495A-931C-F4727AD3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BBE63-0582-4800-AB39-D48FD36A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运行量增长，权限也要跟上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C4759-543F-4FBC-B3FF-A6113B59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2860D-CC11-44B6-8DC9-AE3C4EFD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OpenAI Research acceleration §1、§4。运行量为截至2026年8月中内部观察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B7DE5-3BA5-4446-8119-781846FA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DA9D1-8226-405E-9610-F739B885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905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2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2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3.1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57CC2-4442-4F91-8621-0CE9E6BA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Agent运行工作日</a:t>
            </a:r>
          </a:p>
          <a:p xmlns:a="http://schemas.openxmlformats.org/drawingml/2006/main">
            <a:pPr>
              <a:def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／人类工作日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69222-7061-42D4-8C81-F41A7CFF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9077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按8小时折算运行量</a:t>
            </a:r>
          </a:p>
          <a:p xmlns:a="http://schemas.openxmlformats.org/drawingml/2006/main">
            <a:pPr>
              <a:defRPr sz="24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不能直接换算成生产率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1CB3A-270C-4E0E-B656-911D208E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0052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7月20日发现基础设施入侵</a:t>
            </a:r>
          </a:p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训练容器服务暂停，后加限制恢复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CFA6C-8D62-4962-A2DF-D8F1BEDD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rPr>
              <a:t>能跑更多工作，仍需要权限边界和过程监督</a:t>
            </a:r>
          </a:p>
        </p:txBody>
      </p:sp>
    </p:spTree>
    <p:extLst>
      <p:ext uri="{BB962C8B-B14F-4D97-AF65-F5344CB8AC3E}">
        <p14:creationId xmlns:p14="http://schemas.microsoft.com/office/powerpoint/2010/main" val="18132041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3F5CB-AD83-44BB-9A97-59C2C8E6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C8095-D14F-4C2B-AD19-A800A34F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B8F4B-262D-4F3A-A7F7-F55A3C87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E986C-16BB-423E-BCCE-450E85CC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802DF-C482-4C84-BE98-EAF5E122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行业还有三条不同的改进路线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90A27-65AA-41A3-A84A-FC3DE25D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AD8A8-473F-41C0-AE1D-65105FB4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Google AlphaEvolve；通义 AgentEvolver；Sakana／UBC DGM。不同改动对象不直接排行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502CE-5667-446B-9DF7-D4E6A105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11F18-9BE7-41B8-8147-401828E7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Google / Gemini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D584D-427D-43BA-A5A7-121B36BB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AlphaEvolve：生成程序，评测与演化筛选算法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B15D0-7D64-4FDD-ADCE-6A6A078F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10CD4-7FEF-4853-B71B-3041D4BF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通义 AgentEvolver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A40BC-BC6D-4922-A2BF-2B4DFE96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生成任务、利用经验、归因反馈并训练策略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A5B85-C248-4996-951F-751B1A18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A1F51-C3CB-428F-96FA-54DA1955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Darwin Gödel Machine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EC9C7-9477-4C17-8D92-DFA227A5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修改Agent自身代码，用任务表现筛选版本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9D141-96FE-4C20-A4A2-02F19C8B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E286D-51FA-4AAE-8863-06B0CF1B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开放框架、开放模型权重，是两个需要分别核查的问题</a:t>
            </a:r>
          </a:p>
        </p:txBody>
      </p:sp>
    </p:spTree>
    <p:extLst>
      <p:ext uri="{BB962C8B-B14F-4D97-AF65-F5344CB8AC3E}">
        <p14:creationId xmlns:p14="http://schemas.microsoft.com/office/powerpoint/2010/main" val="6089432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76B2B-BE33-4E94-9573-56F01098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FC7E6-2386-41C3-A90F-0886DE66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48B3F-9D05-4604-9663-D621382D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CD06F-E022-4D39-BB3B-BE9FE4CA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EDA50-3C29-4E31-AC54-625574E4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离RSI多远？追问三个问题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1876D-0879-4EAC-B671-110124FE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55104-6F91-480D-AAC8-DE4B558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综合判断依据：AAR、OpenAI工作流、AlphaEvolve、AgentEvolver、DGM；这是本报告分析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D8BF4-CDD1-4781-979E-3A54608D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D495C-0DF7-4D3B-BFE8-659F1B89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改了什么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D6892-470D-4EEF-95AC-57211B40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模型权重？程序？Agent策略？研发流程？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EA8D6-7D27-4F3B-A32B-87518CA9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04BBF-B9DF-4FF8-A4FC-264EB715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怎样证明有效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B09D3-CC8F-4836-B4C8-79EF3CED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289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基准得分、能力约束、真实工作产物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CCC17-0B2C-4464-902C-FCF36082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1D304-44F6-4F59-995B-F7B3E406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能否继续研发后继者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DF6D9-10E3-4F9B-95EA-EB43CD7E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改进后的系统，持续承担下一代模型的研发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2E705-B8E4-42B0-B811-F8FDBE91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CCA05-984A-4FF4-B024-AF096B1B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rPr>
              <a:t>所选公开证据支持局部改进，尚未证明完整持续的后继研发</a:t>
            </a:r>
          </a:p>
        </p:txBody>
      </p:sp>
    </p:spTree>
    <p:extLst>
      <p:ext uri="{BB962C8B-B14F-4D97-AF65-F5344CB8AC3E}">
        <p14:creationId xmlns:p14="http://schemas.microsoft.com/office/powerpoint/2010/main" val="5711269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C3653-98DD-43BF-8841-B1EEA5D7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CAE4E-38B0-4BD7-96E9-0A5D4746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07CF7-6B5D-482C-96A1-81F55F3A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21CB6-2EB5-46A6-86EB-0E7A480B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2EAB8-76A0-4450-A57C-47D852B6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我们的协作：快交付，再检查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55BD9-7A1D-4759-B532-EE78E6F9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05B55-7A80-4BCC-B355-BD3C0270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依据本项目已发生的任务、评审与产物版本。此图是协作过程示意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4F31D-8F90-4D58-BCF5-97052C62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8E715-4FBD-4683-BCA7-D34694BE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组长提出问题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ED578-7AA3-452C-9990-4AF011A0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30384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934BF-7FC9-4D36-9BF2-A95C9294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4384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Codex检索与制作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54308-4C83-42D6-AA78-356D30DD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384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52E4C-A3BC-4A1C-B329-74796C13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384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组长审阅纠错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F10FA-FF32-4150-AF55-3B4635D3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30384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740D6-49CE-4238-90B5-B74124A3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4384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Codex继续修订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62122-C6C0-43A3-B181-85944133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已发生的反馈：主题偏窄、缺目录、节奏过快、实践负担过重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3BA89-C3D9-4F33-89F8-5F70E425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人负责研究方向和内容判断，Agent执行检索与制作</a:t>
            </a:r>
          </a:p>
        </p:txBody>
      </p:sp>
    </p:spTree>
    <p:extLst>
      <p:ext uri="{BB962C8B-B14F-4D97-AF65-F5344CB8AC3E}">
        <p14:creationId xmlns:p14="http://schemas.microsoft.com/office/powerpoint/2010/main" val="1696893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7782E-E057-4D20-9936-1C391D74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F842D-3E4D-455B-8587-138CBFF8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A6673-DA93-4B37-A3FC-4910F930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62D10-7C7A-41DE-B8F5-26DEF12F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6F2AC-6A8D-4769-ADE2-2C0EA4D5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核查案例：65%的分母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11945-8A6D-49C0-85A6-48ECAFF6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46246-435A-42B1-89ED-24560FCB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来源核查案例，来自旧实验待审查命题T05；不是声称真实初稿犯过此错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311A0-473B-477D-B126-A5A7633D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67EF0-B58D-4123-8324-9195C4CC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待核查说法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25EC3-197C-4575-8333-4491F277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rPr>
              <a:t>“65% 的安全测试通过了”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5F174-D8BC-490A-AA58-62990BCC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0D035-4572-4335-9250-FCB3A3BD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核查后的表述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90AD9-7647-49D6-A4BD-98915790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胜出检查点达到65%的Petri十维</a:t>
            </a:r>
          </a:p>
          <a:p xmlns:a="http://schemas.openxmlformats.org/drawingml/2006/main">
            <a:pPr>
              <a:defRPr sz="27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覆盖加权安全改善空间分数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C6D3C-8655-47E1-82D4-966B92D0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先找到原始指标和分母，再让Agent改写</a:t>
            </a:r>
          </a:p>
        </p:txBody>
      </p:sp>
    </p:spTree>
    <p:extLst>
      <p:ext uri="{BB962C8B-B14F-4D97-AF65-F5344CB8AC3E}">
        <p14:creationId xmlns:p14="http://schemas.microsoft.com/office/powerpoint/2010/main" val="10850406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3F65F-5205-423E-B05D-293B1124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52063-1B80-49B7-9116-51DF1D98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29E63-2DB5-40C8-A24E-15BFBD59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A11DB-E5A4-431A-96D4-A020B242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DA992-6FEB-4216-8A55-9926B2ED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已经发生的进步，与仍需回答的问题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785C5-0B42-4117-B02C-2C05CEC9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AB44A-F73E-4931-B723-E610122F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结论范围：本报告所选公开实践，不对未公开研发活动作断言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6FB8C-45F2-469C-A01C-53E555E0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54DFC-6982-42F4-9982-7BAC495B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已经看到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6E9B7-0505-4444-9E0B-956A2A3B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859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Agent参与训练方法、评测执行和算法改进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C2015-8D2A-4B09-BBD5-29F328F5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F7822-D78B-488E-9683-888A7B80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还缺证据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53DBB-9573-4A10-9727-C7472919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改进系统持续研发完整后继模型的闭环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F4932-EC4E-4BED-8E51-257BC8AC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26A87-1FF6-4639-B955-744A9F14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人的工作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F3BAE-113E-4564-8445-8E8EF676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9102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选研究问题，检查证据，决定采用什么结果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92ABF-FAEE-404B-B01A-C547E192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164199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5700F-7CDE-4FDC-ADDD-A5834F3D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913D0-D72D-4FE8-B043-E51B9B2B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3B7BC-4D12-4945-B130-2256ECC4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0566C-208F-4063-A1FA-483B9B64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3C61B-86D8-439A-84C2-2917D561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B739A-674D-4D0D-B67B-E7CCCAB0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821EE-66BB-41B0-A16E-496AE1D5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答辩可跳转19–24页，来源与较长答案见配套手册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B7149-407C-4597-8A5E-B628A5E1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5FF68-E707-4C8C-92E4-021600C6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AI已经进入AI研发的工作现场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1AFE2-F20C-4556-93E2-F5642BE7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改动对象决定它做到了哪一步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DDC0D-EAEF-4994-8654-4EC74CAF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持续后继研发仍需要更完整的证据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FEF5E-2701-4E4C-8986-6576E86A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机制 19     指标 20     实验局限 21</a:t>
            </a:r>
          </a:p>
          <a:p xmlns:a="http://schemas.openxmlformats.org/drawingml/2006/main">
            <a:pPr>
              <a:def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行业对照 22     本组实践 23     来源 24</a:t>
            </a:r>
          </a:p>
        </p:txBody>
      </p:sp>
    </p:spTree>
    <p:extLst>
      <p:ext uri="{BB962C8B-B14F-4D97-AF65-F5344CB8AC3E}">
        <p14:creationId xmlns:p14="http://schemas.microsoft.com/office/powerpoint/2010/main" val="18233213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B694E-FADF-4802-9C85-773CC976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827CD-879F-4C32-82D6-64EDA166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激活引导、蒸馏与权重变化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0B44F-CEE3-4DDB-9B05-047C5E82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CAEA7-3ECB-4A37-B0CA-A4BA9535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AAR §5.2、附录D.4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0AC5C-6DD5-465A-8EF3-8A495525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E30F7-23DD-41AA-9039-4014262C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激活引导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EEEAB-09FC-4FF3-BE2E-696AA6D6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在模型内部表示上加方向，使输出倾向变化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99BE2-B725-4FD8-BAE4-985DEBFC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3007D-4A8A-4CB2-911D-FCF3809E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5CC03-5166-4E59-A957-8CAA4171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3372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目标模型的引导版本，不假设外部更强模型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AADEA-A53B-461B-9537-83DC82DE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6F416-E40D-4BC8-8142-E015275F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KL蒸馏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E6EE1-DDDB-4D07-8922-E5670B57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576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用教师分布约束学生输出，通过训练更新学生权重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561D1-2FE3-4EBF-85A4-15140733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18A28-D9CF-4439-9A89-857C284A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rPr>
              <a:t>仅改提示时，模型权重可以不变；蒸馏训练会改变学生权重</a:t>
            </a:r>
          </a:p>
        </p:txBody>
      </p:sp>
    </p:spTree>
    <p:extLst>
      <p:ext uri="{BB962C8B-B14F-4D97-AF65-F5344CB8AC3E}">
        <p14:creationId xmlns:p14="http://schemas.microsoft.com/office/powerpoint/2010/main" val="7025676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7B5D4-3148-4A56-8870-9AD7EB08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17BA6-03E8-4E8F-BAAB-FE331CB6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改善空间的分母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BCB5D-A3CA-4D8E-A5AC-478B5CEB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00B9B-0215-4524-9382-07528923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AAR §2.3、附录E.1；下方数值为教学玩具例子，不是论文测量结果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31822-A7FD-4293-8C49-13CB4E70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307F4-6E51-4C0F-A4D1-DC47DD79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玩具例子：基线50，结果70，最优100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19121-D89E-4EED-A665-C1F007B1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改善空间比例 = (70−50) / (100−50) = 40%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3268F-1C2B-472C-ABCD-88C09EE6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70是得分，40%是关闭的改善空间，二者口径不同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613C0-6617-4E3B-921A-E6B00BF6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Petri十维：改善维度占比 × 改善维度的比例几何均值</a:t>
            </a:r>
          </a:p>
        </p:txBody>
      </p:sp>
    </p:spTree>
    <p:extLst>
      <p:ext uri="{BB962C8B-B14F-4D97-AF65-F5344CB8AC3E}">
        <p14:creationId xmlns:p14="http://schemas.microsoft.com/office/powerpoint/2010/main" val="17180291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3CFB6-46D4-4E75-B2F3-241759B7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F26BF-C4E1-4956-972B-11AF1733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实验结果应该怎样读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145CF-3400-4694-A8B8-FA15778D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0CF1A-A668-4758-8AFF-4713C2A9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Anthropic AAR Fig.3、§4、§7；截图为开放权重主实验，不是65%的部署实验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636FF-8174-4554-8C85-384D425A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AB7B7-FC25-417E-A5D0-3C166D1F7F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2bcbde39c48f1"/>
          <a:stretch xmlns:a="http://schemas.openxmlformats.org/drawingml/2006/main"/>
        </p:blipFill>
        <p:spPr>
          <a:xfrm xmlns:a="http://schemas.openxmlformats.org/drawingml/2006/main">
            <a:off x="1205133" y="1943100"/>
            <a:ext cx="5438333" cy="410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B1301-AA18-4381-97C1-A28A077E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3762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橙线：截至该时刻的最好方法</a:t>
            </a:r>
          </a:p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灰点：提出并评分的方法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B3A3C-F847-489A-9FF2-9590366B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762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rPr>
              <a:t>多次尝试取最好值</a:t>
            </a:r>
          </a:p>
          <a:p xmlns:a="http://schemas.openxmlformats.org/drawingml/2006/main">
            <a:pPr>
              <a:def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rPr>
              <a:t>不能直接证明全面超过人类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765A8-AAF3-42D3-813F-BE3FD6F5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00650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原文事后监测确认39/1601条取巧轨迹</a:t>
            </a:r>
          </a:p>
        </p:txBody>
      </p:sp>
    </p:spTree>
    <p:extLst>
      <p:ext uri="{BB962C8B-B14F-4D97-AF65-F5344CB8AC3E}">
        <p14:creationId xmlns:p14="http://schemas.microsoft.com/office/powerpoint/2010/main" val="21378215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2708C-01E6-4E6C-9EB1-9C508D11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F87B2-94BD-4764-B53A-051967A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Google与开放研究的改进对象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9234F-D766-49F9-B8F0-F0E5609C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93FDE-9824-44BC-92C9-432C8FCD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Google AlphaEvolve；AgentEvolver arXiv / 官方仓库；DGM官方文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15A94-6A48-4DD8-8C8A-B1A1D992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A2522-4EE5-49EE-A71C-666DFEBF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AlphaEvolve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3A505-0CFF-48F5-90DC-FE99F809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所举Gemini矩阵乘法kernel加速23%，总训练时间下降1%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9113F-F766-4A85-AB3B-85ED7FBA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3DF6D-9B78-435D-9615-E06F00FE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AgentEvolver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51737-4C11-45AE-9A65-49AFBF20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670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论文与Apache-2.0框架公开，策略训练不等于只改提示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367AD-F22B-429D-B517-9146C01C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72012-0E0B-4EA4-89D7-9F8E24ED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DGM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31B43-90B7-4F0B-BEDE-2FB177FF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577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Agent代码自修改，与基础模型权重自训练分开判断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3FBAD-C00F-4FB3-8369-0550D416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201203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3A7AD-BE8E-43EE-B186-EDFAC52C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25F23-A48E-4C59-8FF9-1109B107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本组实践与历史探索的边界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4D595-8EB5-404D-960C-DF117053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670A4-DAEF-46FB-895B-6101240B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本项目真实任务、版本与practice/runs/demo/score.json；原数据保留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CB0CC-8158-4CBB-B6EF-9AEBC9D1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383C3-4926-428C-A299-06C311B4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主讲实践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7247E-3373-45B6-8211-11571413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提出任务、评审与纠错；Codex执行检索和制作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CEDAD-57DC-43A3-9CE2-B71933C7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12C09-C9BF-47B9-BD9A-E83F7563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历史16题探索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87BE3-05BD-4FAE-B48A-2A8A9FD4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04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基线13/16、候选12/16，只是与原作者标签的一致数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FA947-929C-4278-AD2D-DB0D5C7C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96458-E896-4AD6-87F3-221AEF1B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不能推出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73AE9-2418-4C5E-91AF-0F2170AD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事实准确率、提示提高能力、复现AAR或四人独立实验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84141-07BE-4BFF-9189-CAF3D185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7DC1E-9FAD-4BE9-96FF-B9A84A1C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四人的讲述职责可分配，工具执行和真实贡献仍按记录表述</a:t>
            </a:r>
          </a:p>
        </p:txBody>
      </p:sp>
    </p:spTree>
    <p:extLst>
      <p:ext uri="{BB962C8B-B14F-4D97-AF65-F5344CB8AC3E}">
        <p14:creationId xmlns:p14="http://schemas.microsoft.com/office/powerpoint/2010/main" val="8500260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CE72D-54E2-45B9-9616-68C4B501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7E317-E437-4393-B1A5-C1B503EC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主要一手来源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5D030-CDBF-4194-A8F1-19A8DC26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ED1D6-7B95-4BC2-A605-3F1617F2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完整URL、位置和逐题口径见配套04_来源与主张.md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83721-88AD-418B-82A1-BE6491B7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A48CA-861E-497A-98B4-192F47B4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Anthropic AAR：机制 §2–3、方法 D.4、部署模型 §6、指标 E.1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8AA70-A64D-4F0E-B15C-05869B04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OpenAI：Codex与Runme实践文；Research acceleration §1、§4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4502F-097F-4CE8-A008-2ACE1788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Google DeepMind：AlphaEvolve 官方文，训练效率部分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A0B32-1E31-49F1-9B76-E0D37ED4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通义：AgentEvolver arXiv 2511.10395 与官方框架仓库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39625-6A44-4ED8-A12B-FF4E849D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历史：Good 1965；Gödel Machine；NAS；Sakana DGM</a:t>
            </a:r>
          </a:p>
        </p:txBody>
      </p:sp>
    </p:spTree>
    <p:extLst>
      <p:ext uri="{BB962C8B-B14F-4D97-AF65-F5344CB8AC3E}">
        <p14:creationId xmlns:p14="http://schemas.microsoft.com/office/powerpoint/2010/main" val="1267209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2026-10-13T13:55:07.7920000Z</dcterms:created>
  <dcterms:modified xsi:type="dcterms:W3CDTF">2026-10-13T13:55:07.7920000Z</dcterms:modified>
</coreProperties>
</file>