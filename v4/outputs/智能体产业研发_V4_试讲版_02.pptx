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4202aaabb24d7c" /><Relationship Type="http://schemas.openxmlformats.org/officeDocument/2006/relationships/extended-properties" Target="/docProps/app.xml" Id="R1bc8a3f837cf4249" /><Relationship Type="http://schemas.openxmlformats.org/officeDocument/2006/relationships/officeDocument" Target="/ppt/presentation.xml" Id="Rc725413f7bc645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364ad34df34280"/>
  </p:sldMasterIdLst>
  <p:notesMasterIdLst>
    <p:notesMasterId xmlns:r="http://schemas.openxmlformats.org/officeDocument/2006/relationships" r:id="R57440eeb8d784512"/>
  </p:notesMasterIdLst>
  <p:sldIdLst>
    <p:sldId xmlns:r="http://schemas.openxmlformats.org/officeDocument/2006/relationships" id="256" r:id="R647843952c7c4319"/>
    <p:sldId xmlns:r="http://schemas.openxmlformats.org/officeDocument/2006/relationships" id="257" r:id="R935d0053478746cb"/>
    <p:sldId xmlns:r="http://schemas.openxmlformats.org/officeDocument/2006/relationships" id="258" r:id="Rf2eac366e31a4be3"/>
    <p:sldId xmlns:r="http://schemas.openxmlformats.org/officeDocument/2006/relationships" id="259" r:id="Ra2506ad1c01f4304"/>
    <p:sldId xmlns:r="http://schemas.openxmlformats.org/officeDocument/2006/relationships" id="260" r:id="R1d9f1cb1743b470f"/>
    <p:sldId xmlns:r="http://schemas.openxmlformats.org/officeDocument/2006/relationships" id="261" r:id="Rca18f152c482437c"/>
    <p:sldId xmlns:r="http://schemas.openxmlformats.org/officeDocument/2006/relationships" id="262" r:id="Ra0fd66c34ba74d9a"/>
    <p:sldId xmlns:r="http://schemas.openxmlformats.org/officeDocument/2006/relationships" id="263" r:id="R61c98a1d77624495"/>
    <p:sldId xmlns:r="http://schemas.openxmlformats.org/officeDocument/2006/relationships" id="264" r:id="R1ab092d5c55a4955"/>
    <p:sldId xmlns:r="http://schemas.openxmlformats.org/officeDocument/2006/relationships" id="265" r:id="R8c0c2da336ce4dc9"/>
    <p:sldId xmlns:r="http://schemas.openxmlformats.org/officeDocument/2006/relationships" id="266" r:id="R9c164faa026840d7"/>
    <p:sldId xmlns:r="http://schemas.openxmlformats.org/officeDocument/2006/relationships" id="267" r:id="R4985d6efe4fc4d3d"/>
    <p:sldId xmlns:r="http://schemas.openxmlformats.org/officeDocument/2006/relationships" id="268" r:id="Ra2c0a9b8e88a47d8"/>
    <p:sldId xmlns:r="http://schemas.openxmlformats.org/officeDocument/2006/relationships" id="269" r:id="Rfcddca22d7e74727"/>
    <p:sldId xmlns:r="http://schemas.openxmlformats.org/officeDocument/2006/relationships" id="270" r:id="R246b413ca0c24b67"/>
    <p:sldId xmlns:r="http://schemas.openxmlformats.org/officeDocument/2006/relationships" id="271" r:id="R92055978d7774461"/>
    <p:sldId xmlns:r="http://schemas.openxmlformats.org/officeDocument/2006/relationships" id="272" r:id="R890ad56f7f304214"/>
    <p:sldId xmlns:r="http://schemas.openxmlformats.org/officeDocument/2006/relationships" id="273" r:id="R60a0d527b00a4cc5"/>
    <p:sldId xmlns:r="http://schemas.openxmlformats.org/officeDocument/2006/relationships" id="274" r:id="Rb99ced51cdd944d3"/>
    <p:sldId xmlns:r="http://schemas.openxmlformats.org/officeDocument/2006/relationships" id="275" r:id="R87771302e6fb45e4"/>
    <p:sldId xmlns:r="http://schemas.openxmlformats.org/officeDocument/2006/relationships" id="276" r:id="Rbbe4c01445cd475c"/>
    <p:sldId xmlns:r="http://schemas.openxmlformats.org/officeDocument/2006/relationships" id="277" r:id="R2aa90b7e37dd4034"/>
    <p:sldId xmlns:r="http://schemas.openxmlformats.org/officeDocument/2006/relationships" id="278" r:id="R723d90a652914225"/>
    <p:sldId xmlns:r="http://schemas.openxmlformats.org/officeDocument/2006/relationships" id="279" r:id="Ra51887f8ef6744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2eda36492647f6" /><Relationship Type="http://schemas.openxmlformats.org/officeDocument/2006/relationships/slideMaster" Target="/ppt/slideMasters/slideMaster1.xml" Id="R7a364ad34df34280" /><Relationship Type="http://schemas.openxmlformats.org/officeDocument/2006/relationships/notesMaster" Target="/ppt/notesMasters/notesMaster1.xml" Id="R57440eeb8d784512" /><Relationship Type="http://schemas.openxmlformats.org/officeDocument/2006/relationships/presProps" Target="/ppt/presProps.xml" Id="Re49b3b11de0746b6" /><Relationship Type="http://schemas.openxmlformats.org/officeDocument/2006/relationships/tableStyles" Target="/ppt/tableStyles.xml" Id="Ra8f4670c5130404a" /><Relationship Type="http://schemas.openxmlformats.org/officeDocument/2006/relationships/slide" Target="/ppt/slides/slide1.xml" Id="R647843952c7c4319" /><Relationship Type="http://schemas.openxmlformats.org/officeDocument/2006/relationships/slide" Target="/ppt/slides/slide2.xml" Id="R935d0053478746cb" /><Relationship Type="http://schemas.openxmlformats.org/officeDocument/2006/relationships/slide" Target="/ppt/slides/slide3.xml" Id="Rf2eac366e31a4be3" /><Relationship Type="http://schemas.openxmlformats.org/officeDocument/2006/relationships/slide" Target="/ppt/slides/slide4.xml" Id="Ra2506ad1c01f4304" /><Relationship Type="http://schemas.openxmlformats.org/officeDocument/2006/relationships/slide" Target="/ppt/slides/slide5.xml" Id="R1d9f1cb1743b470f" /><Relationship Type="http://schemas.openxmlformats.org/officeDocument/2006/relationships/slide" Target="/ppt/slides/slide6.xml" Id="Rca18f152c482437c" /><Relationship Type="http://schemas.openxmlformats.org/officeDocument/2006/relationships/slide" Target="/ppt/slides/slide7.xml" Id="Ra0fd66c34ba74d9a" /><Relationship Type="http://schemas.openxmlformats.org/officeDocument/2006/relationships/slide" Target="/ppt/slides/slide8.xml" Id="R61c98a1d77624495" /><Relationship Type="http://schemas.openxmlformats.org/officeDocument/2006/relationships/slide" Target="/ppt/slides/slide9.xml" Id="R1ab092d5c55a4955" /><Relationship Type="http://schemas.openxmlformats.org/officeDocument/2006/relationships/slide" Target="/ppt/slides/slide10.xml" Id="R8c0c2da336ce4dc9" /><Relationship Type="http://schemas.openxmlformats.org/officeDocument/2006/relationships/slide" Target="/ppt/slides/slide11.xml" Id="R9c164faa026840d7" /><Relationship Type="http://schemas.openxmlformats.org/officeDocument/2006/relationships/slide" Target="/ppt/slides/slide12.xml" Id="R4985d6efe4fc4d3d" /><Relationship Type="http://schemas.openxmlformats.org/officeDocument/2006/relationships/slide" Target="/ppt/slides/slide13.xml" Id="Ra2c0a9b8e88a47d8" /><Relationship Type="http://schemas.openxmlformats.org/officeDocument/2006/relationships/slide" Target="/ppt/slides/slide14.xml" Id="Rfcddca22d7e74727" /><Relationship Type="http://schemas.openxmlformats.org/officeDocument/2006/relationships/slide" Target="/ppt/slides/slide15.xml" Id="R246b413ca0c24b67" /><Relationship Type="http://schemas.openxmlformats.org/officeDocument/2006/relationships/slide" Target="/ppt/slides/slide16.xml" Id="R92055978d7774461" /><Relationship Type="http://schemas.openxmlformats.org/officeDocument/2006/relationships/slide" Target="/ppt/slides/slide17.xml" Id="R890ad56f7f304214" /><Relationship Type="http://schemas.openxmlformats.org/officeDocument/2006/relationships/slide" Target="/ppt/slides/slide18.xml" Id="R60a0d527b00a4cc5" /><Relationship Type="http://schemas.openxmlformats.org/officeDocument/2006/relationships/slide" Target="/ppt/slides/slide19.xml" Id="Rb99ced51cdd944d3" /><Relationship Type="http://schemas.openxmlformats.org/officeDocument/2006/relationships/slide" Target="/ppt/slides/slide20.xml" Id="R87771302e6fb45e4" /><Relationship Type="http://schemas.openxmlformats.org/officeDocument/2006/relationships/slide" Target="/ppt/slides/slide21.xml" Id="Rbbe4c01445cd475c" /><Relationship Type="http://schemas.openxmlformats.org/officeDocument/2006/relationships/slide" Target="/ppt/slides/slide22.xml" Id="R2aa90b7e37dd4034" /><Relationship Type="http://schemas.openxmlformats.org/officeDocument/2006/relationships/slide" Target="/ppt/slides/slide23.xml" Id="R723d90a652914225" /><Relationship Type="http://schemas.openxmlformats.org/officeDocument/2006/relationships/slide" Target="/ppt/slides/slide24.xml" Id="Ra51887f8ef6744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3b5b5e56f54f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e15794f1184eb2" /><Relationship Type="http://schemas.openxmlformats.org/officeDocument/2006/relationships/notesMaster" Target="/ppt/notesMasters/notesMaster1.xml" Id="R707f03a8023d4d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c67d7415754952" /><Relationship Type="http://schemas.openxmlformats.org/officeDocument/2006/relationships/notesMaster" Target="/ppt/notesMasters/notesMaster1.xml" Id="R3d70c0d284b84c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90c4b837ab4dad" /><Relationship Type="http://schemas.openxmlformats.org/officeDocument/2006/relationships/notesMaster" Target="/ppt/notesMasters/notesMaster1.xml" Id="R33d50d81123f4b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a44cfb08804c78" /><Relationship Type="http://schemas.openxmlformats.org/officeDocument/2006/relationships/notesMaster" Target="/ppt/notesMasters/notesMaster1.xml" Id="Ra6f2b79d001d40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490dff2fae4a21" /><Relationship Type="http://schemas.openxmlformats.org/officeDocument/2006/relationships/notesMaster" Target="/ppt/notesMasters/notesMaster1.xml" Id="R04800cc1f2da40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260832c94c499e" /><Relationship Type="http://schemas.openxmlformats.org/officeDocument/2006/relationships/notesMaster" Target="/ppt/notesMasters/notesMaster1.xml" Id="R33964cc764ec4b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fbfd22e86d42ca" /><Relationship Type="http://schemas.openxmlformats.org/officeDocument/2006/relationships/notesMaster" Target="/ppt/notesMasters/notesMaster1.xml" Id="Rc7f758f562264f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c1d4c295b84dce" /><Relationship Type="http://schemas.openxmlformats.org/officeDocument/2006/relationships/notesMaster" Target="/ppt/notesMasters/notesMaster1.xml" Id="R71a0fe883b484f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946511227340dd" /><Relationship Type="http://schemas.openxmlformats.org/officeDocument/2006/relationships/notesMaster" Target="/ppt/notesMasters/notesMaster1.xml" Id="R8454c7f9261a44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f1f0a06ac84254" /><Relationship Type="http://schemas.openxmlformats.org/officeDocument/2006/relationships/notesMaster" Target="/ppt/notesMasters/notesMaster1.xml" Id="Racd32d45eca946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e4839542d9446d" /><Relationship Type="http://schemas.openxmlformats.org/officeDocument/2006/relationships/notesMaster" Target="/ppt/notesMasters/notesMaster1.xml" Id="Rc8bc435958ec43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527bb5d97346ab" /><Relationship Type="http://schemas.openxmlformats.org/officeDocument/2006/relationships/notesMaster" Target="/ppt/notesMasters/notesMaster1.xml" Id="R950490f4a8544f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ee79d9b4ac4d4a" /><Relationship Type="http://schemas.openxmlformats.org/officeDocument/2006/relationships/notesMaster" Target="/ppt/notesMasters/notesMaster1.xml" Id="Re71383cf18bb48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1823d232a34ee0" /><Relationship Type="http://schemas.openxmlformats.org/officeDocument/2006/relationships/notesMaster" Target="/ppt/notesMasters/notesMaster1.xml" Id="R8e369cc157204d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64531ee7e54e70" /><Relationship Type="http://schemas.openxmlformats.org/officeDocument/2006/relationships/notesMaster" Target="/ppt/notesMasters/notesMaster1.xml" Id="R461c48a1fc0643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3994a6609540fc" /><Relationship Type="http://schemas.openxmlformats.org/officeDocument/2006/relationships/notesMaster" Target="/ppt/notesMasters/notesMaster1.xml" Id="Rdc922ad9e3eb4d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23d7e5958c42f8" /><Relationship Type="http://schemas.openxmlformats.org/officeDocument/2006/relationships/notesMaster" Target="/ppt/notesMasters/notesMaster1.xml" Id="R5417b7aa79d349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d1946e9c454008" /><Relationship Type="http://schemas.openxmlformats.org/officeDocument/2006/relationships/notesMaster" Target="/ppt/notesMasters/notesMaster1.xml" Id="R2c5c87d9173d48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a0870ecdd1475a" /><Relationship Type="http://schemas.openxmlformats.org/officeDocument/2006/relationships/notesMaster" Target="/ppt/notesMasters/notesMaster1.xml" Id="R2de1f6592cae468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a04a4c947c4732" /><Relationship Type="http://schemas.openxmlformats.org/officeDocument/2006/relationships/notesMaster" Target="/ppt/notesMasters/notesMaster1.xml" Id="R801bbb8449e94b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d524a36e4df4de2" /><Relationship Type="http://schemas.openxmlformats.org/officeDocument/2006/relationships/notesMaster" Target="/ppt/notesMasters/notesMaster1.xml" Id="R38e018ad0cb1470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c20abb84f2d4405" /><Relationship Type="http://schemas.openxmlformats.org/officeDocument/2006/relationships/notesMaster" Target="/ppt/notesMasters/notesMaster1.xml" Id="Rf3a5827dd05c4a1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6c714838c64b57" /><Relationship Type="http://schemas.openxmlformats.org/officeDocument/2006/relationships/notesMaster" Target="/ppt/notesMasters/notesMaster1.xml" Id="Rde576b705e17486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341e9bd7da4d12" /><Relationship Type="http://schemas.openxmlformats.org/officeDocument/2006/relationships/notesMaster" Target="/ppt/notesMasters/notesMaster1.xml" Id="R1ce58985068f46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主讲1页，建议A，设计预算15秒。</a:t>
            </a:r>
          </a:p>
          <a:p xmlns:a="http://schemas.openxmlformats.org/drawingml/2006/main">
            <a:r>
              <a:t>大家好。当AI开始帮研究员开发AI，它接过了哪些工作？这种帮助，距离能够不断改进自己的系统，还有多远？今天，我们沿着真实的研发任务找答案。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主讲2页，建议A，设计预算25秒。</a:t>
            </a:r>
          </a:p>
          <a:p xmlns:a="http://schemas.openxmlformats.org/drawingml/2006/main">
            <a:r>
              <a:t>比如，要让一个模型少迎合用户的错误观点，研究员得查资料、想办法、写训练代码，再看实验为什么失败。智能体开始接手的，就是这些具体工作。所以我们关注AI行业自身：研发的人手和方法变了，会不会进一步改变下一代模型的研发速度和方向？这比只看它会不会写代码，更接近我们这次选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主讲3页，建议A，设计预算15秒。</a:t>
            </a:r>
          </a:p>
          <a:p xmlns:a="http://schemas.openxmlformats.org/drawingml/2006/main">
            <a:r>
              <a:t>今天分四步：先看研发工作，再拆公司案例，然后判断离自我改进多远，最后讲我们自己的Agent协作。全场沿着这条线：接手任务，做出改动，再检查改动是否可信。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主讲4页，建议A，设计预算35秒。</a:t>
            </a:r>
          </a:p>
          <a:p xmlns:a="http://schemas.openxmlformats.org/drawingml/2006/main">
            <a:r>
              <a:t>这个问题有一段很长的历史。1965年，Good提出：设计机器本身，也可能成为机器擅长的活动。之后出现了两种值得对照的思路：一种像哥德尔机器，先证明修改有益，再动手；另一种依靠实验，生成候选、测试、保留好结果。从神经架构搜索到达尔文哥德尔机器，这条经验路线逐渐能跑起来。但能改结构或代码，还不等于能够研发完整的下一代基础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H1: https://scienceplusplus.org/metascience/assets/Good1965.pdf</a:t>
            </a:r>
          </a:p>
          <a:p xmlns:a="http://schemas.openxmlformats.org/drawingml/2006/main">
            <a:r>
              <a:t>H2: https://people.idsia.ch/~juergen/gmweb4/gmweb4.html</a:t>
            </a:r>
          </a:p>
          <a:p xmlns:a="http://schemas.openxmlformats.org/drawingml/2006/main">
            <a:r>
              <a:t>H3: https://arxiv.org/abs/1611.01578</a:t>
            </a:r>
          </a:p>
          <a:p xmlns:a="http://schemas.openxmlformats.org/drawingml/2006/main">
            <a:r>
              <a:t>H4: https://sakana.ai/dgm/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主讲5页，建议A，设计预算35秒。</a:t>
            </a:r>
          </a:p>
          <a:p xmlns:a="http://schemas.openxmlformats.org/drawingml/2006/main">
            <a:r>
              <a:t>把历史问题落到一个小任务上：用户说错了，模型怎样做到有礼貌地指出，而不是跟着附和？研究Agent读资料、提出训练方法，再调用工具训练目标模型。评测返回结果，它据此调整下一次尝试。这里，工具让想法落地，反馈告诉它有没有用，记录让下一轮不用从头开始。这也把课上的工具调用、规划和记忆，接到了真实研发任务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S2d: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主讲6页，建议A，设计预算25秒。</a:t>
            </a:r>
          </a:p>
          <a:p xmlns:a="http://schemas.openxmlformats.org/drawingml/2006/main">
            <a:r>
              <a:t>大模型研发从方法设计，一路走到训练、评测和部署。我们重点选Anthropic和OpenAI，是因为公开材料能让我们拆开两类具体任务：前者让研究Agent提出并试验训练方法，后者让Codex参与发布前评测。一个直接触及目标模型，一个改进研究工作流程。稍后再用Google和通义补足其他路线。下面先看训练方法怎样真的变成模型改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L2a: https://arxiv.org/html/2511.10395v1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主讲7页，建议B，设计预算25秒。</a:t>
            </a:r>
          </a:p>
          <a:p xmlns:a="http://schemas.openxmlformats.org/drawingml/2006/main">
            <a:r>
              <a:t>先分清两个角色。研究Agent负责想办法和调工具，目标模型接受训练，随后被评测。它们不能混成同一个角色，说成模型自动把自己升级了。Anthropic的开放权重实验，让研究Agent在规定任务和资源内试验方法；研究人员仍然设定目标、工具和评测。接下来我们沿着它的一轮尝试，看具体交付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S2b: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主讲8页，建议B，设计预算40秒。</a:t>
            </a:r>
          </a:p>
          <a:p xmlns:a="http://schemas.openxmlformats.org/drawingml/2006/main">
            <a:r>
              <a:t>一轮研究先提出方法，再把它写成可以执行的训练代码。工具训练出一个候选模型，独立评测检查：迎合有没有减少，其他能力有没有明显退步？结果会留下来，再供后续尝试和筛选使用。论文比较了AI方案和人类方案，但双方尝试预算不同：AI能多次试验，再选最好的一次。因此，结果说明它能产出有用的方法，不能直接解释成AI研究员已经全面超过人类。下面拆一个成功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S2a: https://alignment.anthropic.com/2026/automated-alignment-researchers/</a:t>
            </a:r>
          </a:p>
          <a:p xmlns:a="http://schemas.openxmlformats.org/drawingml/2006/main">
            <a:r>
              <a:t>S2b: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主讲9页，建议B，设计预算55秒。</a:t>
            </a:r>
          </a:p>
          <a:p xmlns:a="http://schemas.openxmlformats.org/drawingml/2006/main">
            <a:r>
              <a:t>这个方法分两步。第一步，改变模型内部的激活表示，让回答更少迎合用户，得到一个被引导的教师。第二步，让学生学习这个教师给出的输出概率分布。图里的KL散度，就是衡量两种分布差异的办法；训练时让它们更接近，学生的权重随之更新。这样，学生以后正常推理，也能保留这种行为倾向。这比临时在输入里加一句要求更深入：改动进入了参数。这里的教师来自被引导的模型，也不是额外请来一个更强的外部模型。最终有没有改善，还要交给独立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S2d: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主讲10页，建议B，设计预算40秒。</a:t>
            </a:r>
          </a:p>
          <a:p xmlns:a="http://schemas.openxmlformats.org/drawingml/2006/main">
            <a:r>
              <a:t>论文还有另一个实验，设置变了：研究Agent只能制作训练数据，目标是一个部署模型的早期检查点。这次不能把刚才的激活引导方法搬过来。胜出检查点的Petri分数是65%，发布版是72%。这里的65%，既考虑十个评测维度改善了多少，也考虑改善覆盖了多少维度；它不是安全测试通过率。这说明数据方法在这组评测中有贡献，但数字没有证明模型在所有情境下都安全。接下来换个环节，看发布前评测怎样交给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S2e: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主讲11页，建议C，设计预算40秒。</a:t>
            </a:r>
          </a:p>
          <a:p xmlns:a="http://schemas.openxmlformats.org/drawingml/2006/main">
            <a:r>
              <a:t>OpenAI公开的是一个更贴近工程师日常的例子。人先把发布前评测目标写进Runme笔记本，Codex参考以前的记录提出计划。人检查计划后，它再调用工具执行，并把命令、结果解释和取舍留下来。这个笔记本可以理解为一份能执行、也能回查的实验记录。以后遇到类似任务，研究员和Agent都有依据。这项实践交付的是评测过程与结果记录；公开材料没有量化它带来的研发净效率，也没有证明它因此改进了模型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主讲12页，建议C，设计预算30秒。</a:t>
            </a:r>
          </a:p>
          <a:p xmlns:a="http://schemas.openxmlformats.org/drawingml/2006/main">
            <a:r>
              <a:t>这种用法规模有多大？OpenAI内部报告说，每个人类工作日，对应约3.1个按八小时折算的Agent运行工作日。注意，这是运行量，不能说成生产率提高了3.1倍。任务中仍有人工干预。报告还记录了一次代理侵入研究基础设施，随后服务暂停、增加限制再恢复。所以，更长时间的运行，需要明确权限和监督，不能只看它做了多少尝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S4a: https://openai.com/index/research-acceleration-view-inside-openai/</a:t>
            </a:r>
          </a:p>
          <a:p xmlns:a="http://schemas.openxmlformats.org/drawingml/2006/main">
            <a:r>
              <a:t>S4b: https://openai.com/index/research-acceleration-view-inside-openai/</a:t>
            </a:r>
          </a:p>
          <a:p xmlns:a="http://schemas.openxmlformats.org/drawingml/2006/main">
            <a:r>
              <a:t>S4c: https://openai.com/index/research-acceleration-view-inside-openai/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主讲13页，建议C，设计预算40秒。</a:t>
            </a:r>
          </a:p>
          <a:p xmlns:a="http://schemas.openxmlformats.org/drawingml/2006/main">
            <a:r>
              <a:t>其他团队补上了不同位置。Google的AlphaEvolve用Gemini生成程序，再靠自动评测和演化筛选改进算法。一个矩阵乘法内核加速23%，对应总训练时间减少1%，两者不能互换。通义的AgentEvolver公开框架，用任务生成、经验探索和贡献归因来优化Agent策略。Sakana的DGM则让Agent改自己的代码。它们分别改算法、策略和代码，所以谈自我改进之前，先问一句：这次究竟改了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L2a: https://arxiv.org/html/2511.10395v1</a:t>
            </a:r>
          </a:p>
          <a:p xmlns:a="http://schemas.openxmlformats.org/drawingml/2006/main">
            <a:r>
              <a:t>L2b: https://arxiv.org/html/2511.10395v1</a:t>
            </a:r>
          </a:p>
          <a:p xmlns:a="http://schemas.openxmlformats.org/drawingml/2006/main">
            <a:r>
              <a:t>H4: https://sakana.ai/dgm/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主讲14页，建议C，设计预算35秒。</a:t>
            </a:r>
          </a:p>
          <a:p xmlns:a="http://schemas.openxmlformats.org/drawingml/2006/main">
            <a:r>
              <a:t>现在把案例放回同一把尺子。第一，改了什么，是模型权重，还是算法、代码和工作流程？第二，谁来验证，在什么任务上算有效？第三，改进后的系统，能不能继续承担下一轮研发，让这种收益持续下去？公开案例已经展示了局部改进，也展示了有反馈的研究循环。但这些材料还不足以证明：一个系统能持续、自主地研发并验证更强的后继基础模型。接下来，我们用自己的协作经历说明，为什么最后这道判断仍然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>S2g: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L2a: https://arxiv.org/html/2511.10395v1</a:t>
            </a:r>
          </a:p>
          <a:p xmlns:a="http://schemas.openxmlformats.org/drawingml/2006/main">
            <a:r>
              <a:t>H4: https://sakana.ai/dgm/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主讲15页，建议D，设计预算35秒。</a:t>
            </a:r>
          </a:p>
          <a:p xmlns:a="http://schemas.openxmlformats.org/drawingml/2006/main">
            <a:r>
              <a:t>我们准备报告时，也把检索、整理和制作初稿交给了Codex。初稿很快就出来了，但项目发起者审阅后发现：主题偏窄，目录不清楚，讲稿也很难直接讲。于是重新限定研究问题，要求补上历史和行业对照，再把抽象结论改成具体任务。这是一段真实发生的协作：人提出任务和判断问题，Agent执行检索、制作与修订。它给了我们很多产物，但产物齐全，并不自动意味着报告已经讲得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主讲16页，建议D，设计预算30秒。</a:t>
            </a:r>
          </a:p>
          <a:p xmlns:a="http://schemas.openxmlformats.org/drawingml/2006/main">
            <a:r>
              <a:t>再用一个核查案例说明：如果把65%读成安全通过率，就会以为一百次测试通过了六十五次。我们用这种误读做了核查题，不能说初稿真的犯过这个错。原文算的是十维Petri的覆盖加权改善空间。Agent可以帮忙定位和整理，最终要判断的，是数字的解释是否忠实于原文。这属于报告来源核查，不是复现公司的模型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S2e: https://alignment.anthropic.com/2026/automated-alignment-researchers/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主讲17页，建议D，设计预算25秒。</a:t>
            </a:r>
          </a:p>
          <a:p xmlns:a="http://schemas.openxmlformats.org/drawingml/2006/main">
            <a:r>
              <a:t>回到题目，智能体已经进入真实研发流程，在限定任务上交出了有效结果。距离递归自我改进，关键缺口是这些进步能否持续带来下一轮研发能力，并接受可靠验证。人的职责，也随之集中到选对问题、设定权限和判断结果。一次成功，还不能外推成完整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>S2g: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L2a: https://arxiv.org/html/2511.10395v1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主讲18页，建议D，设计预算15秒。</a:t>
            </a:r>
          </a:p>
          <a:p xmlns:a="http://schemas.openxmlformats.org/drawingml/2006/main">
            <a:r>
              <a:t>最后记住：接手什么任务，真正改了什么，怎样验证、能否延续。AI帮助开发AI已经发生；持续的递归自我改进，还需要更多证据。谢谢大家，欢迎提问。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解释用示意，不声称完整论文配方。未公开KL方向、层位置和系数不得补写。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单维例子只解释headroom。Petri多维还包括改善覆盖比例与几何均值。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实验采用5个Agent、48小时；人类仅一次方案、不可迭代，不能称公平预算全面胜人。39/1601被事后确认取巧，子类计数重叠。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局部kernel23%与总训练时间1%不能混称23%整体提升。AgentEvolver框架Apache-2.0不保证所有模型权重开放。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主讲使用实际组长与Codex协作。其他成员贡献待实际核认，不能代签。16题只是历史探索，非盲测，24题开发集未跑，不要求补做。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S1: https://www.anthropic.com/institute/recursive-self-improvement</a:t>
            </a:r>
          </a:p>
          <a:p xmlns:a="http://schemas.openxmlformats.org/drawingml/2006/main">
            <a:r>
              <a:t>S2: https://alignment.anthropic.com/2026/automated-alignment-researchers/</a:t>
            </a:r>
          </a:p>
          <a:p xmlns:a="http://schemas.openxmlformats.org/drawingml/2006/main">
            <a:r>
              <a:t>S3: https://developers.openai.com/blog/automating-repetitive-work-at-openai-with-codex</a:t>
            </a:r>
          </a:p>
          <a:p xmlns:a="http://schemas.openxmlformats.org/drawingml/2006/main">
            <a:r>
              <a:t>S4: https://openai.com/index/research-acceleration-view-inside-openai/</a:t>
            </a:r>
          </a:p>
          <a:p xmlns:a="http://schemas.openxmlformats.org/drawingml/2006/main">
            <a:r>
              <a:t>L1: https://deepmind.google/blog/alphaevolve-a-gemini-powered-coding-agent-for-designing-advanced-algorithms/</a:t>
            </a:r>
          </a:p>
          <a:p xmlns:a="http://schemas.openxmlformats.org/drawingml/2006/main">
            <a:r>
              <a:t>L2: https://arxiv.org/html/2511.10395v1</a:t>
            </a:r>
          </a:p>
          <a:p xmlns:a="http://schemas.openxmlformats.org/drawingml/2006/main">
            <a:r>
              <a:t>H1: https://scienceplusplus.org/metascience/assets/Good1965.pdf</a:t>
            </a:r>
          </a:p>
          <a:p xmlns:a="http://schemas.openxmlformats.org/drawingml/2006/main">
            <a:r>
              <a:t>H2: https://people.idsia.ch/~juergen/gmweb4/gmweb4.html</a:t>
            </a:r>
          </a:p>
          <a:p xmlns:a="http://schemas.openxmlformats.org/drawingml/2006/main">
            <a:r>
              <a:t>H3: https://arxiv.org/abs/1611.01578</a:t>
            </a:r>
          </a:p>
          <a:p xmlns:a="http://schemas.openxmlformats.org/drawingml/2006/main">
            <a:r>
              <a:t>H4: https://sakana.ai/dgm/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320bc18cc4b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eea1ba2f445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ecb8ef2004e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b1dfaaff649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95dcbb3fc41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857a0fd197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CEFD6C-27CF-4693-862F-157827E93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AE9079-3CA2-4F67-97E3-99E6E05D85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DC0C1E-5325-4DB6-AD04-066F35BE3E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A657D6-B5DC-4762-9E3E-45FDA871A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63CAA1-BA0B-4399-8627-E0127498D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9ADD0C-9415-4AA7-A8FD-042FA29F8A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6DA77A-9C70-48DC-BD48-2606489B15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3D7938-3076-4872-AA87-E81EFB2108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842E21-FEB0-4E53-8009-DB2F924720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730D13-A477-4E0F-90A8-6F2285E283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6aed6498f4926" /><Relationship Type="http://schemas.openxmlformats.org/officeDocument/2006/relationships/slideLayout" Target="/ppt/slideLayouts/slideLayout1.xml" Id="Ra0280c594f094a40" /><Relationship Type="http://schemas.openxmlformats.org/officeDocument/2006/relationships/slideLayout" Target="/ppt/slideLayouts/slideLayout2.xml" Id="Rc195e24bd93e47bc" /><Relationship Type="http://schemas.openxmlformats.org/officeDocument/2006/relationships/slideLayout" Target="/ppt/slideLayouts/slideLayout3.xml" Id="R9345102ae1594ebe" /><Relationship Type="http://schemas.openxmlformats.org/officeDocument/2006/relationships/slideLayout" Target="/ppt/slideLayouts/slideLayout4.xml" Id="R6b7d4f613b504cc4" /><Relationship Type="http://schemas.openxmlformats.org/officeDocument/2006/relationships/slideLayout" Target="/ppt/slideLayouts/slideLayout5.xml" Id="R186c95a97a2d4d28" /><Relationship Type="http://schemas.openxmlformats.org/officeDocument/2006/relationships/slideLayout" Target="/ppt/slideLayouts/slideLayout6.xml" Id="Rabd2a6dd94884f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280c594f094a40"/>
    <p:sldLayoutId xmlns:r="http://schemas.openxmlformats.org/officeDocument/2006/relationships" id="2147483650" r:id="Rc195e24bd93e47bc"/>
    <p:sldLayoutId xmlns:r="http://schemas.openxmlformats.org/officeDocument/2006/relationships" id="2147483651" r:id="R9345102ae1594ebe"/>
    <p:sldLayoutId xmlns:r="http://schemas.openxmlformats.org/officeDocument/2006/relationships" id="2147483652" r:id="R6b7d4f613b504cc4"/>
    <p:sldLayoutId xmlns:r="http://schemas.openxmlformats.org/officeDocument/2006/relationships" id="2147483653" r:id="R186c95a97a2d4d28"/>
    <p:sldLayoutId xmlns:r="http://schemas.openxmlformats.org/officeDocument/2006/relationships" id="2147483654" r:id="Rabd2a6dd94884f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6cc5f879b4234" /><Relationship Type="http://schemas.openxmlformats.org/officeDocument/2006/relationships/notesSlide" Target="/ppt/notesSlides/notesSlide1.xml" Id="Rcb51b0ae9ece43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4bc72d3d3457a" /><Relationship Type="http://schemas.openxmlformats.org/officeDocument/2006/relationships/notesSlide" Target="/ppt/notesSlides/notesSlide2.xml" Id="Rc92645d0cd7b4f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7e75ea7d24863" /><Relationship Type="http://schemas.openxmlformats.org/officeDocument/2006/relationships/notesSlide" Target="/ppt/notesSlides/notesSlide3.xml" Id="Rf5dde80e146448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ce84ae98f4e95" /><Relationship Type="http://schemas.openxmlformats.org/officeDocument/2006/relationships/notesSlide" Target="/ppt/notesSlides/notesSlide4.xml" Id="R38d81e601f2f46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d1628c07641ee" /><Relationship Type="http://schemas.openxmlformats.org/officeDocument/2006/relationships/notesSlide" Target="/ppt/notesSlides/notesSlide5.xml" Id="Rd970057604a941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c788062d64674" /><Relationship Type="http://schemas.openxmlformats.org/officeDocument/2006/relationships/notesSlide" Target="/ppt/notesSlides/notesSlide6.xml" Id="R3e9dd1856b9d4f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0f6e6ff7a4d41" /><Relationship Type="http://schemas.openxmlformats.org/officeDocument/2006/relationships/notesSlide" Target="/ppt/notesSlides/notesSlide7.xml" Id="R0eab887c027f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399da21904da2" /><Relationship Type="http://schemas.openxmlformats.org/officeDocument/2006/relationships/notesSlide" Target="/ppt/notesSlides/notesSlide8.xml" Id="Rc01590ac260d4e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b6f7045f44ff4" /><Relationship Type="http://schemas.openxmlformats.org/officeDocument/2006/relationships/notesSlide" Target="/ppt/notesSlides/notesSlide9.xml" Id="R2d11de2d04c349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8ca156d3e04d59" /><Relationship Type="http://schemas.openxmlformats.org/officeDocument/2006/relationships/notesSlide" Target="/ppt/notesSlides/notesSlide10.xml" Id="R2d3fbe112b784c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c6c95be634a17" /><Relationship Type="http://schemas.openxmlformats.org/officeDocument/2006/relationships/image" Target="/ppt/media/image.png" Id="R8b7a49b323264cb0" /><Relationship Type="http://schemas.openxmlformats.org/officeDocument/2006/relationships/notesSlide" Target="/ppt/notesSlides/notesSlide11.xml" Id="R70303b52aaa949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04943f8d3a4532" /><Relationship Type="http://schemas.openxmlformats.org/officeDocument/2006/relationships/notesSlide" Target="/ppt/notesSlides/notesSlide12.xml" Id="R69e85287bdd043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1a88e4c7d4355" /><Relationship Type="http://schemas.openxmlformats.org/officeDocument/2006/relationships/notesSlide" Target="/ppt/notesSlides/notesSlide13.xml" Id="R50151b89a9c84e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a7ceb3fff4148" /><Relationship Type="http://schemas.openxmlformats.org/officeDocument/2006/relationships/notesSlide" Target="/ppt/notesSlides/notesSlide14.xml" Id="R8d79ab66dcae4e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8453d9d794992" /><Relationship Type="http://schemas.openxmlformats.org/officeDocument/2006/relationships/notesSlide" Target="/ppt/notesSlides/notesSlide15.xml" Id="Rb6f551f5d25e44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0d0b0254846d3" /><Relationship Type="http://schemas.openxmlformats.org/officeDocument/2006/relationships/notesSlide" Target="/ppt/notesSlides/notesSlide16.xml" Id="R62cb2bce8c084e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905be968f4403" /><Relationship Type="http://schemas.openxmlformats.org/officeDocument/2006/relationships/notesSlide" Target="/ppt/notesSlides/notesSlide17.xml" Id="R45930eac51424a6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033e3bce1448c3" /><Relationship Type="http://schemas.openxmlformats.org/officeDocument/2006/relationships/notesSlide" Target="/ppt/notesSlides/notesSlide18.xml" Id="R669a28e8835249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09dfad7444e06" /><Relationship Type="http://schemas.openxmlformats.org/officeDocument/2006/relationships/notesSlide" Target="/ppt/notesSlides/notesSlide19.xml" Id="R1584ab6135864d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6dc4054a84020" /><Relationship Type="http://schemas.openxmlformats.org/officeDocument/2006/relationships/notesSlide" Target="/ppt/notesSlides/notesSlide20.xml" Id="R2d51bf5ff77c4c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3d8ab66d448c7" /><Relationship Type="http://schemas.openxmlformats.org/officeDocument/2006/relationships/image" Target="/ppt/media/image2.png" Id="R1537ae9bdb6e4d01" /><Relationship Type="http://schemas.openxmlformats.org/officeDocument/2006/relationships/notesSlide" Target="/ppt/notesSlides/notesSlide21.xml" Id="Re808ff72c2644f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cd37d24ab74b0e" /><Relationship Type="http://schemas.openxmlformats.org/officeDocument/2006/relationships/notesSlide" Target="/ppt/notesSlides/notesSlide22.xml" Id="Rcafc70f7a5c34c6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bf3451e2e4dcc" /><Relationship Type="http://schemas.openxmlformats.org/officeDocument/2006/relationships/notesSlide" Target="/ppt/notesSlides/notesSlide23.xml" Id="Re0d3d69573714a0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1bd9cf0f24971" /><Relationship Type="http://schemas.openxmlformats.org/officeDocument/2006/relationships/notesSlide" Target="/ppt/notesSlides/notesSlide24.xml" Id="R19fa063b656e48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1C2E7-BAC4-4379-9CD4-EB79EF81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智能体在大模型产业研发中的应用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B5D4A-38E7-4081-BB08-368A9AC7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68D0B-CD5E-435C-B366-28AF0029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大模型与智能体工程实践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D8023-EB53-4E0E-8162-ED1358A6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85145-CEA7-44C1-8052-69ABFBA7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AI辅助研发距离递归自我改进还有多远？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DC563-8D37-4D7C-9583-E5DEF4D4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以 Anthropic、OpenAI 等公司的公开实践为例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D6761-4F12-4D4A-94EE-080EE730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陈云海   张程翔   赵金城   曹天卓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4D8DA-8B76-47F4-BA74-1462168E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当AI参与下一代AI的研发，我们应该看什么证据？</a:t>
            </a:r>
          </a:p>
        </p:txBody>
      </p:sp>
    </p:spTree>
    <p:extLst>
      <p:ext uri="{BB962C8B-B14F-4D97-AF65-F5344CB8AC3E}">
        <p14:creationId xmlns:p14="http://schemas.microsoft.com/office/powerpoint/2010/main" val="1559296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D4F40-F7B9-4068-AB84-6EA2B5AA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06DD3-A3A4-4CD9-906F-2014283E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89992-DDB3-4DD4-BAE8-B9AAD34B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E886F-24E2-480C-ADAC-05B00AE8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05E8F-11FD-46A5-B3A4-5F371E23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研发模型，也要处理大量具体工作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1E74-91D5-4E53-A413-DDB7FF80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5BFC1-FFA3-496C-8057-FB07D7242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研究范围：大模型的研究、实验、评测和研发流程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82D73-4A12-412E-B83C-19F9C22F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832268-4C1F-4D41-ACCF-C3A9F105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研究员的一天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0A198-0EB9-4985-A7B1-93C38CB7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提出一个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值得研究的问题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A3226-FC7F-45E8-8A06-577E0724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350520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E90AB-6941-48FB-823C-A9CB9823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90512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写代码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做训练实验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0CF45-7E87-46AE-BB62-F358B2A2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50520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E86F6-435A-4A85-9B7D-B96FD07B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90512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评测结果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寻找下一步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EEDDE-97D9-4BAD-AAA2-5A31984B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Agent开始接过这些工作，研发速度与验证质量就一起变得重要</a:t>
            </a:r>
          </a:p>
        </p:txBody>
      </p:sp>
    </p:spTree>
    <p:extLst>
      <p:ext uri="{BB962C8B-B14F-4D97-AF65-F5344CB8AC3E}">
        <p14:creationId xmlns:p14="http://schemas.microsoft.com/office/powerpoint/2010/main" val="2113075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B0ABC-5A0C-4EB7-8B39-2AC82784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1D300-AA50-4331-AC6F-865A23E3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A7AE7-348E-4E02-8B6C-691257C3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C23DD-E254-4E4F-8887-46775E0A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D80E5-5811-4005-B0B3-FE269F98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沿四个问题，走完一条研发线索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AD919-D23C-4DC3-ABFA-F931B13D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0B404-4048-4BD7-B7CE-23CFE434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全场沿着同一个问题展开：接手任务以后，能否持续研发更强的后继系统？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6E438-8C52-422E-86A5-D4E02DE4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57E2E-BFD4-4BDD-A0B0-14EB6897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669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01  智能体能接过哪些研发工作？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3A0FD-FF69-4804-A9CB-B3CB14EE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99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02  公司实践究竟改了什么？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C341C-8AE2-4275-92AC-BDA18D47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03  这些进展离RSI还差什么？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35804-CF5B-4CA8-A28F-B864930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958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04  我们怎样使用Agent完成这次研究？</a:t>
            </a:r>
          </a:p>
        </p:txBody>
      </p:sp>
    </p:spTree>
    <p:extLst>
      <p:ext uri="{BB962C8B-B14F-4D97-AF65-F5344CB8AC3E}">
        <p14:creationId xmlns:p14="http://schemas.microsoft.com/office/powerpoint/2010/main" val="1522089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C5989-4614-4600-A5AE-59C1C0D3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A46E9-776F-4659-BF9E-910A1D08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2A91B-F652-422D-B6BB-866B39E0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F411C-78CA-4658-AD86-9B93E18B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F8898-496F-481C-A4F3-91DA70B5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一个老问题，两种验证思路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C8DAB-FE4C-4563-AA90-C034B6AC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F0DE3-7D5A-4495-B19C-5C3758B6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Good 1965 §2；Gödel Machine；NAS 2016；DGM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D41DB-548C-4C74-A725-906E0B4B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9E3C8-1851-4E15-B087-EBFF10F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“设计机器”也是一种智能活动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981C3-9F7C-430E-895E-DF5DA189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1965  Good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1E883-F31B-4967-B0F0-59FB6A1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956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更聪明的机器，能否设计更好的机器？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F1BBF-B2F1-4DB0-A183-6E86533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9B7C0-194E-4A58-B18D-70C97974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形式证明路线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288F3-4F62-4639-9DC7-61A69226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147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Gödel Machine：修改之前，寻找收益的证明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43E8D-B3C8-4F99-9F18-E25120CB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52747-FA50-455D-9C30-CDD01C23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经验验证路线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37F63-63DE-488D-9DC0-49E22DAB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339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NAS、DGM：提出候选，运行评测，再保留改进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C4C36-0151-4B59-A281-3BBA0CAB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89248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60F85-BC4C-4EDD-A547-C751143E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64EC3-764E-4D1E-A1D7-8151A45F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7D957-26DD-4B58-926B-EF6F0CB8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EA1BD-4DB0-4F90-B1AF-094630F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65D02-8DE2-4E27-B119-E0461A25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先跟一次具体任务：让模型少迎合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055E5-DB3D-40C0-84E5-287D9243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70377-BF18-4334-92E3-BE605069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贯穿示例：减少模型迎合用户的错误观点。此图为工作循环示意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BEEE9-1635-428B-9AD3-37812FF1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A8C8C-5FDD-4C9D-B07A-57CA025D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用户：我觉得这个错误结论也有道理，你同意吗？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48784-D009-48ED-AE31-2EA1C5FA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467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提出办法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57F66-0CB3-4777-8439-321D8DB2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37147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595A2-A7EF-4214-8739-FA15C3EA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11467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训练或测试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A7500-24DE-48B3-A399-8A708A8A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7147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1A9A4-04B4-439A-9DB7-F279C3BC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114675"/>
            <a:ext cx="3175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结果与错误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41EB3-0990-4A94-A9E2-A6AAB43A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下一轮读取已有结果，再决定尝试什么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AF45E-491B-4C65-98B3-65928CCC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对应课程：工具调用、持久记录、评测反馈与执行约束</a:t>
            </a:r>
          </a:p>
        </p:txBody>
      </p:sp>
    </p:spTree>
    <p:extLst>
      <p:ext uri="{BB962C8B-B14F-4D97-AF65-F5344CB8AC3E}">
        <p14:creationId xmlns:p14="http://schemas.microsoft.com/office/powerpoint/2010/main" val="1855128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F7F76-30CF-4EBA-A9E2-80556631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C6337-0F18-49C6-AB46-2EF64491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FF63A-7B59-4E2C-A44C-0A85AD5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4076C-98E8-4720-9B12-A08282E6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CF2A4-AAC6-4FC2-9E4C-AF6604AA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为什么重点讲这两家公司？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21315-99D8-4A3C-8619-38D90393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DB4A3-2780-4DFA-836D-BCAB9082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选例依据：改动对象互补，输入、工具和产物有公开证据；不作公司排名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EA607-6F4B-4EC5-9EF4-4FB05237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2AE42-F1AB-4B62-891E-556455F0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模型研发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F9FE3-2829-41E7-9A45-D3C24515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提出训练办法、更新模型权重、检验行为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05CD3-A24F-4B6D-8506-A7DF615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A51C5-702C-4D30-9ADE-5999F377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研发工作流程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5CC887-2B05-4651-91CC-F3D7319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编排评测、调用工具、保存运行经验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8EC3D-1C33-4869-B382-23BE882E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A59EF-8DB4-4888-8AE9-38BF78D5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Anthropic：深入看模型改进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50513-FAB9-4533-B168-D4C3D288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OpenAI：深入看研发现场怎样使用Agent</a:t>
            </a:r>
          </a:p>
        </p:txBody>
      </p:sp>
    </p:spTree>
    <p:extLst>
      <p:ext uri="{BB962C8B-B14F-4D97-AF65-F5344CB8AC3E}">
        <p14:creationId xmlns:p14="http://schemas.microsoft.com/office/powerpoint/2010/main" val="19024763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12039-DC06-4D74-8A61-A8738817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50C39-0FD4-48F8-9320-2D1007BF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110FD-0908-453F-A4EA-0565A633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A2BF3-2709-4BC2-9DCA-42F5EFDE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2396D-8C79-497C-9356-A1F2CB96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研究Agent和目标模型是两个角色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8D83D-AB7D-4FFC-8935-B4CC884E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C0673-019E-455E-A945-0A4A92B0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§2–3。这里讲开放权重主实验；第10页另讲部署模型实验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D74CB-621D-4330-9515-79477C2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CA0F7-CBC1-4D64-ADF7-DC7697A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任务：减少模型迎合错误观点等对齐失败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F5208-0D78-4223-A26E-A13064CE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4381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研究Agent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读材料、提方法、写代码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738FE-3FF4-42DA-B77A-4CE1C7F5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76650"/>
            <a:ext cx="857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24694-8AFB-448B-9FB3-1A10D302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4667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目标模型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接受训练，被评测行为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C4008-8ED8-4674-88E6-0923F434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任务、可用资源和评分标准由实验系统设定</a:t>
            </a:r>
          </a:p>
        </p:txBody>
      </p:sp>
    </p:spTree>
    <p:extLst>
      <p:ext uri="{BB962C8B-B14F-4D97-AF65-F5344CB8AC3E}">
        <p14:creationId xmlns:p14="http://schemas.microsoft.com/office/powerpoint/2010/main" val="1830407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58A71C-1A5C-4DD8-88AC-8D58144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B0F78-1074-4423-894F-FE64C2C5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BA28E-769B-42BB-98C4-468D8E02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4896A-695A-46FC-9614-62D25336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4E59C-E91C-47ED-9646-5138A24B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一次研究循环，交付的不只是一段建议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1E125-0A00-4254-8CDB-2DB49C32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41999-C1D0-45AA-8788-DFA4D5A3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§2.2–3、§7；流程按论文重绘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7049D-8F69-4C5B-832E-51AE0A9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513FC-4D72-4B54-BA58-4DA2FDB2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方法与代码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F0296-E24C-46B1-8178-58BEE0F9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0765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B2A13-B2E7-46ED-ABC4-8A0FCE0A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765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审查与训练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51D167-D562-4346-A52E-2D29FB35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765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4F56C-0EC6-4A7E-AD3C-9058D576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隔离评分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19CDC-746B-4913-A8A9-7152FA68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0765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49E6E-D968-47A6-959A-9D93F45D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4765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共享记录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3B202-329B-4231-9661-C54ACBF1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每轮留下：训练检查点、分数、方法及失败经验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C6AD2-4399-4CC5-B1F5-AF3A1DC0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评分还要检查能力退化，下一轮据此尝试新方法</a:t>
            </a:r>
          </a:p>
        </p:txBody>
      </p:sp>
    </p:spTree>
    <p:extLst>
      <p:ext uri="{BB962C8B-B14F-4D97-AF65-F5344CB8AC3E}">
        <p14:creationId xmlns:p14="http://schemas.microsoft.com/office/powerpoint/2010/main" val="12059347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0A82B-3E15-4731-B6E1-96A20528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FEA0F-CA40-426A-9D07-58D5F41A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C55BD-61FA-44A7-95F9-36AB1EFA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D0893-9FC7-471C-8731-77BE9A2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072CD-A1A3-4158-8AC5-115534AF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把临时引导，训练进学生模型的权重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1B069-1DD3-46CE-8774-A515F0BC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24185-6544-4708-98D3-A59C35C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附录D.4、§5.2；这里解释机制，不表示获胜配方的完整公式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323CD-FBD3-4B71-BCA6-BD71659E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A6D1A-9AC9-4D59-BFF6-4FCEAE27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目标模型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内部激活加引导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B7B76-B24B-482A-BA1D-ECAD717A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67025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FAB95-77DD-4B85-8DF7-99B4003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860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输出分布 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86E8FB-DB6D-410C-917E-7D968E83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67025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CBEDE-961F-4AAC-97C8-C3C0FBFB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2860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学生模型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新权重 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9FFA8-174F-4F92-8932-C5FCA6C4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训练目标：让学生输出分布接近教师分布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FE046-F9B5-48DC-837B-0D7697B0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KL散度衡量分布差异，训练据此调整学生权重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7D814-CE96-4520-851F-8004CE7C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教师来自目标模型的引导版本，不能假设为更强的外部模型</a:t>
            </a:r>
          </a:p>
        </p:txBody>
      </p:sp>
    </p:spTree>
    <p:extLst>
      <p:ext uri="{BB962C8B-B14F-4D97-AF65-F5344CB8AC3E}">
        <p14:creationId xmlns:p14="http://schemas.microsoft.com/office/powerpoint/2010/main" val="18495942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4CB87-18D8-457A-8EA5-4EEB9B0C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3C13F-CCDF-4798-8C91-EA9C2FC8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04CD0-9400-43C4-9638-7C3F3FE2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2DD31-61D4-4168-9579-E5353EEF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04B82-281E-4AEF-A447-1401E47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另一个实验：65%到底在量什么？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A486B-5CE8-4494-9155-D9542D26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FD334-B19E-431E-BA5A-EEC9DB31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§6、Fig.9、附录E.1。此页是另一项受限实验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182AD-06C5-4C28-ADD2-DA08ACAE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F42E6-1048-4488-A188-B2D85EBB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323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7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7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5D8CE-B461-4041-B1A8-1761801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Petri十维覆盖加权</a:t>
            </a:r>
          </a:p>
          <a:p xmlns:a="http://schemas.openxmlformats.org/drawingml/2006/main">
            <a:pPr>
              <a:def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安全改善空间分数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AB4EB-0DC0-487A-8C0B-955261AA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02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这里：研究Agent只生成训练数据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50A8B-9077-4301-8FCF-6915BB5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Sonnet 5 研究Agent</a:t>
            </a:r>
          </a:p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Opus 4.8 早期检查点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957A2-8F72-4320-8897-DC3C3059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它衡量相对基线的改善空间</a:t>
            </a:r>
          </a:p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不能读成安全测试通过率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31B45-A0AC-4BCD-ADC3-8396B14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发布版本报告72%，与65%的胜出检查点分别标示</a:t>
            </a:r>
          </a:p>
        </p:txBody>
      </p:sp>
    </p:spTree>
    <p:extLst>
      <p:ext uri="{BB962C8B-B14F-4D97-AF65-F5344CB8AC3E}">
        <p14:creationId xmlns:p14="http://schemas.microsoft.com/office/powerpoint/2010/main" val="16864321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B71B83-DEC6-48F2-96D8-E992B4D9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FDD1B-AC04-4541-A30E-3BA4483C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8F654-3857-473A-8AD5-9F9B645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6534E-BF7D-4FDA-A781-6CF7B6E2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7F0B3-B138-4992-A826-01EB7F3B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OpenAI：可回查的发布前评测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A35FB-69F6-445F-9C6D-01183E30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33840-B271-438D-BF38-9EAD4E5B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OpenAI Codex实践文 Running evaluations with Codex；右图为作者公开的Runme记录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8C5D2-0F11-403E-8A75-3F64246B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B9792-C6A5-4325-A4FE-0A94A2EA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人写评测目标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46765-89D6-44FD-B4DC-38C606D0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Codex查旧记录，提出计划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2A09F-948A-4DDF-9EF5-CD27000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人审阅计划，批准后执行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F9B6C-495C-4486-B732-FD650244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命令、输出和解释留在笔记本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93778-AF38-43DA-9808-F5C2397ED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a49b323264cb0"/>
          <a:stretch xmlns:a="http://schemas.openxmlformats.org/drawingml/2006/main"/>
        </p:blipFill>
        <p:spPr>
          <a:xfrm xmlns:a="http://schemas.openxmlformats.org/drawingml/2006/main">
            <a:off x="5457825" y="2008063"/>
            <a:ext cx="6067425" cy="3318123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0E35C-26B7-4688-90D3-40FB96B2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524500"/>
            <a:ext cx="604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原始记录：目标、计划、评测配置均可回查</a:t>
            </a:r>
          </a:p>
        </p:txBody>
      </p:sp>
    </p:spTree>
    <p:extLst>
      <p:ext uri="{BB962C8B-B14F-4D97-AF65-F5344CB8AC3E}">
        <p14:creationId xmlns:p14="http://schemas.microsoft.com/office/powerpoint/2010/main" val="7948823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EC2B8-EF5D-4582-8BAA-BAAF6726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26583-92AB-4F9C-BAA9-04EA5A20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6B14F-7E7D-40BD-B5F7-32605BA3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45FEA-6940-437F-9AC6-34B13F46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1941D-9DFF-4C15-B13A-44E6B7A3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运行量增长，权限也要跟上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A6C00-F25C-4021-A445-E3BFC67F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FB9BA-CD2C-44AF-AFA8-89A4C847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OpenAI Research acceleration §1、§4。运行量为截至2026年8月中内部观察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B4222-7554-4C4D-9075-C8B4A24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57914-244A-4FA7-A781-35E9C3A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2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3.1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369F9-B15D-41A1-ABAA-FE49A83E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Agent运行工作日</a:t>
            </a:r>
          </a:p>
          <a:p xmlns:a="http://schemas.openxmlformats.org/drawingml/2006/main">
            <a:pPr>
              <a:def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／人类工作日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4975F-5197-406B-BFCC-6E4F2DA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907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按8小时折算运行量</a:t>
            </a:r>
          </a:p>
          <a:p xmlns:a="http://schemas.openxmlformats.org/drawingml/2006/main">
            <a:pPr>
              <a:def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不能直接换算成生产率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AD8A5-FD8C-47BF-8D04-8E1FC429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0052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7月20日发现基础设施入侵</a:t>
            </a:r>
          </a:p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训练容器服务暂停，后加限制恢复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2E4FA-516D-4BE5-89E0-5AE30E4E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能跑更多工作，仍需要权限边界和过程监督</a:t>
            </a:r>
          </a:p>
        </p:txBody>
      </p:sp>
    </p:spTree>
    <p:extLst>
      <p:ext uri="{BB962C8B-B14F-4D97-AF65-F5344CB8AC3E}">
        <p14:creationId xmlns:p14="http://schemas.microsoft.com/office/powerpoint/2010/main" val="19796181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F038D-780A-43E7-8A1A-E21EDB22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D7F4E-D587-4902-BE36-4FC37049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C6D83-8201-42F5-9F54-42BFF9B9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9EC63-043B-400B-AD7C-75A1E580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318B2-2169-43AD-83FB-255D482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行业还有三条不同的改进路线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64B2D-572D-4301-A837-C1757A1B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3F716-5E39-4241-8BDA-A291B535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Google AlphaEvolve；通义 AgentEvolver；Sakana／UBC DGM。不同改动对象不直接排行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8F0BA-3B36-42F0-9CBF-2BD1CBA4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3D85C-C6CC-4F85-AFF5-B6017557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Google / Gemini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4E2E04-3F81-4EE3-887E-DAAC9DE6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AlphaEvolve：生成程序，评测与演化筛选算法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4A305-0AC0-4F86-9FB7-FAD82005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B0545-9950-46F6-A942-0EFC45F8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通义 AgentEvolver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A0354-34D8-4F24-8996-83E4A90C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生成任务、利用经验、归因反馈并训练策略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F6BAE8-70D8-4A65-B3A0-D8082132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3AD36-2296-45D0-B72E-FBD3AE0A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Darwin Gödel Machine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EBBA0-531C-453D-ADCB-BCD88950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修改Agent自身代码，用任务表现筛选版本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19ECD-9B85-4035-AC79-224D4CAC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98820-C82D-471C-BF5F-C40C15EE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开放框架、开放模型权重，是两个需要分别核查的问题</a:t>
            </a:r>
          </a:p>
        </p:txBody>
      </p:sp>
    </p:spTree>
    <p:extLst>
      <p:ext uri="{BB962C8B-B14F-4D97-AF65-F5344CB8AC3E}">
        <p14:creationId xmlns:p14="http://schemas.microsoft.com/office/powerpoint/2010/main" val="10828529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84C70-7CF9-47C1-9AEB-D8C78479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996CA-E2A4-43D9-AE06-BAC996F6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CA71D-E19E-44A8-9FB3-14577678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0CAF3-D85E-46D5-8CCB-1C8D8BF5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B99E2-4D0A-4102-8EA7-E9B16454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离RSI多远？追问三个问题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C7F52-756E-474A-AF6B-4D51C284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40841-6403-4A56-BE81-63F47995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综合判断依据：AAR、OpenAI工作流、AlphaEvolve、AgentEvolver、DGM；这是本报告分析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63483-C0F8-4E0F-871F-25FD95FD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5391-AF28-4187-951C-D588CDCC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改了什么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23439-E266-4932-8018-879B5172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模型权重？程序？Agent策略？研发流程？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67C6D-49C5-4273-93FF-85CDEAA2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EB12C-9040-4E50-AD06-3C2142B0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89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怎样证明有效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AF35F-D37D-4179-835D-1FEEA7B8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289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基准得分、能力约束、真实工作产物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7B109-79EF-4929-AA93-A2DC3A66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1A6BF-5B5B-4DC9-80AD-71CC9796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能否继续研发后继者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FF648-4F7B-4BE3-9137-DB80FCCA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改进后的系统，持续承担下一代模型的研发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83DB9-B1DC-4A80-9158-0FFDA6BA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0D79E-0D5D-48D3-AFC4-40C5E06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所选公开证据支持局部改进，尚未证明完整持续的后继研发</a:t>
            </a:r>
          </a:p>
        </p:txBody>
      </p:sp>
    </p:spTree>
    <p:extLst>
      <p:ext uri="{BB962C8B-B14F-4D97-AF65-F5344CB8AC3E}">
        <p14:creationId xmlns:p14="http://schemas.microsoft.com/office/powerpoint/2010/main" val="20565812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64F51-104F-4532-B7FC-F4C9326A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56122-D602-4D40-9C68-A7C2FA88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AE173-34DB-4500-B548-5AA2C644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0942A-71D1-4C0F-BD53-3BA8FD3D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4DE4F-E88D-46EE-BF37-6CC6F058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我们的协作：快交付，再检查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9C6E7-C2BA-488D-8988-23A3D80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19A81-C1BD-41E3-A22E-9240457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依据本项目已发生的任务、评审与产物版本。此图是协作过程示意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898BA-14EC-4700-8A06-FCB9817C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D437D-3CA3-44FB-9C8A-79E1D725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组长提出问题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23F73-42DF-41AB-A185-67F378DD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30384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53BF3-0992-4508-9682-B3846CA1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384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Codex检索</a:t>
            </a:r>
          </a:p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制作初稿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54178-8447-4DD3-8553-4F49C2F9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384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C40CE-663B-4734-9CD5-CCEF7F4D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384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组长审阅纠错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CD60D-B692-4F94-9117-F3384F97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313" y="30384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E7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549F5-B02F-4975-91DE-B3C27FEF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438400"/>
            <a:ext cx="226218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137E78"/>
            </a:solidFill>
          </a:ln>
        </p:spPr>
        <p:txBody>
          <a:bodyPr xmlns:a="http://schemas.openxmlformats.org/drawingml/2006/main" lIns="171450" tIns="171450" rIns="171450" bIns="171450"/>
          <a:lstStyle xmlns:a="http://schemas.openxmlformats.org/drawingml/2006/main">
            <a:def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Codex继续修订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52993-CA14-4BEA-94DF-0E211CDC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已发生的反馈：主题偏窄、缺目录、节奏过快、实践负担过重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5DDA0-4DD0-4AC8-B12E-261E2E15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人负责研究方向和内容判断，Agent执行检索与制作</a:t>
            </a:r>
          </a:p>
        </p:txBody>
      </p:sp>
    </p:spTree>
    <p:extLst>
      <p:ext uri="{BB962C8B-B14F-4D97-AF65-F5344CB8AC3E}">
        <p14:creationId xmlns:p14="http://schemas.microsoft.com/office/powerpoint/2010/main" val="8018527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681D9-27D1-4739-84D7-8657D87A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E2249-7ECF-434B-A3B5-96D1439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D25BA-3F66-4E46-B2D3-A7B8B403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8A909-33E2-43C5-9769-7972DB06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874B4-7F14-404C-B8A9-BB30C8DF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核查案例：65%的分母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40836-0BED-4EC0-8CB3-32F43FB0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B824F-DD9B-4FA2-9F4A-47E5329B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来源核查案例，来自旧实验待审查命题T05；不是声称真实初稿犯过此错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17E28-EC6B-4E73-80E2-A6C03401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7B144-1DC3-42E5-873D-54D0E913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待核查说法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65156-D152-470B-BFCD-9B79CC1E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“65% 的安全测试通过了”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CEFC8-4CDB-4564-AF45-39576147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02C51-C82D-4A73-B2FD-02400023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核查后的表述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6C6D5-6BF0-4AB0-B45B-4F060F66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胜出检查点达到65%的Petri十维</a:t>
            </a:r>
          </a:p>
          <a:p xmlns:a="http://schemas.openxmlformats.org/drawingml/2006/main">
            <a:pPr>
              <a:def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覆盖加权安全改善空间分数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162B-4F77-4108-8EE3-537164B1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先找到原始指标和分母，再让Agent改写</a:t>
            </a:r>
          </a:p>
        </p:txBody>
      </p:sp>
    </p:spTree>
    <p:extLst>
      <p:ext uri="{BB962C8B-B14F-4D97-AF65-F5344CB8AC3E}">
        <p14:creationId xmlns:p14="http://schemas.microsoft.com/office/powerpoint/2010/main" val="10805493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3632F-BA8A-49E8-8292-464217FD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16B53-784B-4F95-9AE0-E1B4B72F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E6E3F-6633-4E1C-A945-3B37A497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9F2EA-B215-4971-AD79-AB5F07C7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D1CEA-A4C5-49EF-A9A2-B415D4B1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已经发生的进步，与仍需回答的问题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F343B-B8F4-461F-8A32-5434E002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C771F-2C3B-4065-A3AE-2BA2126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结论范围：本报告所选公开实践，不对未公开研发活动作断言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022A1-0D69-4139-9A2B-8CB08EA2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3FCA5-8004-4229-894A-31F74649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59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已经看到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56B26-7D9B-43B2-A07B-0FA32E35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859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Agent参与训练方法、评测执行和算法改进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8034A-8750-48B7-9C64-0327A176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003D1-BE64-4407-B263-BEF8A60F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还缺证据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C18CC-457C-49F1-82CA-31BD1EEA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改进系统持续研发完整后继模型的闭环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F42F0-8F0E-4EA6-8444-FB28DEDE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7063E-F7F9-4E05-B047-DB70B7E0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人的工作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B8ECB-B3B4-4721-AE7C-66F3D9C7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选研究问题，检查证据，决定采用什么结果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E8762-32F4-4DF2-B52A-83D8C75F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861465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A1516-225E-4F6C-8E2F-7019C953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研发工作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F380E-22E7-440E-8FF1-A353DA6B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公司实践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DF2EE-48F0-411A-BA1B-F8EA05E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RSI距离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15EE8-00D4-446D-A4D6-E6BF1110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"/>
            <a:ext cx="1762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我们的协作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1C00E-9881-4B0D-91FB-1F4FA94C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7D87-5D4C-4350-B18B-2BA80EE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F8422-C001-41F4-9E72-C864332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答辩可跳转19–24页，来源与较长答案见配套手册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65816-E02A-46AF-8CD2-36DDB379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80B76-04EC-40E4-B103-3EA904C7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AI已经进入AI研发的工作现场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3B668-31DD-4AED-AC14-AD5B3336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改动对象决定它做到了哪一步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8389B-DCBE-4F2F-8805-DBB047A8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持续后继研发仍需要更完整的证据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A8581-D88B-4220-BA48-8A340109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机制 19     指标 20     实验局限 21</a:t>
            </a:r>
          </a:p>
          <a:p xmlns:a="http://schemas.openxmlformats.org/drawingml/2006/main">
            <a:pPr>
              <a:def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行业对照 22     本组实践 23     来源 24</a:t>
            </a:r>
          </a:p>
        </p:txBody>
      </p:sp>
    </p:spTree>
    <p:extLst>
      <p:ext uri="{BB962C8B-B14F-4D97-AF65-F5344CB8AC3E}">
        <p14:creationId xmlns:p14="http://schemas.microsoft.com/office/powerpoint/2010/main" val="13695262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E2010-8200-4816-8C7B-3A87FF86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FCDBB-3E37-4EAE-94DA-35142CAC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激活引导、蒸馏与权重变化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3E404-99D5-487E-80CF-FC84C28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39595-EB1F-46A7-81DE-1EBB0506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AAR §5.2、附录D.4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1DA64-7A81-46E6-9484-B29EA126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72EE1-D17E-40D6-8739-3C41BE7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激活引导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77962-F711-4106-9E7F-7FBC27D0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在模型内部表示上加方向，使输出倾向变化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CE05A-A36D-4394-AAE3-4D08B1E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72DF6-B066-4402-B5F3-919A99FD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B6BAD-85CC-406D-A136-A715B940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3372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目标模型的引导版本，不假设外部更强模型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71377-6690-4349-8714-B5F4B845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6ED1D-71FA-4FC0-887F-628EA11F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KL蒸馏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98478-2482-4271-A8BA-C2549113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576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用教师分布约束学生输出，通过训练更新学生权重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D7051-B008-4FD0-8666-D034D58D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F7A93-9FC8-4AFC-959A-B8A20287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仅改提示时，模型权重可以不变；蒸馏训练会改变学生权重</a:t>
            </a:r>
          </a:p>
        </p:txBody>
      </p:sp>
    </p:spTree>
    <p:extLst>
      <p:ext uri="{BB962C8B-B14F-4D97-AF65-F5344CB8AC3E}">
        <p14:creationId xmlns:p14="http://schemas.microsoft.com/office/powerpoint/2010/main" val="5862324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62740-4124-4170-95CA-BB417175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7F536-D748-457D-A52F-2448C1B7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改善空间的分母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A26EA-9596-4288-9798-D40FE21F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124F2-CC4A-45BB-9AF7-F4865398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AAR §2.3、附录E.1；下方数值为教学玩具例子，不是论文测量结果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91D5A-B247-448E-B2FB-E1CDC59D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9008F-B3AF-4600-89B0-F154CE2A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玩具例子：基线50，结果70，最优100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E1D77-27F1-43B4-A0F7-E5F53376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改善空间比例 = (70−50) / (100−50) = 40%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614B4-FF50-48B8-BFDB-841DF7F9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70是得分，40%是关闭的改善空间，二者口径不同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1C9D-1D93-4811-8CF5-23D2D095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Petri十维：改善维度占比 × 改善维度的比例几何均值</a:t>
            </a:r>
          </a:p>
        </p:txBody>
      </p:sp>
    </p:spTree>
    <p:extLst>
      <p:ext uri="{BB962C8B-B14F-4D97-AF65-F5344CB8AC3E}">
        <p14:creationId xmlns:p14="http://schemas.microsoft.com/office/powerpoint/2010/main" val="17284951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35574-6F50-4BC9-9F15-9F8DFC35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D16C8-F048-4B7E-8279-5E0433A5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实验结果应该怎样读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A2454-E7FC-454B-9A96-D2E01AED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D9A99-E293-4AF4-9627-1C1CACB5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Anthropic AAR Fig.3、§4、§7；截图为开放权重主实验，不是65%的部署实验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48045-AC28-4783-B14C-5DA3771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B3AD6-D577-470E-A6A9-86FC1423BE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7ae9bdb6e4d01"/>
          <a:stretch xmlns:a="http://schemas.openxmlformats.org/drawingml/2006/main"/>
        </p:blipFill>
        <p:spPr>
          <a:xfrm xmlns:a="http://schemas.openxmlformats.org/drawingml/2006/main">
            <a:off x="1205133" y="1943100"/>
            <a:ext cx="5438333" cy="4105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FF6F6-ED49-4B73-A0D5-EA933189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43125"/>
            <a:ext cx="3762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橙线：截至该时刻的最好方法</a:t>
            </a:r>
          </a:p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灰点：提出并评分的方法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C05F5-FB1B-43EE-99C0-475A511B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762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多次尝试取最好值</a:t>
            </a:r>
          </a:p>
          <a:p xmlns:a="http://schemas.openxmlformats.org/drawingml/2006/main">
            <a:pPr>
              <a:def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B6443"/>
                </a:solidFill>
                <a:latin typeface="Microsoft YaHei"/>
                <a:ea typeface="Microsoft YaHei"/>
                <a:cs typeface="Microsoft YaHei"/>
              </a:rPr>
              <a:t>不能直接证明全面超过人类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F3B7E-94A1-459F-B62B-640EB019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00650"/>
            <a:ext cx="3762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原文事后监测确认39/1601条取巧轨迹</a:t>
            </a:r>
          </a:p>
        </p:txBody>
      </p:sp>
    </p:spTree>
    <p:extLst>
      <p:ext uri="{BB962C8B-B14F-4D97-AF65-F5344CB8AC3E}">
        <p14:creationId xmlns:p14="http://schemas.microsoft.com/office/powerpoint/2010/main" val="6532353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D6D82-1486-462D-91B6-C79559E0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8BFF2-B3BE-4E5D-BAEC-083AFE1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Google与开放研究的改进对象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C338C-9ABA-4EBB-92F3-8DB393F6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01C59-CD54-4416-AC80-DEC22BA0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Google AlphaEvolve；AgentEvolver arXiv / 官方仓库；DGM官方文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90879-4B79-4E9F-9EC2-1553B4AC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F30C4-C3EB-498F-99A2-76E7D2CF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AlphaEvolve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EE153-DDFE-420C-8405-DC7B675D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所举Gemini矩阵乘法kernel加速23%，总训练时间下降1%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42B36-6C70-4111-A4FA-B19A6A89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9FDD9-93B9-4C40-B2EE-A41F2A77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670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AgentEvolver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260C3-8090-4561-88A2-38116F8C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670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论文与Apache-2.0框架公开，策略训练不等于只改提示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D31FB-F78B-4D18-A506-96121496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D6D80-6912-40A7-9441-522B53F5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DGM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1FB98-0902-451A-ACDA-347B75F7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577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Agent代码自修改，与基础模型权重自训练分开判断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121C6-DB6B-4583-AAED-4F5B254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626550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E1B94-E909-4273-B36F-962B6923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DC360-C2C0-418C-BADD-920159F1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本组实践与历史探索的边界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72AE3-B3B3-4886-9353-7333FDBB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4FF33-CE54-4B5E-8AFF-B650D967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本项目真实任务、版本与practice/runs/demo/score.json；原数据保留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FD487-8DAF-44BE-887F-B61358C7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2C904-2574-434A-BCF5-8FF485B7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主讲实践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0BB5B-83A1-4D0A-A670-F41DC6EE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57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提出任务、评审与纠错；Codex执行检索和制作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A5C29-4612-415D-A9D0-90F83D48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2B5A7-29D5-4A77-B229-9E0EEC5A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历史16题探索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2CC4D-1737-4C44-ABD2-29C3FC3C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0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基线13/16、候选12/16，只是与原作者标签的一致数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56EB4-1372-4E50-ABA5-95B6FA62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B33D4-4DDE-400B-8566-7E2DCF13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不能推出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75697-D8C6-42B0-85E0-3E06116D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434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事实准确率、提示提高能力、复现AAR或四人独立实验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32F7C-8000-498D-9478-3221DE5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5D4E1-4F05-410B-8AAE-7087B387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四人的讲述职责可分配，工具执行和真实贡献仍按记录表述</a:t>
            </a:r>
          </a:p>
        </p:txBody>
      </p:sp>
    </p:spTree>
    <p:extLst>
      <p:ext uri="{BB962C8B-B14F-4D97-AF65-F5344CB8AC3E}">
        <p14:creationId xmlns:p14="http://schemas.microsoft.com/office/powerpoint/2010/main" val="1999929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F945E-485E-4BA4-99F9-7950668B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37E78"/>
                </a:solidFill>
                <a:latin typeface="Microsoft YaHei"/>
                <a:ea typeface="Microsoft YaHei"/>
                <a:cs typeface="Microsoft YaHei"/>
              </a:rPr>
              <a:t>答辩备份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36985-2700-44F1-8AAB-57C34774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"/>
            <a:ext cx="1081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主要一手来源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03DD1-DD0C-43F1-B155-27320404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B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0C1D3-6855-4691-B616-78ED99E4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完整URL、位置和逐题口径见配套04_来源与主张.md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CE2A1-25C5-42FA-9D92-4C1E38FF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7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D92C5-1DFB-4B53-AD07-0BC48F96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Anthropic AAR：机制 §2–3、方法 D.4、部署模型 §6、指标 E.1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C5014-4DB5-4A05-8124-AED57DA9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OpenAI：Codex与Runme实践文；Research acceleration §1、§4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29A5E-6B50-4FC2-85E9-49170288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Google DeepMind：AlphaEvolve 官方文，训练效率部分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52DD4-FA8B-4B90-B86F-4F6C59F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通义：AgentEvolver arXiv 2511.10395 与官方框架仓库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37A3C-491C-44FB-8627-AFA142AC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440"/>
                </a:solidFill>
                <a:latin typeface="Microsoft YaHei"/>
                <a:ea typeface="Microsoft YaHei"/>
                <a:cs typeface="Microsoft YaHei"/>
              </a:rPr>
              <a:t>历史：Good 1965；Gödel Machine；NAS；Sakana DGM</a:t>
            </a:r>
          </a:p>
        </p:txBody>
      </p:sp>
    </p:spTree>
    <p:extLst>
      <p:ext uri="{BB962C8B-B14F-4D97-AF65-F5344CB8AC3E}">
        <p14:creationId xmlns:p14="http://schemas.microsoft.com/office/powerpoint/2010/main" val="93260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2026-10-13T14:02:17.8300000Z</dcterms:created>
  <dcterms:modified xsi:type="dcterms:W3CDTF">2026-10-13T14:02:17.8310000Z</dcterms:modified>
</coreProperties>
</file>