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如果下一代模型也由上一代参与研发，研究员还负责什么？我们沿公开证据，看Agent接过了哪些工作。</a:t>
            </a:r>
          </a:p>
          <a:p/>
          <a:p>
            <a:r>
              <a:t>完整来源：</a:t>
            </a:r>
          </a:p>
          <a:p>
            <a:r>
              <a:t>[S1] https://www.anthropic.com/institute/recursive-self-improvement</a:t>
            </a:r>
          </a:p>
          <a:p>
            <a:r>
              <a:t>[S4] https://openai.com/index/research-acceleration-view-inside-openai/</a:t>
            </a:r>
          </a:p>
          <a:p/>
          <a:p>
            <a:r>
              <a:t>讲述预算：15 秒；发言人：A。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1965年，Good问机器能否设计更好的机器。Gödel Machine尝试在修改前证明收益；神经架构搜索在人的指标里找模型结构。到Darwin Gödel Machine，Agent改自己的代码，再用任务评测筛选。这些分别是思想、理论、受限搜索和实际运行。选题的理由是：研发试错耗资源，局部改进能否成为下一轮可信的起点？</a:t>
            </a:r>
          </a:p>
          <a:p/>
          <a:p>
            <a:r>
              <a:t>完整来源：</a:t>
            </a:r>
          </a:p>
          <a:p>
            <a:r>
              <a:t>[H1] https://scienceplusplus.org/metascience/assets/Good1965.pdf</a:t>
            </a:r>
          </a:p>
          <a:p>
            <a:r>
              <a:t>[H2] https://people.idsia.ch/~juergen/gmweb4/gmweb4.html</a:t>
            </a:r>
          </a:p>
          <a:p>
            <a:r>
              <a:t>[H3] https://arxiv.org/abs/1611.01578</a:t>
            </a:r>
          </a:p>
          <a:p>
            <a:r>
              <a:t>[H4] https://sakana.ai/dgm/</a:t>
            </a:r>
          </a:p>
          <a:p>
            <a:r>
              <a:t>[S1] https://www.anthropic.com/institute/recursive-self-improvement</a:t>
            </a:r>
          </a:p>
          <a:p/>
          <a:p>
            <a:r>
              <a:t>讲述预算：45 秒；发言人：A。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接下来先看行业路线，再拆两家公司。每个案例只问三件事：做了什么，如何证明，边界在哪？</a:t>
            </a:r>
          </a:p>
          <a:p/>
          <a:p>
            <a:r>
              <a:t>完整来源：</a:t>
            </a:r>
          </a:p>
          <a:p/>
          <a:p/>
          <a:p>
            <a:r>
              <a:t>讲述预算：15 秒；发言人：A。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的AlphaEvolve让Gemini提程序，由评测筛选，已用于训练内核优化。DGM改Agent代码；通义AgentEvolver公开任务生成、经验复用和反馈归因的训练框架。它们改进对象不同，框架开放也不等于模型权重开放。我们深入选Anthropic和OpenAI：前者能追踪提案到模型后训练，后者能看见研发现场的产物、人审和权限；两类证据互补且可核查。</a:t>
            </a:r>
          </a:p>
          <a:p/>
          <a:p>
            <a:r>
              <a:t>完整来源：</a:t>
            </a:r>
          </a:p>
          <a:p>
            <a:r>
              <a:t>[L1] https://deepmind.google/blog/alphaevolve-a-gemini-powered-coding-agent-for-designing-advanced-algorithms/</a:t>
            </a:r>
          </a:p>
          <a:p>
            <a:r>
              <a:t>[H4] https://sakana.ai/dgm/</a:t>
            </a:r>
          </a:p>
          <a:p>
            <a:r>
              <a:t>[L2] https://arxiv.org/pdf/2511.10395</a:t>
            </a:r>
          </a:p>
          <a:p>
            <a:r>
              <a:t>[S2] https://alignment.anthropic.com/2026/automated-alignment-researchers/</a:t>
            </a:r>
          </a:p>
          <a:p>
            <a:r>
              <a:t>[S3] https://developers.openai.com/blog/automating-repetitive-work-at-openai-with-codex</a:t>
            </a:r>
          </a:p>
          <a:p>
            <a:r>
              <a:t>[S4] https://openai.com/index/research-acceleration-view-inside-openai/</a:t>
            </a:r>
          </a:p>
          <a:p/>
          <a:p>
            <a:r>
              <a:t>讲述预算：45 秒；发言人：A。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上面是选题、数据、训练、评测到发布的研发链；下面从辅助执行、闭环实验、局部模型改进，走向持续后继研发。我们还分清改的是工作流、训练方法还是参数。人的批准权另记，不能替代自治程度。</a:t>
            </a:r>
          </a:p>
          <a:p/>
          <a:p>
            <a:r>
              <a:t>完整来源：</a:t>
            </a:r>
          </a:p>
          <a:p>
            <a:r>
              <a:t>[S1] https://www.anthropic.com/institute/recursive-self-improvement</a:t>
            </a:r>
          </a:p>
          <a:p>
            <a:r>
              <a:t>[S2] https://alignment.anthropic.com/2026/automated-alignment-researchers/</a:t>
            </a:r>
          </a:p>
          <a:p>
            <a:r>
              <a:t>[S3] https://developers.openai.com/blog/automating-repetitive-work-at-openai-with-codex</a:t>
            </a:r>
          </a:p>
          <a:p>
            <a:r>
              <a:t>[S4] https://openai.com/index/research-acceleration-view-inside-openai/</a:t>
            </a:r>
          </a:p>
          <a:p/>
          <a:p>
            <a:r>
              <a:t>讲述预算：30 秒；发言人：A。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一次交付物看：人先给定要缓解的行为、目标模型和评分。研究Agent读文献与榜单，写迷你论文和训练代码；代码经监控后训练，隔离评测器读权重、回传分数与能力检查。结果写入共享状态供下一轮读取。这正是工具、持久记忆和隔离评测的组合。闭环已经出现，但任务和验收规则仍由人预设。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  <a:p/>
          <a:p>
            <a:r>
              <a:t>讲述预算：50 秒；发言人：B。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谄媚是模型随用户立场附和。这个实验的目标是Qwen3.5-2B。研究Agent对目标模型做激活引导，构造较少迎合的教师分布；学生是未引导模型，用KL约束靠近教师分布，交付训练后权重。这不是临时改一条回答。消融显示：在这项任务里，仅换数据做普通监督微调效果有限；KL目标和更好的教师都起作用。图中的方向只是示意。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  <a:p/>
          <a:p>
            <a:r>
              <a:t>讲述预算：50 秒；发言人：B。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图纵轴是原模型到指标上限间补上的比例，不是安全百分比。论文报告十类指定失效的指标改善，也做了留出测试和开放式审查。小窗是另一实验：较弱Agent后训练较强模型的早期检查点，只看指定安全维度。两边的Agent、目标与权限不同，不能拼成一次结果。它们支持局部改进，尚不证明完整后继研发。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  <a:p/>
          <a:p>
            <a:r>
              <a:t>讲述预算：50 秒；发言人：B。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一次发布前评测：工程师在Runme写目标，Codex参考旧记录拟计划；人审通过后再执行。命令输出、结果解释和走过的岔路都回到笔记本。人还决定用哪套评测、是否新建资源。下次Agent可以检索这些取舍，研究员也能追问当时为何这样做。这个例子改善评测工作流与经验传递，不能直接证明基础模型参数变强。</a:t>
            </a:r>
          </a:p>
          <a:p/>
          <a:p>
            <a:r>
              <a:t>完整来源：</a:t>
            </a:r>
          </a:p>
          <a:p>
            <a:r>
              <a:t>[S3] https://developers.openai.com/blog/automating-repetitive-work-at-openai-with-codex</a:t>
            </a:r>
          </a:p>
          <a:p/>
          <a:p>
            <a:r>
              <a:t>讲述预算：50 秒；发言人：C。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AI报告称，2026年八月中旬，研究组织每个人类工作日对应约3.1个Agent工作日。这是运行时间口径，不是效率提高3.1倍，也不是净效率因果估计。报告还披露：7月20日发现Agent侵入研究基础设施，训练容器服务暂停，加固限制后恢复。Agent进入基础设施，权限、监控与暂停权也必须进入流程。</a:t>
            </a:r>
          </a:p>
          <a:p/>
          <a:p>
            <a:r>
              <a:t>完整来源：</a:t>
            </a:r>
          </a:p>
          <a:p>
            <a:r>
              <a:t>[S4] https://openai.com/index/research-acceleration-view-inside-openai/</a:t>
            </a:r>
          </a:p>
          <a:p/>
          <a:p>
            <a:r>
              <a:t>讲述预算：40 秒；发言人：C。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放回同一尺度：Google改算法与训练环节，通义公开Agent训练框架；Anthropic在受限实验中改了模型权重，OpenAI的可见证据主要是研发工作流和组织使用。指标不同，不能排强弱，也不能拼成一条公司进度线。要走向持续后继研发，还缺跨任务选题、抗取巧评测、下一代整体验证，以及可承担的算力和监督。批准权另属治理条件。</a:t>
            </a:r>
          </a:p>
          <a:p/>
          <a:p>
            <a:r>
              <a:t>完整来源：</a:t>
            </a:r>
          </a:p>
          <a:p>
            <a:r>
              <a:t>[L1] https://deepmind.google/blog/alphaevolve-a-gemini-powered-coding-agent-for-designing-advanced-algorithms/</a:t>
            </a:r>
          </a:p>
          <a:p>
            <a:r>
              <a:t>[L2] https://arxiv.org/pdf/2511.10395</a:t>
            </a:r>
          </a:p>
          <a:p>
            <a:r>
              <a:t>[S1] https://www.anthropic.com/institute/recursive-self-improvement</a:t>
            </a:r>
          </a:p>
          <a:p>
            <a:r>
              <a:t>[S2] https://alignment.anthropic.com/2026/automated-alignment-researchers/</a:t>
            </a:r>
          </a:p>
          <a:p>
            <a:r>
              <a:t>[S3] https://developers.openai.com/blog/automating-repetitive-work-at-openai-with-codex</a:t>
            </a:r>
          </a:p>
          <a:p>
            <a:r>
              <a:t>[S4] https://openai.com/index/research-acceleration-view-inside-openai/</a:t>
            </a:r>
          </a:p>
          <a:p/>
          <a:p>
            <a:r>
              <a:t>讲述预算：40 秒；发言人：C。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让制作代理审查案例主张：读来源，给标签、出处和改写。资格探测跑通工具循环；同一模型、同批16题比较两套预注册提示，只改审查SOP，工具与校验配置相同，没改模型权重。候选未按开发集错误优化。A到D仍待成员亲自操作，制作代理日志不能署到他们名下。</a:t>
            </a:r>
          </a:p>
          <a:p/>
          <a:p>
            <a:r>
              <a:t>完整来源：</a:t>
            </a:r>
          </a:p>
          <a:p>
            <a:r>
              <a:t>[PRACTICE_PROTOCOL] practice/protocol_baseline.md；practice/protocol_candidate.md</a:t>
            </a:r>
          </a:p>
          <a:p>
            <a:r>
              <a:t>[PRACTICE_DEMO_SCORE] practice/runs/demo/score.json；practice/runs/demo/public_trace_manifest.json</a:t>
            </a:r>
          </a:p>
          <a:p/>
          <a:p>
            <a:r>
              <a:t>讲述预算：40 秒；发言人：D。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这18秒是资格探测日志重排，非界面录屏。16题原标签下，基线13题一致、候选12题，误放行均为0/8。四个易混标签待仲裁，出处未人工核验；另次输出metadata为null，留档后修。格式通过不等于证据正确。</a:t>
            </a:r>
          </a:p>
          <a:p/>
          <a:p>
            <a:r>
              <a:t>完整来源：</a:t>
            </a:r>
          </a:p>
          <a:p>
            <a:r>
              <a:t>[PRACTICE_PROTOCOL] practice/protocol_baseline.md；practice/protocol_candidate.md</a:t>
            </a:r>
          </a:p>
          <a:p>
            <a:r>
              <a:t>[PRACTICE_DEMO_SCORE] practice/runs/demo/score.json；practice/runs/demo/public_trace_manifest.json</a:t>
            </a:r>
          </a:p>
          <a:p>
            <a:r>
              <a:t>[PRACTICE_SMOKE_LOG] practice/runs/smoke/；media/smoke_log_replay.mp4（日志重排）</a:t>
            </a:r>
          </a:p>
          <a:p/>
          <a:p>
            <a:r>
              <a:t>讲述预算：55 秒；发言人：D。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这次试运行提醒我们：流程跑通与结论可信，是两次不同检查。公开案例已见受限闭环和局部改进；持续自主后继研发仍未证实。下一步先核出处、仲裁边界。</a:t>
            </a:r>
          </a:p>
          <a:p/>
          <a:p>
            <a:r>
              <a:t>完整来源：</a:t>
            </a:r>
          </a:p>
          <a:p>
            <a:r>
              <a:t>[S1] https://www.anthropic.com/institute/recursive-self-improvement</a:t>
            </a:r>
          </a:p>
          <a:p>
            <a:r>
              <a:t>[S2] https://alignment.anthropic.com/2026/automated-alignment-researchers/</a:t>
            </a:r>
          </a:p>
          <a:p>
            <a:r>
              <a:t>[S3] https://developers.openai.com/blog/automating-repetitive-work-at-openai-with-codex</a:t>
            </a:r>
          </a:p>
          <a:p>
            <a:r>
              <a:t>[S4] https://openai.com/index/research-acceleration-view-inside-openai/</a:t>
            </a:r>
          </a:p>
          <a:p>
            <a:r>
              <a:t>[PRACTICE_DEMO_SCORE] practice/runs/demo/score.json；practice/runs/demo/public_trace_manifest.json</a:t>
            </a:r>
          </a:p>
          <a:p/>
          <a:p>
            <a:r>
              <a:t>讲述预算：25 秒；发言人：D。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B01  四类证据与治理轴。辅助执行：按人定目标完成环节；闭环实验：提案、工具、反馈、再试；局部模型改进：训练权重并经指定验证；持续后继研发：自主形成并验证下一代循环</a:t>
            </a:r>
          </a:p>
          <a:p/>
          <a:p>
            <a:r>
              <a:t>完整来源：</a:t>
            </a:r>
          </a:p>
          <a:p>
            <a:r>
              <a:t>[S1] https://www.anthropic.com/institute/recursive-self-improvement</a:t>
            </a:r>
          </a:p>
          <a:p>
            <a:r>
              <a:t>[S2] https://alignment.anthropic.com/2026/automated-alignment-researchers/</a:t>
            </a:r>
          </a:p>
          <a:p>
            <a:r>
              <a:t>[S3] https://developers.openai.com/blog/automating-repetitive-work-at-openai-with-codex</a:t>
            </a:r>
          </a:p>
          <a:p>
            <a:r>
              <a:t>[S4] 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B02  Anthropic的两类实验。主实验：Opus 4.8研究Agent、开放小模型、十类指定失效；另项探索：Sonnet 5研究Agent、早期Opus 4.8检查点；后者仅有构造后训练数据权限；评测口径不同；不能把两项样本、效果、百分比拼接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B03  谄媚方法：已公开与仅示意。获胜法教师：目标模型经激活引导形成的分布；学生：未引导目标模型；KL目标学习教师分布；受限KL分支才明确可用冻结副本，且禁激活引导；训练交付物：更新后的学生模型权重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B04  前150次与全程结果。前150次（Fig.20）：23.3 / 6.0 / 2.9，按论文图例读；全程峰值：26.4 / 18.7 / 6.0 / 4.5；前者用于比较早期搜索方法；后者是各设置更长运行中的峰值；均不代表独立复现实验或总体安全百分比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B05  KL方向与自蒸馏。概念目标：学生输出分布向教师分布靠近；论文未在所引段落明确实现的KL参数顺序；自蒸馏：训练信号由模型的激活引导版本产生；仅监督微调与允许KL目标的消融不可混成同法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B06  Fig.9：65%与72%怎么算。先定义每项从基线到理想值的可改善空间；改善维度覆盖率乘这些维度的改善空间几何均值；65%／72%属于指定设置与评测口径；不得读成“模型65%安全”或“所有任务通过72%”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B07  评测隔离与作弊。监控训练代码是否违反规则；隔离评测器保留隐藏的安全与能力检查；开放式行为审查补充定量评分；高分仍需排查奖励黑客、选择偏差与迁移失败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  <a:p>
            <a:r>
              <a:t>[S5] https://alignment.anthropic.com/2026/automated-w2s-researcher/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B08  Runme的公开产物。工程师先写目标与可用背景；Codex提出计划；人审核与选择资源；命令输出、结果解释、分岔取舍回写笔记本；这证明工作流产物，未证明参数自动改进</a:t>
            </a:r>
          </a:p>
          <a:p/>
          <a:p>
            <a:r>
              <a:t>完整来源：</a:t>
            </a:r>
          </a:p>
          <a:p>
            <a:r>
              <a:t>[S3] 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B09  OpenAI使用量与事件线。2026年8月中旬：约3.1 Agent工作日／人类工作日；7月20日发现Agent侵入研究基础设施，部分拟发布模型RL暂停；8月7日Astra相关额外限制：独立事件，不并入前一事件；内部观察不能推出净效率因果</a:t>
            </a:r>
          </a:p>
          <a:p/>
          <a:p>
            <a:r>
              <a:t>完整来源：</a:t>
            </a:r>
          </a:p>
          <a:p>
            <a:r>
              <a:t>[S4] 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B10  Google：局部23%与总体1%。Gemini提程序；自动评测与演化筛选；特定矩阵乘法内核：23%局部加速；总训练时间：约1%缩短，口径与分母不同；算法改进仍需人定评测与系统级验证</a:t>
            </a:r>
          </a:p>
          <a:p/>
          <a:p>
            <a:r>
              <a:t>完整来源：</a:t>
            </a:r>
          </a:p>
          <a:p>
            <a:r>
              <a:t>[L1] https://deepmind.google/blog/alphaevolve-a-gemini-powered-coding-agent-for-designing-advanced-algorithms/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B11  通义AgentEvolver。任务生成、经验复用、反馈归因；论文§7.1.3明确用GRPO训练Agent策略参数；开放框架与底层模型权重开放分别判断；未证明自主研发完整下一代基础模型</a:t>
            </a:r>
          </a:p>
          <a:p/>
          <a:p>
            <a:r>
              <a:t>完整来源：</a:t>
            </a:r>
          </a:p>
          <a:p>
            <a:r>
              <a:t>[L2] https://arxiv.org/pdf/2511.10395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B12  研究系统与产品工作流。Anthropic：受控研究实验；受限模型后训练；OpenAI：生产研发工作产物、组织内部观察；Google：可评估算法与训练基础设施；通义：公开Agent训练方法与框架</a:t>
            </a:r>
          </a:p>
          <a:p/>
          <a:p>
            <a:r>
              <a:t>完整来源：</a:t>
            </a:r>
          </a:p>
          <a:p>
            <a:r>
              <a:t>[L1] https://deepmind.google/blog/alphaevolve-a-gemini-powered-coding-agent-for-designing-advanced-algorithms/</a:t>
            </a:r>
          </a:p>
          <a:p>
            <a:r>
              <a:t>[L2] https://arxiv.org/pdf/2511.10395</a:t>
            </a:r>
          </a:p>
          <a:p>
            <a:r>
              <a:t>[S2] https://alignment.anthropic.com/2026/automated-alignment-researchers/</a:t>
            </a:r>
          </a:p>
          <a:p>
            <a:r>
              <a:t>[S3] https://developers.openai.com/blog/automating-repetitive-work-at-openai-with-codex</a:t>
            </a:r>
          </a:p>
          <a:p>
            <a:r>
              <a:t>[S4] https://openai.com/index/research-acceleration-view-inside-openai/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B13  小组试运行的可说范围。演示题16条：基线13/16，预注册候选12/16；误放行两组均0/8；原始作者金标有争议；金标对制作作者可见，非独立或人工盲核；四位成员实际操作待本人留痕；只比较审查提示</a:t>
            </a:r>
          </a:p>
          <a:p/>
          <a:p>
            <a:r>
              <a:t>完整来源：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B14  课程概念对应哪一环。工具：文献、代码、训练、评测执行；记忆：Runme、论坛、榜单与持久文件；多Agent：研究代理与独立评测／监控；Harness：权限、预算、输出格式与失败回写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  <a:p>
            <a:r>
              <a:t>[S3] 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B15  历史路线不是同一种机器。Good 1965：思想问题；Gödel Machine 2003：形式证明构造；NAS 2016：人定空间和指标里的结构搜索；DGM 2025：代码自修改并以任务结果筛选</a:t>
            </a:r>
          </a:p>
          <a:p/>
          <a:p>
            <a:r>
              <a:t>完整来源：</a:t>
            </a:r>
          </a:p>
          <a:p>
            <a:r>
              <a:t>[H1] https://scienceplusplus.org/metascience/assets/Good1965.pdf</a:t>
            </a:r>
          </a:p>
          <a:p>
            <a:r>
              <a:t>[H2] https://people.idsia.ch/~juergen/gmweb4/gmweb4.html</a:t>
            </a:r>
          </a:p>
          <a:p>
            <a:r>
              <a:t>[H3] https://arxiv.org/abs/1611.01578</a:t>
            </a:r>
          </a:p>
          <a:p>
            <a:r>
              <a:t>[H4] https://sakana.ai/dgm/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B16  主实验十类结果原图。纵轴：各指定安全失效的爬坡基准改善空间；横轴：每项方法提出的顺序；选中的两项：提示注入79%、谄媚26%；此图不含生产级检查点的65%／72%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B17  Runme官方产物原图。目标要求复查前次记录并拟重跑计划；要求计划先经人审，再执行；要求命令与输出、解释留在笔记本；完整图对照主讲局部图，不补入未出现界面</a:t>
            </a:r>
          </a:p>
          <a:p/>
          <a:p>
            <a:r>
              <a:t>完整来源：</a:t>
            </a:r>
          </a:p>
          <a:p>
            <a:r>
              <a:t>[S3] 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B18  Anthropic研究循环动画。提案与训练代码；监控规则后运行训练；隔离评测并记录反馈；共享状态供下一轮新会话读取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B19  生产级检查点原图。研究代理只构造数据，工具对早期检查点进行后训练；图中65%为选出方法的改善空间覆盖分数；72%为已发布模型的对照参照；不是主实验Fig.3，亦非通用安全通过率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B20  Fig.3上半幅放大。原始论文图的上半幅裁切，不改动曲线；每项横轴为该失效下方法提出顺序；纵轴为该失效的爬坡基准改善空间；完整十项原图见B16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B21  Fig.3下半幅放大。原始论文图的下半幅裁切，不改动曲线；受测十项改善幅度不同；图上的灰点与叉号均保留原图图例解释；完整十项原图见B16</a:t>
            </a:r>
          </a:p>
          <a:p/>
          <a:p>
            <a:r>
              <a:t>完整来源：</a:t>
            </a:r>
          </a:p>
          <a:p>
            <a:r>
              <a:t>[S2] https://alignment.anthropic.com/2026/automated-alignment-researchers/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484632"/>
            <a:ext cx="82296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BCFD0"/>
                </a:solidFill>
                <a:latin typeface="Microsoft YaHei"/>
              </a:defRPr>
            </a:pPr>
            <a:r>
              <a:t>大模型与智能体工程实践  ·  主题一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97864"/>
            <a:ext cx="8046720" cy="14813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FFFFFF"/>
                </a:solidFill>
                <a:latin typeface="Microsoft YaHei"/>
              </a:defRPr>
            </a:pPr>
            <a:r>
              <a:t>AI 研发 AI，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FFFFFF"/>
                </a:solidFill>
                <a:latin typeface="Microsoft YaHei"/>
              </a:defRPr>
            </a:pPr>
            <a:r>
              <a:t>已经做到哪一步？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2862072"/>
            <a:ext cx="10259568" cy="1737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AEDE8"/>
                </a:solidFill>
                <a:latin typeface="Microsoft YaHei"/>
              </a:defRPr>
            </a:pPr>
            <a:r>
              <a:t>智能体在大模型产业研发中的应用：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AEDE8"/>
                </a:solidFill>
                <a:latin typeface="Microsoft YaHei"/>
              </a:defRPr>
            </a:pPr>
            <a:r>
              <a:t>AI 辅助研发距离递归自我改进还有多远？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AEDE8"/>
                </a:solidFill>
                <a:latin typeface="Microsoft YaHei"/>
              </a:defRPr>
            </a:pPr>
            <a:r>
              <a:t>——以 Anthropic、OpenAI 等公司的公开实践为例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4983480"/>
            <a:ext cx="384048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CCDCF"/>
                </a:solidFill>
                <a:latin typeface="Microsoft YaHei"/>
              </a:defRPr>
            </a:pPr>
            <a:r>
              <a:t>陈云海  电子科学与技术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08575" y="4983480"/>
            <a:ext cx="384048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CCDCF"/>
                </a:solidFill>
                <a:latin typeface="Microsoft YaHei"/>
              </a:defRPr>
            </a:pPr>
            <a:r>
              <a:t>张程翔  微电子科学与工程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5458968"/>
            <a:ext cx="384048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CCDCF"/>
                </a:solidFill>
                <a:latin typeface="Microsoft YaHei"/>
              </a:defRPr>
            </a:pPr>
            <a:r>
              <a:t>赵金城  电子科学与技术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5" y="5458968"/>
            <a:ext cx="384048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CCDCF"/>
                </a:solidFill>
                <a:latin typeface="Microsoft YaHei"/>
              </a:defRPr>
            </a:pPr>
            <a:r>
              <a:t>曹天卓  机械工程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6080760"/>
            <a:ext cx="6858000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CCDCF"/>
                </a:solidFill>
                <a:latin typeface="Microsoft YaHei"/>
              </a:defRPr>
            </a:pPr>
            <a:r>
              <a:t>讲述角色待四人确认</a:t>
            </a:r>
          </a:p>
        </p:txBody>
      </p:sp>
      <p:sp>
        <p:nvSpPr>
          <p:cNvPr id="11" name="Oval 10"/>
          <p:cNvSpPr/>
          <p:nvPr/>
        </p:nvSpPr>
        <p:spPr>
          <a:xfrm>
            <a:off x="9528048" y="4663440"/>
            <a:ext cx="512064" cy="512064"/>
          </a:xfrm>
          <a:prstGeom prst="ellipse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5266944"/>
            <a:ext cx="192024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人定目标</a:t>
            </a:r>
          </a:p>
        </p:txBody>
      </p:sp>
      <p:sp>
        <p:nvSpPr>
          <p:cNvPr id="13" name="Oval 12"/>
          <p:cNvSpPr/>
          <p:nvPr/>
        </p:nvSpPr>
        <p:spPr>
          <a:xfrm>
            <a:off x="10661904" y="4663440"/>
            <a:ext cx="512064" cy="512064"/>
          </a:xfrm>
          <a:prstGeom prst="ellipse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3536" y="5266944"/>
            <a:ext cx="192024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Agent实验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67544" y="4919472"/>
            <a:ext cx="557784" cy="0"/>
          </a:xfrm>
          <a:prstGeom prst="line">
            <a:avLst/>
          </a:prstGeom>
          <a:ln w="25400">
            <a:solidFill>
              <a:srgbClr val="BFD1D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95944" y="5907024"/>
            <a:ext cx="3200400" cy="25603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BCFD0"/>
                </a:solidFill>
                <a:latin typeface="Microsoft YaHei"/>
              </a:defRPr>
            </a:pPr>
            <a:r>
              <a:t>示意：结果回到人类判断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57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FC1C6"/>
                </a:solidFill>
                <a:latin typeface="Microsoft YaHei"/>
              </a:defRPr>
            </a:pPr>
            <a:r>
              <a:t>[S1] RSI概念；[S4] 研发组织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FC1C6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02  /  历史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从机器设计机器，到可验证的研究循环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Introduction｜一条45秒的思想与方法线索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[H1] §2；[H2–H4] 原始论文／发布记录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694176"/>
            <a:ext cx="10561320" cy="36576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" y="3529584"/>
            <a:ext cx="347472" cy="347472"/>
          </a:xfrm>
          <a:prstGeom prst="ellipse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05456"/>
            <a:ext cx="2240280" cy="47548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04D37"/>
                </a:solidFill>
                <a:latin typeface="Microsoft YaHei"/>
              </a:defRPr>
            </a:pPr>
            <a:r>
              <a:t>1965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90088"/>
            <a:ext cx="233172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Good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77639"/>
            <a:ext cx="2432304" cy="94183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机器设计更好的机器</a:t>
            </a:r>
          </a:p>
        </p:txBody>
      </p:sp>
      <p:sp>
        <p:nvSpPr>
          <p:cNvPr id="14" name="Oval 13"/>
          <p:cNvSpPr/>
          <p:nvPr/>
        </p:nvSpPr>
        <p:spPr>
          <a:xfrm>
            <a:off x="3575303" y="3529584"/>
            <a:ext cx="347472" cy="347472"/>
          </a:xfrm>
          <a:prstGeom prst="ellipse">
            <a:avLst/>
          </a:prstGeom>
          <a:solidFill>
            <a:srgbClr val="AA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5" y="2505456"/>
            <a:ext cx="2240280" cy="47548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AA7E34"/>
                </a:solidFill>
                <a:latin typeface="Microsoft YaHei"/>
              </a:defRPr>
            </a:pPr>
            <a:r>
              <a:t>2003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5" y="2990088"/>
            <a:ext cx="233172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Gödel Machine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5" y="3977639"/>
            <a:ext cx="2432304" cy="94183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修改前求形式证明</a:t>
            </a:r>
          </a:p>
        </p:txBody>
      </p:sp>
      <p:sp>
        <p:nvSpPr>
          <p:cNvPr id="18" name="Oval 17"/>
          <p:cNvSpPr/>
          <p:nvPr/>
        </p:nvSpPr>
        <p:spPr>
          <a:xfrm>
            <a:off x="6382512" y="3529584"/>
            <a:ext cx="347472" cy="347472"/>
          </a:xfrm>
          <a:prstGeom prst="ellipse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2505456"/>
            <a:ext cx="2240280" cy="47548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0659A"/>
                </a:solidFill>
                <a:latin typeface="Microsoft YaHei"/>
              </a:defRPr>
            </a:pPr>
            <a:r>
              <a:t>2016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990088"/>
            <a:ext cx="233172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NAS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977639"/>
            <a:ext cx="2432304" cy="94183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在给定指标中搜索</a:t>
            </a:r>
          </a:p>
        </p:txBody>
      </p:sp>
      <p:sp>
        <p:nvSpPr>
          <p:cNvPr id="22" name="Oval 21"/>
          <p:cNvSpPr/>
          <p:nvPr/>
        </p:nvSpPr>
        <p:spPr>
          <a:xfrm>
            <a:off x="9189719" y="3529584"/>
            <a:ext cx="347472" cy="347472"/>
          </a:xfrm>
          <a:prstGeom prst="ellipse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2505456"/>
            <a:ext cx="2240280" cy="47548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7685B"/>
                </a:solidFill>
                <a:latin typeface="Microsoft YaHei"/>
              </a:defRPr>
            </a:pPr>
            <a:r>
              <a:t>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990088"/>
            <a:ext cx="233172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DGM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3977639"/>
            <a:ext cx="2432304" cy="94183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改Agent代码并测试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5431536"/>
            <a:ext cx="210312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04D37"/>
                </a:solidFill>
                <a:latin typeface="Microsoft YaHei"/>
              </a:defRPr>
            </a:pPr>
            <a:r>
              <a:t>思想构想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431536"/>
            <a:ext cx="3749039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A7E34"/>
                </a:solidFill>
                <a:latin typeface="Microsoft YaHei"/>
              </a:defRPr>
            </a:pPr>
            <a:r>
              <a:t>理论与受限搜索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5431536"/>
            <a:ext cx="228600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7685B"/>
                </a:solidFill>
                <a:latin typeface="Microsoft YaHei"/>
              </a:defRPr>
            </a:pPr>
            <a:r>
              <a:t>经验验证的系统改动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971032"/>
            <a:ext cx="1051560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3"/>
                </a:solidFill>
                <a:latin typeface="Microsoft YaHei"/>
              </a:defRPr>
            </a:pPr>
            <a:r>
              <a:t>选题动机：研发试错耗资源，自动改进需要可信反馈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03  /  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我们用三问追踪公开实践：做了什么、如何证明、边界在哪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Introduction → 行业路线 → 两家公司 → 共同判断 → 小组试运行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33472"/>
            <a:ext cx="45720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04D37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072384"/>
            <a:ext cx="2468880" cy="32004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227832"/>
            <a:ext cx="246888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B04D37"/>
                </a:solidFill>
                <a:latin typeface="Microsoft YaHei"/>
              </a:defRPr>
            </a:pPr>
            <a:r>
              <a:t>行业里改什么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03320"/>
            <a:ext cx="2468880" cy="7315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问题与范围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633472"/>
            <a:ext cx="45720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0659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75304" y="3072384"/>
            <a:ext cx="2468880" cy="32004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3227832"/>
            <a:ext cx="246888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0659A"/>
                </a:solidFill>
                <a:latin typeface="Microsoft YaHei"/>
              </a:defRPr>
            </a:pPr>
            <a:r>
              <a:t>两家公司如何做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3703320"/>
            <a:ext cx="2468880" cy="7315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机制与产物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633472"/>
            <a:ext cx="45720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7685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37376" y="3072384"/>
            <a:ext cx="2468880" cy="32004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3227832"/>
            <a:ext cx="246888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7685B"/>
                </a:solidFill>
                <a:latin typeface="Microsoft YaHei"/>
              </a:defRPr>
            </a:pPr>
            <a:r>
              <a:t>证据走到哪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3703320"/>
            <a:ext cx="2468880" cy="7315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共同尺度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633472"/>
            <a:ext cx="45720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0539A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99448" y="3072384"/>
            <a:ext cx="2468880" cy="32004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3227832"/>
            <a:ext cx="246888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70539A"/>
                </a:solidFill>
                <a:latin typeface="Microsoft YaHei"/>
              </a:defRPr>
            </a:pPr>
            <a:r>
              <a:t>我们如何试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3703320"/>
            <a:ext cx="2468880" cy="7315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真实记录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5349240"/>
            <a:ext cx="9784080" cy="5669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E2A33"/>
                </a:solidFill>
                <a:latin typeface="Microsoft YaHei"/>
              </a:defRPr>
            </a:pPr>
            <a:r>
              <a:t>做了什么？       如何证明？       边界在哪？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04  /  行业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行业里已经出现多条路线，改进对象并不相同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Google、DGM、通义提供对照；Anthropic与OpenAI深入拆解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[L1] AlphaEvolve；[H4] DGM；[L2] AgentEvolver；[S2–S4]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31720"/>
            <a:ext cx="82296" cy="50292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31720"/>
            <a:ext cx="210312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0659A"/>
                </a:solidFill>
                <a:latin typeface="Microsoft YaHei"/>
              </a:defRPr>
            </a:pPr>
            <a:r>
              <a:t>算法／训练效率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2331720"/>
            <a:ext cx="2999232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Google AlphaEvolve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331720"/>
            <a:ext cx="557784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E2A33"/>
                </a:solidFill>
                <a:latin typeface="Microsoft YaHei"/>
              </a:defRPr>
            </a:pPr>
            <a:r>
              <a:t>Gemini提程序 → 评测筛选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953512"/>
            <a:ext cx="1083564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035808"/>
            <a:ext cx="82296" cy="502920"/>
          </a:xfrm>
          <a:prstGeom prst="rect">
            <a:avLst/>
          </a:prstGeom>
          <a:solidFill>
            <a:srgbClr val="AA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035808"/>
            <a:ext cx="210312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AA7E34"/>
                </a:solidFill>
                <a:latin typeface="Microsoft YaHei"/>
              </a:defRPr>
            </a:pPr>
            <a:r>
              <a:t>Agent系统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3035808"/>
            <a:ext cx="2999232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Sakana／UBC DGM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035808"/>
            <a:ext cx="557784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E2A33"/>
                </a:solidFill>
                <a:latin typeface="Microsoft YaHei"/>
              </a:defRPr>
            </a:pPr>
            <a:r>
              <a:t>自改代码与工作流 → 任务评测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1083564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39896"/>
            <a:ext cx="82296" cy="50292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739896"/>
            <a:ext cx="210312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0539A"/>
                </a:solidFill>
                <a:latin typeface="Microsoft YaHei"/>
              </a:defRPr>
            </a:pPr>
            <a:r>
              <a:t>Agent训练框架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739896"/>
            <a:ext cx="2999232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通义 AgentEvolver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739896"/>
            <a:ext cx="557784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E2A33"/>
                </a:solidFill>
                <a:latin typeface="Microsoft YaHei"/>
              </a:defRPr>
            </a:pPr>
            <a:r>
              <a:t>任务生成、经验复用、反馈归因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361688"/>
            <a:ext cx="1083564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443983"/>
            <a:ext cx="82296" cy="50292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443983"/>
            <a:ext cx="210312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04D37"/>
                </a:solidFill>
                <a:latin typeface="Microsoft YaHei"/>
              </a:defRPr>
            </a:pPr>
            <a:r>
              <a:t>模型后训练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4096" y="4443983"/>
            <a:ext cx="2999232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Anthropic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443983"/>
            <a:ext cx="557784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E2A33"/>
                </a:solidFill>
                <a:latin typeface="Microsoft YaHei"/>
              </a:defRPr>
            </a:pPr>
            <a:r>
              <a:t>研究提案 → 训练权重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065775"/>
            <a:ext cx="1083564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5148072"/>
            <a:ext cx="82296" cy="50292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148072"/>
            <a:ext cx="210312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685B"/>
                </a:solidFill>
                <a:latin typeface="Microsoft YaHei"/>
              </a:defRPr>
            </a:pPr>
            <a:r>
              <a:t>研发工作流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4096" y="5148072"/>
            <a:ext cx="2999232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OpenAI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148072"/>
            <a:ext cx="557784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E2A33"/>
                </a:solidFill>
                <a:latin typeface="Microsoft YaHei"/>
              </a:defRPr>
            </a:pPr>
            <a:r>
              <a:t>Runme评测产物与人审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6053328"/>
            <a:ext cx="1078992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A676F"/>
                </a:solidFill>
                <a:latin typeface="Microsoft YaHei"/>
              </a:defRPr>
            </a:pPr>
            <a:r>
              <a:t>选例：模型实验可追踪 × 研发现场可复查；开放性分看权重与框架代码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05  /  尺度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自动化一个研发环节，与持续开发后继模型需要不同证据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本组分析框架，非官方能力等级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本组分析框架；非官方等级。[S1–S4]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0592"/>
            <a:ext cx="502920" cy="3383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04D37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71216"/>
            <a:ext cx="219456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A33"/>
                </a:solidFill>
                <a:latin typeface="Microsoft YaHei"/>
              </a:defRPr>
            </a:pPr>
            <a:r>
              <a:t>选题／假设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01568"/>
            <a:ext cx="1965960" cy="4572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410712"/>
            <a:ext cx="246888" cy="0"/>
          </a:xfrm>
          <a:prstGeom prst="line">
            <a:avLst/>
          </a:prstGeom>
          <a:ln w="25400">
            <a:solidFill>
              <a:srgbClr val="B04D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53511" y="2450592"/>
            <a:ext cx="502920" cy="3383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04D37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1" y="2871216"/>
            <a:ext cx="219456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A33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53511" y="3401568"/>
            <a:ext cx="1965960" cy="4572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965192" y="3410712"/>
            <a:ext cx="246887" cy="0"/>
          </a:xfrm>
          <a:prstGeom prst="line">
            <a:avLst/>
          </a:prstGeom>
          <a:ln w="25400">
            <a:solidFill>
              <a:srgbClr val="B04D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66944" y="2450592"/>
            <a:ext cx="502920" cy="3383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04D37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2871216"/>
            <a:ext cx="219456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A33"/>
                </a:solidFill>
                <a:latin typeface="Microsoft YaHei"/>
              </a:defRPr>
            </a:pPr>
            <a:r>
              <a:t>训练／设施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66944" y="3401568"/>
            <a:ext cx="1965960" cy="4572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278624" y="3410712"/>
            <a:ext cx="246888" cy="0"/>
          </a:xfrm>
          <a:prstGeom prst="line">
            <a:avLst/>
          </a:prstGeom>
          <a:ln w="25400">
            <a:solidFill>
              <a:srgbClr val="B04D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80375" y="2450592"/>
            <a:ext cx="502920" cy="3383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04D37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5" y="2871216"/>
            <a:ext cx="219456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A33"/>
                </a:solidFill>
                <a:latin typeface="Microsoft YaHei"/>
              </a:defRPr>
            </a:pPr>
            <a:r>
              <a:t>评测分析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0375" y="3401568"/>
            <a:ext cx="1965960" cy="4572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9592055" y="3410712"/>
            <a:ext cx="246889" cy="0"/>
          </a:xfrm>
          <a:prstGeom prst="line">
            <a:avLst/>
          </a:prstGeom>
          <a:ln w="25400">
            <a:solidFill>
              <a:srgbClr val="B04D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893807" y="2450592"/>
            <a:ext cx="502920" cy="3383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04D37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3807" y="2871216"/>
            <a:ext cx="219456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A33"/>
                </a:solidFill>
                <a:latin typeface="Microsoft YaHei"/>
              </a:defRPr>
            </a:pPr>
            <a:r>
              <a:t>发布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93807" y="3401568"/>
            <a:ext cx="1965960" cy="4572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977639"/>
            <a:ext cx="201168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A676F"/>
                </a:solidFill>
                <a:latin typeface="Microsoft YaHei"/>
              </a:defRPr>
            </a:pPr>
            <a:r>
              <a:t>证据位置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517136"/>
            <a:ext cx="2651760" cy="73152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745736"/>
            <a:ext cx="2670048" cy="5669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辅助执行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11296" y="4517136"/>
            <a:ext cx="2651760" cy="73152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11296" y="4745736"/>
            <a:ext cx="2670048" cy="5669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闭环实验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64224" y="4517136"/>
            <a:ext cx="2651760" cy="73152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4745736"/>
            <a:ext cx="2670048" cy="5669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局部模型改进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17152" y="4517136"/>
            <a:ext cx="2651760" cy="73152"/>
          </a:xfrm>
          <a:prstGeom prst="rect">
            <a:avLst/>
          </a:prstGeom>
          <a:solidFill>
            <a:srgbClr val="1E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7152" y="4745736"/>
            <a:ext cx="2670048" cy="5669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持续后继研发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623560"/>
            <a:ext cx="76809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E2A33"/>
                </a:solidFill>
                <a:latin typeface="Microsoft YaHei"/>
              </a:defRPr>
            </a:pPr>
            <a:r>
              <a:t>改动对象：工作流／训练数据与方法／模型参数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8864" y="5623560"/>
            <a:ext cx="228600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04D37"/>
                </a:solidFill>
                <a:latin typeface="Microsoft YaHei"/>
              </a:defRPr>
            </a:pPr>
            <a:r>
              <a:t>人类批准权另记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06  /  Anthropic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Anthropic的自动研究员把提案推进到训练检查点和评测反馈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主实验：Opus 4.8研究Agent → 开放小模型目标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§2–3、附录B；按公开方法重绘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2505456"/>
            <a:ext cx="2414016" cy="64008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734056"/>
            <a:ext cx="2414016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04D37"/>
                </a:solidFill>
                <a:latin typeface="Microsoft YaHei"/>
              </a:defRPr>
            </a:pPr>
            <a:r>
              <a:t>研究Agent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236976"/>
            <a:ext cx="2331720" cy="8321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mini-paper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训练代码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36391" y="3429000"/>
            <a:ext cx="338329" cy="0"/>
          </a:xfrm>
          <a:prstGeom prst="line">
            <a:avLst/>
          </a:prstGeom>
          <a:ln w="31750">
            <a:solidFill>
              <a:srgbClr val="B04D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547872" y="2505456"/>
            <a:ext cx="2414016" cy="64008"/>
          </a:xfrm>
          <a:prstGeom prst="rect">
            <a:avLst/>
          </a:prstGeom>
          <a:solidFill>
            <a:srgbClr val="AA7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2734056"/>
            <a:ext cx="2414016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AA7E34"/>
                </a:solidFill>
                <a:latin typeface="Microsoft YaHei"/>
              </a:defRPr>
            </a:pPr>
            <a:r>
              <a:t>代码监控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236976"/>
            <a:ext cx="2331720" cy="8321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规则检查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接受／拒绝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3429000"/>
            <a:ext cx="338328" cy="0"/>
          </a:xfrm>
          <a:prstGeom prst="line">
            <a:avLst/>
          </a:prstGeom>
          <a:ln w="31750">
            <a:solidFill>
              <a:srgbClr val="AA7E3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00800" y="2505456"/>
            <a:ext cx="2414016" cy="64008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734056"/>
            <a:ext cx="2414016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685B"/>
                </a:solidFill>
                <a:latin typeface="Microsoft YaHei"/>
              </a:defRPr>
            </a:pPr>
            <a:r>
              <a:t>训练工具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36976"/>
            <a:ext cx="2331720" cy="8321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小模型权重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检查点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42248" y="3429000"/>
            <a:ext cx="338328" cy="0"/>
          </a:xfrm>
          <a:prstGeom prst="line">
            <a:avLst/>
          </a:prstGeom>
          <a:ln w="31750">
            <a:solidFill>
              <a:srgbClr val="27685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253728" y="2505456"/>
            <a:ext cx="2414016" cy="64008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734056"/>
            <a:ext cx="2414016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0659A"/>
                </a:solidFill>
                <a:latin typeface="Microsoft YaHei"/>
              </a:defRPr>
            </a:pPr>
            <a:r>
              <a:t>隔离评测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236976"/>
            <a:ext cx="2331720" cy="8321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安全分数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能力门槛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16568" y="2340864"/>
            <a:ext cx="2706624" cy="16459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16568" y="4398264"/>
            <a:ext cx="2706624" cy="16459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16568" y="2340864"/>
            <a:ext cx="18288" cy="205740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804904" y="2340864"/>
            <a:ext cx="18288" cy="205740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4069080"/>
            <a:ext cx="2240280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0659A"/>
                </a:solidFill>
                <a:latin typeface="Microsoft YaHei"/>
              </a:defRPr>
            </a:pPr>
            <a:r>
              <a:t>隐藏评测数据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32720" y="4443984"/>
            <a:ext cx="0" cy="384048"/>
          </a:xfrm>
          <a:prstGeom prst="line">
            <a:avLst/>
          </a:prstGeom>
          <a:ln w="25400">
            <a:solidFill>
              <a:srgbClr val="3065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112264" y="4837176"/>
            <a:ext cx="8549640" cy="667512"/>
          </a:xfrm>
          <a:prstGeom prst="rect">
            <a:avLst/>
          </a:prstGeom>
          <a:solidFill>
            <a:srgbClr val="EC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50008" y="4946904"/>
            <a:ext cx="8046720" cy="40233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685B"/>
                </a:solidFill>
                <a:latin typeface="Microsoft YaHei"/>
              </a:defRPr>
            </a:pPr>
            <a:r>
              <a:t>共享状态：论坛／榜单／失败记录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005840" y="5166360"/>
            <a:ext cx="1069848" cy="0"/>
          </a:xfrm>
          <a:prstGeom prst="line">
            <a:avLst/>
          </a:prstGeom>
          <a:ln w="25400">
            <a:solidFill>
              <a:srgbClr val="27685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05840" y="4297680"/>
            <a:ext cx="0" cy="868680"/>
          </a:xfrm>
          <a:prstGeom prst="line">
            <a:avLst/>
          </a:prstGeom>
          <a:ln w="25400">
            <a:solidFill>
              <a:srgbClr val="27685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3232" y="5861304"/>
            <a:ext cx="10789920" cy="40233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A676F"/>
                </a:solidFill>
                <a:latin typeface="Microsoft YaHei"/>
              </a:defRPr>
            </a:pPr>
            <a:r>
              <a:t>反馈进入下一轮新会话；目标、预算与验收规则仍由人设定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07  /  Anthropic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谄媚任务的获胜方法：先构造较少迎合的教师，再训练学生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一个机制切片：激活引导＋KL自蒸馏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附录D.4；机制示意，未披露实现不补写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14016"/>
            <a:ext cx="10698480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A33"/>
                </a:solidFill>
                <a:latin typeface="Microsoft YaHei"/>
              </a:defRPr>
            </a:pPr>
            <a:r>
              <a:t>输入：指定谄媚任务（目标 Qwen3.5-2B）＋可用训练数据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" y="3127248"/>
            <a:ext cx="10634472" cy="32004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456432"/>
            <a:ext cx="2368296" cy="93268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04D37"/>
                </a:solidFill>
                <a:latin typeface="Microsoft YaHei"/>
              </a:defRPr>
            </a:pPr>
            <a:r>
              <a:t>目标模型的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04D37"/>
                </a:solidFill>
                <a:latin typeface="Microsoft YaHei"/>
              </a:defRPr>
            </a:pPr>
            <a:r>
              <a:t>激活引导变体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9816" y="3904487"/>
            <a:ext cx="320040" cy="0"/>
          </a:xfrm>
          <a:prstGeom prst="line">
            <a:avLst/>
          </a:prstGeom>
          <a:ln w="25400">
            <a:solidFill>
              <a:srgbClr val="B04D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11296" y="3456432"/>
            <a:ext cx="2450592" cy="93268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04D37"/>
                </a:solidFill>
                <a:latin typeface="Microsoft YaHei"/>
              </a:defRPr>
            </a:pPr>
            <a:r>
              <a:t>较少迎合的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04D37"/>
                </a:solidFill>
                <a:latin typeface="Microsoft YaHei"/>
              </a:defRPr>
            </a:pPr>
            <a:r>
              <a:t>教师输出分布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0175" y="3904487"/>
            <a:ext cx="402337" cy="0"/>
          </a:xfrm>
          <a:prstGeom prst="line">
            <a:avLst/>
          </a:prstGeom>
          <a:ln w="25400">
            <a:solidFill>
              <a:srgbClr val="B04D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73952" y="3456432"/>
            <a:ext cx="2103120" cy="93268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685B"/>
                </a:solidFill>
                <a:latin typeface="Microsoft YaHei"/>
              </a:defRPr>
            </a:pPr>
            <a:r>
              <a:t>KL训练目标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95359" y="3904487"/>
            <a:ext cx="402337" cy="0"/>
          </a:xfrm>
          <a:prstGeom prst="line">
            <a:avLst/>
          </a:prstGeom>
          <a:ln w="25400">
            <a:solidFill>
              <a:srgbClr val="27685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89136" y="3456432"/>
            <a:ext cx="2313432" cy="93268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7685B"/>
                </a:solidFill>
                <a:latin typeface="Microsoft YaHei"/>
              </a:defRPr>
            </a:pPr>
            <a:r>
              <a:t>未引导学生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" y="4709160"/>
            <a:ext cx="10570464" cy="32004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946904"/>
            <a:ext cx="6035040" cy="51206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7685B"/>
                </a:solidFill>
                <a:latin typeface="Microsoft YaHei"/>
              </a:defRPr>
            </a:pPr>
            <a:r>
              <a:t>交付物：训练后的学生权重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733288"/>
            <a:ext cx="10698480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E2A33"/>
                </a:solidFill>
                <a:latin typeface="Microsoft YaHei"/>
              </a:defRPr>
            </a:pPr>
            <a:r>
              <a:t>机制示意；原文未在所引段落披露激活方向与KL实现顺序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08  /  Anthropic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受限目标上有局部模型改进；两类实验不能拼成一次突破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主实验结果＋另列生产级检查点探索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Fig.3／Fig.9；不同实验，原图见B16／B19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68296"/>
            <a:ext cx="5760720" cy="40233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B04D37"/>
                </a:solidFill>
                <a:latin typeface="Microsoft YaHei"/>
              </a:defRPr>
            </a:pPr>
            <a:r>
              <a:t>主实验｜十类指定失效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935224"/>
            <a:ext cx="5413248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5A676F"/>
                </a:solidFill>
                <a:latin typeface="Microsoft YaHei"/>
              </a:defRPr>
            </a:pPr>
            <a:r>
              <a:t>Fig.3：各项爬坡基准的改善空间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602736"/>
            <a:ext cx="1581912" cy="4297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3"/>
                </a:solidFill>
                <a:latin typeface="Microsoft YaHei"/>
              </a:defRPr>
            </a:pPr>
            <a:r>
              <a:t>提示注入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675887"/>
            <a:ext cx="3401568" cy="320040"/>
          </a:xfrm>
          <a:prstGeom prst="rect">
            <a:avLst/>
          </a:prstGeom>
          <a:solidFill>
            <a:srgbClr val="EC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0280" y="3675887"/>
            <a:ext cx="2687238" cy="3200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3288" y="3602736"/>
            <a:ext cx="91440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0659A"/>
                </a:solidFill>
                <a:latin typeface="Microsoft YaHei"/>
              </a:defRPr>
            </a:pPr>
            <a:r>
              <a:t>79%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398264"/>
            <a:ext cx="1581912" cy="4297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3"/>
                </a:solidFill>
                <a:latin typeface="Microsoft YaHei"/>
              </a:defRPr>
            </a:pPr>
            <a:r>
              <a:t>谄媚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4471416"/>
            <a:ext cx="3401568" cy="320040"/>
          </a:xfrm>
          <a:prstGeom prst="rect">
            <a:avLst/>
          </a:prstGeom>
          <a:solidFill>
            <a:srgbClr val="EC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40280" y="4471416"/>
            <a:ext cx="884407" cy="3200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33288" y="4398264"/>
            <a:ext cx="91440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B04D37"/>
                </a:solidFill>
                <a:latin typeface="Microsoft YaHei"/>
              </a:defRPr>
            </a:pPr>
            <a:r>
              <a:t>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5422392"/>
            <a:ext cx="555955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E2A33"/>
                </a:solidFill>
                <a:latin typeface="Microsoft YaHei"/>
              </a:defRPr>
            </a:pPr>
            <a:r>
              <a:t>十项均改善，但幅度不同；全图见 B16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404872"/>
            <a:ext cx="18288" cy="3611880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2404872"/>
            <a:ext cx="4224528" cy="6583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B04D37"/>
                </a:solidFill>
                <a:latin typeface="Microsoft YaHei"/>
              </a:defRPr>
            </a:pPr>
            <a:r>
              <a:t>另项探索｜生产级早期检查点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099816"/>
            <a:ext cx="4251960" cy="7772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3"/>
                </a:solidFill>
                <a:latin typeface="Microsoft YaHei"/>
              </a:defRPr>
            </a:pPr>
            <a:r>
              <a:t>Sonnet 5研究Agent →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3"/>
                </a:solidFill>
                <a:latin typeface="Microsoft YaHei"/>
              </a:defRPr>
            </a:pPr>
            <a:r>
              <a:t>早期Opus 4.8检查点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941063"/>
            <a:ext cx="4251960" cy="3749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04D37"/>
                </a:solidFill>
                <a:latin typeface="Microsoft YaHei"/>
              </a:defRPr>
            </a:pPr>
            <a:r>
              <a:t>权限：仅构造后训练数据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489704"/>
            <a:ext cx="4279392" cy="5760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3"/>
                </a:solidFill>
                <a:latin typeface="Microsoft YaHei"/>
              </a:defRPr>
            </a:pPr>
            <a:r>
              <a:t>Fig.9：AAR 65%  /  已发布模型 72%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5157216"/>
            <a:ext cx="4270248" cy="71323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A33"/>
                </a:solidFill>
                <a:latin typeface="Microsoft YaHei"/>
              </a:defRPr>
            </a:pPr>
            <a:r>
              <a:t>十维Petri覆盖加权改善空间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A33"/>
                </a:solidFill>
                <a:latin typeface="Microsoft YaHei"/>
              </a:defRPr>
            </a:pPr>
            <a:r>
              <a:t>几何分数，不是安全通过率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09  /  OpenAI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OpenAI的Codex把发布前评测留在可复查的工作产物里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官方Runme笔记本：目标、计划、执行、判断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[S3] Running evaluations with Codex；官方产物裁切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09</a:t>
            </a:r>
          </a:p>
        </p:txBody>
      </p:sp>
      <p:pic>
        <p:nvPicPr>
          <p:cNvPr id="9" name="Picture 8" descr="runme_completed.png"/>
          <p:cNvPicPr>
            <a:picLocks noChangeAspect="1"/>
          </p:cNvPicPr>
          <p:nvPr/>
        </p:nvPicPr>
        <p:blipFill>
          <a:blip r:embed="rId3"/>
          <a:srcRect l="4375" r="39375" t="16571" b="59886"/>
          <a:stretch>
            <a:fillRect/>
          </a:stretch>
        </p:blipFill>
        <p:spPr>
          <a:xfrm>
            <a:off x="658945" y="2340864"/>
            <a:ext cx="6591669" cy="1508760"/>
          </a:xfrm>
          <a:prstGeom prst="rect">
            <a:avLst/>
          </a:prstGeom>
        </p:spPr>
      </p:pic>
      <p:pic>
        <p:nvPicPr>
          <p:cNvPr id="10" name="Picture 9" descr="runme_completed.png"/>
          <p:cNvPicPr>
            <a:picLocks noChangeAspect="1"/>
          </p:cNvPicPr>
          <p:nvPr/>
        </p:nvPicPr>
        <p:blipFill>
          <a:blip r:embed="rId3"/>
          <a:srcRect l="4375" r="35625" t="42857" b="30971"/>
          <a:stretch>
            <a:fillRect/>
          </a:stretch>
        </p:blipFill>
        <p:spPr>
          <a:xfrm>
            <a:off x="715647" y="4005072"/>
            <a:ext cx="6478264" cy="15453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2340864"/>
            <a:ext cx="662940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550408"/>
            <a:ext cx="662940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340864"/>
            <a:ext cx="18288" cy="3209544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51192" y="2340864"/>
            <a:ext cx="18288" cy="3209544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779008"/>
            <a:ext cx="6473952" cy="31089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A676F"/>
                </a:solidFill>
                <a:latin typeface="Microsoft YaHei"/>
              </a:defRPr>
            </a:pPr>
            <a:r>
              <a:t>上：任务目标与人审要求    下：重跑计划与已复查证据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468880"/>
            <a:ext cx="941832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7685B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468880"/>
            <a:ext cx="2779776" cy="521207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E2A33"/>
                </a:solidFill>
                <a:latin typeface="Microsoft YaHei"/>
              </a:defRPr>
            </a:pPr>
            <a:r>
              <a:t>工程师写目标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79" y="3090672"/>
            <a:ext cx="36118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3291840"/>
            <a:ext cx="941832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7685B"/>
                </a:solidFill>
                <a:latin typeface="Microsoft YaHei"/>
              </a:defRPr>
            </a:pPr>
            <a:r>
              <a:t>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291840"/>
            <a:ext cx="2779776" cy="521207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E2A33"/>
                </a:solidFill>
                <a:latin typeface="Microsoft YaHei"/>
              </a:defRPr>
            </a:pPr>
            <a:r>
              <a:t>Codex拟计划，人审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3913632"/>
            <a:ext cx="36118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4114800"/>
            <a:ext cx="941832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7685B"/>
                </a:solidFill>
                <a:latin typeface="Microsoft YaHei"/>
              </a:defRPr>
            </a:pPr>
            <a:r>
              <a:t>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114800"/>
            <a:ext cx="2779776" cy="521207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E2A33"/>
                </a:solidFill>
                <a:latin typeface="Microsoft YaHei"/>
              </a:defRPr>
            </a:pPr>
            <a:r>
              <a:t>工具运行，保留输出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4736592"/>
            <a:ext cx="36118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4937760"/>
            <a:ext cx="941832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7685B"/>
                </a:solidFill>
                <a:latin typeface="Microsoft YaHei"/>
              </a:defRPr>
            </a:pPr>
            <a:r>
              <a:t>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937760"/>
            <a:ext cx="2779776" cy="521207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E2A33"/>
                </a:solidFill>
                <a:latin typeface="Microsoft YaHei"/>
              </a:defRPr>
            </a:pPr>
            <a:r>
              <a:t>结果与取舍回到笔记本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7536" y="5824728"/>
            <a:ext cx="3776472" cy="521207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7685B"/>
                </a:solidFill>
                <a:latin typeface="Microsoft YaHei"/>
              </a:defRPr>
            </a:pPr>
            <a:r>
              <a:t>截图只显示目标与计划片段；完整原图见B17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10  /  OpenAI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Agent进了研究组织，资源与安全边界也一起进入流程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组织观察不是受控的净效率实验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[S4] §1–4；用量非效率倍数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04872"/>
            <a:ext cx="3840480" cy="12344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100" b="1">
                <a:solidFill>
                  <a:srgbClr val="27685B"/>
                </a:solidFill>
                <a:latin typeface="Microsoft YaHei"/>
              </a:defRPr>
            </a:pPr>
            <a:r>
              <a:t>3.1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730752"/>
            <a:ext cx="4937760" cy="48463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Agent工作日 / 人类工作日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352544"/>
            <a:ext cx="4910328" cy="6675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A676F"/>
                </a:solidFill>
                <a:latin typeface="Microsoft YaHei"/>
              </a:defRPr>
            </a:pPr>
            <a:r>
              <a:t>2026年8月中旬；Agent总运行时间按8小时折算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331720"/>
            <a:ext cx="18288" cy="3520440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36792" y="2578608"/>
            <a:ext cx="173736" cy="173736"/>
          </a:xfrm>
          <a:prstGeom prst="ellipse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2487168"/>
            <a:ext cx="15087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04D37"/>
                </a:solidFill>
                <a:latin typeface="Microsoft YaHei"/>
              </a:defRPr>
            </a:pPr>
            <a:r>
              <a:t>7月20日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2487168"/>
            <a:ext cx="3108960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发现Agent侵入研究基础设施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9944" y="2788920"/>
            <a:ext cx="22860" cy="832104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36792" y="3648456"/>
            <a:ext cx="173736" cy="173736"/>
          </a:xfrm>
          <a:prstGeom prst="ellipse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3557016"/>
            <a:ext cx="15087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04D37"/>
                </a:solidFill>
                <a:latin typeface="Microsoft YaHei"/>
              </a:defRPr>
            </a:pPr>
            <a:r>
              <a:t>其后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3557016"/>
            <a:ext cx="3108960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暂停部分拟发布模型RL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9944" y="3858768"/>
            <a:ext cx="22860" cy="832104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36792" y="4718304"/>
            <a:ext cx="173736" cy="173736"/>
          </a:xfrm>
          <a:prstGeom prst="ellipse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4626864"/>
            <a:ext cx="15087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04D37"/>
                </a:solidFill>
                <a:latin typeface="Microsoft YaHei"/>
              </a:defRPr>
            </a:pPr>
            <a:r>
              <a:t>加固后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7304" y="4626864"/>
            <a:ext cx="3108960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部分工作恢复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5852160"/>
            <a:ext cx="10661904" cy="46634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内部观察：证明采用与治理问题，不证明净效率因果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11  /  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公开证据已到局部改进，还未闭合持续的后继研发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证据覆盖表：只对应列出的任务，不是公司能力排名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[L1][L2][S1–S4] 指定案例证据覆盖，不能排名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2542032"/>
            <a:ext cx="1737360" cy="82296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00984" y="2761488"/>
            <a:ext cx="199339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3"/>
                </a:solidFill>
                <a:latin typeface="Microsoft YaHei"/>
              </a:defRPr>
            </a:pPr>
            <a:r>
              <a:t>辅助执行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66944" y="2542032"/>
            <a:ext cx="1737360" cy="82296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2761488"/>
            <a:ext cx="199339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3"/>
                </a:solidFill>
                <a:latin typeface="Microsoft YaHei"/>
              </a:defRPr>
            </a:pPr>
            <a:r>
              <a:t>闭环实验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04888" y="2542032"/>
            <a:ext cx="1737360" cy="82296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2761488"/>
            <a:ext cx="199339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3"/>
                </a:solidFill>
                <a:latin typeface="Microsoft YaHei"/>
              </a:defRPr>
            </a:pPr>
            <a:r>
              <a:t>局部模型改进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42832" y="2542032"/>
            <a:ext cx="1737360" cy="82296"/>
          </a:xfrm>
          <a:prstGeom prst="rect">
            <a:avLst/>
          </a:prstGeom>
          <a:solidFill>
            <a:srgbClr val="1E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14816" y="2761488"/>
            <a:ext cx="199339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3"/>
                </a:solidFill>
                <a:latin typeface="Microsoft YaHei"/>
              </a:defRPr>
            </a:pPr>
            <a:r>
              <a:t>持续后继研发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493008"/>
            <a:ext cx="1362456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0659A"/>
                </a:solidFill>
                <a:latin typeface="Microsoft YaHei"/>
              </a:defRPr>
            </a:pPr>
            <a:r>
              <a:t>Google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3392" y="3493008"/>
            <a:ext cx="1380744" cy="40233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算法／训练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3931920"/>
            <a:ext cx="800100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97096" y="3611879"/>
            <a:ext cx="201168" cy="201168"/>
          </a:xfrm>
          <a:prstGeom prst="ellipse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40" y="3611879"/>
            <a:ext cx="201168" cy="201168"/>
          </a:xfrm>
          <a:prstGeom prst="ellipse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050791"/>
            <a:ext cx="1362456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0539A"/>
                </a:solidFill>
                <a:latin typeface="Microsoft YaHei"/>
              </a:defRPr>
            </a:pPr>
            <a:r>
              <a:t>通义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3392" y="4050791"/>
            <a:ext cx="1380744" cy="40233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Agent策略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55848" y="4489704"/>
            <a:ext cx="800100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97096" y="4169663"/>
            <a:ext cx="201168" cy="201168"/>
          </a:xfrm>
          <a:prstGeom prst="ellipse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35040" y="4169663"/>
            <a:ext cx="201168" cy="201168"/>
          </a:xfrm>
          <a:prstGeom prst="ellipse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72984" y="4169663"/>
            <a:ext cx="201168" cy="201168"/>
          </a:xfrm>
          <a:prstGeom prst="ellipse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4041648"/>
            <a:ext cx="63093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0539A"/>
                </a:solidFill>
                <a:latin typeface="Microsoft YaHei"/>
              </a:defRPr>
            </a:pPr>
            <a:r>
              <a:t>受限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608576"/>
            <a:ext cx="1362456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04D37"/>
                </a:solidFill>
                <a:latin typeface="Microsoft YaHei"/>
              </a:defRPr>
            </a:pPr>
            <a:r>
              <a:t>Anthropic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93392" y="4608576"/>
            <a:ext cx="1380744" cy="40233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模型权重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55848" y="5047488"/>
            <a:ext cx="800100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97096" y="4727448"/>
            <a:ext cx="201168" cy="201168"/>
          </a:xfrm>
          <a:prstGeom prst="ellipse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35040" y="4727448"/>
            <a:ext cx="201168" cy="201168"/>
          </a:xfrm>
          <a:prstGeom prst="ellipse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72984" y="4727448"/>
            <a:ext cx="201168" cy="201168"/>
          </a:xfrm>
          <a:prstGeom prst="ellipse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7888" y="4599432"/>
            <a:ext cx="630936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04D37"/>
                </a:solidFill>
                <a:latin typeface="Microsoft YaHei"/>
              </a:defRPr>
            </a:pPr>
            <a:r>
              <a:t>受限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5166360"/>
            <a:ext cx="1362456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7685B"/>
                </a:solidFill>
                <a:latin typeface="Microsoft YaHei"/>
              </a:defRPr>
            </a:pPr>
            <a:r>
              <a:t>OpenAI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3392" y="5166360"/>
            <a:ext cx="1380744" cy="40233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评测流程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55848" y="5605272"/>
            <a:ext cx="800100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7096" y="5285232"/>
            <a:ext cx="201168" cy="201168"/>
          </a:xfrm>
          <a:prstGeom prst="ellipse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0" y="5285232"/>
            <a:ext cx="201168" cy="201168"/>
          </a:xfrm>
          <a:prstGeom prst="ellipse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5943600"/>
            <a:ext cx="1074420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A676F"/>
                </a:solidFill>
                <a:latin typeface="Microsoft YaHei"/>
              </a:defRPr>
            </a:pPr>
            <a:r>
              <a:t>通义为Agent策略参数；Anthropic为指定模型后训练。均未证明完整后继研发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12  /  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制作代理跑通来源审查流程，四名成员仍待亲自操作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比较审查SOP；工具与校验配置相同，成员操作待完成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本组实践协议；成员真实操作由本人记录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514600"/>
            <a:ext cx="45720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04D37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" y="2953512"/>
            <a:ext cx="2423160" cy="32004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3108960"/>
            <a:ext cx="24231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B04D37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584448"/>
            <a:ext cx="2423160" cy="7315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主张＋来源包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3" y="2514600"/>
            <a:ext cx="45720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0659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3863" y="2953512"/>
            <a:ext cx="2423160" cy="32004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3863" y="3108960"/>
            <a:ext cx="24231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0659A"/>
                </a:solidFill>
                <a:latin typeface="Microsoft YaHei"/>
              </a:defRPr>
            </a:pPr>
            <a:r>
              <a:t>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3" y="3584448"/>
            <a:ext cx="2423160" cy="7315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读取／复查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514600"/>
            <a:ext cx="45720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7685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2953512"/>
            <a:ext cx="2423160" cy="32004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108960"/>
            <a:ext cx="24231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7685B"/>
                </a:solidFill>
                <a:latin typeface="Microsoft YaHei"/>
              </a:defRPr>
            </a:pPr>
            <a:r>
              <a:t>校验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584448"/>
            <a:ext cx="2423160" cy="7315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JSON结构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514600"/>
            <a:ext cx="45720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70539A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2953512"/>
            <a:ext cx="2423160" cy="32004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3108960"/>
            <a:ext cx="242316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70539A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584448"/>
            <a:ext cx="2423160" cy="7315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标签、出处、限制、改写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4745736"/>
            <a:ext cx="2103120" cy="3291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A676F"/>
                </a:solidFill>
                <a:latin typeface="Microsoft YaHei"/>
              </a:defRPr>
            </a:pPr>
            <a:r>
              <a:t>责任预分配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5138928"/>
            <a:ext cx="1078992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A 来源  ·  B 基线  ·  C 独立测试  ·  D 错误整理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5916168"/>
            <a:ext cx="1069848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04D37"/>
                </a:solidFill>
                <a:latin typeface="Microsoft YaHei"/>
              </a:defRPr>
            </a:pPr>
            <a:r>
              <a:t>运行身份：制作代理试运行；四人实际操作待核实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13  /  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原始标签下候选没有提高一致性，出处仍待人工核验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16题单批制作代理试运行；18秒资格探测日志重排，非界面录屏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实测记录：practice/runs/demo/score.json；原金标待人工裁定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13</a:t>
            </a:r>
          </a:p>
        </p:txBody>
      </p:sp>
      <p:pic>
        <p:nvPicPr>
          <p:cNvPr id="9" name="smoke_log_replay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76656" y="2414016"/>
            <a:ext cx="5806440" cy="32644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4944" y="5724144"/>
            <a:ext cx="5806440" cy="3383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A676F"/>
                </a:solidFill>
                <a:latin typeface="Microsoft YaHei"/>
              </a:defRPr>
            </a:pPr>
            <a:r>
              <a:t>制作代理公开动作日志重排｜18秒；非UI录像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6" y="2468880"/>
            <a:ext cx="4270248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E2A33"/>
                </a:solidFill>
                <a:latin typeface="Microsoft YaHei"/>
              </a:defRPr>
            </a:pPr>
            <a:r>
              <a:t>16条演示题｜原始金标一致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4576" y="3063240"/>
            <a:ext cx="1298448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7685B"/>
                </a:solidFill>
                <a:latin typeface="Microsoft YaHei"/>
              </a:defRPr>
            </a:pPr>
            <a:r>
              <a:t>基线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990088"/>
            <a:ext cx="2834640" cy="5577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7685B"/>
                </a:solidFill>
                <a:latin typeface="Microsoft YaHei"/>
              </a:defRPr>
            </a:pPr>
            <a:r>
              <a:t>13 /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76288" y="3657600"/>
            <a:ext cx="438912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4576" y="3849624"/>
            <a:ext cx="1298448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04D37"/>
                </a:solidFill>
                <a:latin typeface="Microsoft YaHei"/>
              </a:defRPr>
            </a:pPr>
            <a:r>
              <a:t>候选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94760"/>
            <a:ext cx="2834640" cy="5577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04D37"/>
                </a:solidFill>
                <a:latin typeface="Microsoft YaHei"/>
              </a:defRPr>
            </a:pPr>
            <a:r>
              <a:t>12 / 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6" y="4526280"/>
            <a:ext cx="4270248" cy="40233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3"/>
                </a:solidFill>
                <a:latin typeface="Microsoft YaHei"/>
              </a:defRPr>
            </a:pPr>
            <a:r>
              <a:t>误放行：两组均 0 / 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76288" y="5065776"/>
            <a:ext cx="438912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94576" y="5175504"/>
            <a:ext cx="4297680" cy="8046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04D37"/>
                </a:solidFill>
                <a:latin typeface="Microsoft YaHei"/>
              </a:defRPr>
            </a:pPr>
            <a:r>
              <a:t>T06：候选判 contradicted；作者金标 overstated；类别规则冲突待人工裁定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6044184"/>
            <a:ext cx="4425696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A676F"/>
                </a:solidFill>
                <a:latin typeface="Microsoft YaHei"/>
              </a:defRPr>
            </a:pPr>
            <a:r>
              <a:t>金标对作者可见；非独立盲核；不能推断泛化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5C3C7"/>
                </a:solidFill>
                <a:latin typeface="Microsoft YaHei"/>
              </a:defRPr>
            </a:pPr>
            <a:r>
              <a:t>14  / 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Microsoft YaHei"/>
              </a:defRPr>
            </a:pPr>
            <a:r>
              <a:t>AI已参与研发；流程跑通与结论可信仍是两次检查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5C3C7"/>
                </a:solidFill>
                <a:latin typeface="Microsoft YaHei"/>
              </a:defRPr>
            </a:pPr>
            <a:r>
              <a:t>回答题目｜公开证据与本次制作代理试运行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57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57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FC1C6"/>
                </a:solidFill>
                <a:latin typeface="Microsoft YaHei"/>
              </a:defRPr>
            </a:pPr>
            <a:r>
              <a:t>[S1–S4]；本组制作代理演示，成员实操待完成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FC1C6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523744"/>
            <a:ext cx="2286000" cy="44805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5CFCC"/>
                </a:solidFill>
                <a:latin typeface="Microsoft YaHei"/>
              </a:defRPr>
            </a:pPr>
            <a:r>
              <a:t>已看到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072384"/>
            <a:ext cx="10789920" cy="6126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研发执行  →  受限闭环  →  局部模型改进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" y="3968496"/>
            <a:ext cx="10597896" cy="27432"/>
          </a:xfrm>
          <a:prstGeom prst="rect">
            <a:avLst/>
          </a:prstGeom>
          <a:solidFill>
            <a:srgbClr val="5E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61688"/>
            <a:ext cx="4937760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4B198"/>
                </a:solidFill>
                <a:latin typeface="Microsoft YaHei"/>
              </a:defRPr>
            </a:pPr>
            <a:r>
              <a:t>尚未由公开材料证明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4892040"/>
            <a:ext cx="10789920" cy="6492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FFFFFF"/>
                </a:solidFill>
                <a:latin typeface="Microsoft YaHei"/>
              </a:defRPr>
            </a:pPr>
            <a:r>
              <a:t>持续自主地开发、验证并迭代下一代模型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43016"/>
            <a:ext cx="10789920" cy="47548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B5CFCC"/>
                </a:solidFill>
                <a:latin typeface="Microsoft YaHei"/>
              </a:defRPr>
            </a:pPr>
            <a:r>
              <a:t>小组演示：13/16 → 12/16；原始金标、非盲核，仍需人工仲裁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15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B01  四类证据与治理轴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能力状态描述可观察结果；人类批准权另记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[S1–S4] 本组分析框架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辅助执行：按人定目标完成环节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闭环实验：提案、工具、反馈、再试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局部模型改进：训练权重并经指定验证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持续后继研发：自主形成并验证下一代循环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16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B02  Anthropic的两类实验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主实验与生产级早期检查点探索分开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§2–3、§5–6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主实验：Opus 4.8研究Agent、开放小模型、十类指定失效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E2A33"/>
                </a:solidFill>
                <a:latin typeface="Microsoft YaHei"/>
              </a:defRPr>
            </a:pPr>
            <a:r>
              <a:t>另项探索：Sonnet 5研究Agent、早期Opus 4.8检查点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后者仅有构造后训练数据权限；评测口径不同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不能把两项样本、效果、百分比拼接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17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B03  谄媚方法：已公开与仅示意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教师、学生、交付物可确认；激活方向细节以原文为准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附录D.4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获胜法教师：目标模型经激活引导形成的分布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学生：未引导目标模型；KL目标学习教师分布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受限KL分支才明确可用冻结副本，且禁激活引导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训练交付物：更新后的学生模型权重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18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B04  前150次与全程结果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消融读数来自不同观察窗口，分开报告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附录D.4 Fig.20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41448"/>
            <a:ext cx="5212080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B04D37"/>
                </a:solidFill>
                <a:latin typeface="Microsoft YaHei"/>
              </a:defRPr>
            </a:pPr>
            <a:r>
              <a:t>前150个已评分方法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41448"/>
            <a:ext cx="4727448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0659A"/>
                </a:solidFill>
                <a:latin typeface="Microsoft YaHei"/>
              </a:defRPr>
            </a:pPr>
            <a:r>
              <a:t>各分支全程峰值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423160"/>
            <a:ext cx="18288" cy="3383280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1975104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3"/>
                </a:solidFill>
                <a:latin typeface="Microsoft YaHei"/>
              </a:defRPr>
            </a:pPr>
            <a:r>
              <a:t>不受限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7208" y="3246120"/>
            <a:ext cx="1867783" cy="201168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154680"/>
            <a:ext cx="905256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04D37"/>
                </a:solidFill>
                <a:latin typeface="Microsoft YaHei"/>
              </a:defRPr>
            </a:pPr>
            <a:r>
              <a:t>23.3%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1975104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3"/>
                </a:solidFill>
                <a:latin typeface="Microsoft YaHei"/>
              </a:defRPr>
            </a:pPr>
            <a:r>
              <a:t>公开数据SFT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7208" y="3931920"/>
            <a:ext cx="480974" cy="201168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840480"/>
            <a:ext cx="905256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04D37"/>
                </a:solidFill>
                <a:latin typeface="Microsoft YaHei"/>
              </a:defRPr>
            </a:pPr>
            <a:r>
              <a:t>6.0%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1975104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3"/>
                </a:solidFill>
                <a:latin typeface="Microsoft YaHei"/>
              </a:defRPr>
            </a:pPr>
            <a:r>
              <a:t>自由数据SFT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7208" y="4617720"/>
            <a:ext cx="232470" cy="201168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526280"/>
            <a:ext cx="905256" cy="3931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04D37"/>
                </a:solidFill>
                <a:latin typeface="Microsoft YaHei"/>
              </a:defRPr>
            </a:pPr>
            <a:r>
              <a:t>2.9%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099816"/>
            <a:ext cx="1947672" cy="3749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3"/>
                </a:solidFill>
                <a:latin typeface="Microsoft YaHei"/>
              </a:defRPr>
            </a:pPr>
            <a:r>
              <a:t>不受限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20" y="3191256"/>
            <a:ext cx="1770278" cy="18288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61320" y="3099816"/>
            <a:ext cx="969264" cy="3749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0659A"/>
                </a:solidFill>
                <a:latin typeface="Microsoft YaHei"/>
              </a:defRPr>
            </a:pPr>
            <a:r>
              <a:t>26.4%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21024"/>
            <a:ext cx="1947672" cy="3749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3"/>
                </a:solidFill>
                <a:latin typeface="Microsoft YaHei"/>
              </a:defRPr>
            </a:pPr>
            <a:r>
              <a:t>SFT＋KL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3712463"/>
            <a:ext cx="1253947" cy="18288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61320" y="3621024"/>
            <a:ext cx="969264" cy="3749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0659A"/>
                </a:solidFill>
                <a:latin typeface="Microsoft YaHei"/>
              </a:defRPr>
            </a:pPr>
            <a:r>
              <a:t>18.7%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142232"/>
            <a:ext cx="1947672" cy="3749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3"/>
                </a:solidFill>
                <a:latin typeface="Microsoft YaHei"/>
              </a:defRPr>
            </a:pPr>
            <a:r>
              <a:t>公开数据SFT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4233672"/>
            <a:ext cx="402336" cy="18288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61320" y="4142232"/>
            <a:ext cx="969264" cy="3749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0659A"/>
                </a:solidFill>
                <a:latin typeface="Microsoft YaHei"/>
              </a:defRPr>
            </a:pPr>
            <a:r>
              <a:t>6.0%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663440"/>
            <a:ext cx="1947672" cy="3749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3"/>
                </a:solidFill>
                <a:latin typeface="Microsoft YaHei"/>
              </a:defRPr>
            </a:pPr>
            <a:r>
              <a:t>自由数据SFT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4754879"/>
            <a:ext cx="301752" cy="18288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61320" y="4663440"/>
            <a:ext cx="969264" cy="3749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0659A"/>
                </a:solidFill>
                <a:latin typeface="Microsoft YaHei"/>
              </a:defRPr>
            </a:pPr>
            <a:r>
              <a:t>4.5%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A676F"/>
                </a:solidFill>
                <a:latin typeface="Microsoft YaHei"/>
              </a:defRPr>
            </a:pPr>
            <a:r>
              <a:t>固定预算比较仅列原文已明示的三个端点；未猜测KL端点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089904"/>
            <a:ext cx="10698480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76F"/>
                </a:solidFill>
                <a:latin typeface="Microsoft YaHei"/>
              </a:defRPr>
            </a:pPr>
            <a:r>
              <a:t>同一谄媚任务；全程搜索长度不同，两组不能拼成同一次等预算比较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19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B05  KL方向与自蒸馏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图中箭头是机制示意，不给未披露的工程细节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附录D.4；示意口径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概念目标：学生输出分布向教师分布靠近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论文未在所引段落明确实现的KL参数顺序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自蒸馏：训练信号由模型的激活引导版本产生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仅监督微调与允许KL目标的消融不可混成同法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20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B06  Fig.9：65%与72%怎么算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覆盖加权的安全改善空间几何分数，不是通过率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Fig.9、§6、附录E.1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624328"/>
            <a:ext cx="3264408" cy="54864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862072"/>
            <a:ext cx="3264408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E2A33"/>
                </a:solidFill>
                <a:latin typeface="Microsoft YaHei"/>
              </a:defRPr>
            </a:pPr>
            <a:r>
              <a:t>每维度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438144"/>
            <a:ext cx="3264408" cy="8503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相对各自基线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计算改善空间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32504" y="3822191"/>
            <a:ext cx="384048" cy="0"/>
          </a:xfrm>
          <a:prstGeom prst="line">
            <a:avLst/>
          </a:prstGeom>
          <a:ln w="25400">
            <a:solidFill>
              <a:srgbClr val="B04D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17136" y="2624328"/>
            <a:ext cx="3264408" cy="54864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2862072"/>
            <a:ext cx="3264408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E2A33"/>
                </a:solidFill>
                <a:latin typeface="Microsoft YaHei"/>
              </a:defRPr>
            </a:pPr>
            <a:r>
              <a:t>取改善维度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3438144"/>
            <a:ext cx="3264408" cy="8503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有正向改善的维度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占所测十维的比例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99832" y="3822191"/>
            <a:ext cx="384047" cy="0"/>
          </a:xfrm>
          <a:prstGeom prst="line">
            <a:avLst/>
          </a:prstGeom>
          <a:ln w="25400">
            <a:solidFill>
              <a:srgbClr val="B04D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284464" y="2624328"/>
            <a:ext cx="3264408" cy="54864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862072"/>
            <a:ext cx="3264408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E2A33"/>
                </a:solidFill>
                <a:latin typeface="Microsoft YaHei"/>
              </a:defRPr>
            </a:pPr>
            <a:r>
              <a:t>聚合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438144"/>
            <a:ext cx="3264408" cy="85039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这些维度改善空间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取几何均值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10561320" cy="5486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27685B"/>
                </a:solidFill>
                <a:latin typeface="Microsoft YaHei"/>
              </a:defRPr>
            </a:pPr>
            <a:r>
              <a:t>覆盖比例 × 改善维度的改善空间几何均值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715000"/>
            <a:ext cx="10634472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3"/>
                </a:solidFill>
                <a:latin typeface="Microsoft YaHei"/>
              </a:defRPr>
            </a:pPr>
            <a:r>
              <a:t>Fig.9：方法65%，发布版参照72%；只对应所测Petri十维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21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B07  评测隔离与作弊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研究Agent看反馈，但留出数据与能力门槛隔离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§3–5、附录；[S5] 评测投机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441448"/>
            <a:ext cx="4736592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04D37"/>
                </a:solidFill>
                <a:latin typeface="Microsoft YaHei"/>
              </a:defRPr>
            </a:pPr>
            <a:r>
              <a:t>研究Agent可见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441448"/>
            <a:ext cx="4681728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0659A"/>
                </a:solidFill>
                <a:latin typeface="Microsoft YaHei"/>
              </a:defRPr>
            </a:pPr>
            <a:r>
              <a:t>隔离评测与监控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25896" y="2459736"/>
            <a:ext cx="32004" cy="3163824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108960"/>
            <a:ext cx="4599432" cy="14447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E2A33"/>
                </a:solidFill>
                <a:latin typeface="Microsoft YaHei"/>
              </a:defRPr>
            </a:pPr>
            <a:r>
              <a:t>训练代码与权重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E2A33"/>
                </a:solidFill>
                <a:latin typeface="Microsoft YaHei"/>
              </a:defRPr>
            </a:pPr>
            <a:r>
              <a:t>方法评分反馈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E2A33"/>
                </a:solidFill>
                <a:latin typeface="Microsoft YaHei"/>
              </a:defRPr>
            </a:pPr>
            <a:r>
              <a:t>论坛／榜单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3108960"/>
            <a:ext cx="4718304" cy="14447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隐藏评测题例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能力退化门槛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代码违规与事后取巧审查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21808" y="3355848"/>
            <a:ext cx="1133856" cy="0"/>
          </a:xfrm>
          <a:prstGeom prst="line">
            <a:avLst/>
          </a:prstGeom>
          <a:ln w="25400">
            <a:solidFill>
              <a:srgbClr val="B04D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330952" y="4151376"/>
            <a:ext cx="1115568" cy="0"/>
          </a:xfrm>
          <a:prstGeom prst="line">
            <a:avLst/>
          </a:prstGeom>
          <a:ln w="25400">
            <a:solidFill>
              <a:srgbClr val="3065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84064" y="2798064"/>
            <a:ext cx="1636776" cy="3383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A676F"/>
                </a:solidFill>
                <a:latin typeface="Microsoft YaHei"/>
              </a:defRPr>
            </a:pPr>
            <a:r>
              <a:t>送交候选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4434840"/>
            <a:ext cx="1636776" cy="3383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A676F"/>
                </a:solidFill>
                <a:latin typeface="Microsoft YaHei"/>
              </a:defRPr>
            </a:pPr>
            <a:r>
              <a:t>返回分数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39512"/>
            <a:ext cx="10533888" cy="5577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B04D37"/>
                </a:solidFill>
                <a:latin typeface="Microsoft YaHei"/>
              </a:defRPr>
            </a:pPr>
            <a:r>
              <a:t>39 / 1601 条轨迹被确认取巧；子类26、10、8可重叠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025896"/>
            <a:ext cx="1065276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监控减少风险；高分与通过能力闸门都不等于全面安全或能力零损失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22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B08  Runme的公开产物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目标、计划、人审、执行记录和判断能被下次复用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[S3] Running evaluations with Codex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工程师先写目标与可用背景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Codex提出计划；人审核与选择资源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命令输出、结果解释、分岔取舍回写笔记本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这证明工作流产物，未证明参数自动改进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23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B09  OpenAI使用量与事件线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3.1工作日是运行用量；两个安全事件须分开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[S4] §1–4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816352"/>
            <a:ext cx="228600" cy="228600"/>
          </a:xfrm>
          <a:prstGeom prst="ellipse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95728"/>
            <a:ext cx="3328416" cy="3749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B04D37"/>
                </a:solidFill>
                <a:latin typeface="Microsoft YaHei"/>
              </a:defRPr>
            </a:pPr>
            <a:r>
              <a:t>7月20日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374136"/>
            <a:ext cx="3328416" cy="53949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Agent侵入研究设施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069080"/>
            <a:ext cx="3328416" cy="8961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暂关训练容器；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加限制后恢复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9848" y="2926080"/>
            <a:ext cx="3337560" cy="0"/>
          </a:xfrm>
          <a:prstGeom prst="line">
            <a:avLst/>
          </a:prstGeom>
          <a:ln w="25400">
            <a:solidFill>
              <a:srgbClr val="D1D6D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53712" y="2816352"/>
            <a:ext cx="228600" cy="228600"/>
          </a:xfrm>
          <a:prstGeom prst="ellipse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395728"/>
            <a:ext cx="3328416" cy="3749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B04D37"/>
                </a:solidFill>
                <a:latin typeface="Microsoft YaHei"/>
              </a:defRPr>
            </a:pPr>
            <a:r>
              <a:t>约两周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374136"/>
            <a:ext cx="3328416" cy="53949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拟部署模型的RL暂停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4069080"/>
            <a:ext cx="3328416" cy="8961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同时测试安全加固；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不是全部研究停摆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2926080"/>
            <a:ext cx="3337560" cy="0"/>
          </a:xfrm>
          <a:prstGeom prst="line">
            <a:avLst/>
          </a:prstGeom>
          <a:ln w="25400">
            <a:solidFill>
              <a:srgbClr val="D1D6D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321040" y="2816352"/>
            <a:ext cx="228600" cy="228600"/>
          </a:xfrm>
          <a:prstGeom prst="ellipse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395728"/>
            <a:ext cx="3328416" cy="37490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B04D37"/>
                </a:solidFill>
                <a:latin typeface="Microsoft YaHei"/>
              </a:defRPr>
            </a:pPr>
            <a:r>
              <a:t>8月7日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374136"/>
            <a:ext cx="3328416" cy="53949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Astra专属限制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069080"/>
            <a:ext cx="3328416" cy="8961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因能力风险初步证据；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E2A33"/>
                </a:solidFill>
                <a:latin typeface="Microsoft YaHei"/>
              </a:defRPr>
            </a:pPr>
            <a:r>
              <a:t>与7月事件分开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422392"/>
            <a:ext cx="10661904" cy="5669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7685B"/>
                </a:solidFill>
                <a:latin typeface="Microsoft YaHei"/>
              </a:defRPr>
            </a:pPr>
            <a:r>
              <a:t>8月中旬：3.1 Agent工作日／人类工作日，是总运行量换算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6089904"/>
            <a:ext cx="10661904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76F"/>
                </a:solidFill>
                <a:latin typeface="Microsoft YaHei"/>
              </a:defRPr>
            </a:pPr>
            <a:r>
              <a:t>事件、采用量与效率因果分别核对，不能合并成一个提效倍数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24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B10  Google：局部23%与总体1%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AlphaEvolve对具体内核的收益不能替代总训练收益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[L1] AlphaEvolve 官方博客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05456"/>
            <a:ext cx="3300984" cy="64008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61488"/>
            <a:ext cx="3300984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0659A"/>
                </a:solidFill>
                <a:latin typeface="Microsoft YaHei"/>
              </a:defRPr>
            </a:pPr>
            <a:r>
              <a:t>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01568"/>
            <a:ext cx="3300984" cy="46634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E2A33"/>
                </a:solidFill>
                <a:latin typeface="Microsoft YaHei"/>
              </a:defRPr>
            </a:pPr>
            <a:r>
              <a:t>提出候选程序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3602736"/>
            <a:ext cx="347472" cy="0"/>
          </a:xfrm>
          <a:prstGeom prst="line">
            <a:avLst/>
          </a:prstGeom>
          <a:ln w="25400">
            <a:solidFill>
              <a:srgbClr val="3065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44568" y="2505456"/>
            <a:ext cx="3300984" cy="64008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761488"/>
            <a:ext cx="3300984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0659A"/>
                </a:solidFill>
                <a:latin typeface="Microsoft YaHei"/>
              </a:defRPr>
            </a:pPr>
            <a:r>
              <a:t>自动评测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401568"/>
            <a:ext cx="3300984" cy="46634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E2A33"/>
                </a:solidFill>
                <a:latin typeface="Microsoft YaHei"/>
              </a:defRPr>
            </a:pPr>
            <a:r>
              <a:t>检验功能与评分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82127" y="3602736"/>
            <a:ext cx="347473" cy="0"/>
          </a:xfrm>
          <a:prstGeom prst="line">
            <a:avLst/>
          </a:prstGeom>
          <a:ln w="25400">
            <a:solidFill>
              <a:srgbClr val="3065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311896" y="2505456"/>
            <a:ext cx="3300984" cy="64008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761488"/>
            <a:ext cx="3300984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30659A"/>
                </a:solidFill>
                <a:latin typeface="Microsoft YaHei"/>
              </a:defRPr>
            </a:pPr>
            <a:r>
              <a:t>演化数据库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401568"/>
            <a:ext cx="3300984" cy="46634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E2A33"/>
                </a:solidFill>
                <a:latin typeface="Microsoft YaHei"/>
              </a:defRPr>
            </a:pPr>
            <a:r>
              <a:t>选择下一轮候选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416552"/>
            <a:ext cx="493776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特定矩阵乘法内核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946904"/>
            <a:ext cx="5010912" cy="69494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30659A"/>
                </a:solidFill>
                <a:latin typeface="Microsoft YaHei"/>
              </a:defRPr>
            </a:pPr>
            <a:r>
              <a:t>23%局部加速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416552"/>
            <a:ext cx="4892040" cy="4114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3"/>
                </a:solidFill>
                <a:latin typeface="Microsoft YaHei"/>
              </a:defRPr>
            </a:pPr>
            <a:r>
              <a:t>Gemini整体训练时间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946904"/>
            <a:ext cx="4937760" cy="69494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27685B"/>
                </a:solidFill>
                <a:latin typeface="Microsoft YaHei"/>
              </a:defRPr>
            </a:pPr>
            <a:r>
              <a:t>约1%缩短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230368" y="5276088"/>
            <a:ext cx="1033272" cy="0"/>
          </a:xfrm>
          <a:prstGeom prst="line">
            <a:avLst/>
          </a:prstGeom>
          <a:ln w="25400">
            <a:solidFill>
              <a:srgbClr val="5A676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6384" y="6044184"/>
            <a:ext cx="10625328" cy="31089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系统收益受其他环节限制；算法优化没有证明整代模型自主研发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25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B11  通义AgentEvolver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开放的是Agent训练框架及代码，策略通过GRPO更新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[L2] §7.1.3与ModelScope仓库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07208"/>
            <a:ext cx="2432304" cy="64008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2432304" cy="521207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70539A"/>
                </a:solidFill>
                <a:latin typeface="Microsoft YaHei"/>
              </a:defRPr>
            </a:pPr>
            <a:r>
              <a:t>任务生成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22191"/>
            <a:ext cx="2478024" cy="6583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A33"/>
                </a:solidFill>
                <a:latin typeface="Microsoft YaHei"/>
              </a:defRPr>
            </a:pPr>
            <a:r>
              <a:t>self-questioning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977639"/>
            <a:ext cx="310896" cy="0"/>
          </a:xfrm>
          <a:prstGeom prst="line">
            <a:avLst/>
          </a:prstGeom>
          <a:ln w="25400">
            <a:solidFill>
              <a:srgbClr val="7053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602736" y="2807208"/>
            <a:ext cx="2432304" cy="64008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3108960"/>
            <a:ext cx="2432304" cy="521207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70539A"/>
                </a:solidFill>
                <a:latin typeface="Microsoft YaHei"/>
              </a:defRPr>
            </a:pPr>
            <a:r>
              <a:t>经验复用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3822191"/>
            <a:ext cx="2478024" cy="6583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A33"/>
                </a:solidFill>
                <a:latin typeface="Microsoft YaHei"/>
              </a:defRPr>
            </a:pPr>
            <a:r>
              <a:t>self-navigating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71616" y="3977639"/>
            <a:ext cx="310896" cy="0"/>
          </a:xfrm>
          <a:prstGeom prst="line">
            <a:avLst/>
          </a:prstGeom>
          <a:ln w="25400">
            <a:solidFill>
              <a:srgbClr val="7053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73952" y="2807208"/>
            <a:ext cx="2432304" cy="64008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3108960"/>
            <a:ext cx="2432304" cy="521207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70539A"/>
                </a:solidFill>
                <a:latin typeface="Microsoft YaHei"/>
              </a:defRPr>
            </a:pPr>
            <a:r>
              <a:t>反馈归因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822191"/>
            <a:ext cx="2478024" cy="6583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A33"/>
                </a:solidFill>
                <a:latin typeface="Microsoft YaHei"/>
              </a:defRPr>
            </a:pPr>
            <a:r>
              <a:t>self-attributing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42832" y="3977639"/>
            <a:ext cx="310896" cy="0"/>
          </a:xfrm>
          <a:prstGeom prst="line">
            <a:avLst/>
          </a:prstGeom>
          <a:ln w="25400">
            <a:solidFill>
              <a:srgbClr val="70539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345168" y="2807208"/>
            <a:ext cx="2432304" cy="64008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8" y="3108960"/>
            <a:ext cx="2432304" cy="521207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70539A"/>
                </a:solidFill>
                <a:latin typeface="Microsoft YaHei"/>
              </a:defRPr>
            </a:pPr>
            <a:r>
              <a:t>策略训练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3822191"/>
            <a:ext cx="2478024" cy="6583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E2A33"/>
                </a:solidFill>
                <a:latin typeface="Microsoft YaHei"/>
              </a:defRPr>
            </a:pPr>
            <a:r>
              <a:t>GRPO参数更新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148072"/>
            <a:ext cx="10597896" cy="55778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E2A33"/>
                </a:solidFill>
                <a:latin typeface="Microsoft YaHei"/>
              </a:defRPr>
            </a:pPr>
            <a:r>
              <a:t>改变Agent策略参数；方法由论文与开放框架支持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916168"/>
            <a:ext cx="10661904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A676F"/>
                </a:solidFill>
                <a:latin typeface="Microsoft YaHei"/>
              </a:defRPr>
            </a:pPr>
            <a:r>
              <a:t>代码开放、权重开放分别看；未证明系统自主开发完整后继基础模型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26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B12  研究系统与产品工作流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证据类型不同，比较时先核改动对象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[S2–S4][L1][L2]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Anthropic：受控研究实验；受限模型后训练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OpenAI：生产研发工作产物、组织内部观察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Google：可评估算法与训练基础设施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通义：公开Agent训练方法与框架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27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B13  小组试运行的可说范围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制作代理产物与成员实践、独立测试分开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本组practice/runs/demo/score.json；待人工复核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演示题16条：基线13/16，预注册候选12/16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误放行两组均0/8；原始作者金标有争议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金标对制作作者可见，非独立或人工盲核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四位成员实际操作待本人留痕；只比较审查提示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28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B14  课程概念对应哪一环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工具、记忆、多Agent与Harness都对应可见工程接口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[S2][S3]；本组课程对照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工具：文献、代码、训练、评测执行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记忆：Runme、论坛、榜单与持久文件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多Agent：研究代理与独立评测／监控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Harness：权限、预算、输出格式与失败回写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29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B15  历史路线不是同一种机器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思想、理论、受限搜索与LLM研究Agent分别标记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[H1–H4]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Good 1965：思想问题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Gödel Machine 2003：形式证明构造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NAS 2016：人定空间和指标里的结构搜索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DGM 2025：代码自修改并以任务结果筛选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30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B16  主实验十类结果原图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原始Fig.3完整呈现；主讲第8页只重绘其中两项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Fig.3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纵轴：各指定安全失效的爬坡基准改善空间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横轴：每项方法提出的顺序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选中的两项：提示注入79%、谄媚26%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此图不含生产级检查点的65%／72%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313432"/>
            <a:ext cx="10881360" cy="4096512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nthropic_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304" y="2423160"/>
            <a:ext cx="4651478" cy="351129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58368" y="6035040"/>
            <a:ext cx="10881360" cy="310896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998464"/>
            <a:ext cx="10607040" cy="3840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A676F"/>
                </a:solidFill>
                <a:latin typeface="Microsoft YaHei"/>
              </a:defRPr>
            </a:pPr>
            <a:r>
              <a:t>论文原图 [S2] Fig.3；主讲图为其中两项的可编辑重绘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31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B17  Runme官方产物原图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完整截图保留上下文；主讲第9页为局部裁切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[S3] Running evaluations with Codex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目标要求复查前次记录并拟重跑计划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要求计划先经人审，再执行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要求命令与输出、解释留在笔记本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完整图对照主讲局部图，不补入未出现界面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313432"/>
            <a:ext cx="10881360" cy="4096512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unme_comple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731" y="2377440"/>
            <a:ext cx="7089473" cy="387705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32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B18  Anthropic研究循环动画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据公开方法重绘的10秒流程动画；不是公司内部录像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§2–3；本组示意动画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提案与训练代码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监控规则后运行训练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隔离评测并记录反馈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共享状态供下一轮新会话读取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313432"/>
            <a:ext cx="10881360" cy="4096512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anthropic_cycl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76272" y="2340864"/>
            <a:ext cx="7836408" cy="3995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33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B19  生产级检查点原图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Fig.9：65%与72%属同一指定十维Petri评价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Fig.9、§6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研究代理只构造数据，工具对早期检查点进行后训练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图中65%为选出方法的改善空间覆盖分数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72%为已发布模型的对照参照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不是主实验Fig.3，亦非通用安全通过率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313432"/>
            <a:ext cx="10881360" cy="4096512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nthropic_aar_check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484" y="2404872"/>
            <a:ext cx="8377407" cy="382219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34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B20  Fig.3上半幅放大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主实验五项：提示注入、隐瞒不确定性、寻求权力、谄媚、欺瞒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Fig.3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原始论文图的上半幅裁切，不改动曲线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每项横轴为该失效下方法提出顺序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纵轴为该失效的爬坡基准改善空间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完整十项原图见B16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313432"/>
            <a:ext cx="10881360" cy="4096512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nthropic_fig3.png"/>
          <p:cNvPicPr>
            <a:picLocks noChangeAspect="1"/>
          </p:cNvPicPr>
          <p:nvPr/>
        </p:nvPicPr>
        <p:blipFill>
          <a:blip r:embed="rId3"/>
          <a:srcRect l="5253" t="20543" b="45328"/>
          <a:stretch>
            <a:fillRect/>
          </a:stretch>
        </p:blipFill>
        <p:spPr>
          <a:xfrm>
            <a:off x="786384" y="2909213"/>
            <a:ext cx="10616184" cy="28866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6384" y="2340864"/>
            <a:ext cx="10616184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A676F"/>
                </a:solidFill>
                <a:latin typeface="Microsoft YaHei"/>
              </a:defRPr>
            </a:pPr>
            <a:r>
              <a:t>纵轴：该失效的安全改善空间（%）   横轴：研究方法提出顺序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998464"/>
            <a:ext cx="10616184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76F"/>
                </a:solidFill>
                <a:latin typeface="Microsoft YaHei"/>
              </a:defRPr>
            </a:pPr>
            <a:r>
              <a:t>原图图例：红线累计最佳；红点全程最佳；灰点候选；叉号能力下降而淘汰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65176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76F"/>
                </a:solidFill>
                <a:latin typeface="Microsoft YaHei"/>
              </a:defRPr>
            </a:pPr>
            <a:r>
              <a:t>35  /  备份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94944"/>
            <a:ext cx="11155680" cy="8686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E2A33"/>
                </a:solidFill>
                <a:latin typeface="Microsoft YaHei"/>
              </a:defRPr>
            </a:pPr>
            <a:r>
              <a:t>B21  Fig.3下半幅放大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9344"/>
            <a:ext cx="10881360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A676F"/>
                </a:solidFill>
                <a:latin typeface="Microsoft YaHei"/>
              </a:defRPr>
            </a:pPr>
            <a:r>
              <a:t>主实验另五项：越狱、隐私、幻觉、奖励取巧、社会偏见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2048256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55680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6483096"/>
            <a:ext cx="1004011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[S2] Fig.3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6496" y="6483096"/>
            <a:ext cx="713232" cy="2651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76F"/>
                </a:solidFill>
                <a:latin typeface="Microsoft YaHei"/>
              </a:defRPr>
            </a:pPr>
            <a: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2386584"/>
            <a:ext cx="73152" cy="548640"/>
          </a:xfrm>
          <a:prstGeom prst="rect">
            <a:avLst/>
          </a:prstGeom>
          <a:solidFill>
            <a:srgbClr val="B0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8658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E2A33"/>
                </a:solidFill>
                <a:latin typeface="Microsoft YaHei"/>
              </a:defRPr>
            </a:pPr>
            <a:r>
              <a:t>原始论文图的下半幅裁切，不改动曲线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07238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" y="3209544"/>
            <a:ext cx="73152" cy="548640"/>
          </a:xfrm>
          <a:prstGeom prst="rect">
            <a:avLst/>
          </a:prstGeom>
          <a:solidFill>
            <a:srgbClr val="306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20954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受测十项改善幅度不同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389534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" y="4032504"/>
            <a:ext cx="73152" cy="548640"/>
          </a:xfrm>
          <a:prstGeom prst="rect">
            <a:avLst/>
          </a:prstGeom>
          <a:solidFill>
            <a:srgbClr val="276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250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图上的灰点与叉号均保留原图图例解释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718304"/>
            <a:ext cx="10762488" cy="16459"/>
          </a:xfrm>
          <a:prstGeom prst="rect">
            <a:avLst/>
          </a:prstGeom>
          <a:solidFill>
            <a:srgbClr val="D1D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4855464"/>
            <a:ext cx="73152" cy="548640"/>
          </a:xfrm>
          <a:prstGeom prst="rect">
            <a:avLst/>
          </a:prstGeom>
          <a:solidFill>
            <a:srgbClr val="705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55464"/>
            <a:ext cx="10469880" cy="5943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E2A33"/>
                </a:solidFill>
                <a:latin typeface="Microsoft YaHei"/>
              </a:defRPr>
            </a:pPr>
            <a:r>
              <a:t>完整十项原图见B16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313432"/>
            <a:ext cx="10881360" cy="4096512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nthropic_fig3.png"/>
          <p:cNvPicPr>
            <a:picLocks noChangeAspect="1"/>
          </p:cNvPicPr>
          <p:nvPr/>
        </p:nvPicPr>
        <p:blipFill>
          <a:blip r:embed="rId3"/>
          <a:srcRect l="5253" t="61630" b="4573"/>
          <a:stretch>
            <a:fillRect/>
          </a:stretch>
        </p:blipFill>
        <p:spPr>
          <a:xfrm>
            <a:off x="786384" y="2923226"/>
            <a:ext cx="10616184" cy="285863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6384" y="2340864"/>
            <a:ext cx="10616184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A676F"/>
                </a:solidFill>
                <a:latin typeface="Microsoft YaHei"/>
              </a:defRPr>
            </a:pPr>
            <a:r>
              <a:t>纵轴：该失效的安全改善空间（%）   横轴：研究方法提出顺序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998464"/>
            <a:ext cx="10616184" cy="34747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76F"/>
                </a:solidFill>
                <a:latin typeface="Microsoft YaHei"/>
              </a:defRPr>
            </a:pPr>
            <a:r>
              <a:t>原图图例：红线累计最佳；红点全程最佳；灰点候选；叉号能力下降而淘汰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