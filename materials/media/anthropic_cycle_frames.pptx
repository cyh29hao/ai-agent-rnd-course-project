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18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000" b="1">
                <a:solidFill>
                  <a:srgbClr val="14273E"/>
                </a:solidFill>
                <a:latin typeface="Microsoft YaHei"/>
              </a:rPr>
              <a:t>一次研究循环：方案经过训练与评分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19088"/>
            <a:ext cx="111556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4F667B"/>
                </a:solidFill>
                <a:latin typeface="Microsoft YaHei"/>
              </a:rPr>
              <a:t>据 Anthropic AAR §2–3 重绘｜方法示意，不是公司运行录像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874519" cy="786384"/>
          </a:xfrm>
          <a:prstGeom prst="rect">
            <a:avLst/>
          </a:prstGeom>
          <a:solidFill>
            <a:srgbClr val="E1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18488"/>
            <a:ext cx="16002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4273E"/>
                </a:solidFill>
                <a:latin typeface="Microsoft YaHei"/>
              </a:rPr>
              <a:t>研究代理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417320"/>
            <a:ext cx="82296" cy="786384"/>
          </a:xfrm>
          <a:prstGeom prst="rect">
            <a:avLst/>
          </a:prstGeom>
          <a:solidFill>
            <a:srgbClr val="118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508760"/>
            <a:ext cx="786384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0">
                <a:solidFill>
                  <a:srgbClr val="11867F"/>
                </a:solidFill>
                <a:latin typeface="Microsoft YaHei"/>
              </a:rPr>
              <a:t>提案 mini-paper</a:t>
            </a:r>
            <a:br/>
            <a:r>
              <a:rPr sz="2300" b="0">
                <a:solidFill>
                  <a:srgbClr val="11867F"/>
                </a:solidFill>
                <a:latin typeface="Microsoft YaHei"/>
              </a:rPr>
              <a:t>训练代码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2295144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0">
                <a:solidFill>
                  <a:srgbClr val="11867F"/>
                </a:solidFill>
                <a:latin typeface="Microsoft YaHe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551176"/>
            <a:ext cx="1874519" cy="786384"/>
          </a:xfrm>
          <a:prstGeom prst="rect">
            <a:avLst/>
          </a:prstGeom>
          <a:solidFill>
            <a:srgbClr val="E1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752344"/>
            <a:ext cx="16002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4273E"/>
                </a:solidFill>
                <a:latin typeface="Microsoft YaHei"/>
              </a:rPr>
              <a:t>工具与训练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551176"/>
            <a:ext cx="82296" cy="786384"/>
          </a:xfrm>
          <a:prstGeom prst="rect">
            <a:avLst/>
          </a:prstGeom>
          <a:solidFill>
            <a:srgbClr val="118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642616"/>
            <a:ext cx="786384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1">
                <a:solidFill>
                  <a:srgbClr val="11867F"/>
                </a:solidFill>
                <a:latin typeface="Microsoft YaHei"/>
              </a:rPr>
              <a:t>审查代码 → 训练</a:t>
            </a:r>
            <a:br/>
            <a:r>
              <a:rPr sz="2300" b="1">
                <a:solidFill>
                  <a:srgbClr val="11867F"/>
                </a:solidFill>
                <a:latin typeface="Microsoft YaHei"/>
              </a:rPr>
              <a:t>产生模型检查点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3429000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0">
                <a:solidFill>
                  <a:srgbClr val="11867F"/>
                </a:solidFill>
                <a:latin typeface="Microsoft YaHe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3685032"/>
            <a:ext cx="1874519" cy="786384"/>
          </a:xfrm>
          <a:prstGeom prst="rect">
            <a:avLst/>
          </a:prstGeom>
          <a:solidFill>
            <a:srgbClr val="E1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86200"/>
            <a:ext cx="16002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4273E"/>
                </a:solidFill>
                <a:latin typeface="Microsoft YaHei"/>
              </a:rPr>
              <a:t>隔离评测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3685032"/>
            <a:ext cx="82296" cy="786384"/>
          </a:xfrm>
          <a:prstGeom prst="rect">
            <a:avLst/>
          </a:prstGeom>
          <a:solidFill>
            <a:srgbClr val="A1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3776472"/>
            <a:ext cx="786384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0">
                <a:solidFill>
                  <a:srgbClr val="A1B2BE"/>
                </a:solidFill>
                <a:latin typeface="Microsoft YaHei"/>
              </a:rPr>
              <a:t>运行安全基准</a:t>
            </a:r>
            <a:br/>
            <a:r>
              <a:rPr sz="2300" b="0">
                <a:solidFill>
                  <a:srgbClr val="A1B2BE"/>
                </a:solidFill>
                <a:latin typeface="Microsoft YaHei"/>
              </a:rPr>
              <a:t>返回评分与门槛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4562856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0">
                <a:solidFill>
                  <a:srgbClr val="A1B2BE"/>
                </a:solidFill>
                <a:latin typeface="Microsoft YaHe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4818888"/>
            <a:ext cx="1874519" cy="786384"/>
          </a:xfrm>
          <a:prstGeom prst="rect">
            <a:avLst/>
          </a:prstGeom>
          <a:solidFill>
            <a:srgbClr val="E1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020055"/>
            <a:ext cx="16002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4273E"/>
                </a:solidFill>
                <a:latin typeface="Microsoft YaHei"/>
              </a:rPr>
              <a:t>共享记录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4818888"/>
            <a:ext cx="82296" cy="786384"/>
          </a:xfrm>
          <a:prstGeom prst="rect">
            <a:avLst/>
          </a:prstGeom>
          <a:solidFill>
            <a:srgbClr val="A1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4910327"/>
            <a:ext cx="786384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0">
                <a:solidFill>
                  <a:srgbClr val="A1B2BE"/>
                </a:solidFill>
                <a:latin typeface="Microsoft YaHei"/>
              </a:rPr>
              <a:t>保存方法、结果</a:t>
            </a:r>
            <a:br/>
            <a:r>
              <a:rPr sz="2300" b="0">
                <a:solidFill>
                  <a:srgbClr val="A1B2BE"/>
                </a:solidFill>
                <a:latin typeface="Microsoft YaHei"/>
              </a:rPr>
              <a:t>供下一轮读取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998464"/>
            <a:ext cx="107899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BF771F"/>
                </a:solidFill>
                <a:latin typeface="Microsoft YaHei"/>
              </a:rPr>
              <a:t>这一帧跟踪方案进入训练和评测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18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000" b="1">
                <a:solidFill>
                  <a:srgbClr val="14273E"/>
                </a:solidFill>
                <a:latin typeface="Microsoft YaHei"/>
              </a:rPr>
              <a:t>一次研究循环：方案经过训练与评分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19088"/>
            <a:ext cx="111556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4F667B"/>
                </a:solidFill>
                <a:latin typeface="Microsoft YaHei"/>
              </a:rPr>
              <a:t>据 Anthropic AAR §2–3 重绘｜方法示意，不是公司运行录像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874519" cy="786384"/>
          </a:xfrm>
          <a:prstGeom prst="rect">
            <a:avLst/>
          </a:prstGeom>
          <a:solidFill>
            <a:srgbClr val="E1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18488"/>
            <a:ext cx="16002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4273E"/>
                </a:solidFill>
                <a:latin typeface="Microsoft YaHei"/>
              </a:rPr>
              <a:t>研究代理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417320"/>
            <a:ext cx="82296" cy="786384"/>
          </a:xfrm>
          <a:prstGeom prst="rect">
            <a:avLst/>
          </a:prstGeom>
          <a:solidFill>
            <a:srgbClr val="118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508760"/>
            <a:ext cx="786384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0">
                <a:solidFill>
                  <a:srgbClr val="11867F"/>
                </a:solidFill>
                <a:latin typeface="Microsoft YaHei"/>
              </a:rPr>
              <a:t>提案 mini-paper</a:t>
            </a:r>
            <a:br/>
            <a:r>
              <a:rPr sz="2300" b="0">
                <a:solidFill>
                  <a:srgbClr val="11867F"/>
                </a:solidFill>
                <a:latin typeface="Microsoft YaHei"/>
              </a:rPr>
              <a:t>训练代码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2295144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0">
                <a:solidFill>
                  <a:srgbClr val="11867F"/>
                </a:solidFill>
                <a:latin typeface="Microsoft YaHe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551176"/>
            <a:ext cx="1874519" cy="786384"/>
          </a:xfrm>
          <a:prstGeom prst="rect">
            <a:avLst/>
          </a:prstGeom>
          <a:solidFill>
            <a:srgbClr val="E1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752344"/>
            <a:ext cx="16002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4273E"/>
                </a:solidFill>
                <a:latin typeface="Microsoft YaHei"/>
              </a:rPr>
              <a:t>工具与训练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551176"/>
            <a:ext cx="82296" cy="786384"/>
          </a:xfrm>
          <a:prstGeom prst="rect">
            <a:avLst/>
          </a:prstGeom>
          <a:solidFill>
            <a:srgbClr val="118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642616"/>
            <a:ext cx="786384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0">
                <a:solidFill>
                  <a:srgbClr val="11867F"/>
                </a:solidFill>
                <a:latin typeface="Microsoft YaHei"/>
              </a:rPr>
              <a:t>审查代码 → 训练</a:t>
            </a:r>
            <a:br/>
            <a:r>
              <a:rPr sz="2300" b="0">
                <a:solidFill>
                  <a:srgbClr val="11867F"/>
                </a:solidFill>
                <a:latin typeface="Microsoft YaHei"/>
              </a:rPr>
              <a:t>产生模型检查点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3429000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0">
                <a:solidFill>
                  <a:srgbClr val="11867F"/>
                </a:solidFill>
                <a:latin typeface="Microsoft YaHe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3685032"/>
            <a:ext cx="1874519" cy="786384"/>
          </a:xfrm>
          <a:prstGeom prst="rect">
            <a:avLst/>
          </a:prstGeom>
          <a:solidFill>
            <a:srgbClr val="E1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86200"/>
            <a:ext cx="16002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4273E"/>
                </a:solidFill>
                <a:latin typeface="Microsoft YaHei"/>
              </a:rPr>
              <a:t>隔离评测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3685032"/>
            <a:ext cx="82296" cy="786384"/>
          </a:xfrm>
          <a:prstGeom prst="rect">
            <a:avLst/>
          </a:prstGeom>
          <a:solidFill>
            <a:srgbClr val="118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3776472"/>
            <a:ext cx="786384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0">
                <a:solidFill>
                  <a:srgbClr val="11867F"/>
                </a:solidFill>
                <a:latin typeface="Microsoft YaHei"/>
              </a:rPr>
              <a:t>运行安全基准</a:t>
            </a:r>
            <a:br/>
            <a:r>
              <a:rPr sz="2300" b="0">
                <a:solidFill>
                  <a:srgbClr val="11867F"/>
                </a:solidFill>
                <a:latin typeface="Microsoft YaHei"/>
              </a:rPr>
              <a:t>返回评分与门槛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4562856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0">
                <a:solidFill>
                  <a:srgbClr val="11867F"/>
                </a:solidFill>
                <a:latin typeface="Microsoft YaHe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4818888"/>
            <a:ext cx="1874519" cy="786384"/>
          </a:xfrm>
          <a:prstGeom prst="rect">
            <a:avLst/>
          </a:prstGeom>
          <a:solidFill>
            <a:srgbClr val="E1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020055"/>
            <a:ext cx="16002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4273E"/>
                </a:solidFill>
                <a:latin typeface="Microsoft YaHei"/>
              </a:rPr>
              <a:t>共享记录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4818888"/>
            <a:ext cx="82296" cy="786384"/>
          </a:xfrm>
          <a:prstGeom prst="rect">
            <a:avLst/>
          </a:prstGeom>
          <a:solidFill>
            <a:srgbClr val="118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4910327"/>
            <a:ext cx="786384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1">
                <a:solidFill>
                  <a:srgbClr val="11867F"/>
                </a:solidFill>
                <a:latin typeface="Microsoft YaHei"/>
              </a:rPr>
              <a:t>保存方法、结果</a:t>
            </a:r>
            <a:br/>
            <a:r>
              <a:rPr sz="2300" b="1">
                <a:solidFill>
                  <a:srgbClr val="11867F"/>
                </a:solidFill>
                <a:latin typeface="Microsoft YaHei"/>
              </a:rPr>
              <a:t>供下一轮读取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998464"/>
            <a:ext cx="107899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BF771F"/>
                </a:solidFill>
                <a:latin typeface="Microsoft YaHei"/>
              </a:rPr>
              <a:t>人的目标与实验权限在循环外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