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69" r:id="rId3"/>
    <p:sldId id="270" r:id="rId5"/>
    <p:sldId id="271" r:id="rId6"/>
    <p:sldId id="272" r:id="rId7"/>
    <p:sldId id="27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charset="0"/>
              </a:defRPr>
            </a:lvl1pPr>
          </a:lstStyle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charset="0"/>
              </a:defRPr>
            </a:lvl1pPr>
          </a:lstStyle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charset="0"/>
              </a:defRPr>
            </a:lvl1pPr>
          </a:lstStyle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charset="0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【讲稿】第14页｜预算35秒（未真人计时）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前面看的是改模型，这一节换一个环节。模型上线前要跑一批检查，确认能力和副作用，这就是发布前评测。OpenAI工程师Jeremy Lewi公开过一项工作流：研究员已有目标，但要完成它，还得找工具、准备命令、处理出错、解释结果。作者把这些放进Runme笔记，让Codex读取工具说明和既有记录，协助推进。这一段顺着一次任务看：谁决定开始执行，结果怎么留下来。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Lewi, OpenAI评测工作流, 2026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https://developers.openai.com/blog/automating-repetitive-work-at-openai-with-codex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【讲稿】第15页｜预算40秒（未真人计时）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上这句原文很直接：开始之前，等我审阅并批准计划。顺序是：先有目标和既有记录，Codex写出计划，研究员审阅后才执行。为什么有用？命令跑得通，不代表它回答了正确的问题。计划先写出来，人就能检查准备跑哪些评测、有没有漏掉关键条件。还要留意：审批在执行之前，获批后具体命令由Codex自己执行。这展示的是人在执行决策上的位置，不是每步都由人操作。这是作者自己的工作流，不能替整个公司作保证。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Lewi, OpenAI评测工作流, 2026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https://developers.openai.com/blog/automating-repetitive-work-at-openai-with-codex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【讲稿】第16页｜预算40秒（未真人计时）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me把命令放在笔记里执行，输出也跟着保存。请从上往下看：目标和计划说明为什么做，命令和输出记录发生了什么，解释与取舍交代下一步怎么选。换一个会话，Codex就能读到这些记录，接着处理任务。它和前面的共享实验记录有个共同点：上次怎么做、哪里失败、为什么这样决定，都能留给下一次。但要分清：记忆保存在这些可读取的记录里，不等于Codex的权重被更新。记录变好，不等于模型变好。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Lewi, OpenAI评测工作流, 2026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https://developers.openai.com/blog/automating-repetitive-work-at-openai-with-codex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【讲稿】第17页｜预算40秒（未真人计时）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DeepMind的AlphaEvolve把同样的循环用在程序上：Gemini提出候选程序，自动评测器做三件事——验证、运行、打分；合格的程序进程序数据库，再由进化算法决定谁进入下一轮。最重要的是，评价能落到实际运行结果上：算对没有，快了多少。这类反馈适合检查算法改动。它优化的是程序，并不直接重训练模型权重。那么，改一个程序能给大模型研发带来什么？下一页看训练里的例子。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Google DeepMind, AlphaEvolve, 2025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https://deepmind.google/blog/alphaevolve-a-gemini-powered-coding-agent-for-designing-advanced-algorithms/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【讲稿】第18页｜预算40秒（未真人计时）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案例报告：一个矩阵乘法kernel加速了23%，对应Gemini总训练时间减少1%。左边是一个算子，右边是完整训练，分母不同，不能读成训练快了23%。训练还有大量其他工作，一个环节快很多，整体收益仍可能不大。来源还报告了另一项收益：这类kernel优化的工程时间，从专家数周降到数天的自动实验。程序能被自动改好，接下来要看：被改的对象能不能换成Agent自己。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Google DeepMind, AlphaEvolve, 2025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https://deepmind.google/blog/alphaevolve-a-gemini-powered-coding-agent-for-designing-advanced-algorithms/</a:t>
            </a:r>
            <a:endParaRPr sz="120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  研发流程  OpenAI</a:t>
            </a:r>
            <a:endParaRPr sz="15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</a:t>
            </a:r>
            <a:r>
              <a:rPr lang="zh-CN"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个环节</a:t>
            </a: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：跑</a:t>
            </a:r>
            <a:r>
              <a:rPr lang="zh-CN"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</a:t>
            </a: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楚</a:t>
            </a:r>
            <a:r>
              <a:rPr lang="zh-CN"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发布前评测</a:t>
            </a:r>
            <a:endParaRPr lang="zh-CN" sz="345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Lewi, Codex评测, 2026</a:t>
            </a:r>
            <a:endParaRPr sz="1275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2084831"/>
            <a:ext cx="73152" cy="640080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084831"/>
            <a:ext cx="10817352" cy="64008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ctr"/>
            <a:r>
              <a:rPr sz="20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发布前评测：模型上线前跑一批评测，确认能力达标、没有明显退化</a:t>
            </a:r>
            <a:endParaRPr sz="20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2971800"/>
            <a:ext cx="2286000" cy="777240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研究员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54680" y="2971800"/>
            <a:ext cx="8348472" cy="77724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21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确定本次评测目标</a:t>
            </a:r>
            <a:endParaRPr sz="21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3931920"/>
            <a:ext cx="10817352" cy="18288"/>
          </a:xfrm>
          <a:prstGeom prst="rect">
            <a:avLst/>
          </a:prstGeom>
          <a:solidFill>
            <a:srgbClr val="D5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33087"/>
            <a:ext cx="2286000" cy="777240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54680" y="4133087"/>
            <a:ext cx="1956816" cy="777240"/>
          </a:xfrm>
          <a:prstGeom prst="roundRect">
            <a:avLst>
              <a:gd name="adj" fmla="val 12000"/>
            </a:avLst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7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找工具</a:t>
            </a:r>
            <a:endParaRPr sz="17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85232" y="4133087"/>
            <a:ext cx="1956816" cy="777240"/>
          </a:xfrm>
          <a:prstGeom prst="roundRect">
            <a:avLst>
              <a:gd name="adj" fmla="val 12000"/>
            </a:avLst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7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准备命令</a:t>
            </a:r>
            <a:endParaRPr sz="17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15783" y="4133087"/>
            <a:ext cx="1956816" cy="777240"/>
          </a:xfrm>
          <a:prstGeom prst="roundRect">
            <a:avLst>
              <a:gd name="adj" fmla="val 12000"/>
            </a:avLst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7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处理执行出错</a:t>
            </a:r>
            <a:endParaRPr sz="17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546336" y="4133087"/>
            <a:ext cx="1956816" cy="777240"/>
          </a:xfrm>
          <a:prstGeom prst="roundRect">
            <a:avLst>
              <a:gd name="adj" fmla="val 12000"/>
            </a:avLst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7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解释结果</a:t>
            </a:r>
            <a:endParaRPr sz="17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5230368"/>
            <a:ext cx="10817352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/>
            <a:r>
              <a:rPr sz="17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改的是评测流程，不是模型：目标由研究员定，具体步骤由 Codex 执行。</a:t>
            </a:r>
            <a:endParaRPr sz="17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  研发流程  OpenAI</a:t>
            </a:r>
            <a:endParaRPr sz="15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执行之前，研究员先审阅计划</a:t>
            </a:r>
            <a:endParaRPr sz="345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Lewi, Codex评测, 2026</a:t>
            </a:r>
            <a:endParaRPr sz="1275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2048256"/>
            <a:ext cx="10817352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/>
            <a:r>
              <a:rPr sz="19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作者给 Codex 的要求</a:t>
            </a:r>
            <a:endParaRPr sz="19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2542032"/>
            <a:ext cx="73152" cy="1508760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542032"/>
            <a:ext cx="10817352" cy="150876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ctr"/>
            <a:r>
              <a:rPr sz="300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“Wait for me to review and approve</a:t>
            </a:r>
            <a:endParaRPr sz="300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300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plan before beginning.”</a:t>
            </a:r>
            <a:endParaRPr sz="300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7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开始之前，等我审阅并批准计划</a:t>
            </a:r>
            <a:endParaRPr sz="17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4343400"/>
            <a:ext cx="3063240" cy="7315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目标与旧记录</a:t>
            </a:r>
            <a:endParaRPr sz="20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794760" y="4617720"/>
            <a:ext cx="502920" cy="228600"/>
          </a:xfrm>
          <a:prstGeom prst="rightArrow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343400"/>
            <a:ext cx="2971800" cy="7315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拟计划</a:t>
            </a:r>
            <a:endParaRPr sz="20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452360" y="4617720"/>
            <a:ext cx="502920" cy="228600"/>
          </a:xfrm>
          <a:prstGeom prst="rightArrow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3456432" cy="731520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人审阅后执行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5800" y="5248656"/>
            <a:ext cx="10817352" cy="18288"/>
          </a:xfrm>
          <a:prstGeom prst="rect">
            <a:avLst/>
          </a:prstGeom>
          <a:solidFill>
            <a:srgbClr val="D5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413248"/>
            <a:ext cx="10817352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/>
            <a:r>
              <a:rPr sz="16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审批发生在执行之前：计划获批后，具体命令由 Codex 自己执行。</a:t>
            </a:r>
            <a:endParaRPr sz="16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6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人检查的是准备跑哪些评测、覆盖面够不够、有没有漏掉关键条件。</a:t>
            </a:r>
            <a:endParaRPr sz="16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  研发流程  OpenAI</a:t>
            </a:r>
            <a:endParaRPr sz="15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Runme</a:t>
            </a:r>
            <a:r>
              <a:rPr lang="zh-CN"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</a:t>
            </a: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下一次任务</a:t>
            </a:r>
            <a:r>
              <a:rPr lang="zh-CN"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可接续进行</a:t>
            </a:r>
            <a:endParaRPr lang="zh-CN" sz="345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[5] Lewi, Codex评测, 2026</a:t>
            </a:r>
            <a:endParaRPr sz="1275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2029968"/>
            <a:ext cx="10817352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/>
            <a:r>
              <a:rPr sz="29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Runme 笔记</a:t>
            </a:r>
            <a:r>
              <a:rPr sz="18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命令在笔记里执行，输出跟着保存在笔记里</a:t>
            </a:r>
            <a:endParaRPr sz="18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2743200"/>
            <a:ext cx="10817352" cy="18288"/>
          </a:xfrm>
          <a:prstGeom prst="rect">
            <a:avLst/>
          </a:prstGeom>
          <a:solidFill>
            <a:srgbClr val="D5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26080"/>
            <a:ext cx="2743200" cy="713232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目标与计划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2926080"/>
            <a:ext cx="7891272" cy="713232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20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为什么做，准备怎样做</a:t>
            </a:r>
            <a:endParaRPr sz="20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3749040"/>
            <a:ext cx="2743200" cy="713232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命令与输出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11880" y="3749040"/>
            <a:ext cx="7891272" cy="713232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20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实际做了什么，发生了什么</a:t>
            </a:r>
            <a:endParaRPr sz="20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4572000"/>
            <a:ext cx="2743200" cy="713232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解释与取舍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11880" y="4572000"/>
            <a:ext cx="7891272" cy="713232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  <a:r>
              <a:rPr sz="20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下一次任务可以读取判断依据</a:t>
            </a:r>
            <a:endParaRPr sz="20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5532120"/>
            <a:ext cx="73152" cy="566928"/>
          </a:xfrm>
          <a:prstGeom prst="rect">
            <a:avLst/>
          </a:prstGeom>
          <a:solidFill>
            <a:srgbClr val="B65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532120"/>
            <a:ext cx="10817352" cy="566928"/>
          </a:xfrm>
          <a:prstGeom prst="rect">
            <a:avLst/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ctr"/>
            <a:r>
              <a:rPr sz="1800" b="1">
                <a:solidFill>
                  <a:srgbClr val="B65D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记录变好 ≠ 模型变好：记忆保存在可读取的笔记里，不等于 Codex 的权重被更新</a:t>
            </a:r>
            <a:endParaRPr sz="1800" b="1">
              <a:solidFill>
                <a:srgbClr val="B65D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  其他研发对象  Google</a:t>
            </a:r>
            <a:endParaRPr sz="15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AlphaEvolve把程序候选交给自动评测</a:t>
            </a:r>
            <a:endParaRPr sz="345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AlphaEvolve, 2025</a:t>
            </a:r>
            <a:endParaRPr sz="1275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2468880"/>
            <a:ext cx="3017520" cy="14173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210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提出程序候选</a:t>
            </a:r>
            <a:endParaRPr sz="18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794760" y="3054096"/>
            <a:ext cx="502920" cy="256032"/>
          </a:xfrm>
          <a:prstGeom prst="rightArrow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468880"/>
            <a:ext cx="3017520" cy="14173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自动评测器</a:t>
            </a:r>
            <a:endParaRPr sz="210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· 运行 · 打分</a:t>
            </a:r>
            <a:endParaRPr sz="18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452360" y="3054096"/>
            <a:ext cx="502920" cy="256032"/>
          </a:xfrm>
          <a:prstGeom prst="rightArrow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468880"/>
            <a:ext cx="3456432" cy="14173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0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程序数据库</a:t>
            </a:r>
            <a:endParaRPr sz="210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进化算法挑选父代</a:t>
            </a:r>
            <a:endParaRPr sz="18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2148840" y="4160520"/>
            <a:ext cx="6492240" cy="237744"/>
          </a:xfrm>
          <a:prstGeom prst="leftArrow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4498848"/>
            <a:ext cx="649224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/>
            <a:r>
              <a:rPr sz="16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较好的程序留在数据库，继续产生下一轮候选</a:t>
            </a:r>
            <a:endParaRPr sz="16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" y="5029200"/>
            <a:ext cx="73152" cy="914400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029200"/>
            <a:ext cx="10817352" cy="91440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ctr"/>
            <a:r>
              <a:rPr sz="20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改进对象：能运行和检查的算法程序，不是模型权重</a:t>
            </a:r>
            <a:endParaRPr sz="20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7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评价能直接落到运行结果上：算对没有、快了多少。</a:t>
            </a:r>
            <a:endParaRPr sz="17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  其他研发对象  Google</a:t>
            </a:r>
            <a:endParaRPr sz="15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算子加速23%，对应总训练时间减少1%</a:t>
            </a:r>
            <a:endParaRPr sz="3450" b="1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[6] AlphaEvolve, 2025</a:t>
            </a:r>
            <a:endParaRPr sz="1275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2084831"/>
            <a:ext cx="5257800" cy="21031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/>
            <a:r>
              <a:rPr sz="66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23%</a:t>
            </a:r>
            <a:endParaRPr sz="6600" b="1">
              <a:solidFill>
                <a:srgbClr val="16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所举矩阵乘法 kernel 的加速</a:t>
            </a:r>
            <a:endParaRPr sz="18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5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分母：这一个算子</a:t>
            </a:r>
            <a:endParaRPr sz="15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45352" y="2084831"/>
            <a:ext cx="5257800" cy="2103120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/>
            <a:r>
              <a:rPr sz="6600" b="1">
                <a:solidFill>
                  <a:srgbClr val="B65D3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1%</a:t>
            </a:r>
            <a:endParaRPr sz="6600" b="1">
              <a:solidFill>
                <a:srgbClr val="B65D3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总训练时间减少</a:t>
            </a:r>
            <a:endParaRPr sz="18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500" b="0">
                <a:solidFill>
                  <a:srgbClr val="667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分母：整段训练</a:t>
            </a:r>
            <a:endParaRPr sz="1500" b="0">
              <a:solidFill>
                <a:srgbClr val="667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4370832"/>
            <a:ext cx="73152" cy="658368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370832"/>
            <a:ext cx="10817352" cy="658368"/>
          </a:xfrm>
          <a:prstGeom prst="rect">
            <a:avLst/>
          </a:prstGeom>
          <a:solidFill>
            <a:srgbClr val="E7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ctr"/>
            <a:r>
              <a:rPr sz="1900" b="1">
                <a:solidFill>
                  <a:srgbClr val="16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另一项收益｜</a:t>
            </a:r>
            <a:r>
              <a:rPr sz="19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优化工程时间：专家数周 → 数天自动实验</a:t>
            </a:r>
            <a:endParaRPr sz="19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5193792"/>
            <a:ext cx="10817352" cy="475488"/>
          </a:xfrm>
          <a:prstGeom prst="rect">
            <a:avLst/>
          </a:prstGeom>
          <a:solidFill>
            <a:srgbClr val="16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局部与整体的分母不同</a:t>
            </a:r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，不要夸大局部影响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5797296"/>
            <a:ext cx="108173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/>
            <a:r>
              <a:rPr lang="zh-CN" altLang="en-US" sz="1700" b="0">
                <a:solidFill>
                  <a:srgbClr val="1E35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可以看出，程序被优化了，可以使训练过程更高效</a:t>
            </a:r>
            <a:endParaRPr lang="zh-CN" altLang="en-US" sz="1700" b="0">
              <a:solidFill>
                <a:srgbClr val="1E35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WPS 演示</Application>
  <PresentationFormat>宽屏</PresentationFormat>
  <Paragraphs>117</Paragraphs>
  <Slides>5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Aptos</vt:lpstr>
      <vt:lpstr>Segoe UI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彩虹</cp:lastModifiedBy>
  <cp:revision>4</cp:revision>
  <dcterms:created xsi:type="dcterms:W3CDTF">2026-10-14T03:20:00Z</dcterms:created>
  <dcterms:modified xsi:type="dcterms:W3CDTF">2026-10-28T15:43:40Z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A232EF2676B649CEB6C23A7C4B69C57C_12</vt:lpwstr>
  </property>
  <property fmtid="{D5CDD505-2E9C-101B-9397-08002B2CF9AE}" pid="3" name="KSOProductBuildVer">
    <vt:lpwstr>2052-12.1.0.29161</vt:lpwstr>
  </property>
</Properties>
</file>